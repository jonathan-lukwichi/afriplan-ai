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16dc9e0-3edf-cba0-030a-8d5bb26590ae}">
          <p14:sldIdLst>
            <p14:sldId id="256"/>
          </p14:sldIdLst>
        </p14:section>
        <p14:section name="The problem" id="{0f6e897f-02fb-3f1f-d08b-d8e0f3d3e877}">
          <p14:sldIdLst>
            <p14:sldId id="257"/>
          </p14:sldIdLst>
        </p14:section>
        <p14:section name="How AfriPlan works" id="{dd33db64-627c-d1b7-c8be-852f29dede8c}">
          <p14:sldIdLst>
            <p14:sldId id="258"/>
            <p14:sldId id="259"/>
            <p14:sldId id="260"/>
          </p14:sldIdLst>
        </p14:section>
        <p14:section name="Using the web app" id="{75ade9fc-8749-9d20-6997-3a952e8d144c}">
          <p14:sldIdLst>
            <p14:sldId id="261"/>
            <p14:sldId id="262"/>
            <p14:sldId id="263"/>
            <p14:sldId id="264"/>
            <p14:sldId id="265"/>
          </p14:sldIdLst>
        </p14:section>
        <p14:section name="The AI Operating System" id="{a4684649-aae3-6773-d9c5-40b649f508b8}">
          <p14:sldIdLst>
            <p14:sldId id="266"/>
            <p14:sldId id="267"/>
          </p14:sldIdLst>
        </p14:section>
        <p14:section name="How accurate is it" id="{fb01e8e2-10aa-ca32-f25f-0cdcb1f0d409}">
          <p14:sldIdLst>
            <p14:sldId id="268"/>
            <p14:sldId id="269"/>
            <p14:sldId id="270"/>
          </p14:sldIdLst>
        </p14:section>
        <p14:section name="Value for consulting engineers" id="{d6a2fa74-758d-773f-4f27-ca8e55129186}">
          <p14:sldIdLst>
            <p14:sldId id="271"/>
            <p14:sldId id="272"/>
          </p14:sldIdLst>
        </p14:section>
        <p14:section name="Conclusion" id="{d1f3a8f5-10cb-d7fc-a238-75811472977c}">
          <p14:sldIdLst>
            <p14:sldId id="273"/>
          </p14:sldIdLst>
        </p14:section>
        <p14:section name="References" id="{facbdc19-2b54-90d1-0a5a-7e10b4017b6c}">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51A"/>
                </a:solidFill>
                <a:latin typeface="+mn-lt"/>
              </a:defRPr>
            </a:pPr>
            <a:r>
              <a:rPr sz="1400" b="0" i="0" u="none" strike="noStrike">
                <a:solidFill>
                  <a:srgbClr val="14151A"/>
                </a:solidFill>
                <a:latin typeface="+mn-lt"/>
              </a:rPr>
              <a:t>Reading accuracy by reader (%)</a:t>
            </a:r>
          </a:p>
        </c:rich>
      </c:tx>
      <c:layout/>
      <c:overlay val="0"/>
    </c:title>
    <c:autoTitleDeleted val="0"/>
    <c:plotArea>
      <c:layout/>
      <c:barChart>
        <c:barDir val="col"/>
        <c:grouping val="clustered"/>
        <c:varyColors val="0"/>
        <c:ser>
          <c:idx val="0"/>
          <c:order val="0"/>
          <c:tx>
            <c:strRef>
              <c:f>Sheet1!$B$1</c:f>
              <c:strCache>
                <c:ptCount val="1"/>
                <c:pt idx="0">
                  <c:v>Reading score</c:v>
                </c:pt>
              </c:strCache>
            </c:strRef>
          </c:tx>
          <c:spPr>
            <a:solidFill>
              <a:srgbClr val="C9A15A"/>
            </a:solidFill>
            <a:effectLst/>
          </c:spPr>
          <c:invertIfNegative val="0"/>
          <c:dLbls>
            <c:numFmt formatCode="0.0" sourceLinked="0"/>
            <c:txPr>
              <a:bodyPr/>
              <a:lstStyle/>
              <a:p>
                <a:pPr>
                  <a:defRPr b="0" i="0" strike="noStrike" sz="1000" u="none">
                    <a:solidFill>
                      <a:srgbClr val="14151A"/>
                    </a:solidFill>
                    <a:latin typeface="+mn-lt"/>
                  </a:defRPr>
                </a:pPr>
              </a:p>
            </c:txPr>
            <c:showLegendKey val="0"/>
            <c:showVal val="1"/>
            <c:showCatName val="0"/>
            <c:showSerName val="0"/>
            <c:showPercent val="0"/>
            <c:showBubbleSize val="0"/>
            <c:showLeaderLines val="0"/>
          </c:dLbls>
          <c:cat>
            <c:multiLvlStrRef>
              <c:f>Sheet1!$A$2:$A$4</c:f>
              <c:multiLvlStrCache>
                <c:ptCount val="3"/>
                <c:lvl>
                  <c:pt idx="0">
                    <c:v>CAD reader</c:v>
                  </c:pt>
                  <c:pt idx="1">
                    <c:v>PDF reader</c:v>
                  </c:pt>
                  <c:pt idx="2">
                    <c:v>Combined (delivered)</c:v>
                  </c:pt>
                </c:lvl>
              </c:multiLvlStrCache>
            </c:multiLvlStrRef>
          </c:cat>
          <c:val>
            <c:numRef>
              <c:f>Sheet1!$B$2:$B$4</c:f>
              <c:numCache>
                <c:formatCode>General</c:formatCode>
                <c:ptCount val="3"/>
                <c:pt idx="0">
                  <c:v>53.2</c:v>
                </c:pt>
                <c:pt idx="1">
                  <c:v>59.7</c:v>
                </c:pt>
                <c:pt idx="2">
                  <c:v>67.5</c:v>
                </c:pt>
              </c:numCache>
            </c:numRef>
          </c:val>
        </c:ser>
        <c:ser>
          <c:idx val="1"/>
          <c:order val="1"/>
          <c:tx>
            <c:strRef>
              <c:f>Sheet1!$C$1</c:f>
              <c:strCache>
                <c:ptCount val="1"/>
                <c:pt idx="0">
                  <c:v>Coverage</c:v>
                </c:pt>
              </c:strCache>
            </c:strRef>
          </c:tx>
          <c:spPr>
            <a:solidFill>
              <a:srgbClr val="8E1B1B"/>
            </a:solidFill>
            <a:effectLst/>
          </c:spPr>
          <c:invertIfNegative val="0"/>
          <c:dLbls>
            <c:numFmt formatCode="0.0" sourceLinked="0"/>
            <c:txPr>
              <a:bodyPr/>
              <a:lstStyle/>
              <a:p>
                <a:pPr>
                  <a:defRPr b="0" i="0" strike="noStrike" sz="1000" u="none">
                    <a:solidFill>
                      <a:srgbClr val="14151A"/>
                    </a:solidFill>
                    <a:latin typeface="+mn-lt"/>
                  </a:defRPr>
                </a:pPr>
              </a:p>
            </c:txPr>
            <c:showLegendKey val="0"/>
            <c:showVal val="1"/>
            <c:showCatName val="0"/>
            <c:showSerName val="0"/>
            <c:showPercent val="0"/>
            <c:showBubbleSize val="0"/>
            <c:showLeaderLines val="0"/>
          </c:dLbls>
          <c:cat>
            <c:multiLvlStrRef>
              <c:f>Sheet1!$A$2:$A$4</c:f>
              <c:multiLvlStrCache>
                <c:ptCount val="3"/>
                <c:lvl>
                  <c:pt idx="0">
                    <c:v>CAD reader</c:v>
                  </c:pt>
                  <c:pt idx="1">
                    <c:v>PDF reader</c:v>
                  </c:pt>
                  <c:pt idx="2">
                    <c:v>Combined (delivered)</c:v>
                  </c:pt>
                </c:lvl>
              </c:multiLvlStrCache>
            </c:multiLvlStrRef>
          </c:cat>
          <c:val>
            <c:numRef>
              <c:f>Sheet1!$C$2:$C$4</c:f>
              <c:numCache>
                <c:formatCode>General</c:formatCode>
                <c:ptCount val="3"/>
                <c:pt idx="0">
                  <c:v>68.8</c:v>
                </c:pt>
                <c:pt idx="1">
                  <c:v>97.6</c:v>
                </c:pt>
                <c:pt idx="2">
                  <c:v>93.2</c:v>
                </c:pt>
              </c:numCache>
            </c:numRef>
          </c:val>
        </c:ser>
        <c:ser>
          <c:idx val="2"/>
          <c:order val="2"/>
          <c:tx>
            <c:strRef>
              <c:f>Sheet1!$D$1</c:f>
              <c:strCache>
                <c:ptCount val="1"/>
                <c:pt idx="0">
                  <c:v>Quantity accuracy</c:v>
                </c:pt>
              </c:strCache>
            </c:strRef>
          </c:tx>
          <c:spPr>
            <a:solidFill>
              <a:srgbClr val="2C2D33"/>
            </a:solidFill>
            <a:effectLst/>
          </c:spPr>
          <c:invertIfNegative val="0"/>
          <c:dLbls>
            <c:numFmt formatCode="0.0" sourceLinked="0"/>
            <c:txPr>
              <a:bodyPr/>
              <a:lstStyle/>
              <a:p>
                <a:pPr>
                  <a:defRPr b="0" i="0" strike="noStrike" sz="1000" u="none">
                    <a:solidFill>
                      <a:srgbClr val="14151A"/>
                    </a:solidFill>
                    <a:latin typeface="+mn-lt"/>
                  </a:defRPr>
                </a:pPr>
              </a:p>
            </c:txPr>
            <c:showLegendKey val="0"/>
            <c:showVal val="1"/>
            <c:showCatName val="0"/>
            <c:showSerName val="0"/>
            <c:showPercent val="0"/>
            <c:showBubbleSize val="0"/>
            <c:showLeaderLines val="0"/>
          </c:dLbls>
          <c:cat>
            <c:multiLvlStrRef>
              <c:f>Sheet1!$A$2:$A$4</c:f>
              <c:multiLvlStrCache>
                <c:ptCount val="3"/>
                <c:lvl>
                  <c:pt idx="0">
                    <c:v>CAD reader</c:v>
                  </c:pt>
                  <c:pt idx="1">
                    <c:v>PDF reader</c:v>
                  </c:pt>
                  <c:pt idx="2">
                    <c:v>Combined (delivered)</c:v>
                  </c:pt>
                </c:lvl>
              </c:multiLvlStrCache>
            </c:multiLvlStrRef>
          </c:cat>
          <c:val>
            <c:numRef>
              <c:f>Sheet1!$D$2:$D$4</c:f>
              <c:numCache>
                <c:formatCode>General</c:formatCode>
                <c:ptCount val="3"/>
                <c:pt idx="0">
                  <c:v>77.4</c:v>
                </c:pt>
                <c:pt idx="1">
                  <c:v>61.2</c:v>
                </c:pt>
                <c:pt idx="2">
                  <c:v>72.4</c:v>
                </c:pt>
              </c:numCache>
            </c:numRef>
          </c:val>
        </c:ser>
        <c:ser>
          <c:idx val="3"/>
          <c:order val="3"/>
          <c:tx>
            <c:strRef>
              <c:f>Sheet1!$E$1</c:f>
              <c:strCache>
                <c:ptCount val="1"/>
                <c:pt idx="0">
                  <c:v>Item precision</c:v>
                </c:pt>
              </c:strCache>
            </c:strRef>
          </c:tx>
          <c:spPr>
            <a:solidFill>
              <a:srgbClr val="8B8781"/>
            </a:solidFill>
            <a:effectLst/>
          </c:spPr>
          <c:invertIfNegative val="0"/>
          <c:dLbls>
            <c:numFmt formatCode="0.0" sourceLinked="0"/>
            <c:txPr>
              <a:bodyPr/>
              <a:lstStyle/>
              <a:p>
                <a:pPr>
                  <a:defRPr b="0" i="0" strike="noStrike" sz="1000" u="none">
                    <a:solidFill>
                      <a:srgbClr val="14151A"/>
                    </a:solidFill>
                    <a:latin typeface="+mn-lt"/>
                  </a:defRPr>
                </a:pPr>
              </a:p>
            </c:txPr>
            <c:showLegendKey val="0"/>
            <c:showVal val="1"/>
            <c:showCatName val="0"/>
            <c:showSerName val="0"/>
            <c:showPercent val="0"/>
            <c:showBubbleSize val="0"/>
            <c:showLeaderLines val="0"/>
          </c:dLbls>
          <c:cat>
            <c:multiLvlStrRef>
              <c:f>Sheet1!$A$2:$A$4</c:f>
              <c:multiLvlStrCache>
                <c:ptCount val="3"/>
                <c:lvl>
                  <c:pt idx="0">
                    <c:v>CAD reader</c:v>
                  </c:pt>
                  <c:pt idx="1">
                    <c:v>PDF reader</c:v>
                  </c:pt>
                  <c:pt idx="2">
                    <c:v>Combined (delivered)</c:v>
                  </c:pt>
                </c:lvl>
              </c:multiLvlStrCache>
            </c:multiLvlStrRef>
          </c:cat>
          <c:val>
            <c:numRef>
              <c:f>Sheet1!$E$2:$E$4</c:f>
              <c:numCache>
                <c:formatCode>General</c:formatCode>
                <c:ptCount val="3"/>
                <c:pt idx="0">
                  <c:v>71.4</c:v>
                </c:pt>
                <c:pt idx="1">
                  <c:v>79.2</c:v>
                </c:pt>
                <c:pt idx="2">
                  <c:v>70.4</c:v>
                </c:pt>
              </c:numCache>
            </c:numRef>
          </c:val>
        </c:ser>
        <c:dLbls>
          <c:numFmt formatCode="0.0" sourceLinked="0"/>
          <c:txPr>
            <a:bodyPr/>
            <a:lstStyle/>
            <a:p>
              <a:pPr>
                <a:defRPr b="0" i="0" strike="noStrike" sz="1000" u="none">
                  <a:solidFill>
                    <a:srgbClr val="1415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4151A"/>
                </a:solidFill>
                <a:latin typeface="+mn-lt"/>
              </a:defRPr>
            </a:pPr>
            <a:endParaRPr lang="en-US"/>
          </a:p>
        </c:txPr>
        <c:crossAx val="2094734552"/>
        <c:crosses val="autoZero"/>
        <c:auto val="1"/>
        <c:lblAlgn val="ctr"/>
        <c:noMultiLvlLbl val="1"/>
      </c:catAx>
      <c:valAx>
        <c:axId val="2094734552"/>
        <c:scaling>
          <c:orientation val="minMax"/>
          <c:max val="1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4151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AfriPlan turns a set of electrical drawings — PDF, DWG/DXF or both — into a priced, SANS-style Bill of Quantities. This guide covers how to use the web app and the AI Operating System (a code editor with an AI brain and skills), what it is worth and how accurate it is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figures are verified at a primary or peer-reviewed source (docs/research/evidence-register.md). Municipal bids must be advertised for at least 14 days up to R10 million and 30 days above (Municipal SCM Regulations, reg. 22). Stats SA's Construction industry 2024 report: 'Between 2014 and 2024, the construction industry recorded its highest profit margin of 4,8% in 2024.' Peer-reviewed public-procurement studies abroad: contractors won 13.3% of 2,296 bids for 289 public tenders in Jordan (Alkhateeb et al., 2020); preparing a tender cost 0.05–0.65% of its value, average 0.33%, across 14 public tenders in Ghana (Ameyaw et al., 2021 — small sample, authors advise caution). No study measures South African electrical take-off hours or win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give AfriPlan the drawings you already have: a PDF set, the CAD set (DWG or DXF), or both — and, if you want, an existing bill of quantities to audit. AfriPlan reads the drawings, checks what it read, and prices it once at South African rates. You get a priced bill as a tender-ready Excel and PDF, a list of things to check sorted by how serious they are, and — when you upload both kinds of drawing — a comparison of the two readers. In the AI Operating System, when a real priced bill exists for the project, you also get an accuracy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readers state findings with their evidence — measured beats counted beats written beats seen beats assumed. The PDF reader uses an AI model as its eyes (through an AI API, or the AI brain on a subscription); the CAD reader is pure geometry: it counts symbols, reads single-line diagram text and measures feeder routes on the electrical site plan. Combining pairs PDF pages with their CAD sheet by the words both print; the stronger evidence wins and nothing is counted twice. One pricer turns findings into lines with the SA rate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line carries one of six labels, the same words in the app, the Excel and the PDF. From the drawing: counted or read off the drawings. Worked out: calculated from the drawings, for example a cable route measured on the site plan plus allowances. Guessed – check: not on the drawings, so a standard value was used — check these first. Allowance: a provisional sum. Rough estimate – check: estimated from other items. Price you chose: a price you changed, for example a supplier's quote. The 'things to check' list is sorted MUST FIX, MUST CHECK, SHOULD CHECK, FOR INFO.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AfriPlan runs online at https://afriplan.onrender.com — nothing to install, any browser. Click Sign in: the demo login is pre-filled. Upload a DWG/DXF set (free, about one to two minutes) or PDF drawings (choose the paid AI model, most accurate, or the free AI model, with a daily limit). Read the gaps on the Take-off page, then open the BoQ and export the Excel and PDF tender document. Everyone shares one demo account, so use sample or non-confidential drawings; send client drawings to the AfriPlan team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https://afriplan.onrender.com. Sign in (demo login, pre-filled). Upload the drawings and choose the engine. The Take-off page shows progress and then the drawing set, legend, coverage and gaps. The BoQ page lists every line with its evidence. Pricing requests supplier quotes. Export produces the tender Excel and PDF and can email them. Audit a BoQ checks any bill, including one you did not make with AfriPlan.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DXF/DWG: select the whole set at once — single-line diagrams, lighting and plug layouts and the electrical site plan — so feeders are measured on the site plan; an older revision of a sheet is skipped automatically. Optional AI symbol names cost about R1–2 per set. PDF: an AI reads every page; the paid AI model costs about R2.50 a page and about 5 minutes for 18 pages; the free AI model is limited per minute and per day. Both: runs the two engines and shows where they agree and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a PDF run works, the Take-off page shows the step (sort pages, read drawings, measure and price), pages done of total, the time so far and the AI provider's wait notes — so a slow free-tier run no longer looks dead. If it fails, the page says why, for example that the free AI model's daily limit is used up and what to do. When it passes: the drawing set panel, the legend, coverage and the gap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BoQ lists every line with its quantity, rate and evidence tag. The gap report lists what to check, most serious first. Live Pricing requests quotes from suppliers and applies the one you pick. Export produces the tender Excel and PDF, with an email option. Audit a BoQ checks any bill — arithmetic, unpriced or untotalled lines, duplicates, roll-ups and contingencies, orphan sheets, missing companion items — and says which drawings a complete BoQ still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 app is for contractors and demos: upload in the browser, see the take-off, price, export. The AI Operating System runs in a code editor (IDE) with an AI brain: point it at a project folder and the AI brain reads the PDF pages on a subscription, so there is no per-page bill — and it gives the best scores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project in your code editor (IDE) and tell the AI brain: estimate the project in your folder. Step 1 and step 3 are the AfriPlan Engine: it prepares every page and, at the end, checks every reading, combines the PDF and CAD readers and prices once. Only step 2 uses the AI brain, on a subscription. The result lands in AfriPlan_Output inside the project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score on the reference project, judged on the 69 percent of the bill's value that is counted or measured on the drawings: the CAD reader alone 53.2 percent, the PDF reader alone 59.7 percent, and the delivered bill, which combines both, 67.5 percent. The combined bill read 93 percent of that value at all; its quantities are 72 percent accurate where read; 70 percent of the items it read are in the real bill. Left out as not reading: 29 percent of the bill is derived material and 1.6 percent allowances.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conclusion of the accuracy work so far. Proven: AfriPlan reads single-line diagrams correctly — all 13 boards and all 13 feeder sizes, identical in the PDF and CAD versions — and a person checked a 20-item sample of the drawing reading: 19 correct, none wrong, one left blank. Every bill line carries its source. Not proven yet: counting symbols on layout sheets (sockets and switches came out 1.6 to 4 times too many), cable lengths and site-plan items such as sleeves and manholes, and any project other than Wedela. Not judged yet: derived material, about 29 percent of the bill's value, and pricing. Verdict: a traceable first draft that an estimator reviews — ready for pilots, not yet for an unchecked tender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Recommendation. Every real project with its drawings and its priced bill improves AfriPlan in four ways: it becomes a test that every future fix is re-checked against; it shows new symbol variants, which are learned once and shared; it calibrates the rules for derived material such as wire per point and trench per metre; and it shows whether the reader generalises beyond one project. Target: five real projects from at least three consulting firms, each with the PDF and DWG drawings, the priced bill and a 20-item check by a person. Pilot partners can provide them in exchange for a reduced price. In pilots, every correction an estimator makes is saved — drawing facts for everyone, preferences for that company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Wedela reference project: 7 buildings, 18 PDF pages and 17 electrical CAD files. A DWG/DXF set becomes a draft BoQ in about one to two minutes; the paid AI model reads the 18 PDF pages in about five minutes at roughly R2.50 a page; the DWG reader and the free AI model cost nothing. On this one drawing set AfriPlan flagged seven inconsistencies a consultant would want fixed before issue: two boards named differently on layouts and single-line diagrams, two places where the printed quantity table and the drawn switches disagree, a board fed from different boards on the site plan and the single-line diagram, reused labels, and light symbols missing from the legend. As a bill audit it found seven places where the priced bill differs from the drawings. Every bill line carries its source. Three uses for a consulting engineer: check your own drawing set before issue, produce the tender BoQ from your drawings, and audit contractors' priced bills at tender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worked example, not a measurement. Peer-reviewed research on 14 public tenders found that preparing a tender costs between 0.05 and 0.65 percent of its value, 0.33 percent on average — a small sample from Ghana, so treat it as an order of magnitude. On a R10 million electrical package that is about R33,000 of preparation. Every 10 percent of that effort AfriPlan saves is worth about R3,300 per tender, or about R13,200 a month for a firm pricing four such tenders a month. AfriPlan's own cost on the same tender is about R45 to read 18 PDF pages with the paid AI model, nothing for DWG. For comparison, PDF take-off software costs about R4,650 to R10,560 per user per year and AI take-off software about R5,350 per user per month. Replace the tender value, the number of tenders and the share of time saved with your own figures: no study measures South African electrical take-off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AfriPlan reads the core of an electrical bill reliably: every board and every feeder size on the single-line diagrams of the reference project was read correctly, and the PDF and CAD versions agree. Its reading score today is 67.5 percent against a real bill that itself differs from the drawings in places. Every line says where it comes from, so it is a fast, honest first draft that an estimator reviews. A person confirmed 19 of 19 checked items of the drawing reading. Next: fix the known reader gaps with an electrical engineer, collect five real projects from at least three consulting firms, then check pricing against the AACE Class 1 range. Try it at https://afriplan.onrender.com.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source behind the problem slides, in APA style. Each claim, its exact wording at the source and how it was verified are in docs/research/evidence-register.md. AfriPlan's accuracy figures are first-party measurements with the frozen scorer, documented in docs/accuracy-metrics.md.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846320"/>
            <a:ext cx="8686800" cy="822960"/>
          </a:xfrm>
          <a:prstGeom prst="rect">
            <a:avLst/>
          </a:prstGeom>
          <a:noFill/>
          <a:ln/>
        </p:spPr>
        <p:txBody>
          <a:bodyPr wrap="square" rtlCol="0"/>
          <a:lstStyle>
            <a:lvl1pPr algn="l" indent="0" marL="0">
              <a:buNone/>
              <a:defRPr lang="en-US" sz="4400" b="1" dirty="0">
                <a:solidFill>
                  <a:schemeClr val="bg2"/>
                </a:solidFill>
              </a:defRPr>
            </a:lvl1pPr>
          </a:lstStyle>
          <a:p>
            <a:pPr algn="l" indent="0" marL="0">
              <a:buNone/>
            </a:pPr>
            <a:endParaRPr lang="en-US" sz="4400" dirty="0"/>
          </a:p>
        </p:txBody>
      </p:sp>
      <p:sp>
        <p:nvSpPr>
          <p:cNvPr id="3" name="Text 0"/>
          <p:cNvSpPr/>
          <p:nvPr>
            <p:ph idx="101" type="body" hasCustomPrompt="1"/>
          </p:nvPr>
        </p:nvSpPr>
        <p:spPr>
          <a:xfrm>
            <a:off x="640080" y="5669280"/>
            <a:ext cx="8686800" cy="411480"/>
          </a:xfrm>
          <a:prstGeom prst="rect">
            <a:avLst/>
          </a:prstGeom>
          <a:noFill/>
          <a:ln/>
        </p:spPr>
        <p:txBody>
          <a:bodyPr wrap="square" rtlCol="0"/>
          <a:lstStyle>
            <a:lvl1pPr indent="0" marL="0">
              <a:buNone/>
              <a:defRPr lang="en-US" sz="1700" dirty="0">
                <a:solidFill>
                  <a:schemeClr val="bg1"/>
                </a:solidFill>
              </a:defRPr>
            </a:lvl1pPr>
          </a:lstStyle>
          <a:p>
            <a:pPr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9509760" cy="77724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Shape 0"/>
          <p:cNvSpPr/>
          <p:nvPr/>
        </p:nvSpPr>
        <p:spPr>
          <a:xfrm>
            <a:off x="548640" y="6382512"/>
            <a:ext cx="11091672" cy="0"/>
          </a:xfrm>
          <a:prstGeom prst="line">
            <a:avLst/>
          </a:prstGeom>
          <a:noFill/>
          <a:ln w="9525">
            <a:solidFill>
              <a:srgbClr val="D8D3CB"/>
            </a:solidFill>
            <a:prstDash val="solid"/>
          </a:ln>
        </p:spPr>
      </p:sp>
      <p:sp>
        <p:nvSpPr>
          <p:cNvPr id="4" name="Text 1"/>
          <p:cNvSpPr/>
          <p:nvPr/>
        </p:nvSpPr>
        <p:spPr>
          <a:xfrm>
            <a:off x="548640" y="6446520"/>
            <a:ext cx="7315200" cy="228600"/>
          </a:xfrm>
          <a:prstGeom prst="rect">
            <a:avLst/>
          </a:prstGeom>
          <a:noFill/>
          <a:ln/>
        </p:spPr>
        <p:txBody>
          <a:bodyPr wrap="square" lIns="0" tIns="0" rIns="0" bIns="0" rtlCol="0" anchor="ctr"/>
          <a:lstStyle/>
          <a:p>
            <a:pPr indent="0" marL="0">
              <a:buNone/>
            </a:pPr>
            <a:r>
              <a:rPr lang="en-US" sz="800" dirty="0">
                <a:solidFill>
                  <a:schemeClr val="accent6"/>
                </a:solidFill>
                <a:latin typeface="Consolas" pitchFamily="34" charset="0"/>
                <a:ea typeface="Consolas" pitchFamily="34" charset="-122"/>
                <a:cs typeface="Consolas" pitchFamily="34" charset="-120"/>
              </a:rPr>
              <a:t>A F R I P L A N   E L E C T R I C A L   ·   U S E R   G U I D E</a:t>
            </a:r>
            <a:endParaRPr lang="en-US" sz="8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9509760" cy="777240"/>
          </a:xfrm>
          <a:prstGeom prst="rect">
            <a:avLst/>
          </a:prstGeom>
          <a:noFill/>
          <a:ln/>
        </p:spPr>
        <p:txBody>
          <a:bodyPr wrap="square" rtlCol="0"/>
          <a:lstStyle>
            <a:lvl1pPr algn="l" indent="0" marL="0">
              <a:buNone/>
              <a:defRPr lang="en-US" sz="3000" b="1" dirty="0">
                <a:solidFill>
                  <a:schemeClr val="bg2"/>
                </a:solidFill>
              </a:defRPr>
            </a:lvl1pPr>
          </a:lstStyle>
          <a:p>
            <a:pPr algn="l" indent="0" marL="0">
              <a:buNone/>
            </a:pPr>
            <a:endParaRPr lang="en-US" sz="3000" dirty="0"/>
          </a:p>
        </p:txBody>
      </p:sp>
      <p:sp>
        <p:nvSpPr>
          <p:cNvPr id="3" name="Shape 0"/>
          <p:cNvSpPr/>
          <p:nvPr/>
        </p:nvSpPr>
        <p:spPr>
          <a:xfrm>
            <a:off x="548640" y="6382512"/>
            <a:ext cx="11091672" cy="0"/>
          </a:xfrm>
          <a:prstGeom prst="line">
            <a:avLst/>
          </a:prstGeom>
          <a:noFill/>
          <a:ln w="9525">
            <a:solidFill>
              <a:srgbClr val="2C2D33"/>
            </a:solidFill>
            <a:prstDash val="solid"/>
          </a:ln>
        </p:spPr>
      </p:sp>
      <p:sp>
        <p:nvSpPr>
          <p:cNvPr id="4" name="Text 1"/>
          <p:cNvSpPr/>
          <p:nvPr/>
        </p:nvSpPr>
        <p:spPr>
          <a:xfrm>
            <a:off x="548640" y="6446520"/>
            <a:ext cx="7315200" cy="228600"/>
          </a:xfrm>
          <a:prstGeom prst="rect">
            <a:avLst/>
          </a:prstGeom>
          <a:noFill/>
          <a:ln/>
        </p:spPr>
        <p:txBody>
          <a:bodyPr wrap="square" lIns="0" tIns="0" rIns="0" bIns="0" rtlCol="0" anchor="ctr"/>
          <a:lstStyle/>
          <a:p>
            <a:pPr indent="0" marL="0">
              <a:buNone/>
            </a:pPr>
            <a:r>
              <a:rPr lang="en-US" sz="800" dirty="0">
                <a:solidFill>
                  <a:schemeClr val="accent6"/>
                </a:solidFill>
                <a:latin typeface="Consolas" pitchFamily="34" charset="0"/>
                <a:ea typeface="Consolas" pitchFamily="34" charset="-122"/>
                <a:cs typeface="Consolas" pitchFamily="34" charset="-120"/>
              </a:rPr>
              <a:t>A F R I P L A N   E L E C T R I C A L   ·   U S E R   G U I D E</a:t>
            </a:r>
            <a:endParaRPr lang="en-US" sz="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afriplan.onrender.com" TargetMode="Externa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slideLayout" Target="../slideLayouts/slideLayout3.xml"/><Relationship Id="rId1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slideLayout" Target="../slideLayouts/slideLayout3.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afriplan.onrender.com" TargetMode="External"/><Relationship Id="rId1"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slideLayout" Target="../slideLayouts/slideLayout3.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9" Type="http://schemas.openxmlformats.org/officeDocument/2006/relationships/hyperlink" Target="https://afriplan.onrender.com"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10" Type="http://schemas.openxmlformats.org/officeDocument/2006/relationships/slideLayout" Target="../slideLayouts/slideLayout3.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3.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4.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band slant"/>
          <p:cNvSpPr/>
          <p:nvPr/>
        </p:nvSpPr>
        <p:spPr>
          <a:xfrm flipH="1">
            <a:off x="0" y="3611880"/>
            <a:ext cx="12191695" cy="1143000"/>
          </a:xfrm>
          <a:prstGeom prst="rtTriangle">
            <a:avLst/>
          </a:prstGeom>
          <a:solidFill>
            <a:srgbClr val="8E1B1B"/>
          </a:solidFill>
          <a:ln w="12700">
            <a:solidFill>
              <a:srgbClr val="8E1B1B"/>
            </a:solidFill>
            <a:prstDash val="solid"/>
          </a:ln>
        </p:spPr>
      </p:sp>
      <p:sp>
        <p:nvSpPr>
          <p:cNvPr id="3" name="band"/>
          <p:cNvSpPr/>
          <p:nvPr/>
        </p:nvSpPr>
        <p:spPr>
          <a:xfrm>
            <a:off x="0" y="4754880"/>
            <a:ext cx="12191695" cy="2103120"/>
          </a:xfrm>
          <a:prstGeom prst="rect">
            <a:avLst/>
          </a:prstGeom>
          <a:solidFill>
            <a:srgbClr val="8E1B1B"/>
          </a:solidFill>
          <a:ln w="12700">
            <a:solidFill>
              <a:srgbClr val="8E1B1B"/>
            </a:solidFill>
            <a:prstDash val="solid"/>
          </a:ln>
        </p:spPr>
      </p:sp>
      <p:sp>
        <p:nvSpPr>
          <p:cNvPr id="4" name="kicker"/>
          <p:cNvSpPr txBox="1"/>
          <p:nvPr/>
        </p:nvSpPr>
        <p:spPr>
          <a:xfrm>
            <a:off x="548640" y="548640"/>
            <a:ext cx="8686800" cy="228600"/>
          </a:xfrm>
          <a:prstGeom prst="rect">
            <a:avLst/>
          </a:prstGeom>
          <a:noFill/>
          <a:ln/>
        </p:spPr>
        <p:txBody>
          <a:bodyPr wrap="square" lIns="0" tIns="0" rIns="0" bIns="0" rtlCol="0" anchor="ctr"/>
          <a:lstStyle/>
          <a:p>
            <a:pPr indent="0" marL="0">
              <a:buNone/>
            </a:pPr>
            <a:r>
              <a:rPr lang="en-US" sz="950" spc="300" kern="0" dirty="0">
                <a:solidFill>
                  <a:schemeClr val="accent2"/>
                </a:solidFill>
                <a:latin typeface="Consolas" pitchFamily="34" charset="0"/>
                <a:ea typeface="Consolas" pitchFamily="34" charset="-122"/>
                <a:cs typeface="Consolas" pitchFamily="34" charset="-120"/>
              </a:rPr>
              <a:t>ELECTRICAL BOQ  ·  AI TAKE-OFF  ·  SOUTH AFRICA</a:t>
            </a:r>
            <a:endParaRPr lang="en-US" sz="950" dirty="0"/>
          </a:p>
        </p:txBody>
      </p:sp>
      <p:sp>
        <p:nvSpPr>
          <p:cNvPr id="5" name="Text 0"/>
          <p:cNvSpPr/>
          <p:nvPr>
            <p:ph idx="100" type="title" hasCustomPrompt="1"/>
          </p:nvPr>
        </p:nvSpPr>
        <p:spPr>
          <a:xfrm>
            <a:off x="640080" y="4846320"/>
            <a:ext cx="8686800" cy="822960"/>
          </a:xfrm>
          <a:prstGeom prst="rect">
            <a:avLst/>
          </a:prstGeom>
          <a:noFill/>
          <a:ln/>
        </p:spPr>
        <p:txBody>
          <a:bodyPr wrap="square" lIns="0" tIns="0" rIns="0" bIns="0" rtlCol="0" anchor="ctr"/>
          <a:lstStyle/>
          <a:p>
            <a:pPr algn="l" indent="0" marL="0">
              <a:buNone/>
            </a:pPr>
            <a:r>
              <a:rPr lang="en-US" sz="4400" b="1" dirty="0">
                <a:solidFill>
                  <a:schemeClr val="bg2"/>
                </a:solidFill>
              </a:rPr>
              <a:t>AfriPlan Electrical</a:t>
            </a:r>
            <a:endParaRPr lang="en-US" sz="4400" dirty="0"/>
          </a:p>
        </p:txBody>
      </p:sp>
      <p:sp>
        <p:nvSpPr>
          <p:cNvPr id="6" name="Text 0"/>
          <p:cNvSpPr/>
          <p:nvPr>
            <p:ph idx="101" type="body" hasCustomPrompt="1"/>
          </p:nvPr>
        </p:nvSpPr>
        <p:spPr>
          <a:xfrm>
            <a:off x="640080" y="5669280"/>
            <a:ext cx="8686800" cy="411480"/>
          </a:xfrm>
          <a:prstGeom prst="rect">
            <a:avLst/>
          </a:prstGeom>
          <a:noFill/>
          <a:ln/>
        </p:spPr>
        <p:txBody>
          <a:bodyPr wrap="square" lIns="0" tIns="0" rIns="0" bIns="0" rtlCol="0" anchor="t"/>
          <a:lstStyle/>
          <a:p>
            <a:pPr indent="0" marL="0">
              <a:buNone/>
            </a:pPr>
            <a:r>
              <a:rPr lang="en-US" sz="1700" dirty="0">
                <a:solidFill>
                  <a:schemeClr val="bg1"/>
                </a:solidFill>
              </a:rPr>
              <a:t>Drawings in, priced Bill of Quantities out — a user guide</a:t>
            </a:r>
            <a:endParaRPr lang="en-US" sz="1700" dirty="0"/>
          </a:p>
        </p:txBody>
      </p:sp>
      <p:sp>
        <p:nvSpPr>
          <p:cNvPr id="7" name="audience"/>
          <p:cNvSpPr txBox="1"/>
          <p:nvPr/>
        </p:nvSpPr>
        <p:spPr>
          <a:xfrm>
            <a:off x="640080" y="6263640"/>
            <a:ext cx="10058400" cy="274320"/>
          </a:xfrm>
          <a:prstGeom prst="rect">
            <a:avLst/>
          </a:prstGeom>
          <a:noFill/>
          <a:ln/>
        </p:spPr>
        <p:txBody>
          <a:bodyPr wrap="square" lIns="0" tIns="0" rIns="0" bIns="0" rtlCol="0" anchor="t"/>
          <a:lstStyle/>
          <a:p>
            <a:pPr indent="0" marL="0">
              <a:buNone/>
            </a:pPr>
            <a:r>
              <a:rPr lang="en-US" sz="900" spc="200" kern="0" dirty="0">
                <a:solidFill>
                  <a:srgbClr val="F0D9AE"/>
                </a:solidFill>
                <a:latin typeface="Consolas" pitchFamily="34" charset="0"/>
                <a:ea typeface="Consolas" pitchFamily="34" charset="-122"/>
                <a:cs typeface="Consolas" pitchFamily="34" charset="-120"/>
              </a:rPr>
              <a:t>FOR SOUTH AFRICAN ELECTRICAL CONTRACTORS, ESTIMATORS AND ENGINEERS  ·  OCTOBER 2026</a:t>
            </a:r>
            <a:endParaRPr lang="en-US" sz="900" dirty="0"/>
          </a:p>
        </p:txBody>
      </p:sp>
      <p:sp>
        <p:nvSpPr>
          <p:cNvPr id="8" name="web app link"/>
          <p:cNvSpPr txBox="1"/>
          <p:nvPr/>
        </p:nvSpPr>
        <p:spPr>
          <a:xfrm>
            <a:off x="640080" y="2926080"/>
            <a:ext cx="7315200" cy="411480"/>
          </a:xfrm>
          <a:prstGeom prst="rect">
            <a:avLst/>
          </a:prstGeom>
          <a:noFill/>
          <a:ln/>
        </p:spPr>
        <p:txBody>
          <a:bodyPr wrap="square" lIns="0" tIns="0" rIns="0" bIns="0" rtlCol="0" anchor="t"/>
          <a:lstStyle/>
          <a:p>
            <a:pPr indent="0" marL="0">
              <a:buNone/>
            </a:pPr>
            <a:r>
              <a:rPr lang="en-US" sz="1800" b="1" dirty="0">
                <a:solidFill>
                  <a:schemeClr val="accent2"/>
                </a:solidFill>
              </a:rPr>
              <a:t>Try it:  </a:t>
            </a:r>
            <a:pPr indent="0" marL="0">
              <a:buNone/>
            </a:pPr>
            <a:r>
              <a:rPr lang="en-US" sz="1800" b="1" u="sng" dirty="0">
                <a:solidFill>
                  <a:schemeClr val="accent2"/>
                </a:solidFill>
                <a:hlinkClick r:id="rId1" invalidUrl="" action="" tgtFrame="" tooltip="" history="1" highlightClick="0" endSnd="0">
                  <a:extLst>
                    <a:ext uri="{A12FA001-AC4F-418D-AE19-62706E023703}">
                      <ahyp:hlinkClr xmlns:ahyp="http://schemas.microsoft.com/office/drawing/2018/hyperlinkcolor" val="tx"/>
                    </a:ext>
                  </a:extLst>
                </a:hlinkClick>
              </a:rPr>
              <a:t>https://afriplan.onrender.com</a:t>
            </a:r>
            <a:endParaRPr lang="en-US" sz="1800" dirty="0"/>
          </a:p>
        </p:txBody>
      </p:sp>
      <p:sp>
        <p:nvSpPr>
          <p:cNvPr id="9" name="title step 1 circle"/>
          <p:cNvSpPr/>
          <p:nvPr/>
        </p:nvSpPr>
        <p:spPr>
          <a:xfrm>
            <a:off x="640080" y="1188720"/>
            <a:ext cx="777240" cy="777240"/>
          </a:xfrm>
          <a:prstGeom prst="ellipse">
            <a:avLst/>
          </a:prstGeom>
          <a:solidFill>
            <a:srgbClr val="2C2D33"/>
          </a:solidFill>
          <a:ln w="12700">
            <a:solidFill>
              <a:srgbClr val="2C2D33"/>
            </a:solidFill>
            <a:prstDash val="solid"/>
          </a:ln>
        </p:spPr>
      </p:sp>
      <p:pic>
        <p:nvPicPr>
          <p:cNvPr id="10" name="title step 1 icon" descr="preencoded.png">    </p:cNvPr>
          <p:cNvPicPr>
            <a:picLocks noChangeAspect="1"/>
          </p:cNvPicPr>
          <p:nvPr/>
        </p:nvPicPr>
        <p:blipFill>
          <a:blip r:embed="rId2"/>
          <a:stretch>
            <a:fillRect/>
          </a:stretch>
        </p:blipFill>
        <p:spPr>
          <a:xfrm>
            <a:off x="842162" y="1390802"/>
            <a:ext cx="373075" cy="373075"/>
          </a:xfrm>
          <a:prstGeom prst="rect">
            <a:avLst/>
          </a:prstGeom>
        </p:spPr>
      </p:pic>
      <p:sp>
        <p:nvSpPr>
          <p:cNvPr id="11" name="title step label 1"/>
          <p:cNvSpPr txBox="1"/>
          <p:nvPr/>
        </p:nvSpPr>
        <p:spPr>
          <a:xfrm>
            <a:off x="640080" y="2103120"/>
            <a:ext cx="2103120" cy="320040"/>
          </a:xfrm>
          <a:prstGeom prst="rect">
            <a:avLst/>
          </a:prstGeom>
          <a:noFill/>
          <a:ln/>
        </p:spPr>
        <p:txBody>
          <a:bodyPr wrap="square" lIns="0" tIns="0" rIns="0" bIns="0" rtlCol="0" anchor="t"/>
          <a:lstStyle/>
          <a:p>
            <a:pPr indent="0" marL="0">
              <a:buNone/>
            </a:pPr>
            <a:r>
              <a:rPr lang="en-US" sz="1400" b="1" dirty="0">
                <a:solidFill>
                  <a:schemeClr val="bg1"/>
                </a:solidFill>
              </a:rPr>
              <a:t>PDF &amp; DWG drawings</a:t>
            </a:r>
            <a:endParaRPr lang="en-US" sz="1400" dirty="0"/>
          </a:p>
        </p:txBody>
      </p:sp>
      <p:sp>
        <p:nvSpPr>
          <p:cNvPr id="12" name="Shape 9"/>
          <p:cNvSpPr/>
          <p:nvPr/>
        </p:nvSpPr>
        <p:spPr>
          <a:xfrm>
            <a:off x="1554480" y="1572768"/>
            <a:ext cx="1280160" cy="0"/>
          </a:xfrm>
          <a:prstGeom prst="line">
            <a:avLst/>
          </a:prstGeom>
          <a:noFill/>
          <a:ln w="25400">
            <a:solidFill>
              <a:srgbClr val="C9A15A"/>
            </a:solidFill>
            <a:prstDash val="solid"/>
            <a:tailEnd type="triangle"/>
          </a:ln>
        </p:spPr>
      </p:sp>
      <p:sp>
        <p:nvSpPr>
          <p:cNvPr id="13" name="title step 2 circle"/>
          <p:cNvSpPr/>
          <p:nvPr/>
        </p:nvSpPr>
        <p:spPr>
          <a:xfrm>
            <a:off x="3017520" y="1188720"/>
            <a:ext cx="777240" cy="777240"/>
          </a:xfrm>
          <a:prstGeom prst="ellipse">
            <a:avLst/>
          </a:prstGeom>
          <a:solidFill>
            <a:srgbClr val="2C2D33"/>
          </a:solidFill>
          <a:ln w="12700">
            <a:solidFill>
              <a:srgbClr val="2C2D33"/>
            </a:solidFill>
            <a:prstDash val="solid"/>
          </a:ln>
        </p:spPr>
      </p:sp>
      <p:pic>
        <p:nvPicPr>
          <p:cNvPr id="14" name="title step 2 icon" descr="preencoded.png">    </p:cNvPr>
          <p:cNvPicPr>
            <a:picLocks noChangeAspect="1"/>
          </p:cNvPicPr>
          <p:nvPr/>
        </p:nvPicPr>
        <p:blipFill>
          <a:blip r:embed="rId3"/>
          <a:stretch>
            <a:fillRect/>
          </a:stretch>
        </p:blipFill>
        <p:spPr>
          <a:xfrm>
            <a:off x="3219602" y="1390802"/>
            <a:ext cx="373075" cy="373075"/>
          </a:xfrm>
          <a:prstGeom prst="rect">
            <a:avLst/>
          </a:prstGeom>
        </p:spPr>
      </p:pic>
      <p:sp>
        <p:nvSpPr>
          <p:cNvPr id="15" name="title step label 2"/>
          <p:cNvSpPr txBox="1"/>
          <p:nvPr/>
        </p:nvSpPr>
        <p:spPr>
          <a:xfrm>
            <a:off x="3017520" y="2103120"/>
            <a:ext cx="2103120" cy="320040"/>
          </a:xfrm>
          <a:prstGeom prst="rect">
            <a:avLst/>
          </a:prstGeom>
          <a:noFill/>
          <a:ln/>
        </p:spPr>
        <p:txBody>
          <a:bodyPr wrap="square" lIns="0" tIns="0" rIns="0" bIns="0" rtlCol="0" anchor="t"/>
          <a:lstStyle/>
          <a:p>
            <a:pPr indent="0" marL="0">
              <a:buNone/>
            </a:pPr>
            <a:r>
              <a:rPr lang="en-US" sz="1400" b="1" dirty="0">
                <a:solidFill>
                  <a:schemeClr val="bg1"/>
                </a:solidFill>
              </a:rPr>
              <a:t>Read &amp; measure</a:t>
            </a:r>
            <a:endParaRPr lang="en-US" sz="1400" dirty="0"/>
          </a:p>
        </p:txBody>
      </p:sp>
      <p:sp>
        <p:nvSpPr>
          <p:cNvPr id="16" name="Shape 12"/>
          <p:cNvSpPr/>
          <p:nvPr/>
        </p:nvSpPr>
        <p:spPr>
          <a:xfrm>
            <a:off x="3931920" y="1572768"/>
            <a:ext cx="1280160" cy="0"/>
          </a:xfrm>
          <a:prstGeom prst="line">
            <a:avLst/>
          </a:prstGeom>
          <a:noFill/>
          <a:ln w="25400">
            <a:solidFill>
              <a:srgbClr val="C9A15A"/>
            </a:solidFill>
            <a:prstDash val="solid"/>
            <a:tailEnd type="triangle"/>
          </a:ln>
        </p:spPr>
      </p:sp>
      <p:sp>
        <p:nvSpPr>
          <p:cNvPr id="17" name="title step 3 circle"/>
          <p:cNvSpPr/>
          <p:nvPr/>
        </p:nvSpPr>
        <p:spPr>
          <a:xfrm>
            <a:off x="5394960" y="1188720"/>
            <a:ext cx="777240" cy="777240"/>
          </a:xfrm>
          <a:prstGeom prst="ellipse">
            <a:avLst/>
          </a:prstGeom>
          <a:solidFill>
            <a:srgbClr val="2C2D33"/>
          </a:solidFill>
          <a:ln w="12700">
            <a:solidFill>
              <a:srgbClr val="2C2D33"/>
            </a:solidFill>
            <a:prstDash val="solid"/>
          </a:ln>
        </p:spPr>
      </p:sp>
      <p:pic>
        <p:nvPicPr>
          <p:cNvPr id="18" name="title step 3 icon" descr="preencoded.png">    </p:cNvPr>
          <p:cNvPicPr>
            <a:picLocks noChangeAspect="1"/>
          </p:cNvPicPr>
          <p:nvPr/>
        </p:nvPicPr>
        <p:blipFill>
          <a:blip r:embed="rId4"/>
          <a:stretch>
            <a:fillRect/>
          </a:stretch>
        </p:blipFill>
        <p:spPr>
          <a:xfrm>
            <a:off x="5597042" y="1390802"/>
            <a:ext cx="373075" cy="373075"/>
          </a:xfrm>
          <a:prstGeom prst="rect">
            <a:avLst/>
          </a:prstGeom>
        </p:spPr>
      </p:pic>
      <p:sp>
        <p:nvSpPr>
          <p:cNvPr id="19" name="title step label 3"/>
          <p:cNvSpPr txBox="1"/>
          <p:nvPr/>
        </p:nvSpPr>
        <p:spPr>
          <a:xfrm>
            <a:off x="5394960" y="2103120"/>
            <a:ext cx="2103120" cy="320040"/>
          </a:xfrm>
          <a:prstGeom prst="rect">
            <a:avLst/>
          </a:prstGeom>
          <a:noFill/>
          <a:ln/>
        </p:spPr>
        <p:txBody>
          <a:bodyPr wrap="square" lIns="0" tIns="0" rIns="0" bIns="0" rtlCol="0" anchor="t"/>
          <a:lstStyle/>
          <a:p>
            <a:pPr indent="0" marL="0">
              <a:buNone/>
            </a:pPr>
            <a:r>
              <a:rPr lang="en-US" sz="1400" b="1" dirty="0">
                <a:solidFill>
                  <a:schemeClr val="bg1"/>
                </a:solidFill>
              </a:rPr>
              <a:t>Price at SA rates</a:t>
            </a:r>
            <a:endParaRPr lang="en-US" sz="1400" dirty="0"/>
          </a:p>
        </p:txBody>
      </p:sp>
      <p:sp>
        <p:nvSpPr>
          <p:cNvPr id="20" name="Shape 15"/>
          <p:cNvSpPr/>
          <p:nvPr/>
        </p:nvSpPr>
        <p:spPr>
          <a:xfrm>
            <a:off x="6309360" y="1572768"/>
            <a:ext cx="1280160" cy="0"/>
          </a:xfrm>
          <a:prstGeom prst="line">
            <a:avLst/>
          </a:prstGeom>
          <a:noFill/>
          <a:ln w="25400">
            <a:solidFill>
              <a:srgbClr val="C9A15A"/>
            </a:solidFill>
            <a:prstDash val="solid"/>
            <a:tailEnd type="triangle"/>
          </a:ln>
        </p:spPr>
      </p:sp>
      <p:sp>
        <p:nvSpPr>
          <p:cNvPr id="21" name="title step 4 circle"/>
          <p:cNvSpPr/>
          <p:nvPr/>
        </p:nvSpPr>
        <p:spPr>
          <a:xfrm>
            <a:off x="7772400" y="1188720"/>
            <a:ext cx="777240" cy="777240"/>
          </a:xfrm>
          <a:prstGeom prst="ellipse">
            <a:avLst/>
          </a:prstGeom>
          <a:solidFill>
            <a:srgbClr val="8E1B1B"/>
          </a:solidFill>
          <a:ln w="12700">
            <a:solidFill>
              <a:srgbClr val="8E1B1B"/>
            </a:solidFill>
            <a:prstDash val="solid"/>
          </a:ln>
        </p:spPr>
      </p:sp>
      <p:pic>
        <p:nvPicPr>
          <p:cNvPr id="22" name="title step 4 icon" descr="preencoded.png">    </p:cNvPr>
          <p:cNvPicPr>
            <a:picLocks noChangeAspect="1"/>
          </p:cNvPicPr>
          <p:nvPr/>
        </p:nvPicPr>
        <p:blipFill>
          <a:blip r:embed="rId5"/>
          <a:stretch>
            <a:fillRect/>
          </a:stretch>
        </p:blipFill>
        <p:spPr>
          <a:xfrm>
            <a:off x="7974482" y="1390802"/>
            <a:ext cx="373075" cy="373075"/>
          </a:xfrm>
          <a:prstGeom prst="rect">
            <a:avLst/>
          </a:prstGeom>
        </p:spPr>
      </p:pic>
      <p:sp>
        <p:nvSpPr>
          <p:cNvPr id="23" name="title step label 4"/>
          <p:cNvSpPr txBox="1"/>
          <p:nvPr/>
        </p:nvSpPr>
        <p:spPr>
          <a:xfrm>
            <a:off x="7772400" y="2103120"/>
            <a:ext cx="2103120" cy="320040"/>
          </a:xfrm>
          <a:prstGeom prst="rect">
            <a:avLst/>
          </a:prstGeom>
          <a:noFill/>
          <a:ln/>
        </p:spPr>
        <p:txBody>
          <a:bodyPr wrap="square" lIns="0" tIns="0" rIns="0" bIns="0" rtlCol="0" anchor="t"/>
          <a:lstStyle/>
          <a:p>
            <a:pPr indent="0" marL="0">
              <a:buNone/>
            </a:pPr>
            <a:r>
              <a:rPr lang="en-US" sz="1400" b="1" dirty="0">
                <a:solidFill>
                  <a:schemeClr val="bg1"/>
                </a:solidFill>
              </a:rPr>
              <a:t>Tender BoQ</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THE PROBLEM</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Every tender is priced against the clock, on a thin margin</a:t>
            </a:r>
            <a:endParaRPr lang="en-US" sz="2600" dirty="0"/>
          </a:p>
        </p:txBody>
      </p:sp>
      <p:sp>
        <p:nvSpPr>
          <p:cNvPr id="7" name="stat card 1"/>
          <p:cNvSpPr/>
          <p:nvPr/>
        </p:nvSpPr>
        <p:spPr>
          <a:xfrm>
            <a:off x="548640" y="1508760"/>
            <a:ext cx="2587752" cy="4206240"/>
          </a:xfrm>
          <a:prstGeom prst="rect">
            <a:avLst/>
          </a:prstGeom>
          <a:solidFill>
            <a:schemeClr val="bg1"/>
          </a:solidFill>
          <a:ln w="9525">
            <a:solidFill>
              <a:srgbClr val="D8D3CB"/>
            </a:solidFill>
            <a:prstDash val="solid"/>
          </a:ln>
        </p:spPr>
      </p:sp>
      <p:sp>
        <p:nvSpPr>
          <p:cNvPr id="8" name="stat 1 circle"/>
          <p:cNvSpPr/>
          <p:nvPr/>
        </p:nvSpPr>
        <p:spPr>
          <a:xfrm>
            <a:off x="822960" y="1783080"/>
            <a:ext cx="685800" cy="685800"/>
          </a:xfrm>
          <a:prstGeom prst="ellipse">
            <a:avLst/>
          </a:prstGeom>
          <a:solidFill>
            <a:srgbClr val="FFFFFF"/>
          </a:solidFill>
          <a:ln w="12700">
            <a:solidFill>
              <a:srgbClr val="FFFFFF"/>
            </a:solidFill>
            <a:prstDash val="solid"/>
          </a:ln>
        </p:spPr>
      </p:sp>
      <p:pic>
        <p:nvPicPr>
          <p:cNvPr id="9" name="stat 1 icon" descr="preencoded.png">    </p:cNvPr>
          <p:cNvPicPr>
            <a:picLocks noChangeAspect="1"/>
          </p:cNvPicPr>
          <p:nvPr/>
        </p:nvPicPr>
        <p:blipFill>
          <a:blip r:embed="rId1"/>
          <a:stretch>
            <a:fillRect/>
          </a:stretch>
        </p:blipFill>
        <p:spPr>
          <a:xfrm>
            <a:off x="1001268" y="1961388"/>
            <a:ext cx="329184" cy="329184"/>
          </a:xfrm>
          <a:prstGeom prst="rect">
            <a:avLst/>
          </a:prstGeom>
        </p:spPr>
      </p:pic>
      <p:sp>
        <p:nvSpPr>
          <p:cNvPr id="10" name="stat value 1"/>
          <p:cNvSpPr txBox="1"/>
          <p:nvPr/>
        </p:nvSpPr>
        <p:spPr>
          <a:xfrm>
            <a:off x="822960" y="2697480"/>
            <a:ext cx="2194560" cy="868680"/>
          </a:xfrm>
          <a:prstGeom prst="rect">
            <a:avLst/>
          </a:prstGeom>
          <a:noFill/>
          <a:ln/>
        </p:spPr>
        <p:txBody>
          <a:bodyPr wrap="square" lIns="0" tIns="0" rIns="0" bIns="0" rtlCol="0" anchor="b"/>
          <a:lstStyle/>
          <a:p>
            <a:pPr indent="0" marL="0">
              <a:buNone/>
            </a:pPr>
            <a:r>
              <a:rPr lang="en-US" sz="4800" b="1" dirty="0">
                <a:solidFill>
                  <a:schemeClr val="accent1"/>
                </a:solidFill>
                <a:latin typeface="Arial" pitchFamily="34" charset="0"/>
                <a:ea typeface="Arial" pitchFamily="34" charset="-122"/>
                <a:cs typeface="Arial" pitchFamily="34" charset="-120"/>
              </a:rPr>
              <a:t>14–30</a:t>
            </a:r>
            <a:endParaRPr lang="en-US" sz="4800" dirty="0"/>
          </a:p>
        </p:txBody>
      </p:sp>
      <p:sp>
        <p:nvSpPr>
          <p:cNvPr id="11" name="stat unit 1"/>
          <p:cNvSpPr txBox="1"/>
          <p:nvPr/>
        </p:nvSpPr>
        <p:spPr>
          <a:xfrm>
            <a:off x="822960" y="3611880"/>
            <a:ext cx="2103120" cy="320040"/>
          </a:xfrm>
          <a:prstGeom prst="rect">
            <a:avLst/>
          </a:prstGeom>
          <a:noFill/>
          <a:ln/>
        </p:spPr>
        <p:txBody>
          <a:bodyPr wrap="square" lIns="0" tIns="0" rIns="0" bIns="0" rtlCol="0" anchor="t"/>
          <a:lstStyle/>
          <a:p>
            <a:pPr indent="0" marL="0">
              <a:buNone/>
            </a:pPr>
            <a:r>
              <a:rPr lang="en-US" sz="1600" b="1" dirty="0">
                <a:solidFill>
                  <a:schemeClr val="tx1"/>
                </a:solidFill>
              </a:rPr>
              <a:t>days</a:t>
            </a:r>
            <a:endParaRPr lang="en-US" sz="1600" dirty="0"/>
          </a:p>
        </p:txBody>
      </p:sp>
      <p:sp>
        <p:nvSpPr>
          <p:cNvPr id="12" name="stat text 1"/>
          <p:cNvSpPr txBox="1"/>
          <p:nvPr/>
        </p:nvSpPr>
        <p:spPr>
          <a:xfrm>
            <a:off x="822960" y="4005072"/>
            <a:ext cx="2103120" cy="1005840"/>
          </a:xfrm>
          <a:prstGeom prst="rect">
            <a:avLst/>
          </a:prstGeom>
          <a:noFill/>
          <a:ln/>
        </p:spPr>
        <p:txBody>
          <a:bodyPr wrap="square" lIns="0" tIns="0" rIns="0" bIns="0" rtlCol="0" anchor="t"/>
          <a:lstStyle/>
          <a:p>
            <a:pPr indent="0" marL="0">
              <a:buNone/>
            </a:pPr>
            <a:r>
              <a:rPr lang="en-US" sz="1400" dirty="0">
                <a:solidFill>
                  <a:schemeClr val="tx2"/>
                </a:solidFill>
              </a:rPr>
              <a:t>minimum a municipal tender is advertised — 14 days up to R10 m, 30 days above</a:t>
            </a:r>
            <a:endParaRPr lang="en-US" sz="1400" dirty="0"/>
          </a:p>
        </p:txBody>
      </p:sp>
      <p:sp>
        <p:nvSpPr>
          <p:cNvPr id="13" name="stat source 1"/>
          <p:cNvSpPr txBox="1"/>
          <p:nvPr/>
        </p:nvSpPr>
        <p:spPr>
          <a:xfrm>
            <a:off x="822960" y="5120640"/>
            <a:ext cx="2148840" cy="457200"/>
          </a:xfrm>
          <a:prstGeom prst="rect">
            <a:avLst/>
          </a:prstGeom>
          <a:noFill/>
          <a:ln/>
        </p:spPr>
        <p:txBody>
          <a:bodyPr wrap="square" lIns="0" tIns="0" rIns="0" bIns="0" rtlCol="0" anchor="t"/>
          <a:lstStyle/>
          <a:p>
            <a:pPr indent="0" marL="0">
              <a:buNone/>
            </a:pPr>
            <a:r>
              <a:rPr lang="en-US" sz="1000" i="1" dirty="0">
                <a:solidFill>
                  <a:schemeClr val="accent6"/>
                </a:solidFill>
              </a:rPr>
              <a:t>Official rule · Municipal SCM Regulations, reg. 22</a:t>
            </a:r>
            <a:endParaRPr lang="en-US" sz="1000" dirty="0"/>
          </a:p>
        </p:txBody>
      </p:sp>
      <p:sp>
        <p:nvSpPr>
          <p:cNvPr id="14" name="stat card 2"/>
          <p:cNvSpPr/>
          <p:nvPr/>
        </p:nvSpPr>
        <p:spPr>
          <a:xfrm>
            <a:off x="3364992" y="1508760"/>
            <a:ext cx="2587752" cy="4206240"/>
          </a:xfrm>
          <a:prstGeom prst="rect">
            <a:avLst/>
          </a:prstGeom>
          <a:solidFill>
            <a:schemeClr val="bg1"/>
          </a:solidFill>
          <a:ln w="9525">
            <a:solidFill>
              <a:srgbClr val="D8D3CB"/>
            </a:solidFill>
            <a:prstDash val="solid"/>
          </a:ln>
        </p:spPr>
      </p:sp>
      <p:sp>
        <p:nvSpPr>
          <p:cNvPr id="15" name="stat 2 circle"/>
          <p:cNvSpPr/>
          <p:nvPr/>
        </p:nvSpPr>
        <p:spPr>
          <a:xfrm>
            <a:off x="3639312" y="1783080"/>
            <a:ext cx="685800" cy="685800"/>
          </a:xfrm>
          <a:prstGeom prst="ellipse">
            <a:avLst/>
          </a:prstGeom>
          <a:solidFill>
            <a:srgbClr val="FFFFFF"/>
          </a:solidFill>
          <a:ln w="12700">
            <a:solidFill>
              <a:srgbClr val="FFFFFF"/>
            </a:solidFill>
            <a:prstDash val="solid"/>
          </a:ln>
        </p:spPr>
      </p:sp>
      <p:pic>
        <p:nvPicPr>
          <p:cNvPr id="16" name="stat 2 icon" descr="preencoded.png">    </p:cNvPr>
          <p:cNvPicPr>
            <a:picLocks noChangeAspect="1"/>
          </p:cNvPicPr>
          <p:nvPr/>
        </p:nvPicPr>
        <p:blipFill>
          <a:blip r:embed="rId2"/>
          <a:stretch>
            <a:fillRect/>
          </a:stretch>
        </p:blipFill>
        <p:spPr>
          <a:xfrm>
            <a:off x="3817620" y="1961388"/>
            <a:ext cx="329184" cy="329184"/>
          </a:xfrm>
          <a:prstGeom prst="rect">
            <a:avLst/>
          </a:prstGeom>
        </p:spPr>
      </p:pic>
      <p:sp>
        <p:nvSpPr>
          <p:cNvPr id="17" name="stat value 2"/>
          <p:cNvSpPr txBox="1"/>
          <p:nvPr/>
        </p:nvSpPr>
        <p:spPr>
          <a:xfrm>
            <a:off x="3639312" y="2697480"/>
            <a:ext cx="2194560" cy="868680"/>
          </a:xfrm>
          <a:prstGeom prst="rect">
            <a:avLst/>
          </a:prstGeom>
          <a:noFill/>
          <a:ln/>
        </p:spPr>
        <p:txBody>
          <a:bodyPr wrap="square" lIns="0" tIns="0" rIns="0" bIns="0" rtlCol="0" anchor="b"/>
          <a:lstStyle/>
          <a:p>
            <a:pPr indent="0" marL="0">
              <a:buNone/>
            </a:pPr>
            <a:r>
              <a:rPr lang="en-US" sz="4800" b="1" dirty="0">
                <a:solidFill>
                  <a:schemeClr val="accent1"/>
                </a:solidFill>
                <a:latin typeface="Arial" pitchFamily="34" charset="0"/>
                <a:ea typeface="Arial" pitchFamily="34" charset="-122"/>
                <a:cs typeface="Arial" pitchFamily="34" charset="-120"/>
              </a:rPr>
              <a:t>4.8%</a:t>
            </a:r>
            <a:endParaRPr lang="en-US" sz="4800" dirty="0"/>
          </a:p>
        </p:txBody>
      </p:sp>
      <p:sp>
        <p:nvSpPr>
          <p:cNvPr id="18" name="stat unit 2"/>
          <p:cNvSpPr txBox="1"/>
          <p:nvPr/>
        </p:nvSpPr>
        <p:spPr>
          <a:xfrm>
            <a:off x="3639312" y="3611880"/>
            <a:ext cx="2103120" cy="320040"/>
          </a:xfrm>
          <a:prstGeom prst="rect">
            <a:avLst/>
          </a:prstGeom>
          <a:noFill/>
          <a:ln/>
        </p:spPr>
        <p:txBody>
          <a:bodyPr wrap="square" lIns="0" tIns="0" rIns="0" bIns="0" rtlCol="0" anchor="t"/>
          <a:lstStyle/>
          <a:p>
            <a:pPr indent="0" marL="0">
              <a:buNone/>
            </a:pPr>
            <a:r>
              <a:rPr lang="en-US" sz="1600" b="1" dirty="0">
                <a:solidFill>
                  <a:schemeClr val="tx1"/>
                </a:solidFill>
              </a:rPr>
              <a:t>profit margin</a:t>
            </a:r>
            <a:endParaRPr lang="en-US" sz="1600" dirty="0"/>
          </a:p>
        </p:txBody>
      </p:sp>
      <p:sp>
        <p:nvSpPr>
          <p:cNvPr id="19" name="stat text 2"/>
          <p:cNvSpPr txBox="1"/>
          <p:nvPr/>
        </p:nvSpPr>
        <p:spPr>
          <a:xfrm>
            <a:off x="3639312" y="4005072"/>
            <a:ext cx="2103120" cy="1005840"/>
          </a:xfrm>
          <a:prstGeom prst="rect">
            <a:avLst/>
          </a:prstGeom>
          <a:noFill/>
          <a:ln/>
        </p:spPr>
        <p:txBody>
          <a:bodyPr wrap="square" lIns="0" tIns="0" rIns="0" bIns="0" rtlCol="0" anchor="t"/>
          <a:lstStyle/>
          <a:p>
            <a:pPr indent="0" marL="0">
              <a:buNone/>
            </a:pPr>
            <a:r>
              <a:rPr lang="en-US" sz="1400" dirty="0">
                <a:solidFill>
                  <a:schemeClr val="tx2"/>
                </a:solidFill>
              </a:rPr>
              <a:t>SA construction in 2024 — the highest since 2014; one missed item can erase it</a:t>
            </a:r>
            <a:endParaRPr lang="en-US" sz="1400" dirty="0"/>
          </a:p>
        </p:txBody>
      </p:sp>
      <p:sp>
        <p:nvSpPr>
          <p:cNvPr id="20" name="stat source 2"/>
          <p:cNvSpPr txBox="1"/>
          <p:nvPr/>
        </p:nvSpPr>
        <p:spPr>
          <a:xfrm>
            <a:off x="3639312" y="5120640"/>
            <a:ext cx="2148840" cy="457200"/>
          </a:xfrm>
          <a:prstGeom prst="rect">
            <a:avLst/>
          </a:prstGeom>
          <a:noFill/>
          <a:ln/>
        </p:spPr>
        <p:txBody>
          <a:bodyPr wrap="square" lIns="0" tIns="0" rIns="0" bIns="0" rtlCol="0" anchor="t"/>
          <a:lstStyle/>
          <a:p>
            <a:pPr indent="0" marL="0">
              <a:buNone/>
            </a:pPr>
            <a:r>
              <a:rPr lang="en-US" sz="1000" i="1" dirty="0">
                <a:solidFill>
                  <a:schemeClr val="accent6"/>
                </a:solidFill>
              </a:rPr>
              <a:t>Official · Stats SA, Construction industry 2024</a:t>
            </a:r>
            <a:endParaRPr lang="en-US" sz="1000" dirty="0"/>
          </a:p>
        </p:txBody>
      </p:sp>
      <p:sp>
        <p:nvSpPr>
          <p:cNvPr id="21" name="stat card 3"/>
          <p:cNvSpPr/>
          <p:nvPr/>
        </p:nvSpPr>
        <p:spPr>
          <a:xfrm>
            <a:off x="6181344" y="1508760"/>
            <a:ext cx="2587752" cy="4206240"/>
          </a:xfrm>
          <a:prstGeom prst="rect">
            <a:avLst/>
          </a:prstGeom>
          <a:solidFill>
            <a:schemeClr val="bg1"/>
          </a:solidFill>
          <a:ln w="9525">
            <a:solidFill>
              <a:srgbClr val="D8D3CB"/>
            </a:solidFill>
            <a:prstDash val="solid"/>
          </a:ln>
        </p:spPr>
      </p:sp>
      <p:sp>
        <p:nvSpPr>
          <p:cNvPr id="22" name="stat 3 circle"/>
          <p:cNvSpPr/>
          <p:nvPr/>
        </p:nvSpPr>
        <p:spPr>
          <a:xfrm>
            <a:off x="6455664" y="1783080"/>
            <a:ext cx="685800" cy="685800"/>
          </a:xfrm>
          <a:prstGeom prst="ellipse">
            <a:avLst/>
          </a:prstGeom>
          <a:solidFill>
            <a:srgbClr val="FFFFFF"/>
          </a:solidFill>
          <a:ln w="12700">
            <a:solidFill>
              <a:srgbClr val="FFFFFF"/>
            </a:solidFill>
            <a:prstDash val="solid"/>
          </a:ln>
        </p:spPr>
      </p:sp>
      <p:pic>
        <p:nvPicPr>
          <p:cNvPr id="23" name="stat 3 icon" descr="preencoded.png">    </p:cNvPr>
          <p:cNvPicPr>
            <a:picLocks noChangeAspect="1"/>
          </p:cNvPicPr>
          <p:nvPr/>
        </p:nvPicPr>
        <p:blipFill>
          <a:blip r:embed="rId3"/>
          <a:stretch>
            <a:fillRect/>
          </a:stretch>
        </p:blipFill>
        <p:spPr>
          <a:xfrm>
            <a:off x="6633972" y="1961388"/>
            <a:ext cx="329184" cy="329184"/>
          </a:xfrm>
          <a:prstGeom prst="rect">
            <a:avLst/>
          </a:prstGeom>
        </p:spPr>
      </p:pic>
      <p:sp>
        <p:nvSpPr>
          <p:cNvPr id="24" name="stat value 3"/>
          <p:cNvSpPr txBox="1"/>
          <p:nvPr/>
        </p:nvSpPr>
        <p:spPr>
          <a:xfrm>
            <a:off x="6455664" y="2697480"/>
            <a:ext cx="2194560" cy="868680"/>
          </a:xfrm>
          <a:prstGeom prst="rect">
            <a:avLst/>
          </a:prstGeom>
          <a:noFill/>
          <a:ln/>
        </p:spPr>
        <p:txBody>
          <a:bodyPr wrap="square" lIns="0" tIns="0" rIns="0" bIns="0" rtlCol="0" anchor="b"/>
          <a:lstStyle/>
          <a:p>
            <a:pPr indent="0" marL="0">
              <a:buNone/>
            </a:pPr>
            <a:r>
              <a:rPr lang="en-US" sz="4800" b="1" dirty="0">
                <a:solidFill>
                  <a:schemeClr val="accent1"/>
                </a:solidFill>
                <a:latin typeface="Arial" pitchFamily="34" charset="0"/>
                <a:ea typeface="Arial" pitchFamily="34" charset="-122"/>
                <a:cs typeface="Arial" pitchFamily="34" charset="-120"/>
              </a:rPr>
              <a:t>13.3%</a:t>
            </a:r>
            <a:endParaRPr lang="en-US" sz="4800" dirty="0"/>
          </a:p>
        </p:txBody>
      </p:sp>
      <p:sp>
        <p:nvSpPr>
          <p:cNvPr id="25" name="stat unit 3"/>
          <p:cNvSpPr txBox="1"/>
          <p:nvPr/>
        </p:nvSpPr>
        <p:spPr>
          <a:xfrm>
            <a:off x="6455664" y="3611880"/>
            <a:ext cx="2103120" cy="320040"/>
          </a:xfrm>
          <a:prstGeom prst="rect">
            <a:avLst/>
          </a:prstGeom>
          <a:noFill/>
          <a:ln/>
        </p:spPr>
        <p:txBody>
          <a:bodyPr wrap="square" lIns="0" tIns="0" rIns="0" bIns="0" rtlCol="0" anchor="t"/>
          <a:lstStyle/>
          <a:p>
            <a:pPr indent="0" marL="0">
              <a:buNone/>
            </a:pPr>
            <a:r>
              <a:rPr lang="en-US" sz="1600" b="1" dirty="0">
                <a:solidFill>
                  <a:schemeClr val="tx1"/>
                </a:solidFill>
              </a:rPr>
              <a:t>of bids won</a:t>
            </a:r>
            <a:endParaRPr lang="en-US" sz="1600" dirty="0"/>
          </a:p>
        </p:txBody>
      </p:sp>
      <p:sp>
        <p:nvSpPr>
          <p:cNvPr id="26" name="stat text 3"/>
          <p:cNvSpPr txBox="1"/>
          <p:nvPr/>
        </p:nvSpPr>
        <p:spPr>
          <a:xfrm>
            <a:off x="6455664" y="4005072"/>
            <a:ext cx="2103120" cy="1005840"/>
          </a:xfrm>
          <a:prstGeom prst="rect">
            <a:avLst/>
          </a:prstGeom>
          <a:noFill/>
          <a:ln/>
        </p:spPr>
        <p:txBody>
          <a:bodyPr wrap="square" lIns="0" tIns="0" rIns="0" bIns="0" rtlCol="0" anchor="t"/>
          <a:lstStyle/>
          <a:p>
            <a:pPr indent="0" marL="0">
              <a:buNone/>
            </a:pPr>
            <a:r>
              <a:rPr lang="en-US" sz="1400" dirty="0">
                <a:solidFill>
                  <a:schemeClr val="tx2"/>
                </a:solidFill>
              </a:rPr>
              <a:t>2,296 bids for 289 public tenders — most estimates earn nothing</a:t>
            </a:r>
            <a:endParaRPr lang="en-US" sz="1400" dirty="0"/>
          </a:p>
        </p:txBody>
      </p:sp>
      <p:sp>
        <p:nvSpPr>
          <p:cNvPr id="27" name="stat source 3"/>
          <p:cNvSpPr txBox="1"/>
          <p:nvPr/>
        </p:nvSpPr>
        <p:spPr>
          <a:xfrm>
            <a:off x="6455664" y="5120640"/>
            <a:ext cx="2148840" cy="457200"/>
          </a:xfrm>
          <a:prstGeom prst="rect">
            <a:avLst/>
          </a:prstGeom>
          <a:noFill/>
          <a:ln/>
        </p:spPr>
        <p:txBody>
          <a:bodyPr wrap="square" lIns="0" tIns="0" rIns="0" bIns="0" rtlCol="0" anchor="t"/>
          <a:lstStyle/>
          <a:p>
            <a:pPr indent="0" marL="0">
              <a:buNone/>
            </a:pPr>
            <a:r>
              <a:rPr lang="en-US" sz="1000" i="1" dirty="0">
                <a:solidFill>
                  <a:schemeClr val="accent6"/>
                </a:solidFill>
              </a:rPr>
              <a:t>Peer-reviewed · Alkhateeb et al., 2020 (Jordan)</a:t>
            </a:r>
            <a:endParaRPr lang="en-US" sz="1000" dirty="0"/>
          </a:p>
        </p:txBody>
      </p:sp>
      <p:sp>
        <p:nvSpPr>
          <p:cNvPr id="28" name="stat card 4"/>
          <p:cNvSpPr/>
          <p:nvPr/>
        </p:nvSpPr>
        <p:spPr>
          <a:xfrm>
            <a:off x="8997696" y="1508760"/>
            <a:ext cx="2587752" cy="4206240"/>
          </a:xfrm>
          <a:prstGeom prst="rect">
            <a:avLst/>
          </a:prstGeom>
          <a:solidFill>
            <a:schemeClr val="bg1"/>
          </a:solidFill>
          <a:ln w="9525">
            <a:solidFill>
              <a:srgbClr val="D8D3CB"/>
            </a:solidFill>
            <a:prstDash val="solid"/>
          </a:ln>
        </p:spPr>
      </p:sp>
      <p:sp>
        <p:nvSpPr>
          <p:cNvPr id="29" name="stat 4 circle"/>
          <p:cNvSpPr/>
          <p:nvPr/>
        </p:nvSpPr>
        <p:spPr>
          <a:xfrm>
            <a:off x="9272016" y="1783080"/>
            <a:ext cx="685800" cy="685800"/>
          </a:xfrm>
          <a:prstGeom prst="ellipse">
            <a:avLst/>
          </a:prstGeom>
          <a:solidFill>
            <a:srgbClr val="FFFFFF"/>
          </a:solidFill>
          <a:ln w="12700">
            <a:solidFill>
              <a:srgbClr val="FFFFFF"/>
            </a:solidFill>
            <a:prstDash val="solid"/>
          </a:ln>
        </p:spPr>
      </p:sp>
      <p:pic>
        <p:nvPicPr>
          <p:cNvPr id="30" name="stat 4 icon" descr="preencoded.png">    </p:cNvPr>
          <p:cNvPicPr>
            <a:picLocks noChangeAspect="1"/>
          </p:cNvPicPr>
          <p:nvPr/>
        </p:nvPicPr>
        <p:blipFill>
          <a:blip r:embed="rId4"/>
          <a:stretch>
            <a:fillRect/>
          </a:stretch>
        </p:blipFill>
        <p:spPr>
          <a:xfrm>
            <a:off x="9450324" y="1961388"/>
            <a:ext cx="329184" cy="329184"/>
          </a:xfrm>
          <a:prstGeom prst="rect">
            <a:avLst/>
          </a:prstGeom>
        </p:spPr>
      </p:pic>
      <p:sp>
        <p:nvSpPr>
          <p:cNvPr id="31" name="stat value 4"/>
          <p:cNvSpPr txBox="1"/>
          <p:nvPr/>
        </p:nvSpPr>
        <p:spPr>
          <a:xfrm>
            <a:off x="9272016" y="2697480"/>
            <a:ext cx="2194560" cy="868680"/>
          </a:xfrm>
          <a:prstGeom prst="rect">
            <a:avLst/>
          </a:prstGeom>
          <a:noFill/>
          <a:ln/>
        </p:spPr>
        <p:txBody>
          <a:bodyPr wrap="square" lIns="0" tIns="0" rIns="0" bIns="0" rtlCol="0" anchor="b"/>
          <a:lstStyle/>
          <a:p>
            <a:pPr indent="0" marL="0">
              <a:buNone/>
            </a:pPr>
            <a:r>
              <a:rPr lang="en-US" sz="3000" b="1" dirty="0">
                <a:solidFill>
                  <a:schemeClr val="accent1"/>
                </a:solidFill>
                <a:latin typeface="Arial" pitchFamily="34" charset="0"/>
                <a:ea typeface="Arial" pitchFamily="34" charset="-122"/>
                <a:cs typeface="Arial" pitchFamily="34" charset="-120"/>
              </a:rPr>
              <a:t>0.05–0.65%</a:t>
            </a:r>
            <a:endParaRPr lang="en-US" sz="3000" dirty="0"/>
          </a:p>
        </p:txBody>
      </p:sp>
      <p:sp>
        <p:nvSpPr>
          <p:cNvPr id="32" name="stat unit 4"/>
          <p:cNvSpPr txBox="1"/>
          <p:nvPr/>
        </p:nvSpPr>
        <p:spPr>
          <a:xfrm>
            <a:off x="9272016" y="3611880"/>
            <a:ext cx="2103120" cy="320040"/>
          </a:xfrm>
          <a:prstGeom prst="rect">
            <a:avLst/>
          </a:prstGeom>
          <a:noFill/>
          <a:ln/>
        </p:spPr>
        <p:txBody>
          <a:bodyPr wrap="square" lIns="0" tIns="0" rIns="0" bIns="0" rtlCol="0" anchor="t"/>
          <a:lstStyle/>
          <a:p>
            <a:pPr indent="0" marL="0">
              <a:buNone/>
            </a:pPr>
            <a:r>
              <a:rPr lang="en-US" sz="1600" b="1" dirty="0">
                <a:solidFill>
                  <a:schemeClr val="tx1"/>
                </a:solidFill>
              </a:rPr>
              <a:t>of the tender value</a:t>
            </a:r>
            <a:endParaRPr lang="en-US" sz="1600" dirty="0"/>
          </a:p>
        </p:txBody>
      </p:sp>
      <p:sp>
        <p:nvSpPr>
          <p:cNvPr id="33" name="stat text 4"/>
          <p:cNvSpPr txBox="1"/>
          <p:nvPr/>
        </p:nvSpPr>
        <p:spPr>
          <a:xfrm>
            <a:off x="9272016" y="4005072"/>
            <a:ext cx="2103120" cy="1005840"/>
          </a:xfrm>
          <a:prstGeom prst="rect">
            <a:avLst/>
          </a:prstGeom>
          <a:noFill/>
          <a:ln/>
        </p:spPr>
        <p:txBody>
          <a:bodyPr wrap="square" lIns="0" tIns="0" rIns="0" bIns="0" rtlCol="0" anchor="t"/>
          <a:lstStyle/>
          <a:p>
            <a:pPr indent="0" marL="0">
              <a:buNone/>
            </a:pPr>
            <a:r>
              <a:rPr lang="en-US" sz="1400" dirty="0">
                <a:solidFill>
                  <a:schemeClr val="tx2"/>
                </a:solidFill>
              </a:rPr>
              <a:t>spent preparing each tender — paid again on every bid that is lost</a:t>
            </a:r>
            <a:endParaRPr lang="en-US" sz="1400" dirty="0"/>
          </a:p>
        </p:txBody>
      </p:sp>
      <p:sp>
        <p:nvSpPr>
          <p:cNvPr id="34" name="stat source 4"/>
          <p:cNvSpPr txBox="1"/>
          <p:nvPr/>
        </p:nvSpPr>
        <p:spPr>
          <a:xfrm>
            <a:off x="9272016" y="5120640"/>
            <a:ext cx="2148840" cy="457200"/>
          </a:xfrm>
          <a:prstGeom prst="rect">
            <a:avLst/>
          </a:prstGeom>
          <a:noFill/>
          <a:ln/>
        </p:spPr>
        <p:txBody>
          <a:bodyPr wrap="square" lIns="0" tIns="0" rIns="0" bIns="0" rtlCol="0" anchor="t"/>
          <a:lstStyle/>
          <a:p>
            <a:pPr indent="0" marL="0">
              <a:buNone/>
            </a:pPr>
            <a:r>
              <a:rPr lang="en-US" sz="1000" i="1" dirty="0">
                <a:solidFill>
                  <a:schemeClr val="accent6"/>
                </a:solidFill>
              </a:rPr>
              <a:t>Peer-reviewed · Ameyaw et al., 2021 (Ghana)</a:t>
            </a:r>
            <a:endParaRPr lang="en-US" sz="1000" dirty="0"/>
          </a:p>
        </p:txBody>
      </p:sp>
      <p:sp>
        <p:nvSpPr>
          <p:cNvPr id="35" name="source"/>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950" dirty="0">
                <a:solidFill>
                  <a:schemeClr val="accent6"/>
                </a:solidFill>
              </a:rPr>
              <a:t>No study measures South African electrical take-off hours, SA tender win rates or manual take-off error rates — win rate and tender cost come from comparable public-procurement studies abroad.</a:t>
            </a:r>
            <a:endParaRPr lang="en-US" sz="95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HOW AFRIPLAN WORKS</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What goes in, what comes out</a:t>
            </a:r>
            <a:endParaRPr lang="en-US" sz="2600" dirty="0"/>
          </a:p>
        </p:txBody>
      </p:sp>
      <p:sp>
        <p:nvSpPr>
          <p:cNvPr id="7" name="in heading"/>
          <p:cNvSpPr txBox="1"/>
          <p:nvPr/>
        </p:nvSpPr>
        <p:spPr>
          <a:xfrm>
            <a:off x="548640" y="1371600"/>
            <a:ext cx="3657600" cy="274320"/>
          </a:xfrm>
          <a:prstGeom prst="rect">
            <a:avLst/>
          </a:prstGeom>
          <a:noFill/>
          <a:ln/>
        </p:spPr>
        <p:txBody>
          <a:bodyPr wrap="square" lIns="0" tIns="0" rIns="0" bIns="0" rtlCol="0" anchor="t"/>
          <a:lstStyle/>
          <a:p>
            <a:pPr indent="0" marL="0">
              <a:buNone/>
            </a:pPr>
            <a:r>
              <a:rPr lang="en-US" sz="1200" b="1" dirty="0">
                <a:solidFill>
                  <a:schemeClr val="accent6"/>
                </a:solidFill>
              </a:rPr>
              <a:t>YOU GIVE IT</a:t>
            </a:r>
            <a:endParaRPr lang="en-US" sz="1200" dirty="0"/>
          </a:p>
        </p:txBody>
      </p:sp>
      <p:sp>
        <p:nvSpPr>
          <p:cNvPr id="8" name="out heading"/>
          <p:cNvSpPr txBox="1"/>
          <p:nvPr/>
        </p:nvSpPr>
        <p:spPr>
          <a:xfrm>
            <a:off x="8001000" y="1371600"/>
            <a:ext cx="3657600" cy="274320"/>
          </a:xfrm>
          <a:prstGeom prst="rect">
            <a:avLst/>
          </a:prstGeom>
          <a:noFill/>
          <a:ln/>
        </p:spPr>
        <p:txBody>
          <a:bodyPr wrap="square" lIns="0" tIns="0" rIns="0" bIns="0" rtlCol="0" anchor="t"/>
          <a:lstStyle/>
          <a:p>
            <a:pPr indent="0" marL="0">
              <a:buNone/>
            </a:pPr>
            <a:r>
              <a:rPr lang="en-US" sz="1200" b="1" dirty="0">
                <a:solidFill>
                  <a:schemeClr val="accent6"/>
                </a:solidFill>
              </a:rPr>
              <a:t>YOU GET</a:t>
            </a:r>
            <a:endParaRPr lang="en-US" sz="1200" dirty="0"/>
          </a:p>
        </p:txBody>
      </p:sp>
      <p:sp>
        <p:nvSpPr>
          <p:cNvPr id="9" name="in card 1"/>
          <p:cNvSpPr/>
          <p:nvPr/>
        </p:nvSpPr>
        <p:spPr>
          <a:xfrm>
            <a:off x="548640" y="1737360"/>
            <a:ext cx="3611880" cy="868680"/>
          </a:xfrm>
          <a:prstGeom prst="rect">
            <a:avLst/>
          </a:prstGeom>
          <a:solidFill>
            <a:schemeClr val="bg1"/>
          </a:solidFill>
          <a:ln w="9525">
            <a:solidFill>
              <a:srgbClr val="D8D3CB"/>
            </a:solidFill>
            <a:prstDash val="solid"/>
          </a:ln>
        </p:spPr>
      </p:sp>
      <p:sp>
        <p:nvSpPr>
          <p:cNvPr id="10" name="in 1 circle"/>
          <p:cNvSpPr/>
          <p:nvPr/>
        </p:nvSpPr>
        <p:spPr>
          <a:xfrm>
            <a:off x="713232" y="1874520"/>
            <a:ext cx="594360" cy="594360"/>
          </a:xfrm>
          <a:prstGeom prst="ellipse">
            <a:avLst/>
          </a:prstGeom>
          <a:solidFill>
            <a:srgbClr val="8E1B1B"/>
          </a:solidFill>
          <a:ln w="12700">
            <a:solidFill>
              <a:srgbClr val="8E1B1B"/>
            </a:solidFill>
            <a:prstDash val="solid"/>
          </a:ln>
        </p:spPr>
      </p:sp>
      <p:pic>
        <p:nvPicPr>
          <p:cNvPr id="11" name="in 1 icon" descr="preencoded.png">    </p:cNvPr>
          <p:cNvPicPr>
            <a:picLocks noChangeAspect="1"/>
          </p:cNvPicPr>
          <p:nvPr/>
        </p:nvPicPr>
        <p:blipFill>
          <a:blip r:embed="rId1"/>
          <a:stretch>
            <a:fillRect/>
          </a:stretch>
        </p:blipFill>
        <p:spPr>
          <a:xfrm>
            <a:off x="867766" y="2029054"/>
            <a:ext cx="285293" cy="285293"/>
          </a:xfrm>
          <a:prstGeom prst="rect">
            <a:avLst/>
          </a:prstGeom>
        </p:spPr>
      </p:pic>
      <p:sp>
        <p:nvSpPr>
          <p:cNvPr id="12" name="in title 1"/>
          <p:cNvSpPr txBox="1"/>
          <p:nvPr/>
        </p:nvSpPr>
        <p:spPr>
          <a:xfrm>
            <a:off x="1463040" y="1865376"/>
            <a:ext cx="2606040" cy="320040"/>
          </a:xfrm>
          <a:prstGeom prst="rect">
            <a:avLst/>
          </a:prstGeom>
          <a:noFill/>
          <a:ln/>
        </p:spPr>
        <p:txBody>
          <a:bodyPr wrap="square" lIns="0" tIns="0" rIns="0" bIns="0" rtlCol="0" anchor="t"/>
          <a:lstStyle/>
          <a:p>
            <a:pPr indent="0" marL="0">
              <a:buNone/>
            </a:pPr>
            <a:r>
              <a:rPr lang="en-US" sz="1500" b="1" dirty="0">
                <a:solidFill>
                  <a:schemeClr val="tx1"/>
                </a:solidFill>
              </a:rPr>
              <a:t>PDF drawing set</a:t>
            </a:r>
            <a:endParaRPr lang="en-US" sz="1500" dirty="0"/>
          </a:p>
        </p:txBody>
      </p:sp>
      <p:sp>
        <p:nvSpPr>
          <p:cNvPr id="13" name="in text 1"/>
          <p:cNvSpPr txBox="1"/>
          <p:nvPr/>
        </p:nvSpPr>
        <p:spPr>
          <a:xfrm>
            <a:off x="1463040" y="2194560"/>
            <a:ext cx="2606040" cy="320040"/>
          </a:xfrm>
          <a:prstGeom prst="rect">
            <a:avLst/>
          </a:prstGeom>
          <a:noFill/>
          <a:ln/>
        </p:spPr>
        <p:txBody>
          <a:bodyPr wrap="square" lIns="0" tIns="0" rIns="0" bIns="0" rtlCol="0" anchor="t"/>
          <a:lstStyle/>
          <a:p>
            <a:pPr indent="0" marL="0">
              <a:buNone/>
            </a:pPr>
            <a:r>
              <a:rPr lang="en-US" sz="1150" dirty="0">
                <a:solidFill>
                  <a:schemeClr val="tx2"/>
                </a:solidFill>
              </a:rPr>
              <a:t>scanned or exported pages</a:t>
            </a:r>
            <a:endParaRPr lang="en-US" sz="1150" dirty="0"/>
          </a:p>
        </p:txBody>
      </p:sp>
      <p:sp>
        <p:nvSpPr>
          <p:cNvPr id="14" name="out card 1"/>
          <p:cNvSpPr/>
          <p:nvPr/>
        </p:nvSpPr>
        <p:spPr>
          <a:xfrm>
            <a:off x="8001000" y="1737360"/>
            <a:ext cx="3611880" cy="868680"/>
          </a:xfrm>
          <a:prstGeom prst="rect">
            <a:avLst/>
          </a:prstGeom>
          <a:solidFill>
            <a:schemeClr val="bg2"/>
          </a:solidFill>
          <a:ln w="9525">
            <a:solidFill>
              <a:srgbClr val="D8D3CB"/>
            </a:solidFill>
            <a:prstDash val="solid"/>
          </a:ln>
        </p:spPr>
      </p:sp>
      <p:sp>
        <p:nvSpPr>
          <p:cNvPr id="15" name="out 1 circle"/>
          <p:cNvSpPr/>
          <p:nvPr/>
        </p:nvSpPr>
        <p:spPr>
          <a:xfrm>
            <a:off x="8165592" y="1874520"/>
            <a:ext cx="594360" cy="594360"/>
          </a:xfrm>
          <a:prstGeom prst="ellipse">
            <a:avLst/>
          </a:prstGeom>
          <a:solidFill>
            <a:srgbClr val="8E1B1B"/>
          </a:solidFill>
          <a:ln w="12700">
            <a:solidFill>
              <a:srgbClr val="8E1B1B"/>
            </a:solidFill>
            <a:prstDash val="solid"/>
          </a:ln>
        </p:spPr>
      </p:sp>
      <p:pic>
        <p:nvPicPr>
          <p:cNvPr id="16" name="out 1 icon" descr="preencoded.png">    </p:cNvPr>
          <p:cNvPicPr>
            <a:picLocks noChangeAspect="1"/>
          </p:cNvPicPr>
          <p:nvPr/>
        </p:nvPicPr>
        <p:blipFill>
          <a:blip r:embed="rId2"/>
          <a:stretch>
            <a:fillRect/>
          </a:stretch>
        </p:blipFill>
        <p:spPr>
          <a:xfrm>
            <a:off x="8320126" y="2029054"/>
            <a:ext cx="285293" cy="285293"/>
          </a:xfrm>
          <a:prstGeom prst="rect">
            <a:avLst/>
          </a:prstGeom>
        </p:spPr>
      </p:pic>
      <p:sp>
        <p:nvSpPr>
          <p:cNvPr id="17" name="out title 1"/>
          <p:cNvSpPr txBox="1"/>
          <p:nvPr/>
        </p:nvSpPr>
        <p:spPr>
          <a:xfrm>
            <a:off x="8915400" y="1865376"/>
            <a:ext cx="2606040" cy="320040"/>
          </a:xfrm>
          <a:prstGeom prst="rect">
            <a:avLst/>
          </a:prstGeom>
          <a:noFill/>
          <a:ln/>
        </p:spPr>
        <p:txBody>
          <a:bodyPr wrap="square" lIns="0" tIns="0" rIns="0" bIns="0" rtlCol="0" anchor="t"/>
          <a:lstStyle/>
          <a:p>
            <a:pPr indent="0" marL="0">
              <a:buNone/>
            </a:pPr>
            <a:r>
              <a:rPr lang="en-US" sz="1500" b="1" dirty="0">
                <a:solidFill>
                  <a:schemeClr val="tx1"/>
                </a:solidFill>
              </a:rPr>
              <a:t>Priced BoQ</a:t>
            </a:r>
            <a:endParaRPr lang="en-US" sz="1500" dirty="0"/>
          </a:p>
        </p:txBody>
      </p:sp>
      <p:sp>
        <p:nvSpPr>
          <p:cNvPr id="18" name="out text 1"/>
          <p:cNvSpPr txBox="1"/>
          <p:nvPr/>
        </p:nvSpPr>
        <p:spPr>
          <a:xfrm>
            <a:off x="8915400" y="2194560"/>
            <a:ext cx="2606040" cy="320040"/>
          </a:xfrm>
          <a:prstGeom prst="rect">
            <a:avLst/>
          </a:prstGeom>
          <a:noFill/>
          <a:ln/>
        </p:spPr>
        <p:txBody>
          <a:bodyPr wrap="square" lIns="0" tIns="0" rIns="0" bIns="0" rtlCol="0" anchor="t"/>
          <a:lstStyle/>
          <a:p>
            <a:pPr indent="0" marL="0">
              <a:buNone/>
            </a:pPr>
            <a:r>
              <a:rPr lang="en-US" sz="1150" dirty="0">
                <a:solidFill>
                  <a:schemeClr val="tx2"/>
                </a:solidFill>
              </a:rPr>
              <a:t>Excel + PDF tender document</a:t>
            </a:r>
            <a:endParaRPr lang="en-US" sz="1150" dirty="0"/>
          </a:p>
        </p:txBody>
      </p:sp>
      <p:sp>
        <p:nvSpPr>
          <p:cNvPr id="19" name="in card 2"/>
          <p:cNvSpPr/>
          <p:nvPr/>
        </p:nvSpPr>
        <p:spPr>
          <a:xfrm>
            <a:off x="548640" y="2761488"/>
            <a:ext cx="3611880" cy="868680"/>
          </a:xfrm>
          <a:prstGeom prst="rect">
            <a:avLst/>
          </a:prstGeom>
          <a:solidFill>
            <a:schemeClr val="bg1"/>
          </a:solidFill>
          <a:ln w="9525">
            <a:solidFill>
              <a:srgbClr val="D8D3CB"/>
            </a:solidFill>
            <a:prstDash val="solid"/>
          </a:ln>
        </p:spPr>
      </p:sp>
      <p:sp>
        <p:nvSpPr>
          <p:cNvPr id="20" name="in 2 circle"/>
          <p:cNvSpPr/>
          <p:nvPr/>
        </p:nvSpPr>
        <p:spPr>
          <a:xfrm>
            <a:off x="713232" y="2898648"/>
            <a:ext cx="594360" cy="594360"/>
          </a:xfrm>
          <a:prstGeom prst="ellipse">
            <a:avLst/>
          </a:prstGeom>
          <a:solidFill>
            <a:srgbClr val="8E1B1B"/>
          </a:solidFill>
          <a:ln w="12700">
            <a:solidFill>
              <a:srgbClr val="8E1B1B"/>
            </a:solidFill>
            <a:prstDash val="solid"/>
          </a:ln>
        </p:spPr>
      </p:sp>
      <p:pic>
        <p:nvPicPr>
          <p:cNvPr id="21" name="in 2 icon" descr="preencoded.png">    </p:cNvPr>
          <p:cNvPicPr>
            <a:picLocks noChangeAspect="1"/>
          </p:cNvPicPr>
          <p:nvPr/>
        </p:nvPicPr>
        <p:blipFill>
          <a:blip r:embed="rId3"/>
          <a:stretch>
            <a:fillRect/>
          </a:stretch>
        </p:blipFill>
        <p:spPr>
          <a:xfrm>
            <a:off x="867766" y="3053182"/>
            <a:ext cx="285293" cy="285293"/>
          </a:xfrm>
          <a:prstGeom prst="rect">
            <a:avLst/>
          </a:prstGeom>
        </p:spPr>
      </p:pic>
      <p:sp>
        <p:nvSpPr>
          <p:cNvPr id="22" name="in title 2"/>
          <p:cNvSpPr txBox="1"/>
          <p:nvPr/>
        </p:nvSpPr>
        <p:spPr>
          <a:xfrm>
            <a:off x="1463040" y="2889504"/>
            <a:ext cx="2606040" cy="320040"/>
          </a:xfrm>
          <a:prstGeom prst="rect">
            <a:avLst/>
          </a:prstGeom>
          <a:noFill/>
          <a:ln/>
        </p:spPr>
        <p:txBody>
          <a:bodyPr wrap="square" lIns="0" tIns="0" rIns="0" bIns="0" rtlCol="0" anchor="t"/>
          <a:lstStyle/>
          <a:p>
            <a:pPr indent="0" marL="0">
              <a:buNone/>
            </a:pPr>
            <a:r>
              <a:rPr lang="en-US" sz="1500" b="1" dirty="0">
                <a:solidFill>
                  <a:schemeClr val="tx1"/>
                </a:solidFill>
              </a:rPr>
              <a:t>CAD drawing set</a:t>
            </a:r>
            <a:endParaRPr lang="en-US" sz="1500" dirty="0"/>
          </a:p>
        </p:txBody>
      </p:sp>
      <p:sp>
        <p:nvSpPr>
          <p:cNvPr id="23" name="in text 2"/>
          <p:cNvSpPr txBox="1"/>
          <p:nvPr/>
        </p:nvSpPr>
        <p:spPr>
          <a:xfrm>
            <a:off x="1463040" y="3218688"/>
            <a:ext cx="2606040" cy="320040"/>
          </a:xfrm>
          <a:prstGeom prst="rect">
            <a:avLst/>
          </a:prstGeom>
          <a:noFill/>
          <a:ln/>
        </p:spPr>
        <p:txBody>
          <a:bodyPr wrap="square" lIns="0" tIns="0" rIns="0" bIns="0" rtlCol="0" anchor="t"/>
          <a:lstStyle/>
          <a:p>
            <a:pPr indent="0" marL="0">
              <a:buNone/>
            </a:pPr>
            <a:r>
              <a:rPr lang="en-US" sz="1150" dirty="0">
                <a:solidFill>
                  <a:schemeClr val="tx2"/>
                </a:solidFill>
              </a:rPr>
              <a:t>DWG / DXF: SLDs, layouts, site plan</a:t>
            </a:r>
            <a:endParaRPr lang="en-US" sz="1150" dirty="0"/>
          </a:p>
        </p:txBody>
      </p:sp>
      <p:sp>
        <p:nvSpPr>
          <p:cNvPr id="24" name="out card 2"/>
          <p:cNvSpPr/>
          <p:nvPr/>
        </p:nvSpPr>
        <p:spPr>
          <a:xfrm>
            <a:off x="8001000" y="2761488"/>
            <a:ext cx="3611880" cy="868680"/>
          </a:xfrm>
          <a:prstGeom prst="rect">
            <a:avLst/>
          </a:prstGeom>
          <a:solidFill>
            <a:schemeClr val="bg2"/>
          </a:solidFill>
          <a:ln w="9525">
            <a:solidFill>
              <a:srgbClr val="D8D3CB"/>
            </a:solidFill>
            <a:prstDash val="solid"/>
          </a:ln>
        </p:spPr>
      </p:sp>
      <p:sp>
        <p:nvSpPr>
          <p:cNvPr id="25" name="out 2 circle"/>
          <p:cNvSpPr/>
          <p:nvPr/>
        </p:nvSpPr>
        <p:spPr>
          <a:xfrm>
            <a:off x="8165592" y="2898648"/>
            <a:ext cx="594360" cy="594360"/>
          </a:xfrm>
          <a:prstGeom prst="ellipse">
            <a:avLst/>
          </a:prstGeom>
          <a:solidFill>
            <a:srgbClr val="8E1B1B"/>
          </a:solidFill>
          <a:ln w="12700">
            <a:solidFill>
              <a:srgbClr val="8E1B1B"/>
            </a:solidFill>
            <a:prstDash val="solid"/>
          </a:ln>
        </p:spPr>
      </p:sp>
      <p:pic>
        <p:nvPicPr>
          <p:cNvPr id="26" name="out 2 icon" descr="preencoded.png">    </p:cNvPr>
          <p:cNvPicPr>
            <a:picLocks noChangeAspect="1"/>
          </p:cNvPicPr>
          <p:nvPr/>
        </p:nvPicPr>
        <p:blipFill>
          <a:blip r:embed="rId4"/>
          <a:stretch>
            <a:fillRect/>
          </a:stretch>
        </p:blipFill>
        <p:spPr>
          <a:xfrm>
            <a:off x="8320126" y="3053182"/>
            <a:ext cx="285293" cy="285293"/>
          </a:xfrm>
          <a:prstGeom prst="rect">
            <a:avLst/>
          </a:prstGeom>
        </p:spPr>
      </p:pic>
      <p:sp>
        <p:nvSpPr>
          <p:cNvPr id="27" name="out title 2"/>
          <p:cNvSpPr txBox="1"/>
          <p:nvPr/>
        </p:nvSpPr>
        <p:spPr>
          <a:xfrm>
            <a:off x="8915400" y="2889504"/>
            <a:ext cx="2606040" cy="320040"/>
          </a:xfrm>
          <a:prstGeom prst="rect">
            <a:avLst/>
          </a:prstGeom>
          <a:noFill/>
          <a:ln/>
        </p:spPr>
        <p:txBody>
          <a:bodyPr wrap="square" lIns="0" tIns="0" rIns="0" bIns="0" rtlCol="0" anchor="t"/>
          <a:lstStyle/>
          <a:p>
            <a:pPr indent="0" marL="0">
              <a:buNone/>
            </a:pPr>
            <a:r>
              <a:rPr lang="en-US" sz="1500" b="1" dirty="0">
                <a:solidFill>
                  <a:schemeClr val="tx1"/>
                </a:solidFill>
              </a:rPr>
              <a:t>Things to check</a:t>
            </a:r>
            <a:endParaRPr lang="en-US" sz="1500" dirty="0"/>
          </a:p>
        </p:txBody>
      </p:sp>
      <p:sp>
        <p:nvSpPr>
          <p:cNvPr id="28" name="out text 2"/>
          <p:cNvSpPr txBox="1"/>
          <p:nvPr/>
        </p:nvSpPr>
        <p:spPr>
          <a:xfrm>
            <a:off x="8915400" y="3218688"/>
            <a:ext cx="2606040" cy="320040"/>
          </a:xfrm>
          <a:prstGeom prst="rect">
            <a:avLst/>
          </a:prstGeom>
          <a:noFill/>
          <a:ln/>
        </p:spPr>
        <p:txBody>
          <a:bodyPr wrap="square" lIns="0" tIns="0" rIns="0" bIns="0" rtlCol="0" anchor="t"/>
          <a:lstStyle/>
          <a:p>
            <a:pPr indent="0" marL="0">
              <a:buNone/>
            </a:pPr>
            <a:r>
              <a:rPr lang="en-US" sz="1150" dirty="0">
                <a:solidFill>
                  <a:schemeClr val="tx2"/>
                </a:solidFill>
              </a:rPr>
              <a:t>every assumption, most serious first</a:t>
            </a:r>
            <a:endParaRPr lang="en-US" sz="1150" dirty="0"/>
          </a:p>
        </p:txBody>
      </p:sp>
      <p:sp>
        <p:nvSpPr>
          <p:cNvPr id="29" name="in card 3"/>
          <p:cNvSpPr/>
          <p:nvPr/>
        </p:nvSpPr>
        <p:spPr>
          <a:xfrm>
            <a:off x="548640" y="3785616"/>
            <a:ext cx="3611880" cy="868680"/>
          </a:xfrm>
          <a:prstGeom prst="rect">
            <a:avLst/>
          </a:prstGeom>
          <a:solidFill>
            <a:schemeClr val="bg1"/>
          </a:solidFill>
          <a:ln w="9525">
            <a:solidFill>
              <a:srgbClr val="D8D3CB"/>
            </a:solidFill>
            <a:prstDash val="solid"/>
          </a:ln>
        </p:spPr>
      </p:sp>
      <p:sp>
        <p:nvSpPr>
          <p:cNvPr id="30" name="in 3 circle"/>
          <p:cNvSpPr/>
          <p:nvPr/>
        </p:nvSpPr>
        <p:spPr>
          <a:xfrm>
            <a:off x="713232" y="3922776"/>
            <a:ext cx="594360" cy="594360"/>
          </a:xfrm>
          <a:prstGeom prst="ellipse">
            <a:avLst/>
          </a:prstGeom>
          <a:solidFill>
            <a:srgbClr val="8E1B1B"/>
          </a:solidFill>
          <a:ln w="12700">
            <a:solidFill>
              <a:srgbClr val="8E1B1B"/>
            </a:solidFill>
            <a:prstDash val="solid"/>
          </a:ln>
        </p:spPr>
      </p:sp>
      <p:pic>
        <p:nvPicPr>
          <p:cNvPr id="31" name="in 3 icon" descr="preencoded.png">    </p:cNvPr>
          <p:cNvPicPr>
            <a:picLocks noChangeAspect="1"/>
          </p:cNvPicPr>
          <p:nvPr/>
        </p:nvPicPr>
        <p:blipFill>
          <a:blip r:embed="rId5"/>
          <a:stretch>
            <a:fillRect/>
          </a:stretch>
        </p:blipFill>
        <p:spPr>
          <a:xfrm>
            <a:off x="867766" y="4077310"/>
            <a:ext cx="285293" cy="285293"/>
          </a:xfrm>
          <a:prstGeom prst="rect">
            <a:avLst/>
          </a:prstGeom>
        </p:spPr>
      </p:pic>
      <p:sp>
        <p:nvSpPr>
          <p:cNvPr id="32" name="in title 3"/>
          <p:cNvSpPr txBox="1"/>
          <p:nvPr/>
        </p:nvSpPr>
        <p:spPr>
          <a:xfrm>
            <a:off x="1463040" y="3913632"/>
            <a:ext cx="2606040" cy="320040"/>
          </a:xfrm>
          <a:prstGeom prst="rect">
            <a:avLst/>
          </a:prstGeom>
          <a:noFill/>
          <a:ln/>
        </p:spPr>
        <p:txBody>
          <a:bodyPr wrap="square" lIns="0" tIns="0" rIns="0" bIns="0" rtlCol="0" anchor="t"/>
          <a:lstStyle/>
          <a:p>
            <a:pPr indent="0" marL="0">
              <a:buNone/>
            </a:pPr>
            <a:r>
              <a:rPr lang="en-US" sz="1500" b="1" dirty="0">
                <a:solidFill>
                  <a:schemeClr val="tx1"/>
                </a:solidFill>
              </a:rPr>
              <a:t>Both</a:t>
            </a:r>
            <a:endParaRPr lang="en-US" sz="1500" dirty="0"/>
          </a:p>
        </p:txBody>
      </p:sp>
      <p:sp>
        <p:nvSpPr>
          <p:cNvPr id="33" name="in text 3"/>
          <p:cNvSpPr txBox="1"/>
          <p:nvPr/>
        </p:nvSpPr>
        <p:spPr>
          <a:xfrm>
            <a:off x="1463040" y="4242816"/>
            <a:ext cx="2606040" cy="320040"/>
          </a:xfrm>
          <a:prstGeom prst="rect">
            <a:avLst/>
          </a:prstGeom>
          <a:noFill/>
          <a:ln/>
        </p:spPr>
        <p:txBody>
          <a:bodyPr wrap="square" lIns="0" tIns="0" rIns="0" bIns="0" rtlCol="0" anchor="t"/>
          <a:lstStyle/>
          <a:p>
            <a:pPr indent="0" marL="0">
              <a:buNone/>
            </a:pPr>
            <a:r>
              <a:rPr lang="en-US" sz="1150" dirty="0">
                <a:solidFill>
                  <a:schemeClr val="tx2"/>
                </a:solidFill>
              </a:rPr>
              <a:t>read separately, then compared and combined</a:t>
            </a:r>
            <a:endParaRPr lang="en-US" sz="1150" dirty="0"/>
          </a:p>
        </p:txBody>
      </p:sp>
      <p:sp>
        <p:nvSpPr>
          <p:cNvPr id="34" name="out card 3"/>
          <p:cNvSpPr/>
          <p:nvPr/>
        </p:nvSpPr>
        <p:spPr>
          <a:xfrm>
            <a:off x="8001000" y="3785616"/>
            <a:ext cx="3611880" cy="868680"/>
          </a:xfrm>
          <a:prstGeom prst="rect">
            <a:avLst/>
          </a:prstGeom>
          <a:solidFill>
            <a:schemeClr val="bg2"/>
          </a:solidFill>
          <a:ln w="9525">
            <a:solidFill>
              <a:srgbClr val="D8D3CB"/>
            </a:solidFill>
            <a:prstDash val="solid"/>
          </a:ln>
        </p:spPr>
      </p:sp>
      <p:sp>
        <p:nvSpPr>
          <p:cNvPr id="35" name="out 3 circle"/>
          <p:cNvSpPr/>
          <p:nvPr/>
        </p:nvSpPr>
        <p:spPr>
          <a:xfrm>
            <a:off x="8165592" y="3922776"/>
            <a:ext cx="594360" cy="594360"/>
          </a:xfrm>
          <a:prstGeom prst="ellipse">
            <a:avLst/>
          </a:prstGeom>
          <a:solidFill>
            <a:srgbClr val="8E1B1B"/>
          </a:solidFill>
          <a:ln w="12700">
            <a:solidFill>
              <a:srgbClr val="8E1B1B"/>
            </a:solidFill>
            <a:prstDash val="solid"/>
          </a:ln>
        </p:spPr>
      </p:sp>
      <p:pic>
        <p:nvPicPr>
          <p:cNvPr id="36" name="out 3 icon" descr="preencoded.png">    </p:cNvPr>
          <p:cNvPicPr>
            <a:picLocks noChangeAspect="1"/>
          </p:cNvPicPr>
          <p:nvPr/>
        </p:nvPicPr>
        <p:blipFill>
          <a:blip r:embed="rId6"/>
          <a:stretch>
            <a:fillRect/>
          </a:stretch>
        </p:blipFill>
        <p:spPr>
          <a:xfrm>
            <a:off x="8320126" y="4077310"/>
            <a:ext cx="285293" cy="285293"/>
          </a:xfrm>
          <a:prstGeom prst="rect">
            <a:avLst/>
          </a:prstGeom>
        </p:spPr>
      </p:pic>
      <p:sp>
        <p:nvSpPr>
          <p:cNvPr id="37" name="out title 3"/>
          <p:cNvSpPr txBox="1"/>
          <p:nvPr/>
        </p:nvSpPr>
        <p:spPr>
          <a:xfrm>
            <a:off x="8915400" y="3913632"/>
            <a:ext cx="2606040" cy="320040"/>
          </a:xfrm>
          <a:prstGeom prst="rect">
            <a:avLst/>
          </a:prstGeom>
          <a:noFill/>
          <a:ln/>
        </p:spPr>
        <p:txBody>
          <a:bodyPr wrap="square" lIns="0" tIns="0" rIns="0" bIns="0" rtlCol="0" anchor="t"/>
          <a:lstStyle/>
          <a:p>
            <a:pPr indent="0" marL="0">
              <a:buNone/>
            </a:pPr>
            <a:r>
              <a:rPr lang="en-US" sz="1500" b="1" dirty="0">
                <a:solidFill>
                  <a:schemeClr val="tx1"/>
                </a:solidFill>
              </a:rPr>
              <a:t>Comparison &amp; audit</a:t>
            </a:r>
            <a:endParaRPr lang="en-US" sz="1500" dirty="0"/>
          </a:p>
        </p:txBody>
      </p:sp>
      <p:sp>
        <p:nvSpPr>
          <p:cNvPr id="38" name="out text 3"/>
          <p:cNvSpPr txBox="1"/>
          <p:nvPr/>
        </p:nvSpPr>
        <p:spPr>
          <a:xfrm>
            <a:off x="8915400" y="4242816"/>
            <a:ext cx="2606040" cy="320040"/>
          </a:xfrm>
          <a:prstGeom prst="rect">
            <a:avLst/>
          </a:prstGeom>
          <a:noFill/>
          <a:ln/>
        </p:spPr>
        <p:txBody>
          <a:bodyPr wrap="square" lIns="0" tIns="0" rIns="0" bIns="0" rtlCol="0" anchor="t"/>
          <a:lstStyle/>
          <a:p>
            <a:pPr indent="0" marL="0">
              <a:buNone/>
            </a:pPr>
            <a:r>
              <a:rPr lang="en-US" sz="1150" dirty="0">
                <a:solidFill>
                  <a:schemeClr val="tx2"/>
                </a:solidFill>
              </a:rPr>
              <a:t>where readers agree; what a bill misses</a:t>
            </a:r>
            <a:endParaRPr lang="en-US" sz="1150" dirty="0"/>
          </a:p>
        </p:txBody>
      </p:sp>
      <p:sp>
        <p:nvSpPr>
          <p:cNvPr id="39" name="in card 4"/>
          <p:cNvSpPr/>
          <p:nvPr/>
        </p:nvSpPr>
        <p:spPr>
          <a:xfrm>
            <a:off x="548640" y="4809744"/>
            <a:ext cx="3611880" cy="868680"/>
          </a:xfrm>
          <a:prstGeom prst="rect">
            <a:avLst/>
          </a:prstGeom>
          <a:solidFill>
            <a:schemeClr val="bg1"/>
          </a:solidFill>
          <a:ln w="9525">
            <a:solidFill>
              <a:srgbClr val="D8D3CB"/>
            </a:solidFill>
            <a:prstDash val="solid"/>
          </a:ln>
        </p:spPr>
      </p:sp>
      <p:sp>
        <p:nvSpPr>
          <p:cNvPr id="40" name="in 4 circle"/>
          <p:cNvSpPr/>
          <p:nvPr/>
        </p:nvSpPr>
        <p:spPr>
          <a:xfrm>
            <a:off x="713232" y="4946904"/>
            <a:ext cx="594360" cy="594360"/>
          </a:xfrm>
          <a:prstGeom prst="ellipse">
            <a:avLst/>
          </a:prstGeom>
          <a:solidFill>
            <a:srgbClr val="8E1B1B"/>
          </a:solidFill>
          <a:ln w="12700">
            <a:solidFill>
              <a:srgbClr val="8E1B1B"/>
            </a:solidFill>
            <a:prstDash val="solid"/>
          </a:ln>
        </p:spPr>
      </p:sp>
      <p:pic>
        <p:nvPicPr>
          <p:cNvPr id="41" name="in 4 icon" descr="preencoded.png">    </p:cNvPr>
          <p:cNvPicPr>
            <a:picLocks noChangeAspect="1"/>
          </p:cNvPicPr>
          <p:nvPr/>
        </p:nvPicPr>
        <p:blipFill>
          <a:blip r:embed="rId7"/>
          <a:stretch>
            <a:fillRect/>
          </a:stretch>
        </p:blipFill>
        <p:spPr>
          <a:xfrm>
            <a:off x="867766" y="5101438"/>
            <a:ext cx="285293" cy="285293"/>
          </a:xfrm>
          <a:prstGeom prst="rect">
            <a:avLst/>
          </a:prstGeom>
        </p:spPr>
      </p:pic>
      <p:sp>
        <p:nvSpPr>
          <p:cNvPr id="42" name="in title 4"/>
          <p:cNvSpPr txBox="1"/>
          <p:nvPr/>
        </p:nvSpPr>
        <p:spPr>
          <a:xfrm>
            <a:off x="1463040" y="4937760"/>
            <a:ext cx="2606040" cy="320040"/>
          </a:xfrm>
          <a:prstGeom prst="rect">
            <a:avLst/>
          </a:prstGeom>
          <a:noFill/>
          <a:ln/>
        </p:spPr>
        <p:txBody>
          <a:bodyPr wrap="square" lIns="0" tIns="0" rIns="0" bIns="0" rtlCol="0" anchor="t"/>
          <a:lstStyle/>
          <a:p>
            <a:pPr indent="0" marL="0">
              <a:buNone/>
            </a:pPr>
            <a:r>
              <a:rPr lang="en-US" sz="1500" b="1" dirty="0">
                <a:solidFill>
                  <a:schemeClr val="tx1"/>
                </a:solidFill>
              </a:rPr>
              <a:t>An existing BoQ</a:t>
            </a:r>
            <a:endParaRPr lang="en-US" sz="1500" dirty="0"/>
          </a:p>
        </p:txBody>
      </p:sp>
      <p:sp>
        <p:nvSpPr>
          <p:cNvPr id="43" name="in text 4"/>
          <p:cNvSpPr txBox="1"/>
          <p:nvPr/>
        </p:nvSpPr>
        <p:spPr>
          <a:xfrm>
            <a:off x="1463040" y="5266944"/>
            <a:ext cx="2606040" cy="320040"/>
          </a:xfrm>
          <a:prstGeom prst="rect">
            <a:avLst/>
          </a:prstGeom>
          <a:noFill/>
          <a:ln/>
        </p:spPr>
        <p:txBody>
          <a:bodyPr wrap="square" lIns="0" tIns="0" rIns="0" bIns="0" rtlCol="0" anchor="t"/>
          <a:lstStyle/>
          <a:p>
            <a:pPr indent="0" marL="0">
              <a:buNone/>
            </a:pPr>
            <a:r>
              <a:rPr lang="en-US" sz="1150" dirty="0">
                <a:solidFill>
                  <a:schemeClr val="tx2"/>
                </a:solidFill>
              </a:rPr>
              <a:t>optional — audited for errors and gaps</a:t>
            </a:r>
            <a:endParaRPr lang="en-US" sz="1150" dirty="0"/>
          </a:p>
        </p:txBody>
      </p:sp>
      <p:sp>
        <p:nvSpPr>
          <p:cNvPr id="44" name="out card 4"/>
          <p:cNvSpPr/>
          <p:nvPr/>
        </p:nvSpPr>
        <p:spPr>
          <a:xfrm>
            <a:off x="8001000" y="4809744"/>
            <a:ext cx="3611880" cy="868680"/>
          </a:xfrm>
          <a:prstGeom prst="rect">
            <a:avLst/>
          </a:prstGeom>
          <a:solidFill>
            <a:schemeClr val="bg2"/>
          </a:solidFill>
          <a:ln w="9525">
            <a:solidFill>
              <a:srgbClr val="D8D3CB"/>
            </a:solidFill>
            <a:prstDash val="solid"/>
          </a:ln>
        </p:spPr>
      </p:sp>
      <p:sp>
        <p:nvSpPr>
          <p:cNvPr id="45" name="out 4 circle"/>
          <p:cNvSpPr/>
          <p:nvPr/>
        </p:nvSpPr>
        <p:spPr>
          <a:xfrm>
            <a:off x="8165592" y="4946904"/>
            <a:ext cx="594360" cy="594360"/>
          </a:xfrm>
          <a:prstGeom prst="ellipse">
            <a:avLst/>
          </a:prstGeom>
          <a:solidFill>
            <a:srgbClr val="8E1B1B"/>
          </a:solidFill>
          <a:ln w="12700">
            <a:solidFill>
              <a:srgbClr val="8E1B1B"/>
            </a:solidFill>
            <a:prstDash val="solid"/>
          </a:ln>
        </p:spPr>
      </p:sp>
      <p:pic>
        <p:nvPicPr>
          <p:cNvPr id="46" name="out 4 icon" descr="preencoded.png">    </p:cNvPr>
          <p:cNvPicPr>
            <a:picLocks noChangeAspect="1"/>
          </p:cNvPicPr>
          <p:nvPr/>
        </p:nvPicPr>
        <p:blipFill>
          <a:blip r:embed="rId8"/>
          <a:stretch>
            <a:fillRect/>
          </a:stretch>
        </p:blipFill>
        <p:spPr>
          <a:xfrm>
            <a:off x="8320126" y="5101438"/>
            <a:ext cx="285293" cy="285293"/>
          </a:xfrm>
          <a:prstGeom prst="rect">
            <a:avLst/>
          </a:prstGeom>
        </p:spPr>
      </p:pic>
      <p:sp>
        <p:nvSpPr>
          <p:cNvPr id="47" name="out title 4"/>
          <p:cNvSpPr txBox="1"/>
          <p:nvPr/>
        </p:nvSpPr>
        <p:spPr>
          <a:xfrm>
            <a:off x="8915400" y="4937760"/>
            <a:ext cx="2606040" cy="320040"/>
          </a:xfrm>
          <a:prstGeom prst="rect">
            <a:avLst/>
          </a:prstGeom>
          <a:noFill/>
          <a:ln/>
        </p:spPr>
        <p:txBody>
          <a:bodyPr wrap="square" lIns="0" tIns="0" rIns="0" bIns="0" rtlCol="0" anchor="t"/>
          <a:lstStyle/>
          <a:p>
            <a:pPr indent="0" marL="0">
              <a:buNone/>
            </a:pPr>
            <a:r>
              <a:rPr lang="en-US" sz="1500" b="1" dirty="0">
                <a:solidFill>
                  <a:schemeClr val="tx1"/>
                </a:solidFill>
              </a:rPr>
              <a:t>Accuracy report</a:t>
            </a:r>
            <a:endParaRPr lang="en-US" sz="1500" dirty="0"/>
          </a:p>
        </p:txBody>
      </p:sp>
      <p:sp>
        <p:nvSpPr>
          <p:cNvPr id="48" name="out text 4"/>
          <p:cNvSpPr txBox="1"/>
          <p:nvPr/>
        </p:nvSpPr>
        <p:spPr>
          <a:xfrm>
            <a:off x="8915400" y="5266944"/>
            <a:ext cx="2606040" cy="320040"/>
          </a:xfrm>
          <a:prstGeom prst="rect">
            <a:avLst/>
          </a:prstGeom>
          <a:noFill/>
          <a:ln/>
        </p:spPr>
        <p:txBody>
          <a:bodyPr wrap="square" lIns="0" tIns="0" rIns="0" bIns="0" rtlCol="0" anchor="t"/>
          <a:lstStyle/>
          <a:p>
            <a:pPr indent="0" marL="0">
              <a:buNone/>
            </a:pPr>
            <a:r>
              <a:rPr lang="en-US" sz="1150" dirty="0">
                <a:solidFill>
                  <a:schemeClr val="tx2"/>
                </a:solidFill>
              </a:rPr>
              <a:t>against a real bill, when one exists</a:t>
            </a:r>
            <a:endParaRPr lang="en-US" sz="1150" dirty="0"/>
          </a:p>
        </p:txBody>
      </p:sp>
      <p:sp>
        <p:nvSpPr>
          <p:cNvPr id="49" name="afriplan box"/>
          <p:cNvSpPr/>
          <p:nvPr/>
        </p:nvSpPr>
        <p:spPr>
          <a:xfrm>
            <a:off x="4572000" y="1737360"/>
            <a:ext cx="3063240" cy="3941064"/>
          </a:xfrm>
          <a:prstGeom prst="roundRect">
            <a:avLst>
              <a:gd name="adj" fmla="val 4478"/>
            </a:avLst>
          </a:prstGeom>
          <a:solidFill>
            <a:schemeClr val="tx1"/>
          </a:solidFill>
          <a:ln w="12700">
            <a:solidFill>
              <a:srgbClr val="14151A"/>
            </a:solidFill>
            <a:prstDash val="solid"/>
          </a:ln>
        </p:spPr>
      </p:sp>
      <p:sp>
        <p:nvSpPr>
          <p:cNvPr id="50" name="afriplan name"/>
          <p:cNvSpPr txBox="1"/>
          <p:nvPr/>
        </p:nvSpPr>
        <p:spPr>
          <a:xfrm>
            <a:off x="4572000" y="1874520"/>
            <a:ext cx="3063240" cy="457200"/>
          </a:xfrm>
          <a:prstGeom prst="rect">
            <a:avLst/>
          </a:prstGeom>
          <a:noFill/>
          <a:ln/>
        </p:spPr>
        <p:txBody>
          <a:bodyPr wrap="square" lIns="0" tIns="0" rIns="0" bIns="0" rtlCol="0" anchor="t"/>
          <a:lstStyle/>
          <a:p>
            <a:pPr algn="ctr" indent="0" marL="0">
              <a:buNone/>
            </a:pPr>
            <a:r>
              <a:rPr lang="en-US" sz="2200" b="1" dirty="0">
                <a:solidFill>
                  <a:schemeClr val="bg1"/>
                </a:solidFill>
                <a:latin typeface="Arial" pitchFamily="34" charset="0"/>
                <a:ea typeface="Arial" pitchFamily="34" charset="-122"/>
                <a:cs typeface="Arial" pitchFamily="34" charset="-120"/>
              </a:rPr>
              <a:t>AfriPlan</a:t>
            </a:r>
            <a:endParaRPr lang="en-US" sz="2200" dirty="0"/>
          </a:p>
        </p:txBody>
      </p:sp>
      <p:sp>
        <p:nvSpPr>
          <p:cNvPr id="51" name="core step 1 circle"/>
          <p:cNvSpPr/>
          <p:nvPr/>
        </p:nvSpPr>
        <p:spPr>
          <a:xfrm>
            <a:off x="4846320" y="2514600"/>
            <a:ext cx="640080" cy="640080"/>
          </a:xfrm>
          <a:prstGeom prst="ellipse">
            <a:avLst/>
          </a:prstGeom>
          <a:solidFill>
            <a:srgbClr val="C9A15A"/>
          </a:solidFill>
          <a:ln w="12700">
            <a:solidFill>
              <a:srgbClr val="C9A15A"/>
            </a:solidFill>
            <a:prstDash val="solid"/>
          </a:ln>
        </p:spPr>
      </p:sp>
      <p:pic>
        <p:nvPicPr>
          <p:cNvPr id="52" name="core step 1 icon" descr="preencoded.png">    </p:cNvPr>
          <p:cNvPicPr>
            <a:picLocks noChangeAspect="1"/>
          </p:cNvPicPr>
          <p:nvPr/>
        </p:nvPicPr>
        <p:blipFill>
          <a:blip r:embed="rId9"/>
          <a:stretch>
            <a:fillRect/>
          </a:stretch>
        </p:blipFill>
        <p:spPr>
          <a:xfrm>
            <a:off x="5012741" y="2681021"/>
            <a:ext cx="307238" cy="307238"/>
          </a:xfrm>
          <a:prstGeom prst="rect">
            <a:avLst/>
          </a:prstGeom>
        </p:spPr>
      </p:pic>
      <p:sp>
        <p:nvSpPr>
          <p:cNvPr id="53" name="core title 1"/>
          <p:cNvSpPr txBox="1"/>
          <p:nvPr/>
        </p:nvSpPr>
        <p:spPr>
          <a:xfrm>
            <a:off x="5623560" y="2532888"/>
            <a:ext cx="1920240" cy="320040"/>
          </a:xfrm>
          <a:prstGeom prst="rect">
            <a:avLst/>
          </a:prstGeom>
          <a:noFill/>
          <a:ln/>
        </p:spPr>
        <p:txBody>
          <a:bodyPr wrap="square" lIns="0" tIns="0" rIns="0" bIns="0" rtlCol="0" anchor="t"/>
          <a:lstStyle/>
          <a:p>
            <a:pPr indent="0" marL="0">
              <a:buNone/>
            </a:pPr>
            <a:r>
              <a:rPr lang="en-US" sz="1500" b="1" dirty="0">
                <a:solidFill>
                  <a:schemeClr val="bg1"/>
                </a:solidFill>
              </a:rPr>
              <a:t>1  Read</a:t>
            </a:r>
            <a:endParaRPr lang="en-US" sz="1500" dirty="0"/>
          </a:p>
        </p:txBody>
      </p:sp>
      <p:sp>
        <p:nvSpPr>
          <p:cNvPr id="54" name="core text 1"/>
          <p:cNvSpPr txBox="1"/>
          <p:nvPr/>
        </p:nvSpPr>
        <p:spPr>
          <a:xfrm>
            <a:off x="5623560" y="2843784"/>
            <a:ext cx="1920240" cy="274320"/>
          </a:xfrm>
          <a:prstGeom prst="rect">
            <a:avLst/>
          </a:prstGeom>
          <a:noFill/>
          <a:ln/>
        </p:spPr>
        <p:txBody>
          <a:bodyPr wrap="square" lIns="0" tIns="0" rIns="0" bIns="0" rtlCol="0" anchor="t"/>
          <a:lstStyle/>
          <a:p>
            <a:pPr indent="0" marL="0">
              <a:buNone/>
            </a:pPr>
            <a:r>
              <a:rPr lang="en-US" sz="1200" dirty="0">
                <a:solidFill>
                  <a:srgbClr val="B9B6B0"/>
                </a:solidFill>
              </a:rPr>
              <a:t>what is drawn</a:t>
            </a:r>
            <a:endParaRPr lang="en-US" sz="1200" dirty="0"/>
          </a:p>
        </p:txBody>
      </p:sp>
      <p:sp>
        <p:nvSpPr>
          <p:cNvPr id="55" name="core step 2 circle"/>
          <p:cNvSpPr/>
          <p:nvPr/>
        </p:nvSpPr>
        <p:spPr>
          <a:xfrm>
            <a:off x="4846320" y="3538728"/>
            <a:ext cx="640080" cy="640080"/>
          </a:xfrm>
          <a:prstGeom prst="ellipse">
            <a:avLst/>
          </a:prstGeom>
          <a:solidFill>
            <a:srgbClr val="C9A15A"/>
          </a:solidFill>
          <a:ln w="12700">
            <a:solidFill>
              <a:srgbClr val="C9A15A"/>
            </a:solidFill>
            <a:prstDash val="solid"/>
          </a:ln>
        </p:spPr>
      </p:sp>
      <p:pic>
        <p:nvPicPr>
          <p:cNvPr id="56" name="core step 2 icon" descr="preencoded.png">    </p:cNvPr>
          <p:cNvPicPr>
            <a:picLocks noChangeAspect="1"/>
          </p:cNvPicPr>
          <p:nvPr/>
        </p:nvPicPr>
        <p:blipFill>
          <a:blip r:embed="rId10"/>
          <a:stretch>
            <a:fillRect/>
          </a:stretch>
        </p:blipFill>
        <p:spPr>
          <a:xfrm>
            <a:off x="5012741" y="3705149"/>
            <a:ext cx="307238" cy="307238"/>
          </a:xfrm>
          <a:prstGeom prst="rect">
            <a:avLst/>
          </a:prstGeom>
        </p:spPr>
      </p:pic>
      <p:sp>
        <p:nvSpPr>
          <p:cNvPr id="57" name="core title 2"/>
          <p:cNvSpPr txBox="1"/>
          <p:nvPr/>
        </p:nvSpPr>
        <p:spPr>
          <a:xfrm>
            <a:off x="5623560" y="3557016"/>
            <a:ext cx="1920240" cy="320040"/>
          </a:xfrm>
          <a:prstGeom prst="rect">
            <a:avLst/>
          </a:prstGeom>
          <a:noFill/>
          <a:ln/>
        </p:spPr>
        <p:txBody>
          <a:bodyPr wrap="square" lIns="0" tIns="0" rIns="0" bIns="0" rtlCol="0" anchor="t"/>
          <a:lstStyle/>
          <a:p>
            <a:pPr indent="0" marL="0">
              <a:buNone/>
            </a:pPr>
            <a:r>
              <a:rPr lang="en-US" sz="1500" b="1" dirty="0">
                <a:solidFill>
                  <a:schemeClr val="bg1"/>
                </a:solidFill>
              </a:rPr>
              <a:t>2  Check</a:t>
            </a:r>
            <a:endParaRPr lang="en-US" sz="1500" dirty="0"/>
          </a:p>
        </p:txBody>
      </p:sp>
      <p:sp>
        <p:nvSpPr>
          <p:cNvPr id="58" name="core text 2"/>
          <p:cNvSpPr txBox="1"/>
          <p:nvPr/>
        </p:nvSpPr>
        <p:spPr>
          <a:xfrm>
            <a:off x="5623560" y="3867912"/>
            <a:ext cx="1920240" cy="274320"/>
          </a:xfrm>
          <a:prstGeom prst="rect">
            <a:avLst/>
          </a:prstGeom>
          <a:noFill/>
          <a:ln/>
        </p:spPr>
        <p:txBody>
          <a:bodyPr wrap="square" lIns="0" tIns="0" rIns="0" bIns="0" rtlCol="0" anchor="t"/>
          <a:lstStyle/>
          <a:p>
            <a:pPr indent="0" marL="0">
              <a:buNone/>
            </a:pPr>
            <a:r>
              <a:rPr lang="en-US" sz="1200" dirty="0">
                <a:solidFill>
                  <a:srgbClr val="B9B6B0"/>
                </a:solidFill>
              </a:rPr>
              <a:t>evidence, gaps</a:t>
            </a:r>
            <a:endParaRPr lang="en-US" sz="1200" dirty="0"/>
          </a:p>
        </p:txBody>
      </p:sp>
      <p:sp>
        <p:nvSpPr>
          <p:cNvPr id="59" name="core step 3 circle"/>
          <p:cNvSpPr/>
          <p:nvPr/>
        </p:nvSpPr>
        <p:spPr>
          <a:xfrm>
            <a:off x="4846320" y="4562856"/>
            <a:ext cx="640080" cy="640080"/>
          </a:xfrm>
          <a:prstGeom prst="ellipse">
            <a:avLst/>
          </a:prstGeom>
          <a:solidFill>
            <a:srgbClr val="C9A15A"/>
          </a:solidFill>
          <a:ln w="12700">
            <a:solidFill>
              <a:srgbClr val="C9A15A"/>
            </a:solidFill>
            <a:prstDash val="solid"/>
          </a:ln>
        </p:spPr>
      </p:sp>
      <p:pic>
        <p:nvPicPr>
          <p:cNvPr id="60" name="core step 3 icon" descr="preencoded.png">    </p:cNvPr>
          <p:cNvPicPr>
            <a:picLocks noChangeAspect="1"/>
          </p:cNvPicPr>
          <p:nvPr/>
        </p:nvPicPr>
        <p:blipFill>
          <a:blip r:embed="rId11"/>
          <a:stretch>
            <a:fillRect/>
          </a:stretch>
        </p:blipFill>
        <p:spPr>
          <a:xfrm>
            <a:off x="5012741" y="4729277"/>
            <a:ext cx="307238" cy="307238"/>
          </a:xfrm>
          <a:prstGeom prst="rect">
            <a:avLst/>
          </a:prstGeom>
        </p:spPr>
      </p:pic>
      <p:sp>
        <p:nvSpPr>
          <p:cNvPr id="61" name="core title 3"/>
          <p:cNvSpPr txBox="1"/>
          <p:nvPr/>
        </p:nvSpPr>
        <p:spPr>
          <a:xfrm>
            <a:off x="5623560" y="4581144"/>
            <a:ext cx="1920240" cy="320040"/>
          </a:xfrm>
          <a:prstGeom prst="rect">
            <a:avLst/>
          </a:prstGeom>
          <a:noFill/>
          <a:ln/>
        </p:spPr>
        <p:txBody>
          <a:bodyPr wrap="square" lIns="0" tIns="0" rIns="0" bIns="0" rtlCol="0" anchor="t"/>
          <a:lstStyle/>
          <a:p>
            <a:pPr indent="0" marL="0">
              <a:buNone/>
            </a:pPr>
            <a:r>
              <a:rPr lang="en-US" sz="1500" b="1" dirty="0">
                <a:solidFill>
                  <a:schemeClr val="bg1"/>
                </a:solidFill>
              </a:rPr>
              <a:t>3  Price once</a:t>
            </a:r>
            <a:endParaRPr lang="en-US" sz="1500" dirty="0"/>
          </a:p>
        </p:txBody>
      </p:sp>
      <p:sp>
        <p:nvSpPr>
          <p:cNvPr id="62" name="core text 3"/>
          <p:cNvSpPr txBox="1"/>
          <p:nvPr/>
        </p:nvSpPr>
        <p:spPr>
          <a:xfrm>
            <a:off x="5623560" y="4892040"/>
            <a:ext cx="1920240" cy="274320"/>
          </a:xfrm>
          <a:prstGeom prst="rect">
            <a:avLst/>
          </a:prstGeom>
          <a:noFill/>
          <a:ln/>
        </p:spPr>
        <p:txBody>
          <a:bodyPr wrap="square" lIns="0" tIns="0" rIns="0" bIns="0" rtlCol="0" anchor="t"/>
          <a:lstStyle/>
          <a:p>
            <a:pPr indent="0" marL="0">
              <a:buNone/>
            </a:pPr>
            <a:r>
              <a:rPr lang="en-US" sz="1200" dirty="0">
                <a:solidFill>
                  <a:srgbClr val="B9B6B0"/>
                </a:solidFill>
              </a:rPr>
              <a:t>SA rates</a:t>
            </a:r>
            <a:endParaRPr lang="en-US" sz="1200" dirty="0"/>
          </a:p>
        </p:txBody>
      </p:sp>
      <p:sp>
        <p:nvSpPr>
          <p:cNvPr id="63" name="Shape 49"/>
          <p:cNvSpPr/>
          <p:nvPr/>
        </p:nvSpPr>
        <p:spPr>
          <a:xfrm>
            <a:off x="4206240" y="3703320"/>
            <a:ext cx="347472" cy="0"/>
          </a:xfrm>
          <a:prstGeom prst="line">
            <a:avLst/>
          </a:prstGeom>
          <a:noFill/>
          <a:ln w="25400">
            <a:solidFill>
              <a:srgbClr val="C9A15A"/>
            </a:solidFill>
            <a:prstDash val="solid"/>
            <a:tailEnd type="triangle"/>
          </a:ln>
        </p:spPr>
      </p:sp>
      <p:sp>
        <p:nvSpPr>
          <p:cNvPr id="64" name="Shape 50"/>
          <p:cNvSpPr/>
          <p:nvPr/>
        </p:nvSpPr>
        <p:spPr>
          <a:xfrm>
            <a:off x="7653528" y="3703320"/>
            <a:ext cx="329184" cy="0"/>
          </a:xfrm>
          <a:prstGeom prst="line">
            <a:avLst/>
          </a:prstGeom>
          <a:noFill/>
          <a:ln w="25400">
            <a:solidFill>
              <a:srgbClr val="C9A15A"/>
            </a:solidFill>
            <a:prstDash val="solid"/>
            <a:tailEnd type="triangle"/>
          </a:ln>
        </p:spPr>
      </p:sp>
      <p:sp>
        <p:nvSpPr>
          <p:cNvPr id="65" name="in-out note"/>
          <p:cNvSpPr txBox="1"/>
          <p:nvPr/>
        </p:nvSpPr>
        <p:spPr>
          <a:xfrm>
            <a:off x="548640" y="5897880"/>
            <a:ext cx="11064240" cy="320040"/>
          </a:xfrm>
          <a:prstGeom prst="rect">
            <a:avLst/>
          </a:prstGeom>
          <a:noFill/>
          <a:ln/>
        </p:spPr>
        <p:txBody>
          <a:bodyPr wrap="square" lIns="0" tIns="0" rIns="0" bIns="0" rtlCol="0" anchor="t"/>
          <a:lstStyle/>
          <a:p>
            <a:pPr indent="0" marL="0">
              <a:buNone/>
            </a:pPr>
            <a:r>
              <a:rPr lang="en-US" sz="1300" i="1" dirty="0">
                <a:solidFill>
                  <a:schemeClr val="accent1"/>
                </a:solidFill>
              </a:rPr>
              <a:t>No drawing? No guess hidden: anything not on the drawings is priced as a marked assumption.</a:t>
            </a:r>
            <a:endParaRPr lang="en-US" sz="13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HOW AFRIPLAN WORKS</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Two readers, one set of findings, one pricer</a:t>
            </a:r>
            <a:endParaRPr lang="en-US" sz="2600" dirty="0"/>
          </a:p>
        </p:txBody>
      </p:sp>
      <p:sp>
        <p:nvSpPr>
          <p:cNvPr id="7" name="input 1"/>
          <p:cNvSpPr/>
          <p:nvPr/>
        </p:nvSpPr>
        <p:spPr>
          <a:xfrm>
            <a:off x="548640" y="1600200"/>
            <a:ext cx="2148840" cy="1417320"/>
          </a:xfrm>
          <a:prstGeom prst="rect">
            <a:avLst/>
          </a:prstGeom>
          <a:solidFill>
            <a:schemeClr val="bg1"/>
          </a:solidFill>
          <a:ln w="9525">
            <a:solidFill>
              <a:srgbClr val="D8D3CB"/>
            </a:solidFill>
            <a:prstDash val="solid"/>
          </a:ln>
        </p:spPr>
      </p:sp>
      <p:sp>
        <p:nvSpPr>
          <p:cNvPr id="8" name="input 1 circle"/>
          <p:cNvSpPr/>
          <p:nvPr/>
        </p:nvSpPr>
        <p:spPr>
          <a:xfrm>
            <a:off x="749808" y="1828800"/>
            <a:ext cx="548640" cy="548640"/>
          </a:xfrm>
          <a:prstGeom prst="ellipse">
            <a:avLst/>
          </a:prstGeom>
          <a:solidFill>
            <a:srgbClr val="FFFFFF"/>
          </a:solidFill>
          <a:ln w="12700">
            <a:solidFill>
              <a:srgbClr val="FFFFFF"/>
            </a:solidFill>
            <a:prstDash val="solid"/>
          </a:ln>
        </p:spPr>
      </p:sp>
      <p:pic>
        <p:nvPicPr>
          <p:cNvPr id="9" name="input 1 icon" descr="preencoded.png">    </p:cNvPr>
          <p:cNvPicPr>
            <a:picLocks noChangeAspect="1"/>
          </p:cNvPicPr>
          <p:nvPr/>
        </p:nvPicPr>
        <p:blipFill>
          <a:blip r:embed="rId1"/>
          <a:stretch>
            <a:fillRect/>
          </a:stretch>
        </p:blipFill>
        <p:spPr>
          <a:xfrm>
            <a:off x="892454" y="1971446"/>
            <a:ext cx="263347" cy="263347"/>
          </a:xfrm>
          <a:prstGeom prst="rect">
            <a:avLst/>
          </a:prstGeom>
        </p:spPr>
      </p:pic>
      <p:sp>
        <p:nvSpPr>
          <p:cNvPr id="10" name="input title 1"/>
          <p:cNvSpPr txBox="1"/>
          <p:nvPr/>
        </p:nvSpPr>
        <p:spPr>
          <a:xfrm>
            <a:off x="749808" y="2441448"/>
            <a:ext cx="1828800" cy="274320"/>
          </a:xfrm>
          <a:prstGeom prst="rect">
            <a:avLst/>
          </a:prstGeom>
          <a:noFill/>
          <a:ln/>
        </p:spPr>
        <p:txBody>
          <a:bodyPr wrap="square" lIns="0" tIns="0" rIns="0" bIns="0" rtlCol="0" anchor="t"/>
          <a:lstStyle/>
          <a:p>
            <a:pPr indent="0" marL="0">
              <a:buNone/>
            </a:pPr>
            <a:r>
              <a:rPr lang="en-US" sz="1400" b="1" dirty="0">
                <a:solidFill>
                  <a:schemeClr val="tx1"/>
                </a:solidFill>
              </a:rPr>
              <a:t>PDF drawings</a:t>
            </a:r>
            <a:endParaRPr lang="en-US" sz="1400" dirty="0"/>
          </a:p>
        </p:txBody>
      </p:sp>
      <p:sp>
        <p:nvSpPr>
          <p:cNvPr id="11" name="input text 1"/>
          <p:cNvSpPr txBox="1"/>
          <p:nvPr/>
        </p:nvSpPr>
        <p:spPr>
          <a:xfrm>
            <a:off x="749808" y="2697480"/>
            <a:ext cx="1828800" cy="274320"/>
          </a:xfrm>
          <a:prstGeom prst="rect">
            <a:avLst/>
          </a:prstGeom>
          <a:noFill/>
          <a:ln/>
        </p:spPr>
        <p:txBody>
          <a:bodyPr wrap="square" lIns="0" tIns="0" rIns="0" bIns="0" rtlCol="0" anchor="t"/>
          <a:lstStyle/>
          <a:p>
            <a:pPr indent="0" marL="0">
              <a:buNone/>
            </a:pPr>
            <a:r>
              <a:rPr lang="en-US" sz="1100" dirty="0">
                <a:solidFill>
                  <a:schemeClr val="tx2"/>
                </a:solidFill>
              </a:rPr>
              <a:t>scanned or exported</a:t>
            </a:r>
            <a:endParaRPr lang="en-US" sz="1100" dirty="0"/>
          </a:p>
        </p:txBody>
      </p:sp>
      <p:sp>
        <p:nvSpPr>
          <p:cNvPr id="12" name="Shape 8"/>
          <p:cNvSpPr/>
          <p:nvPr/>
        </p:nvSpPr>
        <p:spPr>
          <a:xfrm>
            <a:off x="2743200" y="2313432"/>
            <a:ext cx="365760" cy="0"/>
          </a:xfrm>
          <a:prstGeom prst="line">
            <a:avLst/>
          </a:prstGeom>
          <a:noFill/>
          <a:ln w="25400">
            <a:solidFill>
              <a:srgbClr val="8B8781"/>
            </a:solidFill>
            <a:prstDash val="solid"/>
            <a:tailEnd type="triangle"/>
          </a:ln>
        </p:spPr>
      </p:sp>
      <p:sp>
        <p:nvSpPr>
          <p:cNvPr id="13" name="reader 1"/>
          <p:cNvSpPr/>
          <p:nvPr/>
        </p:nvSpPr>
        <p:spPr>
          <a:xfrm>
            <a:off x="3154680" y="1600200"/>
            <a:ext cx="2377440" cy="1417320"/>
          </a:xfrm>
          <a:prstGeom prst="rect">
            <a:avLst/>
          </a:prstGeom>
          <a:solidFill>
            <a:schemeClr val="bg2"/>
          </a:solidFill>
          <a:ln w="9525">
            <a:solidFill>
              <a:srgbClr val="D8D3CB"/>
            </a:solidFill>
            <a:prstDash val="solid"/>
          </a:ln>
        </p:spPr>
      </p:sp>
      <p:sp>
        <p:nvSpPr>
          <p:cNvPr id="14" name="reader 1 circle"/>
          <p:cNvSpPr/>
          <p:nvPr/>
        </p:nvSpPr>
        <p:spPr>
          <a:xfrm>
            <a:off x="3355848" y="1828800"/>
            <a:ext cx="548640" cy="548640"/>
          </a:xfrm>
          <a:prstGeom prst="ellipse">
            <a:avLst/>
          </a:prstGeom>
          <a:solidFill>
            <a:srgbClr val="8E1B1B"/>
          </a:solidFill>
          <a:ln w="12700">
            <a:solidFill>
              <a:srgbClr val="8E1B1B"/>
            </a:solidFill>
            <a:prstDash val="solid"/>
          </a:ln>
        </p:spPr>
      </p:sp>
      <p:pic>
        <p:nvPicPr>
          <p:cNvPr id="15" name="reader 1 icon" descr="preencoded.png">    </p:cNvPr>
          <p:cNvPicPr>
            <a:picLocks noChangeAspect="1"/>
          </p:cNvPicPr>
          <p:nvPr/>
        </p:nvPicPr>
        <p:blipFill>
          <a:blip r:embed="rId2"/>
          <a:stretch>
            <a:fillRect/>
          </a:stretch>
        </p:blipFill>
        <p:spPr>
          <a:xfrm>
            <a:off x="3498494" y="1971446"/>
            <a:ext cx="263347" cy="263347"/>
          </a:xfrm>
          <a:prstGeom prst="rect">
            <a:avLst/>
          </a:prstGeom>
        </p:spPr>
      </p:pic>
      <p:sp>
        <p:nvSpPr>
          <p:cNvPr id="16" name="reader title 1"/>
          <p:cNvSpPr txBox="1"/>
          <p:nvPr/>
        </p:nvSpPr>
        <p:spPr>
          <a:xfrm>
            <a:off x="4023360" y="1901952"/>
            <a:ext cx="1463040" cy="365760"/>
          </a:xfrm>
          <a:prstGeom prst="rect">
            <a:avLst/>
          </a:prstGeom>
          <a:noFill/>
          <a:ln/>
        </p:spPr>
        <p:txBody>
          <a:bodyPr wrap="square" lIns="0" tIns="0" rIns="0" bIns="0" rtlCol="0" anchor="t"/>
          <a:lstStyle/>
          <a:p>
            <a:pPr indent="0" marL="0">
              <a:buNone/>
            </a:pPr>
            <a:r>
              <a:rPr lang="en-US" sz="1500" b="1" dirty="0">
                <a:solidFill>
                  <a:schemeClr val="tx1"/>
                </a:solidFill>
              </a:rPr>
              <a:t>PDF reader</a:t>
            </a:r>
            <a:endParaRPr lang="en-US" sz="1500" dirty="0"/>
          </a:p>
        </p:txBody>
      </p:sp>
      <p:sp>
        <p:nvSpPr>
          <p:cNvPr id="17" name="reader text 1"/>
          <p:cNvSpPr txBox="1"/>
          <p:nvPr/>
        </p:nvSpPr>
        <p:spPr>
          <a:xfrm>
            <a:off x="3355848" y="2468880"/>
            <a:ext cx="2057400" cy="502920"/>
          </a:xfrm>
          <a:prstGeom prst="rect">
            <a:avLst/>
          </a:prstGeom>
          <a:noFill/>
          <a:ln/>
        </p:spPr>
        <p:txBody>
          <a:bodyPr wrap="square" lIns="0" tIns="0" rIns="0" bIns="0" rtlCol="0" anchor="t"/>
          <a:lstStyle/>
          <a:p>
            <a:pPr indent="0" marL="0">
              <a:buNone/>
            </a:pPr>
            <a:r>
              <a:rPr lang="en-US" sz="1150" dirty="0">
                <a:solidFill>
                  <a:schemeClr val="tx2"/>
                </a:solidFill>
              </a:rPr>
              <a:t>AI reads each page into strict forms</a:t>
            </a:r>
            <a:endParaRPr lang="en-US" sz="1150" dirty="0"/>
          </a:p>
        </p:txBody>
      </p:sp>
      <p:sp>
        <p:nvSpPr>
          <p:cNvPr id="18" name="Shape 13"/>
          <p:cNvSpPr/>
          <p:nvPr/>
        </p:nvSpPr>
        <p:spPr>
          <a:xfrm>
            <a:off x="5577840" y="2313432"/>
            <a:ext cx="365760" cy="0"/>
          </a:xfrm>
          <a:prstGeom prst="line">
            <a:avLst/>
          </a:prstGeom>
          <a:noFill/>
          <a:ln w="25400">
            <a:solidFill>
              <a:srgbClr val="8B8781"/>
            </a:solidFill>
            <a:prstDash val="solid"/>
            <a:tailEnd type="triangle"/>
          </a:ln>
        </p:spPr>
      </p:sp>
      <p:sp>
        <p:nvSpPr>
          <p:cNvPr id="19" name="input 2"/>
          <p:cNvSpPr/>
          <p:nvPr/>
        </p:nvSpPr>
        <p:spPr>
          <a:xfrm>
            <a:off x="548640" y="3794760"/>
            <a:ext cx="2148840" cy="1417320"/>
          </a:xfrm>
          <a:prstGeom prst="rect">
            <a:avLst/>
          </a:prstGeom>
          <a:solidFill>
            <a:schemeClr val="bg1"/>
          </a:solidFill>
          <a:ln w="9525">
            <a:solidFill>
              <a:srgbClr val="D8D3CB"/>
            </a:solidFill>
            <a:prstDash val="solid"/>
          </a:ln>
        </p:spPr>
      </p:sp>
      <p:sp>
        <p:nvSpPr>
          <p:cNvPr id="20" name="input 2 circle"/>
          <p:cNvSpPr/>
          <p:nvPr/>
        </p:nvSpPr>
        <p:spPr>
          <a:xfrm>
            <a:off x="749808" y="4023360"/>
            <a:ext cx="548640" cy="548640"/>
          </a:xfrm>
          <a:prstGeom prst="ellipse">
            <a:avLst/>
          </a:prstGeom>
          <a:solidFill>
            <a:srgbClr val="FFFFFF"/>
          </a:solidFill>
          <a:ln w="12700">
            <a:solidFill>
              <a:srgbClr val="FFFFFF"/>
            </a:solidFill>
            <a:prstDash val="solid"/>
          </a:ln>
        </p:spPr>
      </p:sp>
      <p:pic>
        <p:nvPicPr>
          <p:cNvPr id="21" name="input 2 icon" descr="preencoded.png">    </p:cNvPr>
          <p:cNvPicPr>
            <a:picLocks noChangeAspect="1"/>
          </p:cNvPicPr>
          <p:nvPr/>
        </p:nvPicPr>
        <p:blipFill>
          <a:blip r:embed="rId3"/>
          <a:stretch>
            <a:fillRect/>
          </a:stretch>
        </p:blipFill>
        <p:spPr>
          <a:xfrm>
            <a:off x="892454" y="4166006"/>
            <a:ext cx="263347" cy="263347"/>
          </a:xfrm>
          <a:prstGeom prst="rect">
            <a:avLst/>
          </a:prstGeom>
        </p:spPr>
      </p:pic>
      <p:sp>
        <p:nvSpPr>
          <p:cNvPr id="22" name="input title 2"/>
          <p:cNvSpPr txBox="1"/>
          <p:nvPr/>
        </p:nvSpPr>
        <p:spPr>
          <a:xfrm>
            <a:off x="749808" y="4636008"/>
            <a:ext cx="1828800" cy="274320"/>
          </a:xfrm>
          <a:prstGeom prst="rect">
            <a:avLst/>
          </a:prstGeom>
          <a:noFill/>
          <a:ln/>
        </p:spPr>
        <p:txBody>
          <a:bodyPr wrap="square" lIns="0" tIns="0" rIns="0" bIns="0" rtlCol="0" anchor="t"/>
          <a:lstStyle/>
          <a:p>
            <a:pPr indent="0" marL="0">
              <a:buNone/>
            </a:pPr>
            <a:r>
              <a:rPr lang="en-US" sz="1400" b="1" dirty="0">
                <a:solidFill>
                  <a:schemeClr val="tx1"/>
                </a:solidFill>
              </a:rPr>
              <a:t>DWG / DXF drawings</a:t>
            </a:r>
            <a:endParaRPr lang="en-US" sz="1400" dirty="0"/>
          </a:p>
        </p:txBody>
      </p:sp>
      <p:sp>
        <p:nvSpPr>
          <p:cNvPr id="23" name="input text 2"/>
          <p:cNvSpPr txBox="1"/>
          <p:nvPr/>
        </p:nvSpPr>
        <p:spPr>
          <a:xfrm>
            <a:off x="749808" y="4892040"/>
            <a:ext cx="1828800" cy="274320"/>
          </a:xfrm>
          <a:prstGeom prst="rect">
            <a:avLst/>
          </a:prstGeom>
          <a:noFill/>
          <a:ln/>
        </p:spPr>
        <p:txBody>
          <a:bodyPr wrap="square" lIns="0" tIns="0" rIns="0" bIns="0" rtlCol="0" anchor="t"/>
          <a:lstStyle/>
          <a:p>
            <a:pPr indent="0" marL="0">
              <a:buNone/>
            </a:pPr>
            <a:r>
              <a:rPr lang="en-US" sz="1100" dirty="0">
                <a:solidFill>
                  <a:schemeClr val="tx2"/>
                </a:solidFill>
              </a:rPr>
              <a:t>the CAD set</a:t>
            </a:r>
            <a:endParaRPr lang="en-US" sz="1100" dirty="0"/>
          </a:p>
        </p:txBody>
      </p:sp>
      <p:sp>
        <p:nvSpPr>
          <p:cNvPr id="24" name="Shape 18"/>
          <p:cNvSpPr/>
          <p:nvPr/>
        </p:nvSpPr>
        <p:spPr>
          <a:xfrm>
            <a:off x="2743200" y="4507992"/>
            <a:ext cx="365760" cy="0"/>
          </a:xfrm>
          <a:prstGeom prst="line">
            <a:avLst/>
          </a:prstGeom>
          <a:noFill/>
          <a:ln w="25400">
            <a:solidFill>
              <a:srgbClr val="8B8781"/>
            </a:solidFill>
            <a:prstDash val="solid"/>
            <a:tailEnd type="triangle"/>
          </a:ln>
        </p:spPr>
      </p:sp>
      <p:sp>
        <p:nvSpPr>
          <p:cNvPr id="25" name="reader 2"/>
          <p:cNvSpPr/>
          <p:nvPr/>
        </p:nvSpPr>
        <p:spPr>
          <a:xfrm>
            <a:off x="3154680" y="3794760"/>
            <a:ext cx="2377440" cy="1417320"/>
          </a:xfrm>
          <a:prstGeom prst="rect">
            <a:avLst/>
          </a:prstGeom>
          <a:solidFill>
            <a:schemeClr val="bg2"/>
          </a:solidFill>
          <a:ln w="9525">
            <a:solidFill>
              <a:srgbClr val="D8D3CB"/>
            </a:solidFill>
            <a:prstDash val="solid"/>
          </a:ln>
        </p:spPr>
      </p:sp>
      <p:sp>
        <p:nvSpPr>
          <p:cNvPr id="26" name="reader 2 circle"/>
          <p:cNvSpPr/>
          <p:nvPr/>
        </p:nvSpPr>
        <p:spPr>
          <a:xfrm>
            <a:off x="3355848" y="4023360"/>
            <a:ext cx="548640" cy="548640"/>
          </a:xfrm>
          <a:prstGeom prst="ellipse">
            <a:avLst/>
          </a:prstGeom>
          <a:solidFill>
            <a:srgbClr val="8E1B1B"/>
          </a:solidFill>
          <a:ln w="12700">
            <a:solidFill>
              <a:srgbClr val="8E1B1B"/>
            </a:solidFill>
            <a:prstDash val="solid"/>
          </a:ln>
        </p:spPr>
      </p:sp>
      <p:pic>
        <p:nvPicPr>
          <p:cNvPr id="27" name="reader 2 icon" descr="preencoded.png">    </p:cNvPr>
          <p:cNvPicPr>
            <a:picLocks noChangeAspect="1"/>
          </p:cNvPicPr>
          <p:nvPr/>
        </p:nvPicPr>
        <p:blipFill>
          <a:blip r:embed="rId4"/>
          <a:stretch>
            <a:fillRect/>
          </a:stretch>
        </p:blipFill>
        <p:spPr>
          <a:xfrm>
            <a:off x="3498494" y="4166006"/>
            <a:ext cx="263347" cy="263347"/>
          </a:xfrm>
          <a:prstGeom prst="rect">
            <a:avLst/>
          </a:prstGeom>
        </p:spPr>
      </p:pic>
      <p:sp>
        <p:nvSpPr>
          <p:cNvPr id="28" name="reader title 2"/>
          <p:cNvSpPr txBox="1"/>
          <p:nvPr/>
        </p:nvSpPr>
        <p:spPr>
          <a:xfrm>
            <a:off x="4023360" y="4096512"/>
            <a:ext cx="1463040" cy="365760"/>
          </a:xfrm>
          <a:prstGeom prst="rect">
            <a:avLst/>
          </a:prstGeom>
          <a:noFill/>
          <a:ln/>
        </p:spPr>
        <p:txBody>
          <a:bodyPr wrap="square" lIns="0" tIns="0" rIns="0" bIns="0" rtlCol="0" anchor="t"/>
          <a:lstStyle/>
          <a:p>
            <a:pPr indent="0" marL="0">
              <a:buNone/>
            </a:pPr>
            <a:r>
              <a:rPr lang="en-US" sz="1500" b="1" dirty="0">
                <a:solidFill>
                  <a:schemeClr val="tx1"/>
                </a:solidFill>
              </a:rPr>
              <a:t>CAD reader</a:t>
            </a:r>
            <a:endParaRPr lang="en-US" sz="1500" dirty="0"/>
          </a:p>
        </p:txBody>
      </p:sp>
      <p:sp>
        <p:nvSpPr>
          <p:cNvPr id="29" name="reader text 2"/>
          <p:cNvSpPr txBox="1"/>
          <p:nvPr/>
        </p:nvSpPr>
        <p:spPr>
          <a:xfrm>
            <a:off x="3355848" y="4663440"/>
            <a:ext cx="2057400" cy="502920"/>
          </a:xfrm>
          <a:prstGeom prst="rect">
            <a:avLst/>
          </a:prstGeom>
          <a:noFill/>
          <a:ln/>
        </p:spPr>
        <p:txBody>
          <a:bodyPr wrap="square" lIns="0" tIns="0" rIns="0" bIns="0" rtlCol="0" anchor="t"/>
          <a:lstStyle/>
          <a:p>
            <a:pPr indent="0" marL="0">
              <a:buNone/>
            </a:pPr>
            <a:r>
              <a:rPr lang="en-US" sz="1150" dirty="0">
                <a:solidFill>
                  <a:schemeClr val="tx2"/>
                </a:solidFill>
              </a:rPr>
              <a:t>counts symbols, reads SLDs, measures routes</a:t>
            </a:r>
            <a:endParaRPr lang="en-US" sz="1150" dirty="0"/>
          </a:p>
        </p:txBody>
      </p:sp>
      <p:sp>
        <p:nvSpPr>
          <p:cNvPr id="30" name="Shape 23"/>
          <p:cNvSpPr/>
          <p:nvPr/>
        </p:nvSpPr>
        <p:spPr>
          <a:xfrm>
            <a:off x="5577840" y="4507992"/>
            <a:ext cx="365760" cy="0"/>
          </a:xfrm>
          <a:prstGeom prst="line">
            <a:avLst/>
          </a:prstGeom>
          <a:noFill/>
          <a:ln w="25400">
            <a:solidFill>
              <a:srgbClr val="8B8781"/>
            </a:solidFill>
            <a:prstDash val="solid"/>
            <a:tailEnd type="triangle"/>
          </a:ln>
        </p:spPr>
      </p:sp>
      <p:sp>
        <p:nvSpPr>
          <p:cNvPr id="31" name="findings"/>
          <p:cNvSpPr/>
          <p:nvPr/>
        </p:nvSpPr>
        <p:spPr>
          <a:xfrm>
            <a:off x="5989320" y="1600200"/>
            <a:ext cx="1828800" cy="3611880"/>
          </a:xfrm>
          <a:prstGeom prst="rect">
            <a:avLst/>
          </a:prstGeom>
          <a:solidFill>
            <a:schemeClr val="bg1"/>
          </a:solidFill>
          <a:ln w="9525">
            <a:solidFill>
              <a:srgbClr val="D8D3CB"/>
            </a:solidFill>
            <a:prstDash val="solid"/>
          </a:ln>
        </p:spPr>
      </p:sp>
      <p:sp>
        <p:nvSpPr>
          <p:cNvPr id="32" name="findings circle"/>
          <p:cNvSpPr/>
          <p:nvPr/>
        </p:nvSpPr>
        <p:spPr>
          <a:xfrm>
            <a:off x="6583680" y="1783080"/>
            <a:ext cx="640080" cy="640080"/>
          </a:xfrm>
          <a:prstGeom prst="ellipse">
            <a:avLst/>
          </a:prstGeom>
          <a:solidFill>
            <a:srgbClr val="C9A15A"/>
          </a:solidFill>
          <a:ln w="12700">
            <a:solidFill>
              <a:srgbClr val="C9A15A"/>
            </a:solidFill>
            <a:prstDash val="solid"/>
          </a:ln>
        </p:spPr>
      </p:sp>
      <p:pic>
        <p:nvPicPr>
          <p:cNvPr id="33" name="findings icon" descr="preencoded.png">    </p:cNvPr>
          <p:cNvPicPr>
            <a:picLocks noChangeAspect="1"/>
          </p:cNvPicPr>
          <p:nvPr/>
        </p:nvPicPr>
        <p:blipFill>
          <a:blip r:embed="rId5"/>
          <a:stretch>
            <a:fillRect/>
          </a:stretch>
        </p:blipFill>
        <p:spPr>
          <a:xfrm>
            <a:off x="6750101" y="1949501"/>
            <a:ext cx="307238" cy="307238"/>
          </a:xfrm>
          <a:prstGeom prst="rect">
            <a:avLst/>
          </a:prstGeom>
        </p:spPr>
      </p:pic>
      <p:sp>
        <p:nvSpPr>
          <p:cNvPr id="34" name="findings title"/>
          <p:cNvSpPr txBox="1"/>
          <p:nvPr/>
        </p:nvSpPr>
        <p:spPr>
          <a:xfrm>
            <a:off x="6172200" y="2514600"/>
            <a:ext cx="1463040" cy="320040"/>
          </a:xfrm>
          <a:prstGeom prst="rect">
            <a:avLst/>
          </a:prstGeom>
          <a:noFill/>
          <a:ln/>
        </p:spPr>
        <p:txBody>
          <a:bodyPr wrap="square" lIns="0" tIns="0" rIns="0" bIns="0" rtlCol="0" anchor="t"/>
          <a:lstStyle/>
          <a:p>
            <a:pPr algn="ctr" indent="0" marL="0">
              <a:buNone/>
            </a:pPr>
            <a:r>
              <a:rPr lang="en-US" sz="1500" b="1" dirty="0">
                <a:solidFill>
                  <a:schemeClr val="tx1"/>
                </a:solidFill>
              </a:rPr>
              <a:t>Findings</a:t>
            </a:r>
            <a:endParaRPr lang="en-US" sz="1500" dirty="0"/>
          </a:p>
        </p:txBody>
      </p:sp>
      <p:sp>
        <p:nvSpPr>
          <p:cNvPr id="35" name="findings evidence"/>
          <p:cNvSpPr txBox="1"/>
          <p:nvPr/>
        </p:nvSpPr>
        <p:spPr>
          <a:xfrm>
            <a:off x="6172200" y="2880360"/>
            <a:ext cx="1463040" cy="2103120"/>
          </a:xfrm>
          <a:prstGeom prst="rect">
            <a:avLst/>
          </a:prstGeom>
          <a:noFill/>
          <a:ln/>
        </p:spPr>
        <p:txBody>
          <a:bodyPr wrap="square" lIns="0" tIns="0" rIns="0" bIns="0" rtlCol="0" anchor="t"/>
          <a:lstStyle/>
          <a:p>
            <a:pPr algn="ctr" indent="0" marL="0">
              <a:buNone/>
            </a:pPr>
            <a:r>
              <a:rPr lang="en-US" sz="1250" dirty="0">
                <a:solidFill>
                  <a:schemeClr val="tx2"/>
                </a:solidFill>
              </a:rPr>
              <a:t>with evidence</a:t>
            </a:r>
            <a:endParaRPr lang="en-US" sz="1250" dirty="0"/>
          </a:p>
          <a:p>
            <a:pPr algn="ctr" indent="0" marL="0">
              <a:buNone/>
            </a:pPr>
            <a:r>
              <a:rPr lang="en-US" sz="1250" b="1" dirty="0">
                <a:solidFill>
                  <a:schemeClr val="accent3"/>
                </a:solidFill>
              </a:rPr>
              <a:t>measured</a:t>
            </a:r>
            <a:endParaRPr lang="en-US" sz="1250" dirty="0"/>
          </a:p>
          <a:p>
            <a:pPr algn="ctr" indent="0" marL="0">
              <a:buNone/>
            </a:pPr>
            <a:r>
              <a:rPr lang="en-US" sz="1250" dirty="0">
                <a:solidFill>
                  <a:schemeClr val="tx1"/>
                </a:solidFill>
              </a:rPr>
              <a:t>› counted</a:t>
            </a:r>
            <a:endParaRPr lang="en-US" sz="1250" dirty="0"/>
          </a:p>
          <a:p>
            <a:pPr algn="ctr" indent="0" marL="0">
              <a:buNone/>
            </a:pPr>
            <a:r>
              <a:rPr lang="en-US" sz="1250" dirty="0">
                <a:solidFill>
                  <a:schemeClr val="tx1"/>
                </a:solidFill>
              </a:rPr>
              <a:t>› written</a:t>
            </a:r>
            <a:endParaRPr lang="en-US" sz="1250" dirty="0"/>
          </a:p>
          <a:p>
            <a:pPr algn="ctr" indent="0" marL="0">
              <a:buNone/>
            </a:pPr>
            <a:r>
              <a:rPr lang="en-US" sz="1250" dirty="0">
                <a:solidFill>
                  <a:schemeClr val="tx1"/>
                </a:solidFill>
              </a:rPr>
              <a:t>› seen</a:t>
            </a:r>
            <a:endParaRPr lang="en-US" sz="1250" dirty="0"/>
          </a:p>
          <a:p>
            <a:pPr algn="ctr" indent="0" marL="0">
              <a:buNone/>
            </a:pPr>
            <a:r>
              <a:rPr lang="en-US" sz="1250" dirty="0">
                <a:solidFill>
                  <a:schemeClr val="accent4"/>
                </a:solidFill>
              </a:rPr>
              <a:t>› assumed</a:t>
            </a:r>
            <a:endParaRPr lang="en-US" sz="1250" dirty="0"/>
          </a:p>
        </p:txBody>
      </p:sp>
      <p:sp>
        <p:nvSpPr>
          <p:cNvPr id="36" name="Shape 28"/>
          <p:cNvSpPr/>
          <p:nvPr/>
        </p:nvSpPr>
        <p:spPr>
          <a:xfrm>
            <a:off x="7863840" y="3401568"/>
            <a:ext cx="365760" cy="0"/>
          </a:xfrm>
          <a:prstGeom prst="line">
            <a:avLst/>
          </a:prstGeom>
          <a:noFill/>
          <a:ln w="25400">
            <a:solidFill>
              <a:srgbClr val="8B8781"/>
            </a:solidFill>
            <a:prstDash val="solid"/>
            <a:tailEnd type="triangle"/>
          </a:ln>
        </p:spPr>
      </p:sp>
      <p:sp>
        <p:nvSpPr>
          <p:cNvPr id="37" name="combine"/>
          <p:cNvSpPr/>
          <p:nvPr/>
        </p:nvSpPr>
        <p:spPr>
          <a:xfrm>
            <a:off x="8275320" y="1600200"/>
            <a:ext cx="1783080" cy="1508760"/>
          </a:xfrm>
          <a:prstGeom prst="rect">
            <a:avLst/>
          </a:prstGeom>
          <a:solidFill>
            <a:schemeClr val="bg2"/>
          </a:solidFill>
          <a:ln w="9525">
            <a:solidFill>
              <a:srgbClr val="D8D3CB"/>
            </a:solidFill>
            <a:prstDash val="solid"/>
          </a:ln>
        </p:spPr>
      </p:sp>
      <p:sp>
        <p:nvSpPr>
          <p:cNvPr id="38" name="combine circle"/>
          <p:cNvSpPr/>
          <p:nvPr/>
        </p:nvSpPr>
        <p:spPr>
          <a:xfrm>
            <a:off x="8458200" y="1755648"/>
            <a:ext cx="502920" cy="502920"/>
          </a:xfrm>
          <a:prstGeom prst="ellipse">
            <a:avLst/>
          </a:prstGeom>
          <a:solidFill>
            <a:srgbClr val="8E1B1B"/>
          </a:solidFill>
          <a:ln w="12700">
            <a:solidFill>
              <a:srgbClr val="8E1B1B"/>
            </a:solidFill>
            <a:prstDash val="solid"/>
          </a:ln>
        </p:spPr>
      </p:sp>
      <p:pic>
        <p:nvPicPr>
          <p:cNvPr id="39" name="combine icon" descr="preencoded.png">    </p:cNvPr>
          <p:cNvPicPr>
            <a:picLocks noChangeAspect="1"/>
          </p:cNvPicPr>
          <p:nvPr/>
        </p:nvPicPr>
        <p:blipFill>
          <a:blip r:embed="rId6"/>
          <a:stretch>
            <a:fillRect/>
          </a:stretch>
        </p:blipFill>
        <p:spPr>
          <a:xfrm>
            <a:off x="8588959" y="1886407"/>
            <a:ext cx="241402" cy="241402"/>
          </a:xfrm>
          <a:prstGeom prst="rect">
            <a:avLst/>
          </a:prstGeom>
        </p:spPr>
      </p:pic>
      <p:sp>
        <p:nvSpPr>
          <p:cNvPr id="40" name="combine title"/>
          <p:cNvSpPr txBox="1"/>
          <p:nvPr/>
        </p:nvSpPr>
        <p:spPr>
          <a:xfrm>
            <a:off x="8458200" y="2331720"/>
            <a:ext cx="1463040" cy="274320"/>
          </a:xfrm>
          <a:prstGeom prst="rect">
            <a:avLst/>
          </a:prstGeom>
          <a:noFill/>
          <a:ln/>
        </p:spPr>
        <p:txBody>
          <a:bodyPr wrap="square" lIns="0" tIns="0" rIns="0" bIns="0" rtlCol="0" anchor="t"/>
          <a:lstStyle/>
          <a:p>
            <a:pPr indent="0" marL="0">
              <a:buNone/>
            </a:pPr>
            <a:r>
              <a:rPr lang="en-US" sz="1400" b="1" dirty="0">
                <a:solidFill>
                  <a:schemeClr val="tx1"/>
                </a:solidFill>
              </a:rPr>
              <a:t>Combine</a:t>
            </a:r>
            <a:endParaRPr lang="en-US" sz="1400" dirty="0"/>
          </a:p>
        </p:txBody>
      </p:sp>
      <p:sp>
        <p:nvSpPr>
          <p:cNvPr id="41" name="combine text"/>
          <p:cNvSpPr txBox="1"/>
          <p:nvPr/>
        </p:nvSpPr>
        <p:spPr>
          <a:xfrm>
            <a:off x="8458200" y="2606040"/>
            <a:ext cx="1508760" cy="457200"/>
          </a:xfrm>
          <a:prstGeom prst="rect">
            <a:avLst/>
          </a:prstGeom>
          <a:noFill/>
          <a:ln/>
        </p:spPr>
        <p:txBody>
          <a:bodyPr wrap="square" lIns="0" tIns="0" rIns="0" bIns="0" rtlCol="0" anchor="t"/>
          <a:lstStyle/>
          <a:p>
            <a:pPr indent="0" marL="0">
              <a:buNone/>
            </a:pPr>
            <a:r>
              <a:rPr lang="en-US" sz="1050" dirty="0">
                <a:solidFill>
                  <a:schemeClr val="tx2"/>
                </a:solidFill>
              </a:rPr>
              <a:t>stronger evidence wins, nothing counted twice</a:t>
            </a:r>
            <a:endParaRPr lang="en-US" sz="1050" dirty="0"/>
          </a:p>
        </p:txBody>
      </p:sp>
      <p:sp>
        <p:nvSpPr>
          <p:cNvPr id="42" name="Shape 33"/>
          <p:cNvSpPr/>
          <p:nvPr/>
        </p:nvSpPr>
        <p:spPr>
          <a:xfrm>
            <a:off x="9162288" y="3154680"/>
            <a:ext cx="0" cy="502920"/>
          </a:xfrm>
          <a:prstGeom prst="line">
            <a:avLst/>
          </a:prstGeom>
          <a:noFill/>
          <a:ln w="25400">
            <a:solidFill>
              <a:srgbClr val="8B8781"/>
            </a:solidFill>
            <a:prstDash val="solid"/>
            <a:tailEnd type="triangle"/>
          </a:ln>
        </p:spPr>
      </p:sp>
      <p:sp>
        <p:nvSpPr>
          <p:cNvPr id="43" name="price"/>
          <p:cNvSpPr/>
          <p:nvPr/>
        </p:nvSpPr>
        <p:spPr>
          <a:xfrm>
            <a:off x="8275320" y="3703320"/>
            <a:ext cx="1783080" cy="1508760"/>
          </a:xfrm>
          <a:prstGeom prst="rect">
            <a:avLst/>
          </a:prstGeom>
          <a:solidFill>
            <a:schemeClr val="bg2"/>
          </a:solidFill>
          <a:ln w="9525">
            <a:solidFill>
              <a:srgbClr val="D8D3CB"/>
            </a:solidFill>
            <a:prstDash val="solid"/>
          </a:ln>
        </p:spPr>
      </p:sp>
      <p:sp>
        <p:nvSpPr>
          <p:cNvPr id="44" name="price circle"/>
          <p:cNvSpPr/>
          <p:nvPr/>
        </p:nvSpPr>
        <p:spPr>
          <a:xfrm>
            <a:off x="8458200" y="3858768"/>
            <a:ext cx="502920" cy="502920"/>
          </a:xfrm>
          <a:prstGeom prst="ellipse">
            <a:avLst/>
          </a:prstGeom>
          <a:solidFill>
            <a:srgbClr val="8E1B1B"/>
          </a:solidFill>
          <a:ln w="12700">
            <a:solidFill>
              <a:srgbClr val="8E1B1B"/>
            </a:solidFill>
            <a:prstDash val="solid"/>
          </a:ln>
        </p:spPr>
      </p:sp>
      <p:pic>
        <p:nvPicPr>
          <p:cNvPr id="45" name="price icon" descr="preencoded.png">    </p:cNvPr>
          <p:cNvPicPr>
            <a:picLocks noChangeAspect="1"/>
          </p:cNvPicPr>
          <p:nvPr/>
        </p:nvPicPr>
        <p:blipFill>
          <a:blip r:embed="rId7"/>
          <a:stretch>
            <a:fillRect/>
          </a:stretch>
        </p:blipFill>
        <p:spPr>
          <a:xfrm>
            <a:off x="8588959" y="3989527"/>
            <a:ext cx="241402" cy="241402"/>
          </a:xfrm>
          <a:prstGeom prst="rect">
            <a:avLst/>
          </a:prstGeom>
        </p:spPr>
      </p:pic>
      <p:sp>
        <p:nvSpPr>
          <p:cNvPr id="46" name="price title"/>
          <p:cNvSpPr txBox="1"/>
          <p:nvPr/>
        </p:nvSpPr>
        <p:spPr>
          <a:xfrm>
            <a:off x="8458200" y="4434840"/>
            <a:ext cx="1463040" cy="274320"/>
          </a:xfrm>
          <a:prstGeom prst="rect">
            <a:avLst/>
          </a:prstGeom>
          <a:noFill/>
          <a:ln/>
        </p:spPr>
        <p:txBody>
          <a:bodyPr wrap="square" lIns="0" tIns="0" rIns="0" bIns="0" rtlCol="0" anchor="t"/>
          <a:lstStyle/>
          <a:p>
            <a:pPr indent="0" marL="0">
              <a:buNone/>
            </a:pPr>
            <a:r>
              <a:rPr lang="en-US" sz="1400" b="1" dirty="0">
                <a:solidFill>
                  <a:schemeClr val="tx1"/>
                </a:solidFill>
              </a:rPr>
              <a:t>Price once</a:t>
            </a:r>
            <a:endParaRPr lang="en-US" sz="1400" dirty="0"/>
          </a:p>
        </p:txBody>
      </p:sp>
      <p:sp>
        <p:nvSpPr>
          <p:cNvPr id="47" name="price text"/>
          <p:cNvSpPr txBox="1"/>
          <p:nvPr/>
        </p:nvSpPr>
        <p:spPr>
          <a:xfrm>
            <a:off x="8458200" y="4709160"/>
            <a:ext cx="1508760" cy="457200"/>
          </a:xfrm>
          <a:prstGeom prst="rect">
            <a:avLst/>
          </a:prstGeom>
          <a:noFill/>
          <a:ln/>
        </p:spPr>
        <p:txBody>
          <a:bodyPr wrap="square" lIns="0" tIns="0" rIns="0" bIns="0" rtlCol="0" anchor="t"/>
          <a:lstStyle/>
          <a:p>
            <a:pPr indent="0" marL="0">
              <a:buNone/>
            </a:pPr>
            <a:r>
              <a:rPr lang="en-US" sz="1050" dirty="0">
                <a:solidFill>
                  <a:schemeClr val="tx2"/>
                </a:solidFill>
              </a:rPr>
              <a:t>SA rate model: crew × hours, DB build-up</a:t>
            </a:r>
            <a:endParaRPr lang="en-US" sz="1050" dirty="0"/>
          </a:p>
        </p:txBody>
      </p:sp>
      <p:sp>
        <p:nvSpPr>
          <p:cNvPr id="48" name="Shape 38"/>
          <p:cNvSpPr/>
          <p:nvPr/>
        </p:nvSpPr>
        <p:spPr>
          <a:xfrm>
            <a:off x="10104120" y="4462272"/>
            <a:ext cx="320040" cy="0"/>
          </a:xfrm>
          <a:prstGeom prst="line">
            <a:avLst/>
          </a:prstGeom>
          <a:noFill/>
          <a:ln w="25400">
            <a:solidFill>
              <a:srgbClr val="8B8781"/>
            </a:solidFill>
            <a:prstDash val="solid"/>
            <a:tailEnd type="triangle"/>
          </a:ln>
        </p:spPr>
      </p:sp>
      <p:sp>
        <p:nvSpPr>
          <p:cNvPr id="49" name="outputs"/>
          <p:cNvSpPr/>
          <p:nvPr/>
        </p:nvSpPr>
        <p:spPr>
          <a:xfrm>
            <a:off x="10469880" y="1600200"/>
            <a:ext cx="1188720" cy="3611880"/>
          </a:xfrm>
          <a:prstGeom prst="rect">
            <a:avLst/>
          </a:prstGeom>
          <a:solidFill>
            <a:schemeClr val="bg1"/>
          </a:solidFill>
          <a:ln w="9525">
            <a:solidFill>
              <a:srgbClr val="D8D3CB"/>
            </a:solidFill>
            <a:prstDash val="solid"/>
          </a:ln>
        </p:spPr>
      </p:sp>
      <p:sp>
        <p:nvSpPr>
          <p:cNvPr id="50" name="output 1 circle"/>
          <p:cNvSpPr/>
          <p:nvPr/>
        </p:nvSpPr>
        <p:spPr>
          <a:xfrm>
            <a:off x="10808208" y="1783080"/>
            <a:ext cx="502920" cy="502920"/>
          </a:xfrm>
          <a:prstGeom prst="ellipse">
            <a:avLst/>
          </a:prstGeom>
          <a:solidFill>
            <a:srgbClr val="FFFFFF"/>
          </a:solidFill>
          <a:ln w="12700">
            <a:solidFill>
              <a:srgbClr val="FFFFFF"/>
            </a:solidFill>
            <a:prstDash val="solid"/>
          </a:ln>
        </p:spPr>
      </p:sp>
      <p:pic>
        <p:nvPicPr>
          <p:cNvPr id="51" name="output 1 icon" descr="preencoded.png">    </p:cNvPr>
          <p:cNvPicPr>
            <a:picLocks noChangeAspect="1"/>
          </p:cNvPicPr>
          <p:nvPr/>
        </p:nvPicPr>
        <p:blipFill>
          <a:blip r:embed="rId8"/>
          <a:stretch>
            <a:fillRect/>
          </a:stretch>
        </p:blipFill>
        <p:spPr>
          <a:xfrm>
            <a:off x="10938967" y="1913839"/>
            <a:ext cx="241402" cy="241402"/>
          </a:xfrm>
          <a:prstGeom prst="rect">
            <a:avLst/>
          </a:prstGeom>
        </p:spPr>
      </p:pic>
      <p:sp>
        <p:nvSpPr>
          <p:cNvPr id="52" name="output label 1"/>
          <p:cNvSpPr txBox="1"/>
          <p:nvPr/>
        </p:nvSpPr>
        <p:spPr>
          <a:xfrm>
            <a:off x="10515600" y="2304288"/>
            <a:ext cx="1097280" cy="274320"/>
          </a:xfrm>
          <a:prstGeom prst="rect">
            <a:avLst/>
          </a:prstGeom>
          <a:noFill/>
          <a:ln/>
        </p:spPr>
        <p:txBody>
          <a:bodyPr wrap="square" lIns="0" tIns="0" rIns="0" bIns="0" rtlCol="0" anchor="t"/>
          <a:lstStyle/>
          <a:p>
            <a:pPr algn="ctr" indent="0" marL="0">
              <a:buNone/>
            </a:pPr>
            <a:r>
              <a:rPr lang="en-US" sz="1100" dirty="0">
                <a:solidFill>
                  <a:schemeClr val="tx1"/>
                </a:solidFill>
              </a:rPr>
              <a:t>Excel</a:t>
            </a:r>
            <a:endParaRPr lang="en-US" sz="1100" dirty="0"/>
          </a:p>
        </p:txBody>
      </p:sp>
      <p:sp>
        <p:nvSpPr>
          <p:cNvPr id="53" name="output 2 circle"/>
          <p:cNvSpPr/>
          <p:nvPr/>
        </p:nvSpPr>
        <p:spPr>
          <a:xfrm>
            <a:off x="10808208" y="2633472"/>
            <a:ext cx="502920" cy="502920"/>
          </a:xfrm>
          <a:prstGeom prst="ellipse">
            <a:avLst/>
          </a:prstGeom>
          <a:solidFill>
            <a:srgbClr val="FFFFFF"/>
          </a:solidFill>
          <a:ln w="12700">
            <a:solidFill>
              <a:srgbClr val="FFFFFF"/>
            </a:solidFill>
            <a:prstDash val="solid"/>
          </a:ln>
        </p:spPr>
      </p:sp>
      <p:pic>
        <p:nvPicPr>
          <p:cNvPr id="54" name="output 2 icon" descr="preencoded.png">    </p:cNvPr>
          <p:cNvPicPr>
            <a:picLocks noChangeAspect="1"/>
          </p:cNvPicPr>
          <p:nvPr/>
        </p:nvPicPr>
        <p:blipFill>
          <a:blip r:embed="rId9"/>
          <a:stretch>
            <a:fillRect/>
          </a:stretch>
        </p:blipFill>
        <p:spPr>
          <a:xfrm>
            <a:off x="10938967" y="2764231"/>
            <a:ext cx="241402" cy="241402"/>
          </a:xfrm>
          <a:prstGeom prst="rect">
            <a:avLst/>
          </a:prstGeom>
        </p:spPr>
      </p:pic>
      <p:sp>
        <p:nvSpPr>
          <p:cNvPr id="55" name="output label 2"/>
          <p:cNvSpPr txBox="1"/>
          <p:nvPr/>
        </p:nvSpPr>
        <p:spPr>
          <a:xfrm>
            <a:off x="10515600" y="3154680"/>
            <a:ext cx="1097280" cy="274320"/>
          </a:xfrm>
          <a:prstGeom prst="rect">
            <a:avLst/>
          </a:prstGeom>
          <a:noFill/>
          <a:ln/>
        </p:spPr>
        <p:txBody>
          <a:bodyPr wrap="square" lIns="0" tIns="0" rIns="0" bIns="0" rtlCol="0" anchor="t"/>
          <a:lstStyle/>
          <a:p>
            <a:pPr algn="ctr" indent="0" marL="0">
              <a:buNone/>
            </a:pPr>
            <a:r>
              <a:rPr lang="en-US" sz="1100" dirty="0">
                <a:solidFill>
                  <a:schemeClr val="tx1"/>
                </a:solidFill>
              </a:rPr>
              <a:t>PDF</a:t>
            </a:r>
            <a:endParaRPr lang="en-US" sz="1100" dirty="0"/>
          </a:p>
        </p:txBody>
      </p:sp>
      <p:sp>
        <p:nvSpPr>
          <p:cNvPr id="56" name="output 3 circle"/>
          <p:cNvSpPr/>
          <p:nvPr/>
        </p:nvSpPr>
        <p:spPr>
          <a:xfrm>
            <a:off x="10808208" y="3483864"/>
            <a:ext cx="502920" cy="502920"/>
          </a:xfrm>
          <a:prstGeom prst="ellipse">
            <a:avLst/>
          </a:prstGeom>
          <a:solidFill>
            <a:srgbClr val="FFFFFF"/>
          </a:solidFill>
          <a:ln w="12700">
            <a:solidFill>
              <a:srgbClr val="FFFFFF"/>
            </a:solidFill>
            <a:prstDash val="solid"/>
          </a:ln>
        </p:spPr>
      </p:sp>
      <p:pic>
        <p:nvPicPr>
          <p:cNvPr id="57" name="output 3 icon" descr="preencoded.png">    </p:cNvPr>
          <p:cNvPicPr>
            <a:picLocks noChangeAspect="1"/>
          </p:cNvPicPr>
          <p:nvPr/>
        </p:nvPicPr>
        <p:blipFill>
          <a:blip r:embed="rId10"/>
          <a:stretch>
            <a:fillRect/>
          </a:stretch>
        </p:blipFill>
        <p:spPr>
          <a:xfrm>
            <a:off x="10938967" y="3614623"/>
            <a:ext cx="241402" cy="241402"/>
          </a:xfrm>
          <a:prstGeom prst="rect">
            <a:avLst/>
          </a:prstGeom>
        </p:spPr>
      </p:pic>
      <p:sp>
        <p:nvSpPr>
          <p:cNvPr id="58" name="output label 3"/>
          <p:cNvSpPr txBox="1"/>
          <p:nvPr/>
        </p:nvSpPr>
        <p:spPr>
          <a:xfrm>
            <a:off x="10515600" y="4005072"/>
            <a:ext cx="1097280" cy="274320"/>
          </a:xfrm>
          <a:prstGeom prst="rect">
            <a:avLst/>
          </a:prstGeom>
          <a:noFill/>
          <a:ln/>
        </p:spPr>
        <p:txBody>
          <a:bodyPr wrap="square" lIns="0" tIns="0" rIns="0" bIns="0" rtlCol="0" anchor="t"/>
          <a:lstStyle/>
          <a:p>
            <a:pPr algn="ctr" indent="0" marL="0">
              <a:buNone/>
            </a:pPr>
            <a:r>
              <a:rPr lang="en-US" sz="1100" dirty="0">
                <a:solidFill>
                  <a:schemeClr val="tx1"/>
                </a:solidFill>
              </a:rPr>
              <a:t>Gaps</a:t>
            </a:r>
            <a:endParaRPr lang="en-US" sz="1100" dirty="0"/>
          </a:p>
        </p:txBody>
      </p:sp>
      <p:sp>
        <p:nvSpPr>
          <p:cNvPr id="59" name="output 4 circle"/>
          <p:cNvSpPr/>
          <p:nvPr/>
        </p:nvSpPr>
        <p:spPr>
          <a:xfrm>
            <a:off x="10808208" y="4334256"/>
            <a:ext cx="502920" cy="502920"/>
          </a:xfrm>
          <a:prstGeom prst="ellipse">
            <a:avLst/>
          </a:prstGeom>
          <a:solidFill>
            <a:srgbClr val="FFFFFF"/>
          </a:solidFill>
          <a:ln w="12700">
            <a:solidFill>
              <a:srgbClr val="FFFFFF"/>
            </a:solidFill>
            <a:prstDash val="solid"/>
          </a:ln>
        </p:spPr>
      </p:sp>
      <p:pic>
        <p:nvPicPr>
          <p:cNvPr id="60" name="output 4 icon" descr="preencoded.png">    </p:cNvPr>
          <p:cNvPicPr>
            <a:picLocks noChangeAspect="1"/>
          </p:cNvPicPr>
          <p:nvPr/>
        </p:nvPicPr>
        <p:blipFill>
          <a:blip r:embed="rId11"/>
          <a:stretch>
            <a:fillRect/>
          </a:stretch>
        </p:blipFill>
        <p:spPr>
          <a:xfrm>
            <a:off x="10938967" y="4465015"/>
            <a:ext cx="241402" cy="241402"/>
          </a:xfrm>
          <a:prstGeom prst="rect">
            <a:avLst/>
          </a:prstGeom>
        </p:spPr>
      </p:pic>
      <p:sp>
        <p:nvSpPr>
          <p:cNvPr id="61" name="output label 4"/>
          <p:cNvSpPr txBox="1"/>
          <p:nvPr/>
        </p:nvSpPr>
        <p:spPr>
          <a:xfrm>
            <a:off x="10515600" y="4855464"/>
            <a:ext cx="1097280" cy="274320"/>
          </a:xfrm>
          <a:prstGeom prst="rect">
            <a:avLst/>
          </a:prstGeom>
          <a:noFill/>
          <a:ln/>
        </p:spPr>
        <p:txBody>
          <a:bodyPr wrap="square" lIns="0" tIns="0" rIns="0" bIns="0" rtlCol="0" anchor="t"/>
          <a:lstStyle/>
          <a:p>
            <a:pPr algn="ctr" indent="0" marL="0">
              <a:buNone/>
            </a:pPr>
            <a:r>
              <a:rPr lang="en-US" sz="1100" dirty="0">
                <a:solidFill>
                  <a:schemeClr val="tx1"/>
                </a:solidFill>
              </a:rPr>
              <a:t>Score</a:t>
            </a:r>
            <a:endParaRPr lang="en-US" sz="1100" dirty="0"/>
          </a:p>
        </p:txBody>
      </p:sp>
      <p:sp>
        <p:nvSpPr>
          <p:cNvPr id="62" name="motto"/>
          <p:cNvSpPr txBox="1"/>
          <p:nvPr/>
        </p:nvSpPr>
        <p:spPr>
          <a:xfrm>
            <a:off x="548640" y="5486400"/>
            <a:ext cx="11064240" cy="365760"/>
          </a:xfrm>
          <a:prstGeom prst="rect">
            <a:avLst/>
          </a:prstGeom>
          <a:noFill/>
          <a:ln/>
        </p:spPr>
        <p:txBody>
          <a:bodyPr wrap="square" lIns="0" tIns="0" rIns="0" bIns="0" rtlCol="0" anchor="t"/>
          <a:lstStyle/>
          <a:p>
            <a:pPr indent="0" marL="0">
              <a:buNone/>
            </a:pPr>
            <a:r>
              <a:rPr lang="en-US" sz="1500" i="1" dirty="0">
                <a:solidFill>
                  <a:schemeClr val="accent1"/>
                </a:solidFill>
              </a:rPr>
              <a:t>The AI model reads; the AfriPlan Engine counts, checks and prices — the AI never invents a quantity, a length or a rate.</a:t>
            </a:r>
            <a:endParaRPr lang="en-US" sz="15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HOW AFRIPLAN WORKS</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Every line of the bill says where it comes from</a:t>
            </a:r>
            <a:endParaRPr lang="en-US" sz="2600" dirty="0"/>
          </a:p>
        </p:txBody>
      </p:sp>
      <p:graphicFrame>
        <p:nvGraphicFramePr>
          <p:cNvPr id="6" name="lab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gridCol w="3657600"/>
                <a:gridCol w="4754880"/>
              </a:tblGrid>
              <a:tr h="384048">
                <a:tc>
                  <a:txBody>
                    <a:bodyPr/>
                    <a:lstStyle/>
                    <a:p>
                      <a:pPr indent="0" marL="0">
                        <a:buNone/>
                      </a:pPr>
                      <a:r>
                        <a:rPr lang="en-US" sz="1300" b="1" dirty="0">
                          <a:solidFill>
                            <a:schemeClr val="bg1"/>
                          </a:solidFill>
                        </a:rPr>
                        <a:t>Label on the line</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What it means</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Example</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solidFill>
                      <a:schemeClr val="tx1"/>
                    </a:solidFill>
                  </a:tcPr>
                </a:tc>
              </a:tr>
              <a:tr h="502920">
                <a:tc>
                  <a:txBody>
                    <a:bodyPr/>
                    <a:lstStyle/>
                    <a:p>
                      <a:pPr indent="0" marL="0">
                        <a:buNone/>
                      </a:pPr>
                      <a:r>
                        <a:rPr lang="en-US" sz="1300" b="1" dirty="0">
                          <a:solidFill>
                            <a:schemeClr val="accent3"/>
                          </a:solidFill>
                        </a:rPr>
                        <a:t>From the drawing</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Counted or read off the drawings</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Double socket outlets counted on the plug layout</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r>
              <a:tr h="502920">
                <a:tc>
                  <a:txBody>
                    <a:bodyPr/>
                    <a:lstStyle/>
                    <a:p>
                      <a:pPr indent="0" marL="0">
                        <a:buNone/>
                      </a:pPr>
                      <a:r>
                        <a:rPr lang="en-US" sz="1300" b="1" dirty="0">
                          <a:solidFill>
                            <a:schemeClr val="accent1"/>
                          </a:solidFill>
                        </a:rPr>
                        <a:t>Worked out</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Calculated from the drawings</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Feeder cable: route measured on the site plan + allowances</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r>
              <a:tr h="502920">
                <a:tc>
                  <a:txBody>
                    <a:bodyPr/>
                    <a:lstStyle/>
                    <a:p>
                      <a:pPr indent="0" marL="0">
                        <a:buNone/>
                      </a:pPr>
                      <a:r>
                        <a:rPr lang="en-US" sz="1300" b="1" dirty="0">
                          <a:solidFill>
                            <a:schemeClr val="accent4"/>
                          </a:solidFill>
                        </a:rPr>
                        <a:t>Guessed – check</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Not on the drawings — a standard value was used</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Feeder length assumed because no length is drawn</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r>
              <a:tr h="502920">
                <a:tc>
                  <a:txBody>
                    <a:bodyPr/>
                    <a:lstStyle/>
                    <a:p>
                      <a:pPr indent="0" marL="0">
                        <a:buNone/>
                      </a:pPr>
                      <a:r>
                        <a:rPr lang="en-US" sz="1300" b="1" dirty="0">
                          <a:solidFill>
                            <a:schemeClr val="tx2"/>
                          </a:solidFill>
                        </a:rPr>
                        <a:t>Allowance</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A provisional sum</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Utility connection fee</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r>
              <a:tr h="502920">
                <a:tc>
                  <a:txBody>
                    <a:bodyPr/>
                    <a:lstStyle/>
                    <a:p>
                      <a:pPr indent="0" marL="0">
                        <a:buNone/>
                      </a:pPr>
                      <a:r>
                        <a:rPr lang="en-US" sz="1300" b="1" dirty="0">
                          <a:solidFill>
                            <a:schemeClr val="accent4"/>
                          </a:solidFill>
                        </a:rPr>
                        <a:t>Rough estimate – check</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Estimated from other items</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Conduit worked out from the number of points</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r>
              <a:tr h="502920">
                <a:tc>
                  <a:txBody>
                    <a:bodyPr/>
                    <a:lstStyle/>
                    <a:p>
                      <a:pPr indent="0" marL="0">
                        <a:buNone/>
                      </a:pPr>
                      <a:r>
                        <a:rPr lang="en-US" sz="1300" b="1" dirty="0">
                          <a:solidFill>
                            <a:schemeClr val="tx2"/>
                          </a:solidFill>
                        </a:rPr>
                        <a:t>Price you chose</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A price you changed yourself</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A supplier's quote applied in Pricing</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r>
            </a:tbl>
          </a:graphicData>
        </a:graphic>
      </p:graphicFrame>
      <p:sp>
        <p:nvSpPr>
          <p:cNvPr id="8" name="severity heading"/>
          <p:cNvSpPr txBox="1"/>
          <p:nvPr/>
        </p:nvSpPr>
        <p:spPr>
          <a:xfrm>
            <a:off x="548640" y="4983480"/>
            <a:ext cx="11064240" cy="320040"/>
          </a:xfrm>
          <a:prstGeom prst="rect">
            <a:avLst/>
          </a:prstGeom>
          <a:noFill/>
          <a:ln/>
        </p:spPr>
        <p:txBody>
          <a:bodyPr wrap="square" lIns="0" tIns="0" rIns="0" bIns="0" rtlCol="0" anchor="t"/>
          <a:lstStyle/>
          <a:p>
            <a:pPr indent="0" marL="0">
              <a:buNone/>
            </a:pPr>
            <a:r>
              <a:rPr lang="en-US" sz="1400" b="1" dirty="0">
                <a:solidFill>
                  <a:schemeClr val="tx1"/>
                </a:solidFill>
              </a:rPr>
              <a:t>“Things to check” is sorted by how serious each doubt is:</a:t>
            </a:r>
            <a:endParaRPr lang="en-US" sz="1400" dirty="0"/>
          </a:p>
        </p:txBody>
      </p:sp>
      <p:sp>
        <p:nvSpPr>
          <p:cNvPr id="9" name="severity chip 1"/>
          <p:cNvSpPr/>
          <p:nvPr/>
        </p:nvSpPr>
        <p:spPr>
          <a:xfrm>
            <a:off x="548640" y="5440680"/>
            <a:ext cx="2560320" cy="502920"/>
          </a:xfrm>
          <a:prstGeom prst="roundRect">
            <a:avLst>
              <a:gd name="adj" fmla="val 49091"/>
            </a:avLst>
          </a:prstGeom>
          <a:solidFill>
            <a:srgbClr val="C2410C"/>
          </a:solidFill>
          <a:ln w="12700">
            <a:solidFill>
              <a:srgbClr val="C2410C"/>
            </a:solidFill>
            <a:prstDash val="solid"/>
          </a:ln>
        </p:spPr>
      </p:sp>
      <p:sp>
        <p:nvSpPr>
          <p:cNvPr id="10" name="severity label 1"/>
          <p:cNvSpPr txBox="1"/>
          <p:nvPr/>
        </p:nvSpPr>
        <p:spPr>
          <a:xfrm>
            <a:off x="548640" y="5440680"/>
            <a:ext cx="2560320" cy="502920"/>
          </a:xfrm>
          <a:prstGeom prst="rect">
            <a:avLst/>
          </a:prstGeom>
          <a:noFill/>
          <a:ln/>
        </p:spPr>
        <p:txBody>
          <a:bodyPr wrap="square" lIns="0" tIns="0" rIns="0" bIns="0" rtlCol="0" anchor="ctr"/>
          <a:lstStyle/>
          <a:p>
            <a:pPr algn="ctr" indent="0" marL="0">
              <a:buNone/>
            </a:pPr>
            <a:r>
              <a:rPr lang="en-US" sz="1400" b="1" dirty="0">
                <a:solidFill>
                  <a:srgbClr val="F5F3EF"/>
                </a:solidFill>
              </a:rPr>
              <a:t>MUST FIX</a:t>
            </a:r>
            <a:endParaRPr lang="en-US" sz="1400" dirty="0"/>
          </a:p>
        </p:txBody>
      </p:sp>
      <p:sp>
        <p:nvSpPr>
          <p:cNvPr id="11" name="severity chip 2"/>
          <p:cNvSpPr/>
          <p:nvPr/>
        </p:nvSpPr>
        <p:spPr>
          <a:xfrm>
            <a:off x="3364992" y="5440680"/>
            <a:ext cx="2560320" cy="502920"/>
          </a:xfrm>
          <a:prstGeom prst="roundRect">
            <a:avLst>
              <a:gd name="adj" fmla="val 49091"/>
            </a:avLst>
          </a:prstGeom>
          <a:solidFill>
            <a:srgbClr val="C9A15A"/>
          </a:solidFill>
          <a:ln w="12700">
            <a:solidFill>
              <a:srgbClr val="C9A15A"/>
            </a:solidFill>
            <a:prstDash val="solid"/>
          </a:ln>
        </p:spPr>
      </p:sp>
      <p:sp>
        <p:nvSpPr>
          <p:cNvPr id="12" name="severity label 2"/>
          <p:cNvSpPr txBox="1"/>
          <p:nvPr/>
        </p:nvSpPr>
        <p:spPr>
          <a:xfrm>
            <a:off x="3364992" y="5440680"/>
            <a:ext cx="2560320" cy="502920"/>
          </a:xfrm>
          <a:prstGeom prst="rect">
            <a:avLst/>
          </a:prstGeom>
          <a:noFill/>
          <a:ln/>
        </p:spPr>
        <p:txBody>
          <a:bodyPr wrap="square" lIns="0" tIns="0" rIns="0" bIns="0" rtlCol="0" anchor="ctr"/>
          <a:lstStyle/>
          <a:p>
            <a:pPr algn="ctr" indent="0" marL="0">
              <a:buNone/>
            </a:pPr>
            <a:r>
              <a:rPr lang="en-US" sz="1400" b="1" dirty="0">
                <a:solidFill>
                  <a:srgbClr val="14151A"/>
                </a:solidFill>
              </a:rPr>
              <a:t>MUST CHECK</a:t>
            </a:r>
            <a:endParaRPr lang="en-US" sz="1400" dirty="0"/>
          </a:p>
        </p:txBody>
      </p:sp>
      <p:sp>
        <p:nvSpPr>
          <p:cNvPr id="13" name="severity chip 3"/>
          <p:cNvSpPr/>
          <p:nvPr/>
        </p:nvSpPr>
        <p:spPr>
          <a:xfrm>
            <a:off x="6181344" y="5440680"/>
            <a:ext cx="2560320" cy="502920"/>
          </a:xfrm>
          <a:prstGeom prst="roundRect">
            <a:avLst>
              <a:gd name="adj" fmla="val 49091"/>
            </a:avLst>
          </a:prstGeom>
          <a:solidFill>
            <a:srgbClr val="2C2D33"/>
          </a:solidFill>
          <a:ln w="12700">
            <a:solidFill>
              <a:srgbClr val="2C2D33"/>
            </a:solidFill>
            <a:prstDash val="solid"/>
          </a:ln>
        </p:spPr>
      </p:sp>
      <p:sp>
        <p:nvSpPr>
          <p:cNvPr id="14" name="severity label 3"/>
          <p:cNvSpPr txBox="1"/>
          <p:nvPr/>
        </p:nvSpPr>
        <p:spPr>
          <a:xfrm>
            <a:off x="6181344" y="5440680"/>
            <a:ext cx="2560320" cy="502920"/>
          </a:xfrm>
          <a:prstGeom prst="rect">
            <a:avLst/>
          </a:prstGeom>
          <a:noFill/>
          <a:ln/>
        </p:spPr>
        <p:txBody>
          <a:bodyPr wrap="square" lIns="0" tIns="0" rIns="0" bIns="0" rtlCol="0" anchor="ctr"/>
          <a:lstStyle/>
          <a:p>
            <a:pPr algn="ctr" indent="0" marL="0">
              <a:buNone/>
            </a:pPr>
            <a:r>
              <a:rPr lang="en-US" sz="1400" b="1" dirty="0">
                <a:solidFill>
                  <a:srgbClr val="F5F3EF"/>
                </a:solidFill>
              </a:rPr>
              <a:t>SHOULD CHECK</a:t>
            </a:r>
            <a:endParaRPr lang="en-US" sz="1400" dirty="0"/>
          </a:p>
        </p:txBody>
      </p:sp>
      <p:sp>
        <p:nvSpPr>
          <p:cNvPr id="15" name="severity chip 4"/>
          <p:cNvSpPr/>
          <p:nvPr/>
        </p:nvSpPr>
        <p:spPr>
          <a:xfrm>
            <a:off x="8997696" y="5440680"/>
            <a:ext cx="2560320" cy="502920"/>
          </a:xfrm>
          <a:prstGeom prst="roundRect">
            <a:avLst>
              <a:gd name="adj" fmla="val 49091"/>
            </a:avLst>
          </a:prstGeom>
          <a:solidFill>
            <a:srgbClr val="8B8781"/>
          </a:solidFill>
          <a:ln w="12700">
            <a:solidFill>
              <a:srgbClr val="8B8781"/>
            </a:solidFill>
            <a:prstDash val="solid"/>
          </a:ln>
        </p:spPr>
      </p:sp>
      <p:sp>
        <p:nvSpPr>
          <p:cNvPr id="16" name="severity label 4"/>
          <p:cNvSpPr txBox="1"/>
          <p:nvPr/>
        </p:nvSpPr>
        <p:spPr>
          <a:xfrm>
            <a:off x="8997696" y="5440680"/>
            <a:ext cx="2560320" cy="502920"/>
          </a:xfrm>
          <a:prstGeom prst="rect">
            <a:avLst/>
          </a:prstGeom>
          <a:noFill/>
          <a:ln/>
        </p:spPr>
        <p:txBody>
          <a:bodyPr wrap="square" lIns="0" tIns="0" rIns="0" bIns="0" rtlCol="0" anchor="ctr"/>
          <a:lstStyle/>
          <a:p>
            <a:pPr algn="ctr" indent="0" marL="0">
              <a:buNone/>
            </a:pPr>
            <a:r>
              <a:rPr lang="en-US" sz="1400" b="1" dirty="0">
                <a:solidFill>
                  <a:srgbClr val="F5F3EF"/>
                </a:solidFill>
              </a:rPr>
              <a:t>FOR INFO</a:t>
            </a:r>
            <a:endParaRPr lang="en-US" sz="14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USING THE WEB APP</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Try AfriPlan now — open the web app</a:t>
            </a:r>
            <a:endParaRPr lang="en-US" sz="2600" dirty="0"/>
          </a:p>
        </p:txBody>
      </p:sp>
      <p:sp>
        <p:nvSpPr>
          <p:cNvPr id="7" name="link card"/>
          <p:cNvSpPr/>
          <p:nvPr/>
        </p:nvSpPr>
        <p:spPr>
          <a:xfrm>
            <a:off x="548640" y="1417320"/>
            <a:ext cx="5120640" cy="3246120"/>
          </a:xfrm>
          <a:prstGeom prst="roundRect">
            <a:avLst>
              <a:gd name="adj" fmla="val 4225"/>
            </a:avLst>
          </a:prstGeom>
          <a:solidFill>
            <a:schemeClr val="tx1"/>
          </a:solidFill>
          <a:ln w="12700">
            <a:solidFill>
              <a:schemeClr val="tx1"/>
            </a:solidFill>
            <a:prstDash val="solid"/>
          </a:ln>
        </p:spPr>
      </p:sp>
      <p:sp>
        <p:nvSpPr>
          <p:cNvPr id="8" name="link circle"/>
          <p:cNvSpPr/>
          <p:nvPr/>
        </p:nvSpPr>
        <p:spPr>
          <a:xfrm>
            <a:off x="868680" y="1691640"/>
            <a:ext cx="868680" cy="868680"/>
          </a:xfrm>
          <a:prstGeom prst="ellipse">
            <a:avLst/>
          </a:prstGeom>
          <a:solidFill>
            <a:srgbClr val="C9A15A"/>
          </a:solidFill>
          <a:ln w="12700">
            <a:solidFill>
              <a:srgbClr val="C9A15A"/>
            </a:solidFill>
            <a:prstDash val="solid"/>
          </a:ln>
        </p:spPr>
      </p:sp>
      <p:pic>
        <p:nvPicPr>
          <p:cNvPr id="9" name="link icon" descr="preencoded.png">    </p:cNvPr>
          <p:cNvPicPr>
            <a:picLocks noChangeAspect="1"/>
          </p:cNvPicPr>
          <p:nvPr/>
        </p:nvPicPr>
        <p:blipFill>
          <a:blip r:embed="rId1"/>
          <a:stretch>
            <a:fillRect/>
          </a:stretch>
        </p:blipFill>
        <p:spPr>
          <a:xfrm>
            <a:off x="1094537" y="1917497"/>
            <a:ext cx="416966" cy="416966"/>
          </a:xfrm>
          <a:prstGeom prst="rect">
            <a:avLst/>
          </a:prstGeom>
        </p:spPr>
      </p:pic>
      <p:sp>
        <p:nvSpPr>
          <p:cNvPr id="10" name="link label"/>
          <p:cNvSpPr txBox="1"/>
          <p:nvPr/>
        </p:nvSpPr>
        <p:spPr>
          <a:xfrm>
            <a:off x="1920240" y="1874520"/>
            <a:ext cx="3566160" cy="457200"/>
          </a:xfrm>
          <a:prstGeom prst="rect">
            <a:avLst/>
          </a:prstGeom>
          <a:noFill/>
          <a:ln/>
        </p:spPr>
        <p:txBody>
          <a:bodyPr wrap="square" lIns="0" tIns="0" rIns="0" bIns="0" rtlCol="0" anchor="t"/>
          <a:lstStyle/>
          <a:p>
            <a:pPr indent="0" marL="0">
              <a:buNone/>
            </a:pPr>
            <a:r>
              <a:rPr lang="en-US" sz="1600" dirty="0">
                <a:solidFill>
                  <a:srgbClr val="B9B6B0"/>
                </a:solidFill>
              </a:rPr>
              <a:t>Open in any browser</a:t>
            </a:r>
            <a:endParaRPr lang="en-US" sz="1600" dirty="0"/>
          </a:p>
        </p:txBody>
      </p:sp>
      <p:sp>
        <p:nvSpPr>
          <p:cNvPr id="11" name="link url">
            <a:hlinkClick r:id="rId2" tooltip="Open AfriPlan"/>
          </p:cNvPr>
          <p:cNvSpPr txBox="1"/>
          <p:nvPr/>
        </p:nvSpPr>
        <p:spPr>
          <a:xfrm>
            <a:off x="868680" y="2743200"/>
            <a:ext cx="4663440" cy="685800"/>
          </a:xfrm>
          <a:prstGeom prst="rect">
            <a:avLst/>
          </a:prstGeom>
          <a:noFill/>
          <a:ln/>
        </p:spPr>
        <p:txBody>
          <a:bodyPr wrap="square" lIns="0" tIns="0" rIns="0" bIns="0" rtlCol="0" anchor="t"/>
          <a:lstStyle/>
          <a:p>
            <a:pPr indent="0" marL="0">
              <a:buNone/>
            </a:pPr>
            <a:r>
              <a:rPr lang="en-US" sz="3000" b="1" u="sng" dirty="0">
                <a:solidFill>
                  <a:schemeClr val="accent2"/>
                </a:solidFill>
                <a:latin typeface="Arial" pitchFamily="34" charset="0"/>
                <a:ea typeface="Arial" pitchFamily="34" charset="-122"/>
                <a:cs typeface="Arial" pitchFamily="34" charset="-120"/>
                <a:hlinkClick r:id="rId2" invalidUrl="" action="" tgtFrame="" tooltip="Open AfriPlan" history="1" highlightClick="0" endSnd="0">
                  <a:extLst>
                    <a:ext uri="{A12FA001-AC4F-418D-AE19-62706E023703}">
                      <ahyp:hlinkClr xmlns:ahyp="http://schemas.microsoft.com/office/drawing/2018/hyperlinkcolor" val="tx"/>
                    </a:ext>
                  </a:extLst>
                </a:hlinkClick>
              </a:rPr>
              <a:t>afriplan.onrender.com</a:t>
            </a:r>
            <a:endParaRPr lang="en-US" sz="3000" dirty="0"/>
          </a:p>
        </p:txBody>
      </p:sp>
      <p:sp>
        <p:nvSpPr>
          <p:cNvPr id="12" name="link full"/>
          <p:cNvSpPr txBox="1"/>
          <p:nvPr/>
        </p:nvSpPr>
        <p:spPr>
          <a:xfrm>
            <a:off x="868680" y="3474720"/>
            <a:ext cx="4663440" cy="411480"/>
          </a:xfrm>
          <a:prstGeom prst="rect">
            <a:avLst/>
          </a:prstGeom>
          <a:noFill/>
          <a:ln/>
        </p:spPr>
        <p:txBody>
          <a:bodyPr wrap="square" lIns="0" tIns="0" rIns="0" bIns="0" rtlCol="0" anchor="t"/>
          <a:lstStyle/>
          <a:p>
            <a:pPr indent="0" marL="0">
              <a:buNone/>
            </a:pPr>
            <a:r>
              <a:rPr lang="en-US" sz="1400" dirty="0">
                <a:solidFill>
                  <a:schemeClr val="bg1"/>
                </a:solidFill>
              </a:rPr>
              <a:t>https://afriplan.onrender.com  ·  nothing to install</a:t>
            </a:r>
            <a:endParaRPr lang="en-US" sz="1400" dirty="0"/>
          </a:p>
        </p:txBody>
      </p:sp>
      <p:sp>
        <p:nvSpPr>
          <p:cNvPr id="13" name="link login"/>
          <p:cNvSpPr txBox="1"/>
          <p:nvPr/>
        </p:nvSpPr>
        <p:spPr>
          <a:xfrm>
            <a:off x="868680" y="3931920"/>
            <a:ext cx="4663440" cy="411480"/>
          </a:xfrm>
          <a:prstGeom prst="rect">
            <a:avLst/>
          </a:prstGeom>
          <a:noFill/>
          <a:ln/>
        </p:spPr>
        <p:txBody>
          <a:bodyPr wrap="square" lIns="0" tIns="0" rIns="0" bIns="0" rtlCol="0" anchor="t"/>
          <a:lstStyle/>
          <a:p>
            <a:pPr indent="0" marL="0">
              <a:buNone/>
            </a:pPr>
            <a:r>
              <a:rPr lang="en-US" sz="1400" b="1" dirty="0">
                <a:solidFill>
                  <a:schemeClr val="bg1"/>
                </a:solidFill>
              </a:rPr>
              <a:t>Demo login is pre-filled — just click Sign in.</a:t>
            </a:r>
            <a:endParaRPr lang="en-US" sz="1400" dirty="0"/>
          </a:p>
        </p:txBody>
      </p:sp>
      <p:sp>
        <p:nvSpPr>
          <p:cNvPr id="14" name="access step 1 circle"/>
          <p:cNvSpPr/>
          <p:nvPr/>
        </p:nvSpPr>
        <p:spPr>
          <a:xfrm>
            <a:off x="5989320" y="1463040"/>
            <a:ext cx="640080" cy="640080"/>
          </a:xfrm>
          <a:prstGeom prst="ellipse">
            <a:avLst/>
          </a:prstGeom>
          <a:solidFill>
            <a:srgbClr val="8E1B1B"/>
          </a:solidFill>
          <a:ln w="12700">
            <a:solidFill>
              <a:srgbClr val="8E1B1B"/>
            </a:solidFill>
            <a:prstDash val="solid"/>
          </a:ln>
        </p:spPr>
      </p:sp>
      <p:pic>
        <p:nvPicPr>
          <p:cNvPr id="15" name="access step 1 icon" descr="preencoded.png">    </p:cNvPr>
          <p:cNvPicPr>
            <a:picLocks noChangeAspect="1"/>
          </p:cNvPicPr>
          <p:nvPr/>
        </p:nvPicPr>
        <p:blipFill>
          <a:blip r:embed="rId3"/>
          <a:stretch>
            <a:fillRect/>
          </a:stretch>
        </p:blipFill>
        <p:spPr>
          <a:xfrm>
            <a:off x="6155741" y="1629461"/>
            <a:ext cx="307238" cy="307238"/>
          </a:xfrm>
          <a:prstGeom prst="rect">
            <a:avLst/>
          </a:prstGeom>
        </p:spPr>
      </p:pic>
      <p:sp>
        <p:nvSpPr>
          <p:cNvPr id="16" name="access step title 1"/>
          <p:cNvSpPr txBox="1"/>
          <p:nvPr/>
        </p:nvSpPr>
        <p:spPr>
          <a:xfrm>
            <a:off x="6812280" y="1417320"/>
            <a:ext cx="4754880" cy="365760"/>
          </a:xfrm>
          <a:prstGeom prst="rect">
            <a:avLst/>
          </a:prstGeom>
          <a:noFill/>
          <a:ln/>
        </p:spPr>
        <p:txBody>
          <a:bodyPr wrap="square" lIns="0" tIns="0" rIns="0" bIns="0" rtlCol="0" anchor="t"/>
          <a:lstStyle/>
          <a:p>
            <a:pPr indent="0" marL="0">
              <a:buNone/>
            </a:pPr>
            <a:r>
              <a:rPr lang="en-US" sz="1600" b="1" dirty="0">
                <a:solidFill>
                  <a:schemeClr val="tx1"/>
                </a:solidFill>
              </a:rPr>
              <a:t>1  Sign in</a:t>
            </a:r>
            <a:endParaRPr lang="en-US" sz="1600" dirty="0"/>
          </a:p>
        </p:txBody>
      </p:sp>
      <p:sp>
        <p:nvSpPr>
          <p:cNvPr id="17" name="access step text 1"/>
          <p:cNvSpPr txBox="1"/>
          <p:nvPr/>
        </p:nvSpPr>
        <p:spPr>
          <a:xfrm>
            <a:off x="6812280" y="1764792"/>
            <a:ext cx="4754880" cy="411480"/>
          </a:xfrm>
          <a:prstGeom prst="rect">
            <a:avLst/>
          </a:prstGeom>
          <a:noFill/>
          <a:ln/>
        </p:spPr>
        <p:txBody>
          <a:bodyPr wrap="square" lIns="0" tIns="0" rIns="0" bIns="0" rtlCol="0" anchor="t"/>
          <a:lstStyle/>
          <a:p>
            <a:pPr indent="0" marL="0">
              <a:buNone/>
            </a:pPr>
            <a:r>
              <a:rPr lang="en-US" sz="1250" dirty="0">
                <a:solidFill>
                  <a:schemeClr val="tx2"/>
                </a:solidFill>
              </a:rPr>
              <a:t>open the link, click Sign in — the demo details are already filled in</a:t>
            </a:r>
            <a:endParaRPr lang="en-US" sz="1250" dirty="0"/>
          </a:p>
        </p:txBody>
      </p:sp>
      <p:sp>
        <p:nvSpPr>
          <p:cNvPr id="18" name="access step 2 circle"/>
          <p:cNvSpPr/>
          <p:nvPr/>
        </p:nvSpPr>
        <p:spPr>
          <a:xfrm>
            <a:off x="5989320" y="2286000"/>
            <a:ext cx="640080" cy="640080"/>
          </a:xfrm>
          <a:prstGeom prst="ellipse">
            <a:avLst/>
          </a:prstGeom>
          <a:solidFill>
            <a:srgbClr val="8E1B1B"/>
          </a:solidFill>
          <a:ln w="12700">
            <a:solidFill>
              <a:srgbClr val="8E1B1B"/>
            </a:solidFill>
            <a:prstDash val="solid"/>
          </a:ln>
        </p:spPr>
      </p:sp>
      <p:pic>
        <p:nvPicPr>
          <p:cNvPr id="19" name="access step 2 icon" descr="preencoded.png">    </p:cNvPr>
          <p:cNvPicPr>
            <a:picLocks noChangeAspect="1"/>
          </p:cNvPicPr>
          <p:nvPr/>
        </p:nvPicPr>
        <p:blipFill>
          <a:blip r:embed="rId4"/>
          <a:stretch>
            <a:fillRect/>
          </a:stretch>
        </p:blipFill>
        <p:spPr>
          <a:xfrm>
            <a:off x="6155741" y="2452421"/>
            <a:ext cx="307238" cy="307238"/>
          </a:xfrm>
          <a:prstGeom prst="rect">
            <a:avLst/>
          </a:prstGeom>
        </p:spPr>
      </p:pic>
      <p:sp>
        <p:nvSpPr>
          <p:cNvPr id="20" name="access step title 2"/>
          <p:cNvSpPr txBox="1"/>
          <p:nvPr/>
        </p:nvSpPr>
        <p:spPr>
          <a:xfrm>
            <a:off x="6812280" y="2240280"/>
            <a:ext cx="4754880" cy="365760"/>
          </a:xfrm>
          <a:prstGeom prst="rect">
            <a:avLst/>
          </a:prstGeom>
          <a:noFill/>
          <a:ln/>
        </p:spPr>
        <p:txBody>
          <a:bodyPr wrap="square" lIns="0" tIns="0" rIns="0" bIns="0" rtlCol="0" anchor="t"/>
          <a:lstStyle/>
          <a:p>
            <a:pPr indent="0" marL="0">
              <a:buNone/>
            </a:pPr>
            <a:r>
              <a:rPr lang="en-US" sz="1600" b="1" dirty="0">
                <a:solidFill>
                  <a:schemeClr val="tx1"/>
                </a:solidFill>
              </a:rPr>
              <a:t>2  Upload drawings</a:t>
            </a:r>
            <a:endParaRPr lang="en-US" sz="1600" dirty="0"/>
          </a:p>
        </p:txBody>
      </p:sp>
      <p:sp>
        <p:nvSpPr>
          <p:cNvPr id="21" name="access step text 2"/>
          <p:cNvSpPr txBox="1"/>
          <p:nvPr/>
        </p:nvSpPr>
        <p:spPr>
          <a:xfrm>
            <a:off x="6812280" y="2587752"/>
            <a:ext cx="4754880" cy="411480"/>
          </a:xfrm>
          <a:prstGeom prst="rect">
            <a:avLst/>
          </a:prstGeom>
          <a:noFill/>
          <a:ln/>
        </p:spPr>
        <p:txBody>
          <a:bodyPr wrap="square" lIns="0" tIns="0" rIns="0" bIns="0" rtlCol="0" anchor="t"/>
          <a:lstStyle/>
          <a:p>
            <a:pPr indent="0" marL="0">
              <a:buNone/>
            </a:pPr>
            <a:r>
              <a:rPr lang="en-US" sz="1250" dirty="0">
                <a:solidFill>
                  <a:schemeClr val="tx2"/>
                </a:solidFill>
              </a:rPr>
              <a:t>DWG/DXF (free, 1–2 min) or PDF — choose the paid or the free AI model</a:t>
            </a:r>
            <a:endParaRPr lang="en-US" sz="1250" dirty="0"/>
          </a:p>
        </p:txBody>
      </p:sp>
      <p:sp>
        <p:nvSpPr>
          <p:cNvPr id="22" name="access step 3 circle"/>
          <p:cNvSpPr/>
          <p:nvPr/>
        </p:nvSpPr>
        <p:spPr>
          <a:xfrm>
            <a:off x="5989320" y="3108960"/>
            <a:ext cx="640080" cy="640080"/>
          </a:xfrm>
          <a:prstGeom prst="ellipse">
            <a:avLst/>
          </a:prstGeom>
          <a:solidFill>
            <a:srgbClr val="8E1B1B"/>
          </a:solidFill>
          <a:ln w="12700">
            <a:solidFill>
              <a:srgbClr val="8E1B1B"/>
            </a:solidFill>
            <a:prstDash val="solid"/>
          </a:ln>
        </p:spPr>
      </p:sp>
      <p:pic>
        <p:nvPicPr>
          <p:cNvPr id="23" name="access step 3 icon" descr="preencoded.png">    </p:cNvPr>
          <p:cNvPicPr>
            <a:picLocks noChangeAspect="1"/>
          </p:cNvPicPr>
          <p:nvPr/>
        </p:nvPicPr>
        <p:blipFill>
          <a:blip r:embed="rId5"/>
          <a:stretch>
            <a:fillRect/>
          </a:stretch>
        </p:blipFill>
        <p:spPr>
          <a:xfrm>
            <a:off x="6155741" y="3275381"/>
            <a:ext cx="307238" cy="307238"/>
          </a:xfrm>
          <a:prstGeom prst="rect">
            <a:avLst/>
          </a:prstGeom>
        </p:spPr>
      </p:pic>
      <p:sp>
        <p:nvSpPr>
          <p:cNvPr id="24" name="access step title 3"/>
          <p:cNvSpPr txBox="1"/>
          <p:nvPr/>
        </p:nvSpPr>
        <p:spPr>
          <a:xfrm>
            <a:off x="6812280" y="3063240"/>
            <a:ext cx="4754880" cy="365760"/>
          </a:xfrm>
          <a:prstGeom prst="rect">
            <a:avLst/>
          </a:prstGeom>
          <a:noFill/>
          <a:ln/>
        </p:spPr>
        <p:txBody>
          <a:bodyPr wrap="square" lIns="0" tIns="0" rIns="0" bIns="0" rtlCol="0" anchor="t"/>
          <a:lstStyle/>
          <a:p>
            <a:pPr indent="0" marL="0">
              <a:buNone/>
            </a:pPr>
            <a:r>
              <a:rPr lang="en-US" sz="1600" b="1" dirty="0">
                <a:solidFill>
                  <a:schemeClr val="tx1"/>
                </a:solidFill>
              </a:rPr>
              <a:t>3  Read the take-off</a:t>
            </a:r>
            <a:endParaRPr lang="en-US" sz="1600" dirty="0"/>
          </a:p>
        </p:txBody>
      </p:sp>
      <p:sp>
        <p:nvSpPr>
          <p:cNvPr id="25" name="access step text 3"/>
          <p:cNvSpPr txBox="1"/>
          <p:nvPr/>
        </p:nvSpPr>
        <p:spPr>
          <a:xfrm>
            <a:off x="6812280" y="3410712"/>
            <a:ext cx="4754880" cy="411480"/>
          </a:xfrm>
          <a:prstGeom prst="rect">
            <a:avLst/>
          </a:prstGeom>
          <a:noFill/>
          <a:ln/>
        </p:spPr>
        <p:txBody>
          <a:bodyPr wrap="square" lIns="0" tIns="0" rIns="0" bIns="0" rtlCol="0" anchor="t"/>
          <a:lstStyle/>
          <a:p>
            <a:pPr indent="0" marL="0">
              <a:buNone/>
            </a:pPr>
            <a:r>
              <a:rPr lang="en-US" sz="1250" dirty="0">
                <a:solidFill>
                  <a:schemeClr val="tx2"/>
                </a:solidFill>
              </a:rPr>
              <a:t>watch the progress, then check the gaps and “Guessed – check” lines</a:t>
            </a:r>
            <a:endParaRPr lang="en-US" sz="1250" dirty="0"/>
          </a:p>
        </p:txBody>
      </p:sp>
      <p:sp>
        <p:nvSpPr>
          <p:cNvPr id="26" name="access step 4 circle"/>
          <p:cNvSpPr/>
          <p:nvPr/>
        </p:nvSpPr>
        <p:spPr>
          <a:xfrm>
            <a:off x="5989320" y="3931920"/>
            <a:ext cx="640080" cy="640080"/>
          </a:xfrm>
          <a:prstGeom prst="ellipse">
            <a:avLst/>
          </a:prstGeom>
          <a:solidFill>
            <a:srgbClr val="8E1B1B"/>
          </a:solidFill>
          <a:ln w="12700">
            <a:solidFill>
              <a:srgbClr val="8E1B1B"/>
            </a:solidFill>
            <a:prstDash val="solid"/>
          </a:ln>
        </p:spPr>
      </p:sp>
      <p:pic>
        <p:nvPicPr>
          <p:cNvPr id="27" name="access step 4 icon" descr="preencoded.png">    </p:cNvPr>
          <p:cNvPicPr>
            <a:picLocks noChangeAspect="1"/>
          </p:cNvPicPr>
          <p:nvPr/>
        </p:nvPicPr>
        <p:blipFill>
          <a:blip r:embed="rId6"/>
          <a:stretch>
            <a:fillRect/>
          </a:stretch>
        </p:blipFill>
        <p:spPr>
          <a:xfrm>
            <a:off x="6155741" y="4098341"/>
            <a:ext cx="307238" cy="307238"/>
          </a:xfrm>
          <a:prstGeom prst="rect">
            <a:avLst/>
          </a:prstGeom>
        </p:spPr>
      </p:pic>
      <p:sp>
        <p:nvSpPr>
          <p:cNvPr id="28" name="access step title 4"/>
          <p:cNvSpPr txBox="1"/>
          <p:nvPr/>
        </p:nvSpPr>
        <p:spPr>
          <a:xfrm>
            <a:off x="6812280" y="3886200"/>
            <a:ext cx="4754880" cy="365760"/>
          </a:xfrm>
          <a:prstGeom prst="rect">
            <a:avLst/>
          </a:prstGeom>
          <a:noFill/>
          <a:ln/>
        </p:spPr>
        <p:txBody>
          <a:bodyPr wrap="square" lIns="0" tIns="0" rIns="0" bIns="0" rtlCol="0" anchor="t"/>
          <a:lstStyle/>
          <a:p>
            <a:pPr indent="0" marL="0">
              <a:buNone/>
            </a:pPr>
            <a:r>
              <a:rPr lang="en-US" sz="1600" b="1" dirty="0">
                <a:solidFill>
                  <a:schemeClr val="tx1"/>
                </a:solidFill>
              </a:rPr>
              <a:t>4  BoQ and export</a:t>
            </a:r>
            <a:endParaRPr lang="en-US" sz="1600" dirty="0"/>
          </a:p>
        </p:txBody>
      </p:sp>
      <p:sp>
        <p:nvSpPr>
          <p:cNvPr id="29" name="access step text 4"/>
          <p:cNvSpPr txBox="1"/>
          <p:nvPr/>
        </p:nvSpPr>
        <p:spPr>
          <a:xfrm>
            <a:off x="6812280" y="4233672"/>
            <a:ext cx="4754880" cy="411480"/>
          </a:xfrm>
          <a:prstGeom prst="rect">
            <a:avLst/>
          </a:prstGeom>
          <a:noFill/>
          <a:ln/>
        </p:spPr>
        <p:txBody>
          <a:bodyPr wrap="square" lIns="0" tIns="0" rIns="0" bIns="0" rtlCol="0" anchor="t"/>
          <a:lstStyle/>
          <a:p>
            <a:pPr indent="0" marL="0">
              <a:buNone/>
            </a:pPr>
            <a:r>
              <a:rPr lang="en-US" sz="1250" dirty="0">
                <a:solidFill>
                  <a:schemeClr val="tx2"/>
                </a:solidFill>
              </a:rPr>
              <a:t>open the bill, then export the Excel and PDF tender document</a:t>
            </a:r>
            <a:endParaRPr lang="en-US" sz="1250" dirty="0"/>
          </a:p>
        </p:txBody>
      </p:sp>
      <p:sp>
        <p:nvSpPr>
          <p:cNvPr id="30" name="shared demo card"/>
          <p:cNvSpPr/>
          <p:nvPr/>
        </p:nvSpPr>
        <p:spPr>
          <a:xfrm>
            <a:off x="548640" y="4937760"/>
            <a:ext cx="11064240" cy="914400"/>
          </a:xfrm>
          <a:prstGeom prst="rect">
            <a:avLst/>
          </a:prstGeom>
          <a:solidFill>
            <a:schemeClr val="bg2"/>
          </a:solidFill>
          <a:ln w="9525">
            <a:solidFill>
              <a:srgbClr val="D8D3CB"/>
            </a:solidFill>
            <a:prstDash val="solid"/>
          </a:ln>
        </p:spPr>
      </p:sp>
      <p:sp>
        <p:nvSpPr>
          <p:cNvPr id="31" name="shared demo circle"/>
          <p:cNvSpPr/>
          <p:nvPr/>
        </p:nvSpPr>
        <p:spPr>
          <a:xfrm>
            <a:off x="749808" y="5047488"/>
            <a:ext cx="685800" cy="685800"/>
          </a:xfrm>
          <a:prstGeom prst="ellipse">
            <a:avLst/>
          </a:prstGeom>
          <a:solidFill>
            <a:srgbClr val="C9A15A"/>
          </a:solidFill>
          <a:ln w="12700">
            <a:solidFill>
              <a:srgbClr val="C9A15A"/>
            </a:solidFill>
            <a:prstDash val="solid"/>
          </a:ln>
        </p:spPr>
      </p:sp>
      <p:pic>
        <p:nvPicPr>
          <p:cNvPr id="32" name="shared demo icon" descr="preencoded.png">    </p:cNvPr>
          <p:cNvPicPr>
            <a:picLocks noChangeAspect="1"/>
          </p:cNvPicPr>
          <p:nvPr/>
        </p:nvPicPr>
        <p:blipFill>
          <a:blip r:embed="rId7"/>
          <a:stretch>
            <a:fillRect/>
          </a:stretch>
        </p:blipFill>
        <p:spPr>
          <a:xfrm>
            <a:off x="928116" y="5225796"/>
            <a:ext cx="329184" cy="329184"/>
          </a:xfrm>
          <a:prstGeom prst="rect">
            <a:avLst/>
          </a:prstGeom>
        </p:spPr>
      </p:pic>
      <p:sp>
        <p:nvSpPr>
          <p:cNvPr id="33" name="shared demo text"/>
          <p:cNvSpPr txBox="1"/>
          <p:nvPr/>
        </p:nvSpPr>
        <p:spPr>
          <a:xfrm>
            <a:off x="1600200" y="5029200"/>
            <a:ext cx="9875520" cy="731520"/>
          </a:xfrm>
          <a:prstGeom prst="rect">
            <a:avLst/>
          </a:prstGeom>
          <a:noFill/>
          <a:ln/>
        </p:spPr>
        <p:txBody>
          <a:bodyPr wrap="square" lIns="0" tIns="0" rIns="0" bIns="0" rtlCol="0" anchor="ctr"/>
          <a:lstStyle/>
          <a:p>
            <a:pPr indent="0" marL="0">
              <a:buNone/>
            </a:pPr>
            <a:r>
              <a:rPr lang="en-US" sz="1400" b="1" dirty="0">
                <a:solidFill>
                  <a:schemeClr val="tx1"/>
                </a:solidFill>
              </a:rPr>
              <a:t>Shared demo account: </a:t>
            </a:r>
            <a:pPr indent="0" marL="0">
              <a:buNone/>
            </a:pPr>
            <a:r>
              <a:rPr lang="en-US" sz="1400" dirty="0">
                <a:solidFill>
                  <a:schemeClr val="tx1"/>
                </a:solidFill>
              </a:rPr>
              <a:t>everyone signs in as the same demo user. Use sample or non-confidential drawings — send client drawings to the AfriPlan team.</a:t>
            </a:r>
            <a:endParaRPr lang="en-US" sz="14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USING THE WEB APP</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The web app in seven steps</a:t>
            </a:r>
            <a:endParaRPr lang="en-US" sz="2600" dirty="0"/>
          </a:p>
        </p:txBody>
      </p:sp>
      <p:sp>
        <p:nvSpPr>
          <p:cNvPr id="7" name="web step 1 circle"/>
          <p:cNvSpPr/>
          <p:nvPr/>
        </p:nvSpPr>
        <p:spPr>
          <a:xfrm>
            <a:off x="881743" y="1828800"/>
            <a:ext cx="914400" cy="914400"/>
          </a:xfrm>
          <a:prstGeom prst="ellipse">
            <a:avLst/>
          </a:prstGeom>
          <a:solidFill>
            <a:srgbClr val="8E1B1B"/>
          </a:solidFill>
          <a:ln w="12700">
            <a:solidFill>
              <a:srgbClr val="8E1B1B"/>
            </a:solidFill>
            <a:prstDash val="solid"/>
          </a:ln>
        </p:spPr>
      </p:sp>
      <p:pic>
        <p:nvPicPr>
          <p:cNvPr id="8" name="web step 1 icon" descr="preencoded.png">    </p:cNvPr>
          <p:cNvPicPr>
            <a:picLocks noChangeAspect="1"/>
          </p:cNvPicPr>
          <p:nvPr/>
        </p:nvPicPr>
        <p:blipFill>
          <a:blip r:embed="rId1"/>
          <a:stretch>
            <a:fillRect/>
          </a:stretch>
        </p:blipFill>
        <p:spPr>
          <a:xfrm>
            <a:off x="1119487" y="2066544"/>
            <a:ext cx="438912" cy="438912"/>
          </a:xfrm>
          <a:prstGeom prst="rect">
            <a:avLst/>
          </a:prstGeom>
        </p:spPr>
      </p:pic>
      <p:sp>
        <p:nvSpPr>
          <p:cNvPr id="9" name="Shape 5"/>
          <p:cNvSpPr/>
          <p:nvPr/>
        </p:nvSpPr>
        <p:spPr>
          <a:xfrm>
            <a:off x="1869295" y="2286000"/>
            <a:ext cx="519902" cy="0"/>
          </a:xfrm>
          <a:prstGeom prst="line">
            <a:avLst/>
          </a:prstGeom>
          <a:noFill/>
          <a:ln w="25400">
            <a:solidFill>
              <a:srgbClr val="8B8781"/>
            </a:solidFill>
            <a:prstDash val="solid"/>
            <a:tailEnd type="triangle"/>
          </a:ln>
        </p:spPr>
      </p:sp>
      <p:sp>
        <p:nvSpPr>
          <p:cNvPr id="10" name="web step number 1"/>
          <p:cNvSpPr txBox="1"/>
          <p:nvPr/>
        </p:nvSpPr>
        <p:spPr>
          <a:xfrm>
            <a:off x="1156063"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1</a:t>
            </a:r>
            <a:endParaRPr lang="en-US" sz="1300" dirty="0"/>
          </a:p>
        </p:txBody>
      </p:sp>
      <p:sp>
        <p:nvSpPr>
          <p:cNvPr id="11" name="web step title 1"/>
          <p:cNvSpPr txBox="1"/>
          <p:nvPr/>
        </p:nvSpPr>
        <p:spPr>
          <a:xfrm>
            <a:off x="594360"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Sign in</a:t>
            </a:r>
            <a:endParaRPr lang="en-US" sz="1700" dirty="0"/>
          </a:p>
        </p:txBody>
      </p:sp>
      <p:sp>
        <p:nvSpPr>
          <p:cNvPr id="12" name="web step text 1"/>
          <p:cNvSpPr txBox="1"/>
          <p:nvPr/>
        </p:nvSpPr>
        <p:spPr>
          <a:xfrm>
            <a:off x="640080"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demo login, pre-filled</a:t>
            </a:r>
            <a:endParaRPr lang="en-US" sz="1250" dirty="0"/>
          </a:p>
        </p:txBody>
      </p:sp>
      <p:sp>
        <p:nvSpPr>
          <p:cNvPr id="13" name="web step 2 circle"/>
          <p:cNvSpPr/>
          <p:nvPr/>
        </p:nvSpPr>
        <p:spPr>
          <a:xfrm>
            <a:off x="2462349" y="1828800"/>
            <a:ext cx="914400" cy="914400"/>
          </a:xfrm>
          <a:prstGeom prst="ellipse">
            <a:avLst/>
          </a:prstGeom>
          <a:solidFill>
            <a:srgbClr val="8E1B1B"/>
          </a:solidFill>
          <a:ln w="12700">
            <a:solidFill>
              <a:srgbClr val="8E1B1B"/>
            </a:solidFill>
            <a:prstDash val="solid"/>
          </a:ln>
        </p:spPr>
      </p:sp>
      <p:pic>
        <p:nvPicPr>
          <p:cNvPr id="14" name="web step 2 icon" descr="preencoded.png">    </p:cNvPr>
          <p:cNvPicPr>
            <a:picLocks noChangeAspect="1"/>
          </p:cNvPicPr>
          <p:nvPr/>
        </p:nvPicPr>
        <p:blipFill>
          <a:blip r:embed="rId2"/>
          <a:stretch>
            <a:fillRect/>
          </a:stretch>
        </p:blipFill>
        <p:spPr>
          <a:xfrm>
            <a:off x="2700093" y="2066544"/>
            <a:ext cx="438912" cy="438912"/>
          </a:xfrm>
          <a:prstGeom prst="rect">
            <a:avLst/>
          </a:prstGeom>
        </p:spPr>
      </p:pic>
      <p:sp>
        <p:nvSpPr>
          <p:cNvPr id="15" name="Shape 10"/>
          <p:cNvSpPr/>
          <p:nvPr/>
        </p:nvSpPr>
        <p:spPr>
          <a:xfrm>
            <a:off x="3449901" y="2286000"/>
            <a:ext cx="519902" cy="0"/>
          </a:xfrm>
          <a:prstGeom prst="line">
            <a:avLst/>
          </a:prstGeom>
          <a:noFill/>
          <a:ln w="25400">
            <a:solidFill>
              <a:srgbClr val="8B8781"/>
            </a:solidFill>
            <a:prstDash val="solid"/>
            <a:tailEnd type="triangle"/>
          </a:ln>
        </p:spPr>
      </p:sp>
      <p:sp>
        <p:nvSpPr>
          <p:cNvPr id="16" name="web step number 2"/>
          <p:cNvSpPr txBox="1"/>
          <p:nvPr/>
        </p:nvSpPr>
        <p:spPr>
          <a:xfrm>
            <a:off x="2736669"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2</a:t>
            </a:r>
            <a:endParaRPr lang="en-US" sz="1300" dirty="0"/>
          </a:p>
        </p:txBody>
      </p:sp>
      <p:sp>
        <p:nvSpPr>
          <p:cNvPr id="17" name="web step title 2"/>
          <p:cNvSpPr txBox="1"/>
          <p:nvPr/>
        </p:nvSpPr>
        <p:spPr>
          <a:xfrm>
            <a:off x="2174966"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Upload</a:t>
            </a:r>
            <a:endParaRPr lang="en-US" sz="1700" dirty="0"/>
          </a:p>
        </p:txBody>
      </p:sp>
      <p:sp>
        <p:nvSpPr>
          <p:cNvPr id="18" name="web step text 2"/>
          <p:cNvSpPr txBox="1"/>
          <p:nvPr/>
        </p:nvSpPr>
        <p:spPr>
          <a:xfrm>
            <a:off x="2220686"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DXF/DWG, PDF or both</a:t>
            </a:r>
            <a:endParaRPr lang="en-US" sz="1250" dirty="0"/>
          </a:p>
        </p:txBody>
      </p:sp>
      <p:sp>
        <p:nvSpPr>
          <p:cNvPr id="19" name="web step 3 circle"/>
          <p:cNvSpPr/>
          <p:nvPr/>
        </p:nvSpPr>
        <p:spPr>
          <a:xfrm>
            <a:off x="4042954" y="1828800"/>
            <a:ext cx="914400" cy="914400"/>
          </a:xfrm>
          <a:prstGeom prst="ellipse">
            <a:avLst/>
          </a:prstGeom>
          <a:solidFill>
            <a:srgbClr val="C9A15A"/>
          </a:solidFill>
          <a:ln w="12700">
            <a:solidFill>
              <a:srgbClr val="C9A15A"/>
            </a:solidFill>
            <a:prstDash val="solid"/>
          </a:ln>
        </p:spPr>
      </p:sp>
      <p:pic>
        <p:nvPicPr>
          <p:cNvPr id="20" name="web step 3 icon" descr="preencoded.png">    </p:cNvPr>
          <p:cNvPicPr>
            <a:picLocks noChangeAspect="1"/>
          </p:cNvPicPr>
          <p:nvPr/>
        </p:nvPicPr>
        <p:blipFill>
          <a:blip r:embed="rId3"/>
          <a:stretch>
            <a:fillRect/>
          </a:stretch>
        </p:blipFill>
        <p:spPr>
          <a:xfrm>
            <a:off x="4280698" y="2066544"/>
            <a:ext cx="438912" cy="438912"/>
          </a:xfrm>
          <a:prstGeom prst="rect">
            <a:avLst/>
          </a:prstGeom>
        </p:spPr>
      </p:pic>
      <p:sp>
        <p:nvSpPr>
          <p:cNvPr id="21" name="Shape 15"/>
          <p:cNvSpPr/>
          <p:nvPr/>
        </p:nvSpPr>
        <p:spPr>
          <a:xfrm>
            <a:off x="5030506" y="2286000"/>
            <a:ext cx="519902" cy="0"/>
          </a:xfrm>
          <a:prstGeom prst="line">
            <a:avLst/>
          </a:prstGeom>
          <a:noFill/>
          <a:ln w="25400">
            <a:solidFill>
              <a:srgbClr val="8B8781"/>
            </a:solidFill>
            <a:prstDash val="solid"/>
            <a:tailEnd type="triangle"/>
          </a:ln>
        </p:spPr>
      </p:sp>
      <p:sp>
        <p:nvSpPr>
          <p:cNvPr id="22" name="web step number 3"/>
          <p:cNvSpPr txBox="1"/>
          <p:nvPr/>
        </p:nvSpPr>
        <p:spPr>
          <a:xfrm>
            <a:off x="4317274"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3</a:t>
            </a:r>
            <a:endParaRPr lang="en-US" sz="1300" dirty="0"/>
          </a:p>
        </p:txBody>
      </p:sp>
      <p:sp>
        <p:nvSpPr>
          <p:cNvPr id="23" name="web step title 3"/>
          <p:cNvSpPr txBox="1"/>
          <p:nvPr/>
        </p:nvSpPr>
        <p:spPr>
          <a:xfrm>
            <a:off x="3755571"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Take-off</a:t>
            </a:r>
            <a:endParaRPr lang="en-US" sz="1700" dirty="0"/>
          </a:p>
        </p:txBody>
      </p:sp>
      <p:sp>
        <p:nvSpPr>
          <p:cNvPr id="24" name="web step text 3"/>
          <p:cNvSpPr txBox="1"/>
          <p:nvPr/>
        </p:nvSpPr>
        <p:spPr>
          <a:xfrm>
            <a:off x="3801291"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live progress, then the drawing set &amp; gaps</a:t>
            </a:r>
            <a:endParaRPr lang="en-US" sz="1250" dirty="0"/>
          </a:p>
        </p:txBody>
      </p:sp>
      <p:sp>
        <p:nvSpPr>
          <p:cNvPr id="25" name="web step 4 circle"/>
          <p:cNvSpPr/>
          <p:nvPr/>
        </p:nvSpPr>
        <p:spPr>
          <a:xfrm>
            <a:off x="5623560" y="1828800"/>
            <a:ext cx="914400" cy="914400"/>
          </a:xfrm>
          <a:prstGeom prst="ellipse">
            <a:avLst/>
          </a:prstGeom>
          <a:solidFill>
            <a:srgbClr val="8E1B1B"/>
          </a:solidFill>
          <a:ln w="12700">
            <a:solidFill>
              <a:srgbClr val="8E1B1B"/>
            </a:solidFill>
            <a:prstDash val="solid"/>
          </a:ln>
        </p:spPr>
      </p:sp>
      <p:pic>
        <p:nvPicPr>
          <p:cNvPr id="26" name="web step 4 icon" descr="preencoded.png">    </p:cNvPr>
          <p:cNvPicPr>
            <a:picLocks noChangeAspect="1"/>
          </p:cNvPicPr>
          <p:nvPr/>
        </p:nvPicPr>
        <p:blipFill>
          <a:blip r:embed="rId4"/>
          <a:stretch>
            <a:fillRect/>
          </a:stretch>
        </p:blipFill>
        <p:spPr>
          <a:xfrm>
            <a:off x="5861304" y="2066544"/>
            <a:ext cx="438912" cy="438912"/>
          </a:xfrm>
          <a:prstGeom prst="rect">
            <a:avLst/>
          </a:prstGeom>
        </p:spPr>
      </p:pic>
      <p:sp>
        <p:nvSpPr>
          <p:cNvPr id="27" name="Shape 20"/>
          <p:cNvSpPr/>
          <p:nvPr/>
        </p:nvSpPr>
        <p:spPr>
          <a:xfrm>
            <a:off x="6611112" y="2286000"/>
            <a:ext cx="519902" cy="0"/>
          </a:xfrm>
          <a:prstGeom prst="line">
            <a:avLst/>
          </a:prstGeom>
          <a:noFill/>
          <a:ln w="25400">
            <a:solidFill>
              <a:srgbClr val="8B8781"/>
            </a:solidFill>
            <a:prstDash val="solid"/>
            <a:tailEnd type="triangle"/>
          </a:ln>
        </p:spPr>
      </p:sp>
      <p:sp>
        <p:nvSpPr>
          <p:cNvPr id="28" name="web step number 4"/>
          <p:cNvSpPr txBox="1"/>
          <p:nvPr/>
        </p:nvSpPr>
        <p:spPr>
          <a:xfrm>
            <a:off x="5897880"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4</a:t>
            </a:r>
            <a:endParaRPr lang="en-US" sz="1300" dirty="0"/>
          </a:p>
        </p:txBody>
      </p:sp>
      <p:sp>
        <p:nvSpPr>
          <p:cNvPr id="29" name="web step title 4"/>
          <p:cNvSpPr txBox="1"/>
          <p:nvPr/>
        </p:nvSpPr>
        <p:spPr>
          <a:xfrm>
            <a:off x="5336177"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BoQ</a:t>
            </a:r>
            <a:endParaRPr lang="en-US" sz="1700" dirty="0"/>
          </a:p>
        </p:txBody>
      </p:sp>
      <p:sp>
        <p:nvSpPr>
          <p:cNvPr id="30" name="web step text 4"/>
          <p:cNvSpPr txBox="1"/>
          <p:nvPr/>
        </p:nvSpPr>
        <p:spPr>
          <a:xfrm>
            <a:off x="5381897"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every line with its evidence</a:t>
            </a:r>
            <a:endParaRPr lang="en-US" sz="1250" dirty="0"/>
          </a:p>
        </p:txBody>
      </p:sp>
      <p:sp>
        <p:nvSpPr>
          <p:cNvPr id="31" name="web step 5 circle"/>
          <p:cNvSpPr/>
          <p:nvPr/>
        </p:nvSpPr>
        <p:spPr>
          <a:xfrm>
            <a:off x="7204166" y="1828800"/>
            <a:ext cx="914400" cy="914400"/>
          </a:xfrm>
          <a:prstGeom prst="ellipse">
            <a:avLst/>
          </a:prstGeom>
          <a:solidFill>
            <a:srgbClr val="8E1B1B"/>
          </a:solidFill>
          <a:ln w="12700">
            <a:solidFill>
              <a:srgbClr val="8E1B1B"/>
            </a:solidFill>
            <a:prstDash val="solid"/>
          </a:ln>
        </p:spPr>
      </p:sp>
      <p:pic>
        <p:nvPicPr>
          <p:cNvPr id="32" name="web step 5 icon" descr="preencoded.png">    </p:cNvPr>
          <p:cNvPicPr>
            <a:picLocks noChangeAspect="1"/>
          </p:cNvPicPr>
          <p:nvPr/>
        </p:nvPicPr>
        <p:blipFill>
          <a:blip r:embed="rId5"/>
          <a:stretch>
            <a:fillRect/>
          </a:stretch>
        </p:blipFill>
        <p:spPr>
          <a:xfrm>
            <a:off x="7441910" y="2066544"/>
            <a:ext cx="438912" cy="438912"/>
          </a:xfrm>
          <a:prstGeom prst="rect">
            <a:avLst/>
          </a:prstGeom>
        </p:spPr>
      </p:pic>
      <p:sp>
        <p:nvSpPr>
          <p:cNvPr id="33" name="Shape 25"/>
          <p:cNvSpPr/>
          <p:nvPr/>
        </p:nvSpPr>
        <p:spPr>
          <a:xfrm>
            <a:off x="8191718" y="2286000"/>
            <a:ext cx="519902" cy="0"/>
          </a:xfrm>
          <a:prstGeom prst="line">
            <a:avLst/>
          </a:prstGeom>
          <a:noFill/>
          <a:ln w="25400">
            <a:solidFill>
              <a:srgbClr val="8B8781"/>
            </a:solidFill>
            <a:prstDash val="solid"/>
            <a:tailEnd type="triangle"/>
          </a:ln>
        </p:spPr>
      </p:sp>
      <p:sp>
        <p:nvSpPr>
          <p:cNvPr id="34" name="web step number 5"/>
          <p:cNvSpPr txBox="1"/>
          <p:nvPr/>
        </p:nvSpPr>
        <p:spPr>
          <a:xfrm>
            <a:off x="7478486"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5</a:t>
            </a:r>
            <a:endParaRPr lang="en-US" sz="1300" dirty="0"/>
          </a:p>
        </p:txBody>
      </p:sp>
      <p:sp>
        <p:nvSpPr>
          <p:cNvPr id="35" name="web step title 5"/>
          <p:cNvSpPr txBox="1"/>
          <p:nvPr/>
        </p:nvSpPr>
        <p:spPr>
          <a:xfrm>
            <a:off x="6916783"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Pricing</a:t>
            </a:r>
            <a:endParaRPr lang="en-US" sz="1700" dirty="0"/>
          </a:p>
        </p:txBody>
      </p:sp>
      <p:sp>
        <p:nvSpPr>
          <p:cNvPr id="36" name="web step text 5"/>
          <p:cNvSpPr txBox="1"/>
          <p:nvPr/>
        </p:nvSpPr>
        <p:spPr>
          <a:xfrm>
            <a:off x="6962503"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supplier quotes, apply one</a:t>
            </a:r>
            <a:endParaRPr lang="en-US" sz="1250" dirty="0"/>
          </a:p>
        </p:txBody>
      </p:sp>
      <p:sp>
        <p:nvSpPr>
          <p:cNvPr id="37" name="web step 6 circle"/>
          <p:cNvSpPr/>
          <p:nvPr/>
        </p:nvSpPr>
        <p:spPr>
          <a:xfrm>
            <a:off x="8784771" y="1828800"/>
            <a:ext cx="914400" cy="914400"/>
          </a:xfrm>
          <a:prstGeom prst="ellipse">
            <a:avLst/>
          </a:prstGeom>
          <a:solidFill>
            <a:srgbClr val="8E1B1B"/>
          </a:solidFill>
          <a:ln w="12700">
            <a:solidFill>
              <a:srgbClr val="8E1B1B"/>
            </a:solidFill>
            <a:prstDash val="solid"/>
          </a:ln>
        </p:spPr>
      </p:sp>
      <p:pic>
        <p:nvPicPr>
          <p:cNvPr id="38" name="web step 6 icon" descr="preencoded.png">    </p:cNvPr>
          <p:cNvPicPr>
            <a:picLocks noChangeAspect="1"/>
          </p:cNvPicPr>
          <p:nvPr/>
        </p:nvPicPr>
        <p:blipFill>
          <a:blip r:embed="rId6"/>
          <a:stretch>
            <a:fillRect/>
          </a:stretch>
        </p:blipFill>
        <p:spPr>
          <a:xfrm>
            <a:off x="9022515" y="2066544"/>
            <a:ext cx="438912" cy="438912"/>
          </a:xfrm>
          <a:prstGeom prst="rect">
            <a:avLst/>
          </a:prstGeom>
        </p:spPr>
      </p:pic>
      <p:sp>
        <p:nvSpPr>
          <p:cNvPr id="39" name="Shape 30"/>
          <p:cNvSpPr/>
          <p:nvPr/>
        </p:nvSpPr>
        <p:spPr>
          <a:xfrm>
            <a:off x="9772323" y="2286000"/>
            <a:ext cx="519902" cy="0"/>
          </a:xfrm>
          <a:prstGeom prst="line">
            <a:avLst/>
          </a:prstGeom>
          <a:noFill/>
          <a:ln w="25400">
            <a:solidFill>
              <a:srgbClr val="8B8781"/>
            </a:solidFill>
            <a:prstDash val="solid"/>
            <a:tailEnd type="triangle"/>
          </a:ln>
        </p:spPr>
      </p:sp>
      <p:sp>
        <p:nvSpPr>
          <p:cNvPr id="40" name="web step number 6"/>
          <p:cNvSpPr txBox="1"/>
          <p:nvPr/>
        </p:nvSpPr>
        <p:spPr>
          <a:xfrm>
            <a:off x="9059091"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6</a:t>
            </a:r>
            <a:endParaRPr lang="en-US" sz="1300" dirty="0"/>
          </a:p>
        </p:txBody>
      </p:sp>
      <p:sp>
        <p:nvSpPr>
          <p:cNvPr id="41" name="web step title 6"/>
          <p:cNvSpPr txBox="1"/>
          <p:nvPr/>
        </p:nvSpPr>
        <p:spPr>
          <a:xfrm>
            <a:off x="8497389"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Export</a:t>
            </a:r>
            <a:endParaRPr lang="en-US" sz="1700" dirty="0"/>
          </a:p>
        </p:txBody>
      </p:sp>
      <p:sp>
        <p:nvSpPr>
          <p:cNvPr id="42" name="web step text 6"/>
          <p:cNvSpPr txBox="1"/>
          <p:nvPr/>
        </p:nvSpPr>
        <p:spPr>
          <a:xfrm>
            <a:off x="8543109"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Excel &amp; PDF, email</a:t>
            </a:r>
            <a:endParaRPr lang="en-US" sz="1250" dirty="0"/>
          </a:p>
        </p:txBody>
      </p:sp>
      <p:sp>
        <p:nvSpPr>
          <p:cNvPr id="43" name="web step 7 circle"/>
          <p:cNvSpPr/>
          <p:nvPr/>
        </p:nvSpPr>
        <p:spPr>
          <a:xfrm>
            <a:off x="10365377" y="1828800"/>
            <a:ext cx="914400" cy="914400"/>
          </a:xfrm>
          <a:prstGeom prst="ellipse">
            <a:avLst/>
          </a:prstGeom>
          <a:solidFill>
            <a:srgbClr val="8E1B1B"/>
          </a:solidFill>
          <a:ln w="12700">
            <a:solidFill>
              <a:srgbClr val="8E1B1B"/>
            </a:solidFill>
            <a:prstDash val="solid"/>
          </a:ln>
        </p:spPr>
      </p:sp>
      <p:pic>
        <p:nvPicPr>
          <p:cNvPr id="44" name="web step 7 icon" descr="preencoded.png">    </p:cNvPr>
          <p:cNvPicPr>
            <a:picLocks noChangeAspect="1"/>
          </p:cNvPicPr>
          <p:nvPr/>
        </p:nvPicPr>
        <p:blipFill>
          <a:blip r:embed="rId7"/>
          <a:stretch>
            <a:fillRect/>
          </a:stretch>
        </p:blipFill>
        <p:spPr>
          <a:xfrm>
            <a:off x="10603121" y="2066544"/>
            <a:ext cx="438912" cy="438912"/>
          </a:xfrm>
          <a:prstGeom prst="rect">
            <a:avLst/>
          </a:prstGeom>
        </p:spPr>
      </p:pic>
      <p:sp>
        <p:nvSpPr>
          <p:cNvPr id="45" name="web step number 7"/>
          <p:cNvSpPr txBox="1"/>
          <p:nvPr/>
        </p:nvSpPr>
        <p:spPr>
          <a:xfrm>
            <a:off x="10639697"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7</a:t>
            </a:r>
            <a:endParaRPr lang="en-US" sz="1300" dirty="0"/>
          </a:p>
        </p:txBody>
      </p:sp>
      <p:sp>
        <p:nvSpPr>
          <p:cNvPr id="46" name="web step title 7"/>
          <p:cNvSpPr txBox="1"/>
          <p:nvPr/>
        </p:nvSpPr>
        <p:spPr>
          <a:xfrm>
            <a:off x="10077994"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Audit</a:t>
            </a:r>
            <a:endParaRPr lang="en-US" sz="1700" dirty="0"/>
          </a:p>
        </p:txBody>
      </p:sp>
      <p:sp>
        <p:nvSpPr>
          <p:cNvPr id="47" name="web step text 7"/>
          <p:cNvSpPr txBox="1"/>
          <p:nvPr/>
        </p:nvSpPr>
        <p:spPr>
          <a:xfrm>
            <a:off x="10123714"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check any BoQ</a:t>
            </a:r>
            <a:endParaRPr lang="en-US" sz="1250" dirty="0"/>
          </a:p>
        </p:txBody>
      </p:sp>
      <p:sp>
        <p:nvSpPr>
          <p:cNvPr id="48" name="start card"/>
          <p:cNvSpPr/>
          <p:nvPr/>
        </p:nvSpPr>
        <p:spPr>
          <a:xfrm>
            <a:off x="548640" y="4709160"/>
            <a:ext cx="11064240" cy="1097280"/>
          </a:xfrm>
          <a:prstGeom prst="rect">
            <a:avLst/>
          </a:prstGeom>
          <a:solidFill>
            <a:schemeClr val="bg2"/>
          </a:solidFill>
          <a:ln w="9525">
            <a:solidFill>
              <a:srgbClr val="D8D3CB"/>
            </a:solidFill>
            <a:prstDash val="solid"/>
          </a:ln>
        </p:spPr>
      </p:sp>
      <p:sp>
        <p:nvSpPr>
          <p:cNvPr id="49" name="start circle"/>
          <p:cNvSpPr/>
          <p:nvPr/>
        </p:nvSpPr>
        <p:spPr>
          <a:xfrm>
            <a:off x="777240" y="4892040"/>
            <a:ext cx="731520" cy="731520"/>
          </a:xfrm>
          <a:prstGeom prst="ellipse">
            <a:avLst/>
          </a:prstGeom>
          <a:solidFill>
            <a:srgbClr val="14151A"/>
          </a:solidFill>
          <a:ln w="12700">
            <a:solidFill>
              <a:srgbClr val="14151A"/>
            </a:solidFill>
            <a:prstDash val="solid"/>
          </a:ln>
        </p:spPr>
      </p:sp>
      <p:pic>
        <p:nvPicPr>
          <p:cNvPr id="50" name="start icon" descr="preencoded.png">    </p:cNvPr>
          <p:cNvPicPr>
            <a:picLocks noChangeAspect="1"/>
          </p:cNvPicPr>
          <p:nvPr/>
        </p:nvPicPr>
        <p:blipFill>
          <a:blip r:embed="rId8"/>
          <a:stretch>
            <a:fillRect/>
          </a:stretch>
        </p:blipFill>
        <p:spPr>
          <a:xfrm>
            <a:off x="967435" y="5082235"/>
            <a:ext cx="351130" cy="351130"/>
          </a:xfrm>
          <a:prstGeom prst="rect">
            <a:avLst/>
          </a:prstGeom>
        </p:spPr>
      </p:pic>
      <p:sp>
        <p:nvSpPr>
          <p:cNvPr id="51" name="start text"/>
          <p:cNvSpPr txBox="1"/>
          <p:nvPr/>
        </p:nvSpPr>
        <p:spPr>
          <a:xfrm>
            <a:off x="1737360" y="4983480"/>
            <a:ext cx="9692640" cy="548640"/>
          </a:xfrm>
          <a:prstGeom prst="rect">
            <a:avLst/>
          </a:prstGeom>
          <a:noFill/>
          <a:ln/>
        </p:spPr>
        <p:txBody>
          <a:bodyPr wrap="square" lIns="0" tIns="0" rIns="0" bIns="0" rtlCol="0" anchor="ctr"/>
          <a:lstStyle/>
          <a:p>
            <a:pPr indent="0" marL="0">
              <a:buNone/>
            </a:pPr>
            <a:r>
              <a:rPr lang="en-US" sz="1500" b="1" dirty="0">
                <a:solidFill>
                  <a:schemeClr val="tx1"/>
                </a:solidFill>
              </a:rPr>
              <a:t>Online: </a:t>
            </a:r>
            <a:pPr indent="0" marL="0">
              <a:buNone/>
            </a:pPr>
            <a:r>
              <a:rPr lang="en-US" sz="1500" b="1" u="sng" dirty="0">
                <a:solidFill>
                  <a:schemeClr val="accent1"/>
                </a:solidFill>
                <a:hlinkClick r:id="rId9" invalidUrl="" action="" tgtFrame="" tooltip="" history="1" highlightClick="0" endSnd="0">
                  <a:extLst>
                    <a:ext uri="{A12FA001-AC4F-418D-AE19-62706E023703}">
                      <ahyp:hlinkClr xmlns:ahyp="http://schemas.microsoft.com/office/drawing/2018/hyperlinkcolor" val="tx"/>
                    </a:ext>
                  </a:extLst>
                </a:hlinkClick>
              </a:rPr>
              <a:t>https://afriplan.onrender.com</a:t>
            </a:r>
            <a:pPr indent="0" marL="0">
              <a:buNone/>
            </a:pPr>
            <a:r>
              <a:rPr lang="en-US" sz="1500" dirty="0">
                <a:solidFill>
                  <a:schemeClr val="tx1"/>
                </a:solidFill>
              </a:rPr>
              <a:t>   ·   nothing to install, any browser</a:t>
            </a:r>
            <a:endParaRPr lang="en-US" sz="15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USING THE WEB APP</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Upload: choose the engine that fits your drawings</a:t>
            </a:r>
            <a:endParaRPr lang="en-US" sz="2600" dirty="0"/>
          </a:p>
        </p:txBody>
      </p:sp>
      <p:sp>
        <p:nvSpPr>
          <p:cNvPr id="7" name="engine card 1"/>
          <p:cNvSpPr/>
          <p:nvPr/>
        </p:nvSpPr>
        <p:spPr>
          <a:xfrm>
            <a:off x="548640" y="1417320"/>
            <a:ext cx="3520440" cy="4343400"/>
          </a:xfrm>
          <a:prstGeom prst="rect">
            <a:avLst/>
          </a:prstGeom>
          <a:solidFill>
            <a:schemeClr val="bg2"/>
          </a:solidFill>
          <a:ln w="9525">
            <a:solidFill>
              <a:srgbClr val="D8D3CB"/>
            </a:solidFill>
            <a:prstDash val="solid"/>
          </a:ln>
        </p:spPr>
      </p:sp>
      <p:sp>
        <p:nvSpPr>
          <p:cNvPr id="8" name="engine 1 circle"/>
          <p:cNvSpPr/>
          <p:nvPr/>
        </p:nvSpPr>
        <p:spPr>
          <a:xfrm>
            <a:off x="822960" y="1645920"/>
            <a:ext cx="777240" cy="777240"/>
          </a:xfrm>
          <a:prstGeom prst="ellipse">
            <a:avLst/>
          </a:prstGeom>
          <a:solidFill>
            <a:srgbClr val="8E1B1B"/>
          </a:solidFill>
          <a:ln w="12700">
            <a:solidFill>
              <a:srgbClr val="8E1B1B"/>
            </a:solidFill>
            <a:prstDash val="solid"/>
          </a:ln>
        </p:spPr>
      </p:sp>
      <p:pic>
        <p:nvPicPr>
          <p:cNvPr id="9" name="engine 1 icon" descr="preencoded.png">    </p:cNvPr>
          <p:cNvPicPr>
            <a:picLocks noChangeAspect="1"/>
          </p:cNvPicPr>
          <p:nvPr/>
        </p:nvPicPr>
        <p:blipFill>
          <a:blip r:embed="rId1"/>
          <a:stretch>
            <a:fillRect/>
          </a:stretch>
        </p:blipFill>
        <p:spPr>
          <a:xfrm>
            <a:off x="1025042" y="1848002"/>
            <a:ext cx="373075" cy="373075"/>
          </a:xfrm>
          <a:prstGeom prst="rect">
            <a:avLst/>
          </a:prstGeom>
        </p:spPr>
      </p:pic>
      <p:sp>
        <p:nvSpPr>
          <p:cNvPr id="10" name="engine title 1"/>
          <p:cNvSpPr txBox="1"/>
          <p:nvPr/>
        </p:nvSpPr>
        <p:spPr>
          <a:xfrm>
            <a:off x="1737360" y="1691640"/>
            <a:ext cx="2194560" cy="411480"/>
          </a:xfrm>
          <a:prstGeom prst="rect">
            <a:avLst/>
          </a:prstGeom>
          <a:noFill/>
          <a:ln/>
        </p:spPr>
        <p:txBody>
          <a:bodyPr wrap="square" lIns="0" tIns="0" rIns="0" bIns="0" rtlCol="0" anchor="t"/>
          <a:lstStyle/>
          <a:p>
            <a:pPr indent="0" marL="0">
              <a:buNone/>
            </a:pPr>
            <a:r>
              <a:rPr lang="en-US" sz="2100" b="1" dirty="0">
                <a:solidFill>
                  <a:schemeClr val="tx1"/>
                </a:solidFill>
              </a:rPr>
              <a:t>DXF / DWG</a:t>
            </a:r>
            <a:endParaRPr lang="en-US" sz="2100" dirty="0"/>
          </a:p>
        </p:txBody>
      </p:sp>
      <p:sp>
        <p:nvSpPr>
          <p:cNvPr id="11" name="engine tag 1"/>
          <p:cNvSpPr txBox="1"/>
          <p:nvPr/>
        </p:nvSpPr>
        <p:spPr>
          <a:xfrm>
            <a:off x="1737360" y="2103120"/>
            <a:ext cx="2240280" cy="320040"/>
          </a:xfrm>
          <a:prstGeom prst="rect">
            <a:avLst/>
          </a:prstGeom>
          <a:noFill/>
          <a:ln/>
        </p:spPr>
        <p:txBody>
          <a:bodyPr wrap="square" lIns="0" tIns="0" rIns="0" bIns="0" rtlCol="0" anchor="t"/>
          <a:lstStyle/>
          <a:p>
            <a:pPr indent="0" marL="0">
              <a:buNone/>
            </a:pPr>
            <a:r>
              <a:rPr lang="en-US" sz="1300" b="1" dirty="0">
                <a:solidFill>
                  <a:schemeClr val="accent1"/>
                </a:solidFill>
              </a:rPr>
              <a:t>Free · exact · 1–2 min</a:t>
            </a:r>
            <a:endParaRPr lang="en-US" sz="1300" dirty="0"/>
          </a:p>
        </p:txBody>
      </p:sp>
      <p:sp>
        <p:nvSpPr>
          <p:cNvPr id="12" name="engine points 1"/>
          <p:cNvSpPr txBox="1"/>
          <p:nvPr/>
        </p:nvSpPr>
        <p:spPr>
          <a:xfrm>
            <a:off x="822960" y="2697480"/>
            <a:ext cx="3017520" cy="2926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Select the whole set: SLDs, layouts and the electrical site plan</a:t>
            </a:r>
            <a:endParaRPr lang="en-US" sz="1400" dirty="0"/>
          </a:p>
          <a:p>
            <a:pPr marL="342900" indent="-342900">
              <a:spcAft>
                <a:spcPts val="800"/>
              </a:spcAft>
              <a:buSzPct val="100000"/>
              <a:buChar char="•"/>
            </a:pPr>
            <a:r>
              <a:rPr lang="en-US" sz="1400" dirty="0">
                <a:solidFill>
                  <a:schemeClr val="tx1"/>
                </a:solidFill>
              </a:rPr>
              <a:t>Feeder lengths measured on the site plan</a:t>
            </a:r>
            <a:endParaRPr lang="en-US" sz="1400" dirty="0"/>
          </a:p>
          <a:p>
            <a:pPr marL="342900" indent="-342900">
              <a:spcAft>
                <a:spcPts val="800"/>
              </a:spcAft>
              <a:buSzPct val="100000"/>
              <a:buChar char="•"/>
            </a:pPr>
            <a:r>
              <a:rPr lang="en-US" sz="1400" dirty="0">
                <a:solidFill>
                  <a:schemeClr val="tx1"/>
                </a:solidFill>
              </a:rPr>
              <a:t>Older revisions skipped automatically</a:t>
            </a:r>
            <a:endParaRPr lang="en-US" sz="1400" dirty="0"/>
          </a:p>
          <a:p>
            <a:pPr marL="342900" indent="-342900">
              <a:spcAft>
                <a:spcPts val="800"/>
              </a:spcAft>
              <a:buSzPct val="100000"/>
              <a:buChar char="•"/>
            </a:pPr>
            <a:r>
              <a:rPr lang="en-US" sz="1400" dirty="0">
                <a:solidFill>
                  <a:schemeClr val="tx1"/>
                </a:solidFill>
              </a:rPr>
              <a:t>Optional: AI names unnamed symbols (≈ R1–2)</a:t>
            </a:r>
            <a:endParaRPr lang="en-US" sz="1400" dirty="0"/>
          </a:p>
        </p:txBody>
      </p:sp>
      <p:sp>
        <p:nvSpPr>
          <p:cNvPr id="13" name="engine card 2"/>
          <p:cNvSpPr/>
          <p:nvPr/>
        </p:nvSpPr>
        <p:spPr>
          <a:xfrm>
            <a:off x="4297680" y="1417320"/>
            <a:ext cx="3520440" cy="4343400"/>
          </a:xfrm>
          <a:prstGeom prst="rect">
            <a:avLst/>
          </a:prstGeom>
          <a:solidFill>
            <a:schemeClr val="bg1"/>
          </a:solidFill>
          <a:ln w="9525">
            <a:solidFill>
              <a:srgbClr val="D8D3CB"/>
            </a:solidFill>
            <a:prstDash val="solid"/>
          </a:ln>
        </p:spPr>
      </p:sp>
      <p:sp>
        <p:nvSpPr>
          <p:cNvPr id="14" name="engine 2 circle"/>
          <p:cNvSpPr/>
          <p:nvPr/>
        </p:nvSpPr>
        <p:spPr>
          <a:xfrm>
            <a:off x="4572000" y="1645920"/>
            <a:ext cx="777240" cy="777240"/>
          </a:xfrm>
          <a:prstGeom prst="ellipse">
            <a:avLst/>
          </a:prstGeom>
          <a:solidFill>
            <a:srgbClr val="8E1B1B"/>
          </a:solidFill>
          <a:ln w="12700">
            <a:solidFill>
              <a:srgbClr val="8E1B1B"/>
            </a:solidFill>
            <a:prstDash val="solid"/>
          </a:ln>
        </p:spPr>
      </p:sp>
      <p:pic>
        <p:nvPicPr>
          <p:cNvPr id="15" name="engine 2 icon" descr="preencoded.png">    </p:cNvPr>
          <p:cNvPicPr>
            <a:picLocks noChangeAspect="1"/>
          </p:cNvPicPr>
          <p:nvPr/>
        </p:nvPicPr>
        <p:blipFill>
          <a:blip r:embed="rId2"/>
          <a:stretch>
            <a:fillRect/>
          </a:stretch>
        </p:blipFill>
        <p:spPr>
          <a:xfrm>
            <a:off x="4774082" y="1848002"/>
            <a:ext cx="373075" cy="373075"/>
          </a:xfrm>
          <a:prstGeom prst="rect">
            <a:avLst/>
          </a:prstGeom>
        </p:spPr>
      </p:pic>
      <p:sp>
        <p:nvSpPr>
          <p:cNvPr id="16" name="engine title 2"/>
          <p:cNvSpPr txBox="1"/>
          <p:nvPr/>
        </p:nvSpPr>
        <p:spPr>
          <a:xfrm>
            <a:off x="5486400" y="1691640"/>
            <a:ext cx="2194560" cy="411480"/>
          </a:xfrm>
          <a:prstGeom prst="rect">
            <a:avLst/>
          </a:prstGeom>
          <a:noFill/>
          <a:ln/>
        </p:spPr>
        <p:txBody>
          <a:bodyPr wrap="square" lIns="0" tIns="0" rIns="0" bIns="0" rtlCol="0" anchor="t"/>
          <a:lstStyle/>
          <a:p>
            <a:pPr indent="0" marL="0">
              <a:buNone/>
            </a:pPr>
            <a:r>
              <a:rPr lang="en-US" sz="2100" b="1" dirty="0">
                <a:solidFill>
                  <a:schemeClr val="tx1"/>
                </a:solidFill>
              </a:rPr>
              <a:t>PDF</a:t>
            </a:r>
            <a:endParaRPr lang="en-US" sz="2100" dirty="0"/>
          </a:p>
        </p:txBody>
      </p:sp>
      <p:sp>
        <p:nvSpPr>
          <p:cNvPr id="17" name="engine tag 2"/>
          <p:cNvSpPr txBox="1"/>
          <p:nvPr/>
        </p:nvSpPr>
        <p:spPr>
          <a:xfrm>
            <a:off x="5486400" y="2103120"/>
            <a:ext cx="2240280" cy="320040"/>
          </a:xfrm>
          <a:prstGeom prst="rect">
            <a:avLst/>
          </a:prstGeom>
          <a:noFill/>
          <a:ln/>
        </p:spPr>
        <p:txBody>
          <a:bodyPr wrap="square" lIns="0" tIns="0" rIns="0" bIns="0" rtlCol="0" anchor="t"/>
          <a:lstStyle/>
          <a:p>
            <a:pPr indent="0" marL="0">
              <a:buNone/>
            </a:pPr>
            <a:r>
              <a:rPr lang="en-US" sz="1300" b="1" dirty="0">
                <a:solidFill>
                  <a:schemeClr val="accent1"/>
                </a:solidFill>
              </a:rPr>
              <a:t>AI reads every page</a:t>
            </a:r>
            <a:endParaRPr lang="en-US" sz="1300" dirty="0"/>
          </a:p>
        </p:txBody>
      </p:sp>
      <p:sp>
        <p:nvSpPr>
          <p:cNvPr id="18" name="engine points 2"/>
          <p:cNvSpPr txBox="1"/>
          <p:nvPr/>
        </p:nvSpPr>
        <p:spPr>
          <a:xfrm>
            <a:off x="4572000" y="2697480"/>
            <a:ext cx="3017520" cy="2926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Choose the AI model: paid (most accurate) or free</a:t>
            </a:r>
            <a:endParaRPr lang="en-US" sz="1400" dirty="0"/>
          </a:p>
          <a:p>
            <a:pPr marL="342900" indent="-342900">
              <a:spcAft>
                <a:spcPts val="800"/>
              </a:spcAft>
              <a:buSzPct val="100000"/>
              <a:buChar char="•"/>
            </a:pPr>
            <a:r>
              <a:rPr lang="en-US" sz="1400" dirty="0">
                <a:solidFill>
                  <a:schemeClr val="tx1"/>
                </a:solidFill>
              </a:rPr>
              <a:t>Paid model ≈ R2.50 a page, ≈ 5 min for 18 pages</a:t>
            </a:r>
            <a:endParaRPr lang="en-US" sz="1400" dirty="0"/>
          </a:p>
          <a:p>
            <a:pPr marL="342900" indent="-342900">
              <a:spcAft>
                <a:spcPts val="800"/>
              </a:spcAft>
              <a:buSzPct val="100000"/>
              <a:buChar char="•"/>
            </a:pPr>
            <a:r>
              <a:rPr lang="en-US" sz="1400" dirty="0">
                <a:solidFill>
                  <a:schemeClr val="tx1"/>
                </a:solidFill>
              </a:rPr>
              <a:t>Free model: slower; stops at its daily limit — the screen says why</a:t>
            </a:r>
            <a:endParaRPr lang="en-US" sz="1400" dirty="0"/>
          </a:p>
          <a:p>
            <a:pPr marL="342900" indent="-342900">
              <a:spcAft>
                <a:spcPts val="800"/>
              </a:spcAft>
              <a:buSzPct val="100000"/>
              <a:buChar char="•"/>
            </a:pPr>
            <a:r>
              <a:rPr lang="en-US" sz="1400" dirty="0">
                <a:solidFill>
                  <a:schemeClr val="tx1"/>
                </a:solidFill>
              </a:rPr>
              <a:t>Live progress: page X of Y, AI waits shown</a:t>
            </a:r>
            <a:endParaRPr lang="en-US" sz="1400" dirty="0"/>
          </a:p>
        </p:txBody>
      </p:sp>
      <p:sp>
        <p:nvSpPr>
          <p:cNvPr id="19" name="engine card 3"/>
          <p:cNvSpPr/>
          <p:nvPr/>
        </p:nvSpPr>
        <p:spPr>
          <a:xfrm>
            <a:off x="8046720" y="1417320"/>
            <a:ext cx="3520440" cy="4343400"/>
          </a:xfrm>
          <a:prstGeom prst="rect">
            <a:avLst/>
          </a:prstGeom>
          <a:solidFill>
            <a:schemeClr val="bg1"/>
          </a:solidFill>
          <a:ln w="9525">
            <a:solidFill>
              <a:srgbClr val="D8D3CB"/>
            </a:solidFill>
            <a:prstDash val="solid"/>
          </a:ln>
        </p:spPr>
      </p:sp>
      <p:sp>
        <p:nvSpPr>
          <p:cNvPr id="20" name="engine 3 circle"/>
          <p:cNvSpPr/>
          <p:nvPr/>
        </p:nvSpPr>
        <p:spPr>
          <a:xfrm>
            <a:off x="8321040" y="1645920"/>
            <a:ext cx="777240" cy="777240"/>
          </a:xfrm>
          <a:prstGeom prst="ellipse">
            <a:avLst/>
          </a:prstGeom>
          <a:solidFill>
            <a:srgbClr val="8E1B1B"/>
          </a:solidFill>
          <a:ln w="12700">
            <a:solidFill>
              <a:srgbClr val="8E1B1B"/>
            </a:solidFill>
            <a:prstDash val="solid"/>
          </a:ln>
        </p:spPr>
      </p:sp>
      <p:pic>
        <p:nvPicPr>
          <p:cNvPr id="21" name="engine 3 icon" descr="preencoded.png">    </p:cNvPr>
          <p:cNvPicPr>
            <a:picLocks noChangeAspect="1"/>
          </p:cNvPicPr>
          <p:nvPr/>
        </p:nvPicPr>
        <p:blipFill>
          <a:blip r:embed="rId3"/>
          <a:stretch>
            <a:fillRect/>
          </a:stretch>
        </p:blipFill>
        <p:spPr>
          <a:xfrm>
            <a:off x="8523122" y="1848002"/>
            <a:ext cx="373075" cy="373075"/>
          </a:xfrm>
          <a:prstGeom prst="rect">
            <a:avLst/>
          </a:prstGeom>
        </p:spPr>
      </p:pic>
      <p:sp>
        <p:nvSpPr>
          <p:cNvPr id="22" name="engine title 3"/>
          <p:cNvSpPr txBox="1"/>
          <p:nvPr/>
        </p:nvSpPr>
        <p:spPr>
          <a:xfrm>
            <a:off x="9235440" y="1691640"/>
            <a:ext cx="2194560" cy="411480"/>
          </a:xfrm>
          <a:prstGeom prst="rect">
            <a:avLst/>
          </a:prstGeom>
          <a:noFill/>
          <a:ln/>
        </p:spPr>
        <p:txBody>
          <a:bodyPr wrap="square" lIns="0" tIns="0" rIns="0" bIns="0" rtlCol="0" anchor="t"/>
          <a:lstStyle/>
          <a:p>
            <a:pPr indent="0" marL="0">
              <a:buNone/>
            </a:pPr>
            <a:r>
              <a:rPr lang="en-US" sz="2100" b="1" dirty="0">
                <a:solidFill>
                  <a:schemeClr val="tx1"/>
                </a:solidFill>
              </a:rPr>
              <a:t>Both</a:t>
            </a:r>
            <a:endParaRPr lang="en-US" sz="2100" dirty="0"/>
          </a:p>
        </p:txBody>
      </p:sp>
      <p:sp>
        <p:nvSpPr>
          <p:cNvPr id="23" name="engine tag 3"/>
          <p:cNvSpPr txBox="1"/>
          <p:nvPr/>
        </p:nvSpPr>
        <p:spPr>
          <a:xfrm>
            <a:off x="9235440" y="2103120"/>
            <a:ext cx="2240280" cy="320040"/>
          </a:xfrm>
          <a:prstGeom prst="rect">
            <a:avLst/>
          </a:prstGeom>
          <a:noFill/>
          <a:ln/>
        </p:spPr>
        <p:txBody>
          <a:bodyPr wrap="square" lIns="0" tIns="0" rIns="0" bIns="0" rtlCol="0" anchor="t"/>
          <a:lstStyle/>
          <a:p>
            <a:pPr indent="0" marL="0">
              <a:buNone/>
            </a:pPr>
            <a:r>
              <a:rPr lang="en-US" sz="1300" b="1" dirty="0">
                <a:solidFill>
                  <a:schemeClr val="accent1"/>
                </a:solidFill>
              </a:rPr>
              <a:t>run both, then compare</a:t>
            </a:r>
            <a:endParaRPr lang="en-US" sz="1300" dirty="0"/>
          </a:p>
        </p:txBody>
      </p:sp>
      <p:sp>
        <p:nvSpPr>
          <p:cNvPr id="24" name="engine points 3"/>
          <p:cNvSpPr txBox="1"/>
          <p:nvPr/>
        </p:nvSpPr>
        <p:spPr>
          <a:xfrm>
            <a:off x="8321040" y="2697480"/>
            <a:ext cx="3017520" cy="2926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Runs the CAD and PDF engines side by side</a:t>
            </a:r>
            <a:endParaRPr lang="en-US" sz="1400" dirty="0"/>
          </a:p>
          <a:p>
            <a:pPr marL="342900" indent="-342900">
              <a:spcAft>
                <a:spcPts val="800"/>
              </a:spcAft>
              <a:buSzPct val="100000"/>
              <a:buChar char="•"/>
            </a:pPr>
            <a:r>
              <a:rPr lang="en-US" sz="1400" dirty="0">
                <a:solidFill>
                  <a:schemeClr val="tx1"/>
                </a:solidFill>
              </a:rPr>
              <a:t>Shows where they agree and disagree</a:t>
            </a:r>
            <a:endParaRPr lang="en-US" sz="1400" dirty="0"/>
          </a:p>
          <a:p>
            <a:pPr marL="342900" indent="-342900">
              <a:spcAft>
                <a:spcPts val="800"/>
              </a:spcAft>
              <a:buSzPct val="100000"/>
              <a:buChar char="•"/>
            </a:pPr>
            <a:r>
              <a:rPr lang="en-US" sz="1400" dirty="0">
                <a:solidFill>
                  <a:schemeClr val="tx1"/>
                </a:solidFill>
              </a:rPr>
              <a:t>Comparison report as PDF</a:t>
            </a:r>
            <a:endParaRPr lang="en-US" sz="1400" dirty="0"/>
          </a:p>
          <a:p>
            <a:pPr marL="342900" indent="-342900">
              <a:spcAft>
                <a:spcPts val="800"/>
              </a:spcAft>
              <a:buSzPct val="100000"/>
              <a:buChar char="•"/>
            </a:pPr>
            <a:r>
              <a:rPr lang="en-US" sz="1400" dirty="0">
                <a:solidFill>
                  <a:schemeClr val="tx1"/>
                </a:solidFill>
              </a:rPr>
              <a:t>Best when some sheets exist only as PDF</a:t>
            </a:r>
            <a:endParaRPr lang="en-US" sz="1400" dirty="0"/>
          </a:p>
        </p:txBody>
      </p:sp>
      <p:sp>
        <p:nvSpPr>
          <p:cNvPr id="25" name="source"/>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950" dirty="0">
                <a:solidFill>
                  <a:schemeClr val="accent6"/>
                </a:solidFill>
              </a:rPr>
              <a:t>Tip: DWG/DXF estimating, BoQ audit and exports work without any AI model.</a:t>
            </a:r>
            <a:endParaRPr lang="en-US" sz="95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USING THE WEB APP</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Take-off: watch the progress, then read the gaps</a:t>
            </a:r>
            <a:endParaRPr lang="en-US" sz="2600" dirty="0"/>
          </a:p>
        </p:txBody>
      </p:sp>
      <p:pic>
        <p:nvPicPr>
          <p:cNvPr id="7" name="progress screenshot" descr="C:\Users\BIBINBUSINESS\AppData\Local\Temp\claude\c--Users-BIBINBUSINESS-OneDrive-Desktop-afriplan-web\160cb13b-69be-45a9-b0fa-6d0d5fe06738\scratchpad\deck\run-progress-neutral.png">    </p:cNvPr>
          <p:cNvPicPr>
            <a:picLocks noChangeAspect="1"/>
          </p:cNvPicPr>
          <p:nvPr/>
        </p:nvPicPr>
        <p:blipFill>
          <a:blip r:embed="rId1"/>
          <a:stretch>
            <a:fillRect/>
          </a:stretch>
        </p:blipFill>
        <p:spPr>
          <a:xfrm>
            <a:off x="548640" y="1417320"/>
            <a:ext cx="6583680" cy="3703320"/>
          </a:xfrm>
          <a:prstGeom prst="rect">
            <a:avLst/>
          </a:prstGeom>
        </p:spPr>
      </p:pic>
      <p:sp>
        <p:nvSpPr>
          <p:cNvPr id="8" name="screenshot frame"/>
          <p:cNvSpPr/>
          <p:nvPr/>
        </p:nvSpPr>
        <p:spPr>
          <a:xfrm>
            <a:off x="548640" y="1417320"/>
            <a:ext cx="6583680" cy="3703320"/>
          </a:xfrm>
          <a:prstGeom prst="rect">
            <a:avLst/>
          </a:prstGeom>
          <a:ln w="12700">
            <a:solidFill>
              <a:srgbClr val="D8D3CB"/>
            </a:solidFill>
            <a:prstDash val="solid"/>
          </a:ln>
        </p:spPr>
      </p:sp>
      <p:sp>
        <p:nvSpPr>
          <p:cNvPr id="9" name="screenshot caption"/>
          <p:cNvSpPr txBox="1"/>
          <p:nvPr/>
        </p:nvSpPr>
        <p:spPr>
          <a:xfrm>
            <a:off x="548640" y="5212080"/>
            <a:ext cx="6583680" cy="274320"/>
          </a:xfrm>
          <a:prstGeom prst="rect">
            <a:avLst/>
          </a:prstGeom>
          <a:noFill/>
          <a:ln/>
        </p:spPr>
        <p:txBody>
          <a:bodyPr wrap="square" lIns="0" tIns="0" rIns="0" bIns="0" rtlCol="0" anchor="t"/>
          <a:lstStyle/>
          <a:p>
            <a:pPr indent="0" marL="0">
              <a:buNone/>
            </a:pPr>
            <a:r>
              <a:rPr lang="en-US" sz="1100" i="1" dirty="0">
                <a:solidFill>
                  <a:schemeClr val="accent6"/>
                </a:solidFill>
              </a:rPr>
              <a:t>The Take-off page during a PDF run with the free AI model</a:t>
            </a:r>
            <a:endParaRPr lang="en-US" sz="1100" dirty="0"/>
          </a:p>
        </p:txBody>
      </p:sp>
      <p:sp>
        <p:nvSpPr>
          <p:cNvPr id="10" name="takeoff point 1 circle"/>
          <p:cNvSpPr/>
          <p:nvPr/>
        </p:nvSpPr>
        <p:spPr>
          <a:xfrm>
            <a:off x="7543800" y="1463040"/>
            <a:ext cx="640080" cy="640080"/>
          </a:xfrm>
          <a:prstGeom prst="ellipse">
            <a:avLst/>
          </a:prstGeom>
          <a:solidFill>
            <a:srgbClr val="8E1B1B"/>
          </a:solidFill>
          <a:ln w="12700">
            <a:solidFill>
              <a:srgbClr val="8E1B1B"/>
            </a:solidFill>
            <a:prstDash val="solid"/>
          </a:ln>
        </p:spPr>
      </p:sp>
      <p:pic>
        <p:nvPicPr>
          <p:cNvPr id="11" name="takeoff point 1 icon" descr="preencoded.png">    </p:cNvPr>
          <p:cNvPicPr>
            <a:picLocks noChangeAspect="1"/>
          </p:cNvPicPr>
          <p:nvPr/>
        </p:nvPicPr>
        <p:blipFill>
          <a:blip r:embed="rId2"/>
          <a:stretch>
            <a:fillRect/>
          </a:stretch>
        </p:blipFill>
        <p:spPr>
          <a:xfrm>
            <a:off x="7710221" y="1629461"/>
            <a:ext cx="307238" cy="307238"/>
          </a:xfrm>
          <a:prstGeom prst="rect">
            <a:avLst/>
          </a:prstGeom>
        </p:spPr>
      </p:pic>
      <p:sp>
        <p:nvSpPr>
          <p:cNvPr id="12" name="takeoff point title 1"/>
          <p:cNvSpPr txBox="1"/>
          <p:nvPr/>
        </p:nvSpPr>
        <p:spPr>
          <a:xfrm>
            <a:off x="8366760" y="1463040"/>
            <a:ext cx="3291840" cy="365760"/>
          </a:xfrm>
          <a:prstGeom prst="rect">
            <a:avLst/>
          </a:prstGeom>
          <a:noFill/>
          <a:ln/>
        </p:spPr>
        <p:txBody>
          <a:bodyPr wrap="square" lIns="0" tIns="0" rIns="0" bIns="0" rtlCol="0" anchor="t"/>
          <a:lstStyle/>
          <a:p>
            <a:pPr indent="0" marL="0">
              <a:buNone/>
            </a:pPr>
            <a:r>
              <a:rPr lang="en-US" sz="1700" b="1" dirty="0">
                <a:solidFill>
                  <a:schemeClr val="tx1"/>
                </a:solidFill>
              </a:rPr>
              <a:t>Live progress</a:t>
            </a:r>
            <a:endParaRPr lang="en-US" sz="1700" dirty="0"/>
          </a:p>
        </p:txBody>
      </p:sp>
      <p:sp>
        <p:nvSpPr>
          <p:cNvPr id="13" name="takeoff point text 1"/>
          <p:cNvSpPr txBox="1"/>
          <p:nvPr/>
        </p:nvSpPr>
        <p:spPr>
          <a:xfrm>
            <a:off x="8366760" y="1847088"/>
            <a:ext cx="3291840" cy="777240"/>
          </a:xfrm>
          <a:prstGeom prst="rect">
            <a:avLst/>
          </a:prstGeom>
          <a:noFill/>
          <a:ln/>
        </p:spPr>
        <p:txBody>
          <a:bodyPr wrap="square" lIns="0" tIns="0" rIns="0" bIns="0" rtlCol="0" anchor="t"/>
          <a:lstStyle/>
          <a:p>
            <a:pPr indent="0" marL="0">
              <a:buNone/>
            </a:pPr>
            <a:r>
              <a:rPr lang="en-US" sz="1350" dirty="0">
                <a:solidFill>
                  <a:schemeClr val="tx2"/>
                </a:solidFill>
              </a:rPr>
              <a:t>step, pages done, time so far and the AI's “busy, waiting” note</a:t>
            </a:r>
            <a:endParaRPr lang="en-US" sz="1350" dirty="0"/>
          </a:p>
        </p:txBody>
      </p:sp>
      <p:sp>
        <p:nvSpPr>
          <p:cNvPr id="14" name="takeoff point 2 circle"/>
          <p:cNvSpPr/>
          <p:nvPr/>
        </p:nvSpPr>
        <p:spPr>
          <a:xfrm>
            <a:off x="7543800" y="2788920"/>
            <a:ext cx="640080" cy="640080"/>
          </a:xfrm>
          <a:prstGeom prst="ellipse">
            <a:avLst/>
          </a:prstGeom>
          <a:solidFill>
            <a:srgbClr val="C9A15A"/>
          </a:solidFill>
          <a:ln w="12700">
            <a:solidFill>
              <a:srgbClr val="C9A15A"/>
            </a:solidFill>
            <a:prstDash val="solid"/>
          </a:ln>
        </p:spPr>
      </p:sp>
      <p:pic>
        <p:nvPicPr>
          <p:cNvPr id="15" name="takeoff point 2 icon" descr="preencoded.png">    </p:cNvPr>
          <p:cNvPicPr>
            <a:picLocks noChangeAspect="1"/>
          </p:cNvPicPr>
          <p:nvPr/>
        </p:nvPicPr>
        <p:blipFill>
          <a:blip r:embed="rId3"/>
          <a:stretch>
            <a:fillRect/>
          </a:stretch>
        </p:blipFill>
        <p:spPr>
          <a:xfrm>
            <a:off x="7710221" y="2955341"/>
            <a:ext cx="307238" cy="307238"/>
          </a:xfrm>
          <a:prstGeom prst="rect">
            <a:avLst/>
          </a:prstGeom>
        </p:spPr>
      </p:pic>
      <p:sp>
        <p:nvSpPr>
          <p:cNvPr id="16" name="takeoff point title 2"/>
          <p:cNvSpPr txBox="1"/>
          <p:nvPr/>
        </p:nvSpPr>
        <p:spPr>
          <a:xfrm>
            <a:off x="8366760" y="2788920"/>
            <a:ext cx="3291840" cy="365760"/>
          </a:xfrm>
          <a:prstGeom prst="rect">
            <a:avLst/>
          </a:prstGeom>
          <a:noFill/>
          <a:ln/>
        </p:spPr>
        <p:txBody>
          <a:bodyPr wrap="square" lIns="0" tIns="0" rIns="0" bIns="0" rtlCol="0" anchor="t"/>
          <a:lstStyle/>
          <a:p>
            <a:pPr indent="0" marL="0">
              <a:buNone/>
            </a:pPr>
            <a:r>
              <a:rPr lang="en-US" sz="1700" b="1" dirty="0">
                <a:solidFill>
                  <a:schemeClr val="tx1"/>
                </a:solidFill>
              </a:rPr>
              <a:t>Failures say why</a:t>
            </a:r>
            <a:endParaRPr lang="en-US" sz="1700" dirty="0"/>
          </a:p>
        </p:txBody>
      </p:sp>
      <p:sp>
        <p:nvSpPr>
          <p:cNvPr id="17" name="takeoff point text 2"/>
          <p:cNvSpPr txBox="1"/>
          <p:nvPr/>
        </p:nvSpPr>
        <p:spPr>
          <a:xfrm>
            <a:off x="8366760" y="3172968"/>
            <a:ext cx="3291840" cy="777240"/>
          </a:xfrm>
          <a:prstGeom prst="rect">
            <a:avLst/>
          </a:prstGeom>
          <a:noFill/>
          <a:ln/>
        </p:spPr>
        <p:txBody>
          <a:bodyPr wrap="square" lIns="0" tIns="0" rIns="0" bIns="0" rtlCol="0" anchor="t"/>
          <a:lstStyle/>
          <a:p>
            <a:pPr indent="0" marL="0">
              <a:buNone/>
            </a:pPr>
            <a:r>
              <a:rPr lang="en-US" sz="1350" dirty="0">
                <a:solidFill>
                  <a:schemeClr val="tx2"/>
                </a:solidFill>
              </a:rPr>
              <a:t>e.g. the free AI model's daily limit is used up — and what to do instead</a:t>
            </a:r>
            <a:endParaRPr lang="en-US" sz="1350" dirty="0"/>
          </a:p>
        </p:txBody>
      </p:sp>
      <p:sp>
        <p:nvSpPr>
          <p:cNvPr id="18" name="takeoff point 3 circle"/>
          <p:cNvSpPr/>
          <p:nvPr/>
        </p:nvSpPr>
        <p:spPr>
          <a:xfrm>
            <a:off x="7543800" y="4114800"/>
            <a:ext cx="640080" cy="640080"/>
          </a:xfrm>
          <a:prstGeom prst="ellipse">
            <a:avLst/>
          </a:prstGeom>
          <a:solidFill>
            <a:srgbClr val="8E1B1B"/>
          </a:solidFill>
          <a:ln w="12700">
            <a:solidFill>
              <a:srgbClr val="8E1B1B"/>
            </a:solidFill>
            <a:prstDash val="solid"/>
          </a:ln>
        </p:spPr>
      </p:sp>
      <p:pic>
        <p:nvPicPr>
          <p:cNvPr id="19" name="takeoff point 3 icon" descr="preencoded.png">    </p:cNvPr>
          <p:cNvPicPr>
            <a:picLocks noChangeAspect="1"/>
          </p:cNvPicPr>
          <p:nvPr/>
        </p:nvPicPr>
        <p:blipFill>
          <a:blip r:embed="rId4"/>
          <a:stretch>
            <a:fillRect/>
          </a:stretch>
        </p:blipFill>
        <p:spPr>
          <a:xfrm>
            <a:off x="7710221" y="4281221"/>
            <a:ext cx="307238" cy="307238"/>
          </a:xfrm>
          <a:prstGeom prst="rect">
            <a:avLst/>
          </a:prstGeom>
        </p:spPr>
      </p:pic>
      <p:sp>
        <p:nvSpPr>
          <p:cNvPr id="20" name="takeoff point title 3"/>
          <p:cNvSpPr txBox="1"/>
          <p:nvPr/>
        </p:nvSpPr>
        <p:spPr>
          <a:xfrm>
            <a:off x="8366760" y="4114800"/>
            <a:ext cx="3291840" cy="365760"/>
          </a:xfrm>
          <a:prstGeom prst="rect">
            <a:avLst/>
          </a:prstGeom>
          <a:noFill/>
          <a:ln/>
        </p:spPr>
        <p:txBody>
          <a:bodyPr wrap="square" lIns="0" tIns="0" rIns="0" bIns="0" rtlCol="0" anchor="t"/>
          <a:lstStyle/>
          <a:p>
            <a:pPr indent="0" marL="0">
              <a:buNone/>
            </a:pPr>
            <a:r>
              <a:rPr lang="en-US" sz="1700" b="1" dirty="0">
                <a:solidFill>
                  <a:schemeClr val="tx1"/>
                </a:solidFill>
              </a:rPr>
              <a:t>Then the results</a:t>
            </a:r>
            <a:endParaRPr lang="en-US" sz="1700" dirty="0"/>
          </a:p>
        </p:txBody>
      </p:sp>
      <p:sp>
        <p:nvSpPr>
          <p:cNvPr id="21" name="takeoff point text 3"/>
          <p:cNvSpPr txBox="1"/>
          <p:nvPr/>
        </p:nvSpPr>
        <p:spPr>
          <a:xfrm>
            <a:off x="8366760" y="4498848"/>
            <a:ext cx="3291840" cy="777240"/>
          </a:xfrm>
          <a:prstGeom prst="rect">
            <a:avLst/>
          </a:prstGeom>
          <a:noFill/>
          <a:ln/>
        </p:spPr>
        <p:txBody>
          <a:bodyPr wrap="square" lIns="0" tIns="0" rIns="0" bIns="0" rtlCol="0" anchor="t"/>
          <a:lstStyle/>
          <a:p>
            <a:pPr indent="0" marL="0">
              <a:buNone/>
            </a:pPr>
            <a:r>
              <a:rPr lang="en-US" sz="1350" dirty="0">
                <a:solidFill>
                  <a:schemeClr val="tx2"/>
                </a:solidFill>
              </a:rPr>
              <a:t>drawing set, legend, coverage and the gap report</a:t>
            </a:r>
            <a:endParaRPr lang="en-US" sz="135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USING THE WEB APP</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BoQ, pricing and export: the tender document</a:t>
            </a:r>
            <a:endParaRPr lang="en-US" sz="2600" dirty="0"/>
          </a:p>
        </p:txBody>
      </p:sp>
      <p:sp>
        <p:nvSpPr>
          <p:cNvPr id="7" name="boq point 1 circle"/>
          <p:cNvSpPr/>
          <p:nvPr/>
        </p:nvSpPr>
        <p:spPr>
          <a:xfrm>
            <a:off x="548640" y="1463040"/>
            <a:ext cx="640080" cy="640080"/>
          </a:xfrm>
          <a:prstGeom prst="ellipse">
            <a:avLst/>
          </a:prstGeom>
          <a:solidFill>
            <a:srgbClr val="8E1B1B"/>
          </a:solidFill>
          <a:ln w="12700">
            <a:solidFill>
              <a:srgbClr val="8E1B1B"/>
            </a:solidFill>
            <a:prstDash val="solid"/>
          </a:ln>
        </p:spPr>
      </p:sp>
      <p:pic>
        <p:nvPicPr>
          <p:cNvPr id="8" name="boq point 1 icon" descr="preencoded.png">    </p:cNvPr>
          <p:cNvPicPr>
            <a:picLocks noChangeAspect="1"/>
          </p:cNvPicPr>
          <p:nvPr/>
        </p:nvPicPr>
        <p:blipFill>
          <a:blip r:embed="rId1"/>
          <a:stretch>
            <a:fillRect/>
          </a:stretch>
        </p:blipFill>
        <p:spPr>
          <a:xfrm>
            <a:off x="715061" y="1629461"/>
            <a:ext cx="307238" cy="307238"/>
          </a:xfrm>
          <a:prstGeom prst="rect">
            <a:avLst/>
          </a:prstGeom>
        </p:spPr>
      </p:pic>
      <p:sp>
        <p:nvSpPr>
          <p:cNvPr id="9" name="boq point title 1"/>
          <p:cNvSpPr txBox="1"/>
          <p:nvPr/>
        </p:nvSpPr>
        <p:spPr>
          <a:xfrm>
            <a:off x="1371600" y="1444752"/>
            <a:ext cx="4572000" cy="347472"/>
          </a:xfrm>
          <a:prstGeom prst="rect">
            <a:avLst/>
          </a:prstGeom>
          <a:noFill/>
          <a:ln/>
        </p:spPr>
        <p:txBody>
          <a:bodyPr wrap="square" lIns="0" tIns="0" rIns="0" bIns="0" rtlCol="0" anchor="t"/>
          <a:lstStyle/>
          <a:p>
            <a:pPr indent="0" marL="0">
              <a:buNone/>
            </a:pPr>
            <a:r>
              <a:rPr lang="en-US" sz="1600" b="1" dirty="0">
                <a:solidFill>
                  <a:schemeClr val="tx1"/>
                </a:solidFill>
              </a:rPr>
              <a:t>Bill of Quantities</a:t>
            </a:r>
            <a:endParaRPr lang="en-US" sz="1600" dirty="0"/>
          </a:p>
        </p:txBody>
      </p:sp>
      <p:sp>
        <p:nvSpPr>
          <p:cNvPr id="10" name="boq point text 1"/>
          <p:cNvSpPr txBox="1"/>
          <p:nvPr/>
        </p:nvSpPr>
        <p:spPr>
          <a:xfrm>
            <a:off x="1371600" y="1792224"/>
            <a:ext cx="4572000" cy="594360"/>
          </a:xfrm>
          <a:prstGeom prst="rect">
            <a:avLst/>
          </a:prstGeom>
          <a:noFill/>
          <a:ln/>
        </p:spPr>
        <p:txBody>
          <a:bodyPr wrap="square" lIns="0" tIns="0" rIns="0" bIns="0" rtlCol="0" anchor="t"/>
          <a:lstStyle/>
          <a:p>
            <a:pPr indent="0" marL="0">
              <a:buNone/>
            </a:pPr>
            <a:r>
              <a:rPr lang="en-US" sz="1300" dirty="0">
                <a:solidFill>
                  <a:schemeClr val="tx2"/>
                </a:solidFill>
              </a:rPr>
              <a:t>every line with quantity, rate and its evidence tag; measured lines show their route</a:t>
            </a:r>
            <a:endParaRPr lang="en-US" sz="1300" dirty="0"/>
          </a:p>
        </p:txBody>
      </p:sp>
      <p:sp>
        <p:nvSpPr>
          <p:cNvPr id="11" name="boq point 2 circle"/>
          <p:cNvSpPr/>
          <p:nvPr/>
        </p:nvSpPr>
        <p:spPr>
          <a:xfrm>
            <a:off x="548640" y="2542032"/>
            <a:ext cx="640080" cy="640080"/>
          </a:xfrm>
          <a:prstGeom prst="ellipse">
            <a:avLst/>
          </a:prstGeom>
          <a:solidFill>
            <a:srgbClr val="8E1B1B"/>
          </a:solidFill>
          <a:ln w="12700">
            <a:solidFill>
              <a:srgbClr val="8E1B1B"/>
            </a:solidFill>
            <a:prstDash val="solid"/>
          </a:ln>
        </p:spPr>
      </p:sp>
      <p:pic>
        <p:nvPicPr>
          <p:cNvPr id="12" name="boq point 2 icon" descr="preencoded.png">    </p:cNvPr>
          <p:cNvPicPr>
            <a:picLocks noChangeAspect="1"/>
          </p:cNvPicPr>
          <p:nvPr/>
        </p:nvPicPr>
        <p:blipFill>
          <a:blip r:embed="rId2"/>
          <a:stretch>
            <a:fillRect/>
          </a:stretch>
        </p:blipFill>
        <p:spPr>
          <a:xfrm>
            <a:off x="715061" y="2708453"/>
            <a:ext cx="307238" cy="307238"/>
          </a:xfrm>
          <a:prstGeom prst="rect">
            <a:avLst/>
          </a:prstGeom>
        </p:spPr>
      </p:pic>
      <p:sp>
        <p:nvSpPr>
          <p:cNvPr id="13" name="boq point title 2"/>
          <p:cNvSpPr txBox="1"/>
          <p:nvPr/>
        </p:nvSpPr>
        <p:spPr>
          <a:xfrm>
            <a:off x="1371600" y="2523744"/>
            <a:ext cx="4572000" cy="347472"/>
          </a:xfrm>
          <a:prstGeom prst="rect">
            <a:avLst/>
          </a:prstGeom>
          <a:noFill/>
          <a:ln/>
        </p:spPr>
        <p:txBody>
          <a:bodyPr wrap="square" lIns="0" tIns="0" rIns="0" bIns="0" rtlCol="0" anchor="t"/>
          <a:lstStyle/>
          <a:p>
            <a:pPr indent="0" marL="0">
              <a:buNone/>
            </a:pPr>
            <a:r>
              <a:rPr lang="en-US" sz="1600" b="1" dirty="0">
                <a:solidFill>
                  <a:schemeClr val="tx1"/>
                </a:solidFill>
              </a:rPr>
              <a:t>Things to check</a:t>
            </a:r>
            <a:endParaRPr lang="en-US" sz="1600" dirty="0"/>
          </a:p>
        </p:txBody>
      </p:sp>
      <p:sp>
        <p:nvSpPr>
          <p:cNvPr id="14" name="boq point text 2"/>
          <p:cNvSpPr txBox="1"/>
          <p:nvPr/>
        </p:nvSpPr>
        <p:spPr>
          <a:xfrm>
            <a:off x="1371600" y="2871216"/>
            <a:ext cx="4572000" cy="594360"/>
          </a:xfrm>
          <a:prstGeom prst="rect">
            <a:avLst/>
          </a:prstGeom>
          <a:noFill/>
          <a:ln/>
        </p:spPr>
        <p:txBody>
          <a:bodyPr wrap="square" lIns="0" tIns="0" rIns="0" bIns="0" rtlCol="0" anchor="t"/>
          <a:lstStyle/>
          <a:p>
            <a:pPr indent="0" marL="0">
              <a:buNone/>
            </a:pPr>
            <a:r>
              <a:rPr lang="en-US" sz="1300" dirty="0">
                <a:solidFill>
                  <a:schemeClr val="tx2"/>
                </a:solidFill>
              </a:rPr>
              <a:t>every assumption, most serious first — start the review here</a:t>
            </a:r>
            <a:endParaRPr lang="en-US" sz="1300" dirty="0"/>
          </a:p>
        </p:txBody>
      </p:sp>
      <p:sp>
        <p:nvSpPr>
          <p:cNvPr id="15" name="boq point 3 circle"/>
          <p:cNvSpPr/>
          <p:nvPr/>
        </p:nvSpPr>
        <p:spPr>
          <a:xfrm>
            <a:off x="548640" y="3621024"/>
            <a:ext cx="640080" cy="640080"/>
          </a:xfrm>
          <a:prstGeom prst="ellipse">
            <a:avLst/>
          </a:prstGeom>
          <a:solidFill>
            <a:srgbClr val="8E1B1B"/>
          </a:solidFill>
          <a:ln w="12700">
            <a:solidFill>
              <a:srgbClr val="8E1B1B"/>
            </a:solidFill>
            <a:prstDash val="solid"/>
          </a:ln>
        </p:spPr>
      </p:sp>
      <p:pic>
        <p:nvPicPr>
          <p:cNvPr id="16" name="boq point 3 icon" descr="preencoded.png">    </p:cNvPr>
          <p:cNvPicPr>
            <a:picLocks noChangeAspect="1"/>
          </p:cNvPicPr>
          <p:nvPr/>
        </p:nvPicPr>
        <p:blipFill>
          <a:blip r:embed="rId3"/>
          <a:stretch>
            <a:fillRect/>
          </a:stretch>
        </p:blipFill>
        <p:spPr>
          <a:xfrm>
            <a:off x="715061" y="3787445"/>
            <a:ext cx="307238" cy="307238"/>
          </a:xfrm>
          <a:prstGeom prst="rect">
            <a:avLst/>
          </a:prstGeom>
        </p:spPr>
      </p:pic>
      <p:sp>
        <p:nvSpPr>
          <p:cNvPr id="17" name="boq point title 3"/>
          <p:cNvSpPr txBox="1"/>
          <p:nvPr/>
        </p:nvSpPr>
        <p:spPr>
          <a:xfrm>
            <a:off x="1371600" y="3602736"/>
            <a:ext cx="4572000" cy="347472"/>
          </a:xfrm>
          <a:prstGeom prst="rect">
            <a:avLst/>
          </a:prstGeom>
          <a:noFill/>
          <a:ln/>
        </p:spPr>
        <p:txBody>
          <a:bodyPr wrap="square" lIns="0" tIns="0" rIns="0" bIns="0" rtlCol="0" anchor="t"/>
          <a:lstStyle/>
          <a:p>
            <a:pPr indent="0" marL="0">
              <a:buNone/>
            </a:pPr>
            <a:r>
              <a:rPr lang="en-US" sz="1600" b="1" dirty="0">
                <a:solidFill>
                  <a:schemeClr val="tx1"/>
                </a:solidFill>
              </a:rPr>
              <a:t>Live pricing</a:t>
            </a:r>
            <a:endParaRPr lang="en-US" sz="1600" dirty="0"/>
          </a:p>
        </p:txBody>
      </p:sp>
      <p:sp>
        <p:nvSpPr>
          <p:cNvPr id="18" name="boq point text 3"/>
          <p:cNvSpPr txBox="1"/>
          <p:nvPr/>
        </p:nvSpPr>
        <p:spPr>
          <a:xfrm>
            <a:off x="1371600" y="3950208"/>
            <a:ext cx="4572000" cy="594360"/>
          </a:xfrm>
          <a:prstGeom prst="rect">
            <a:avLst/>
          </a:prstGeom>
          <a:noFill/>
          <a:ln/>
        </p:spPr>
        <p:txBody>
          <a:bodyPr wrap="square" lIns="0" tIns="0" rIns="0" bIns="0" rtlCol="0" anchor="t"/>
          <a:lstStyle/>
          <a:p>
            <a:pPr indent="0" marL="0">
              <a:buNone/>
            </a:pPr>
            <a:r>
              <a:rPr lang="en-US" sz="1300" dirty="0">
                <a:solidFill>
                  <a:schemeClr val="tx2"/>
                </a:solidFill>
              </a:rPr>
              <a:t>request supplier quotes and apply the one you choose</a:t>
            </a:r>
            <a:endParaRPr lang="en-US" sz="1300" dirty="0"/>
          </a:p>
        </p:txBody>
      </p:sp>
      <p:sp>
        <p:nvSpPr>
          <p:cNvPr id="19" name="boq point 4 circle"/>
          <p:cNvSpPr/>
          <p:nvPr/>
        </p:nvSpPr>
        <p:spPr>
          <a:xfrm>
            <a:off x="548640" y="4700016"/>
            <a:ext cx="640080" cy="640080"/>
          </a:xfrm>
          <a:prstGeom prst="ellipse">
            <a:avLst/>
          </a:prstGeom>
          <a:solidFill>
            <a:srgbClr val="8E1B1B"/>
          </a:solidFill>
          <a:ln w="12700">
            <a:solidFill>
              <a:srgbClr val="8E1B1B"/>
            </a:solidFill>
            <a:prstDash val="solid"/>
          </a:ln>
        </p:spPr>
      </p:sp>
      <p:pic>
        <p:nvPicPr>
          <p:cNvPr id="20" name="boq point 4 icon" descr="preencoded.png">    </p:cNvPr>
          <p:cNvPicPr>
            <a:picLocks noChangeAspect="1"/>
          </p:cNvPicPr>
          <p:nvPr/>
        </p:nvPicPr>
        <p:blipFill>
          <a:blip r:embed="rId4"/>
          <a:stretch>
            <a:fillRect/>
          </a:stretch>
        </p:blipFill>
        <p:spPr>
          <a:xfrm>
            <a:off x="715061" y="4866437"/>
            <a:ext cx="307238" cy="307238"/>
          </a:xfrm>
          <a:prstGeom prst="rect">
            <a:avLst/>
          </a:prstGeom>
        </p:spPr>
      </p:pic>
      <p:sp>
        <p:nvSpPr>
          <p:cNvPr id="21" name="boq point title 4"/>
          <p:cNvSpPr txBox="1"/>
          <p:nvPr/>
        </p:nvSpPr>
        <p:spPr>
          <a:xfrm>
            <a:off x="1371600" y="4681728"/>
            <a:ext cx="4572000" cy="347472"/>
          </a:xfrm>
          <a:prstGeom prst="rect">
            <a:avLst/>
          </a:prstGeom>
          <a:noFill/>
          <a:ln/>
        </p:spPr>
        <p:txBody>
          <a:bodyPr wrap="square" lIns="0" tIns="0" rIns="0" bIns="0" rtlCol="0" anchor="t"/>
          <a:lstStyle/>
          <a:p>
            <a:pPr indent="0" marL="0">
              <a:buNone/>
            </a:pPr>
            <a:r>
              <a:rPr lang="en-US" sz="1600" b="1" dirty="0">
                <a:solidFill>
                  <a:schemeClr val="tx1"/>
                </a:solidFill>
              </a:rPr>
              <a:t>Export &amp; email</a:t>
            </a:r>
            <a:endParaRPr lang="en-US" sz="1600" dirty="0"/>
          </a:p>
        </p:txBody>
      </p:sp>
      <p:sp>
        <p:nvSpPr>
          <p:cNvPr id="22" name="boq point text 4"/>
          <p:cNvSpPr txBox="1"/>
          <p:nvPr/>
        </p:nvSpPr>
        <p:spPr>
          <a:xfrm>
            <a:off x="1371600" y="5029200"/>
            <a:ext cx="4572000" cy="594360"/>
          </a:xfrm>
          <a:prstGeom prst="rect">
            <a:avLst/>
          </a:prstGeom>
          <a:noFill/>
          <a:ln/>
        </p:spPr>
        <p:txBody>
          <a:bodyPr wrap="square" lIns="0" tIns="0" rIns="0" bIns="0" rtlCol="0" anchor="t"/>
          <a:lstStyle/>
          <a:p>
            <a:pPr indent="0" marL="0">
              <a:buNone/>
            </a:pPr>
            <a:r>
              <a:rPr lang="en-US" sz="1300" dirty="0">
                <a:solidFill>
                  <a:schemeClr val="tx2"/>
                </a:solidFill>
              </a:rPr>
              <a:t>tender Excel and PDF, made on the server, ready to submit</a:t>
            </a:r>
            <a:endParaRPr lang="en-US" sz="1300" dirty="0"/>
          </a:p>
        </p:txBody>
      </p:sp>
      <p:sp>
        <p:nvSpPr>
          <p:cNvPr id="23" name="audit card"/>
          <p:cNvSpPr/>
          <p:nvPr/>
        </p:nvSpPr>
        <p:spPr>
          <a:xfrm>
            <a:off x="6309360" y="1417320"/>
            <a:ext cx="5303520" cy="4343400"/>
          </a:xfrm>
          <a:prstGeom prst="rect">
            <a:avLst/>
          </a:prstGeom>
          <a:solidFill>
            <a:schemeClr val="bg2"/>
          </a:solidFill>
          <a:ln w="9525">
            <a:solidFill>
              <a:srgbClr val="D8D3CB"/>
            </a:solidFill>
            <a:prstDash val="solid"/>
          </a:ln>
        </p:spPr>
      </p:sp>
      <p:sp>
        <p:nvSpPr>
          <p:cNvPr id="24" name="audit circle"/>
          <p:cNvSpPr/>
          <p:nvPr/>
        </p:nvSpPr>
        <p:spPr>
          <a:xfrm>
            <a:off x="6583680" y="1645920"/>
            <a:ext cx="777240" cy="777240"/>
          </a:xfrm>
          <a:prstGeom prst="ellipse">
            <a:avLst/>
          </a:prstGeom>
          <a:solidFill>
            <a:srgbClr val="C9A15A"/>
          </a:solidFill>
          <a:ln w="12700">
            <a:solidFill>
              <a:srgbClr val="C9A15A"/>
            </a:solidFill>
            <a:prstDash val="solid"/>
          </a:ln>
        </p:spPr>
      </p:sp>
      <p:pic>
        <p:nvPicPr>
          <p:cNvPr id="25" name="audit icon" descr="preencoded.png">    </p:cNvPr>
          <p:cNvPicPr>
            <a:picLocks noChangeAspect="1"/>
          </p:cNvPicPr>
          <p:nvPr/>
        </p:nvPicPr>
        <p:blipFill>
          <a:blip r:embed="rId5"/>
          <a:stretch>
            <a:fillRect/>
          </a:stretch>
        </p:blipFill>
        <p:spPr>
          <a:xfrm>
            <a:off x="6785762" y="1848002"/>
            <a:ext cx="373075" cy="373075"/>
          </a:xfrm>
          <a:prstGeom prst="rect">
            <a:avLst/>
          </a:prstGeom>
        </p:spPr>
      </p:pic>
      <p:sp>
        <p:nvSpPr>
          <p:cNvPr id="26" name="audit title"/>
          <p:cNvSpPr txBox="1"/>
          <p:nvPr/>
        </p:nvSpPr>
        <p:spPr>
          <a:xfrm>
            <a:off x="7543800" y="1691640"/>
            <a:ext cx="3840480" cy="411480"/>
          </a:xfrm>
          <a:prstGeom prst="rect">
            <a:avLst/>
          </a:prstGeom>
          <a:noFill/>
          <a:ln/>
        </p:spPr>
        <p:txBody>
          <a:bodyPr wrap="square" lIns="0" tIns="0" rIns="0" bIns="0" rtlCol="0" anchor="t"/>
          <a:lstStyle/>
          <a:p>
            <a:pPr indent="0" marL="0">
              <a:buNone/>
            </a:pPr>
            <a:r>
              <a:rPr lang="en-US" sz="2100" b="1" dirty="0">
                <a:solidFill>
                  <a:schemeClr val="tx1"/>
                </a:solidFill>
              </a:rPr>
              <a:t>Audit a BoQ</a:t>
            </a:r>
            <a:endParaRPr lang="en-US" sz="2100" dirty="0"/>
          </a:p>
        </p:txBody>
      </p:sp>
      <p:sp>
        <p:nvSpPr>
          <p:cNvPr id="27" name="audit subtitle"/>
          <p:cNvSpPr txBox="1"/>
          <p:nvPr/>
        </p:nvSpPr>
        <p:spPr>
          <a:xfrm>
            <a:off x="7543800" y="2103120"/>
            <a:ext cx="3931920" cy="320040"/>
          </a:xfrm>
          <a:prstGeom prst="rect">
            <a:avLst/>
          </a:prstGeom>
          <a:noFill/>
          <a:ln/>
        </p:spPr>
        <p:txBody>
          <a:bodyPr wrap="square" lIns="0" tIns="0" rIns="0" bIns="0" rtlCol="0" anchor="t"/>
          <a:lstStyle/>
          <a:p>
            <a:pPr indent="0" marL="0">
              <a:buNone/>
            </a:pPr>
            <a:r>
              <a:rPr lang="en-US" sz="1300" dirty="0">
                <a:solidFill>
                  <a:schemeClr val="tx2"/>
                </a:solidFill>
              </a:rPr>
              <a:t>any bill — yours, the QS's or the engineer's</a:t>
            </a:r>
            <a:endParaRPr lang="en-US" sz="1300" dirty="0"/>
          </a:p>
        </p:txBody>
      </p:sp>
      <p:sp>
        <p:nvSpPr>
          <p:cNvPr id="28" name="audit checks"/>
          <p:cNvSpPr txBox="1"/>
          <p:nvPr/>
        </p:nvSpPr>
        <p:spPr>
          <a:xfrm>
            <a:off x="6629400" y="2697480"/>
            <a:ext cx="4754880" cy="292608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Arithmetic errors</a:t>
            </a:r>
            <a:endParaRPr lang="en-US" sz="1450" dirty="0"/>
          </a:p>
          <a:p>
            <a:pPr marL="342900" indent="-342900">
              <a:spcAft>
                <a:spcPts val="600"/>
              </a:spcAft>
              <a:buSzPct val="100000"/>
              <a:buChar char="•"/>
            </a:pPr>
            <a:r>
              <a:rPr lang="en-US" sz="1450" dirty="0">
                <a:solidFill>
                  <a:schemeClr val="tx1"/>
                </a:solidFill>
              </a:rPr>
              <a:t>Unpriced or untotalled lines</a:t>
            </a:r>
            <a:endParaRPr lang="en-US" sz="1450" dirty="0"/>
          </a:p>
          <a:p>
            <a:pPr marL="342900" indent="-342900">
              <a:spcAft>
                <a:spcPts val="600"/>
              </a:spcAft>
              <a:buSzPct val="100000"/>
              <a:buChar char="•"/>
            </a:pPr>
            <a:r>
              <a:rPr lang="en-US" sz="1450" dirty="0">
                <a:solidFill>
                  <a:schemeClr val="tx1"/>
                </a:solidFill>
              </a:rPr>
              <a:t>Duplicated lines</a:t>
            </a:r>
            <a:endParaRPr lang="en-US" sz="1450" dirty="0"/>
          </a:p>
          <a:p>
            <a:pPr marL="342900" indent="-342900">
              <a:spcAft>
                <a:spcPts val="600"/>
              </a:spcAft>
              <a:buSzPct val="100000"/>
              <a:buChar char="•"/>
            </a:pPr>
            <a:r>
              <a:rPr lang="en-US" sz="1450" dirty="0">
                <a:solidFill>
                  <a:schemeClr val="tx1"/>
                </a:solidFill>
              </a:rPr>
              <a:t>Roll-up and contingency errors</a:t>
            </a:r>
            <a:endParaRPr lang="en-US" sz="1450" dirty="0"/>
          </a:p>
          <a:p>
            <a:pPr marL="342900" indent="-342900">
              <a:spcAft>
                <a:spcPts val="600"/>
              </a:spcAft>
              <a:buSzPct val="100000"/>
              <a:buChar char="•"/>
            </a:pPr>
            <a:r>
              <a:rPr lang="en-US" sz="1450" dirty="0">
                <a:solidFill>
                  <a:schemeClr val="tx1"/>
                </a:solidFill>
              </a:rPr>
              <a:t>Sheets missing from the summary</a:t>
            </a:r>
            <a:endParaRPr lang="en-US" sz="1450" dirty="0"/>
          </a:p>
          <a:p>
            <a:pPr marL="342900" indent="-342900">
              <a:spcAft>
                <a:spcPts val="600"/>
              </a:spcAft>
              <a:buSzPct val="100000"/>
              <a:buChar char="•"/>
            </a:pPr>
            <a:r>
              <a:rPr lang="en-US" sz="1450" dirty="0">
                <a:solidFill>
                  <a:schemeClr val="tx1"/>
                </a:solidFill>
              </a:rPr>
              <a:t>Missing companion items</a:t>
            </a:r>
            <a:endParaRPr lang="en-US" sz="1450" dirty="0"/>
          </a:p>
          <a:p>
            <a:pPr marL="342900" indent="-342900">
              <a:spcAft>
                <a:spcPts val="600"/>
              </a:spcAft>
              <a:buSzPct val="100000"/>
              <a:buChar char="•"/>
            </a:pPr>
            <a:r>
              <a:rPr lang="en-US" sz="1450" dirty="0">
                <a:solidFill>
                  <a:schemeClr val="tx1"/>
                </a:solidFill>
              </a:rPr>
              <a:t>Which drawings a complete BoQ still needs</a:t>
            </a:r>
            <a:endParaRPr lang="en-US" sz="145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THE AI OPERATING SYSTEM</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Two ways to use AfriPlan — pick the one that fits the job</a:t>
            </a:r>
            <a:endParaRPr lang="en-US" sz="2600" dirty="0"/>
          </a:p>
        </p:txBody>
      </p:sp>
      <p:sp>
        <p:nvSpPr>
          <p:cNvPr id="7" name="Web app column"/>
          <p:cNvSpPr/>
          <p:nvPr/>
        </p:nvSpPr>
        <p:spPr>
          <a:xfrm>
            <a:off x="548640" y="1417320"/>
            <a:ext cx="5440680" cy="4206240"/>
          </a:xfrm>
          <a:prstGeom prst="rect">
            <a:avLst/>
          </a:prstGeom>
          <a:solidFill>
            <a:schemeClr val="bg2"/>
          </a:solidFill>
          <a:ln w="9525">
            <a:solidFill>
              <a:srgbClr val="D8D3CB"/>
            </a:solidFill>
            <a:prstDash val="solid"/>
          </a:ln>
        </p:spPr>
      </p:sp>
      <p:sp>
        <p:nvSpPr>
          <p:cNvPr id="8" name="Web app circle"/>
          <p:cNvSpPr/>
          <p:nvPr/>
        </p:nvSpPr>
        <p:spPr>
          <a:xfrm>
            <a:off x="822960" y="1645920"/>
            <a:ext cx="731520" cy="731520"/>
          </a:xfrm>
          <a:prstGeom prst="ellipse">
            <a:avLst/>
          </a:prstGeom>
          <a:solidFill>
            <a:srgbClr val="8E1B1B"/>
          </a:solidFill>
          <a:ln w="12700">
            <a:solidFill>
              <a:srgbClr val="8E1B1B"/>
            </a:solidFill>
            <a:prstDash val="solid"/>
          </a:ln>
        </p:spPr>
      </p:sp>
      <p:pic>
        <p:nvPicPr>
          <p:cNvPr id="9" name="Web app icon" descr="preencoded.png">    </p:cNvPr>
          <p:cNvPicPr>
            <a:picLocks noChangeAspect="1"/>
          </p:cNvPicPr>
          <p:nvPr/>
        </p:nvPicPr>
        <p:blipFill>
          <a:blip r:embed="rId1"/>
          <a:stretch>
            <a:fillRect/>
          </a:stretch>
        </p:blipFill>
        <p:spPr>
          <a:xfrm>
            <a:off x="1013155" y="1836115"/>
            <a:ext cx="351130" cy="351130"/>
          </a:xfrm>
          <a:prstGeom prst="rect">
            <a:avLst/>
          </a:prstGeom>
        </p:spPr>
      </p:pic>
      <p:sp>
        <p:nvSpPr>
          <p:cNvPr id="10" name="Web app title"/>
          <p:cNvSpPr txBox="1"/>
          <p:nvPr/>
        </p:nvSpPr>
        <p:spPr>
          <a:xfrm>
            <a:off x="1737360" y="1664208"/>
            <a:ext cx="4023360" cy="411480"/>
          </a:xfrm>
          <a:prstGeom prst="rect">
            <a:avLst/>
          </a:prstGeom>
          <a:noFill/>
          <a:ln/>
        </p:spPr>
        <p:txBody>
          <a:bodyPr wrap="square" lIns="0" tIns="0" rIns="0" bIns="0" rtlCol="0" anchor="t"/>
          <a:lstStyle/>
          <a:p>
            <a:pPr indent="0" marL="0">
              <a:buNone/>
            </a:pPr>
            <a:r>
              <a:rPr lang="en-US" sz="2200" b="1" dirty="0">
                <a:solidFill>
                  <a:schemeClr val="tx1"/>
                </a:solidFill>
              </a:rPr>
              <a:t>Web app</a:t>
            </a:r>
            <a:endParaRPr lang="en-US" sz="2200" dirty="0"/>
          </a:p>
        </p:txBody>
      </p:sp>
      <p:sp>
        <p:nvSpPr>
          <p:cNvPr id="11" name="Web app subtitle"/>
          <p:cNvSpPr txBox="1"/>
          <p:nvPr/>
        </p:nvSpPr>
        <p:spPr>
          <a:xfrm>
            <a:off x="1737360" y="2057400"/>
            <a:ext cx="4023360" cy="320040"/>
          </a:xfrm>
          <a:prstGeom prst="rect">
            <a:avLst/>
          </a:prstGeom>
          <a:noFill/>
          <a:ln/>
        </p:spPr>
        <p:txBody>
          <a:bodyPr wrap="square" lIns="0" tIns="0" rIns="0" bIns="0" rtlCol="0" anchor="t"/>
          <a:lstStyle/>
          <a:p>
            <a:pPr indent="0" marL="0">
              <a:buNone/>
            </a:pPr>
            <a:r>
              <a:rPr lang="en-US" sz="1300" dirty="0">
                <a:solidFill>
                  <a:schemeClr val="tx2"/>
                </a:solidFill>
              </a:rPr>
              <a:t>in the browser</a:t>
            </a:r>
            <a:endParaRPr lang="en-US" sz="1300" dirty="0"/>
          </a:p>
        </p:txBody>
      </p:sp>
      <p:sp>
        <p:nvSpPr>
          <p:cNvPr id="12" name="Web app row label 1"/>
          <p:cNvSpPr txBox="1"/>
          <p:nvPr/>
        </p:nvSpPr>
        <p:spPr>
          <a:xfrm>
            <a:off x="822960" y="2697480"/>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Best for</a:t>
            </a:r>
            <a:endParaRPr lang="en-US" sz="1300" dirty="0"/>
          </a:p>
        </p:txBody>
      </p:sp>
      <p:sp>
        <p:nvSpPr>
          <p:cNvPr id="13" name="Web app row text 1"/>
          <p:cNvSpPr txBox="1"/>
          <p:nvPr/>
        </p:nvSpPr>
        <p:spPr>
          <a:xfrm>
            <a:off x="2148840" y="2697480"/>
            <a:ext cx="3657600" cy="548640"/>
          </a:xfrm>
          <a:prstGeom prst="rect">
            <a:avLst/>
          </a:prstGeom>
          <a:noFill/>
          <a:ln/>
        </p:spPr>
        <p:txBody>
          <a:bodyPr wrap="square" lIns="0" tIns="0" rIns="0" bIns="0" rtlCol="0" anchor="t"/>
          <a:lstStyle/>
          <a:p>
            <a:pPr indent="0" marL="0">
              <a:buNone/>
            </a:pPr>
            <a:r>
              <a:rPr lang="en-US" sz="1350" dirty="0">
                <a:solidFill>
                  <a:schemeClr val="tx1"/>
                </a:solidFill>
              </a:rPr>
              <a:t>contractors, quick DWG/DXF jobs, demos</a:t>
            </a:r>
            <a:endParaRPr lang="en-US" sz="1350" dirty="0"/>
          </a:p>
        </p:txBody>
      </p:sp>
      <p:sp>
        <p:nvSpPr>
          <p:cNvPr id="14" name="Web app row label 2"/>
          <p:cNvSpPr txBox="1"/>
          <p:nvPr/>
        </p:nvSpPr>
        <p:spPr>
          <a:xfrm>
            <a:off x="822960" y="3300984"/>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How</a:t>
            </a:r>
            <a:endParaRPr lang="en-US" sz="1300" dirty="0"/>
          </a:p>
        </p:txBody>
      </p:sp>
      <p:sp>
        <p:nvSpPr>
          <p:cNvPr id="15" name="Web app row text 2"/>
          <p:cNvSpPr txBox="1"/>
          <p:nvPr/>
        </p:nvSpPr>
        <p:spPr>
          <a:xfrm>
            <a:off x="2148840" y="3300984"/>
            <a:ext cx="3657600" cy="548640"/>
          </a:xfrm>
          <a:prstGeom prst="rect">
            <a:avLst/>
          </a:prstGeom>
          <a:noFill/>
          <a:ln/>
        </p:spPr>
        <p:txBody>
          <a:bodyPr wrap="square" lIns="0" tIns="0" rIns="0" bIns="0" rtlCol="0" anchor="t"/>
          <a:lstStyle/>
          <a:p>
            <a:pPr indent="0" marL="0">
              <a:buNone/>
            </a:pPr>
            <a:r>
              <a:rPr lang="en-US" sz="1350" dirty="0">
                <a:solidFill>
                  <a:schemeClr val="tx1"/>
                </a:solidFill>
              </a:rPr>
              <a:t>upload drawings → Take-off → BoQ → export</a:t>
            </a:r>
            <a:endParaRPr lang="en-US" sz="1350" dirty="0"/>
          </a:p>
        </p:txBody>
      </p:sp>
      <p:sp>
        <p:nvSpPr>
          <p:cNvPr id="16" name="Web app row label 3"/>
          <p:cNvSpPr txBox="1"/>
          <p:nvPr/>
        </p:nvSpPr>
        <p:spPr>
          <a:xfrm>
            <a:off x="822960" y="3904488"/>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PDF reading</a:t>
            </a:r>
            <a:endParaRPr lang="en-US" sz="1300" dirty="0"/>
          </a:p>
        </p:txBody>
      </p:sp>
      <p:sp>
        <p:nvSpPr>
          <p:cNvPr id="17" name="Web app row text 3"/>
          <p:cNvSpPr txBox="1"/>
          <p:nvPr/>
        </p:nvSpPr>
        <p:spPr>
          <a:xfrm>
            <a:off x="2148840" y="3904488"/>
            <a:ext cx="3657600" cy="548640"/>
          </a:xfrm>
          <a:prstGeom prst="rect">
            <a:avLst/>
          </a:prstGeom>
          <a:noFill/>
          <a:ln/>
        </p:spPr>
        <p:txBody>
          <a:bodyPr wrap="square" lIns="0" tIns="0" rIns="0" bIns="0" rtlCol="0" anchor="t"/>
          <a:lstStyle/>
          <a:p>
            <a:pPr indent="0" marL="0">
              <a:buNone/>
            </a:pPr>
            <a:r>
              <a:rPr lang="en-US" sz="1350" dirty="0">
                <a:solidFill>
                  <a:schemeClr val="tx1"/>
                </a:solidFill>
              </a:rPr>
              <a:t>AI API (paid) or a free AI model (slower, daily limit)</a:t>
            </a:r>
            <a:endParaRPr lang="en-US" sz="1350" dirty="0"/>
          </a:p>
        </p:txBody>
      </p:sp>
      <p:sp>
        <p:nvSpPr>
          <p:cNvPr id="18" name="Web app row label 4"/>
          <p:cNvSpPr txBox="1"/>
          <p:nvPr/>
        </p:nvSpPr>
        <p:spPr>
          <a:xfrm>
            <a:off x="822960" y="4507992"/>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DWG/DXF</a:t>
            </a:r>
            <a:endParaRPr lang="en-US" sz="1300" dirty="0"/>
          </a:p>
        </p:txBody>
      </p:sp>
      <p:sp>
        <p:nvSpPr>
          <p:cNvPr id="19" name="Web app row text 4"/>
          <p:cNvSpPr txBox="1"/>
          <p:nvPr/>
        </p:nvSpPr>
        <p:spPr>
          <a:xfrm>
            <a:off x="2148840" y="4507992"/>
            <a:ext cx="3657600" cy="548640"/>
          </a:xfrm>
          <a:prstGeom prst="rect">
            <a:avLst/>
          </a:prstGeom>
          <a:noFill/>
          <a:ln/>
        </p:spPr>
        <p:txBody>
          <a:bodyPr wrap="square" lIns="0" tIns="0" rIns="0" bIns="0" rtlCol="0" anchor="t"/>
          <a:lstStyle/>
          <a:p>
            <a:pPr indent="0" marL="0">
              <a:buNone/>
            </a:pPr>
            <a:r>
              <a:rPr lang="en-US" sz="1350" dirty="0">
                <a:solidFill>
                  <a:schemeClr val="tx1"/>
                </a:solidFill>
              </a:rPr>
              <a:t>free and exact, about 1–2 minutes</a:t>
            </a:r>
            <a:endParaRPr lang="en-US" sz="1350" dirty="0"/>
          </a:p>
        </p:txBody>
      </p:sp>
      <p:sp>
        <p:nvSpPr>
          <p:cNvPr id="20" name="Web app row label 5"/>
          <p:cNvSpPr txBox="1"/>
          <p:nvPr/>
        </p:nvSpPr>
        <p:spPr>
          <a:xfrm>
            <a:off x="822960" y="5111496"/>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Output</a:t>
            </a:r>
            <a:endParaRPr lang="en-US" sz="1300" dirty="0"/>
          </a:p>
        </p:txBody>
      </p:sp>
      <p:sp>
        <p:nvSpPr>
          <p:cNvPr id="21" name="Web app row text 5"/>
          <p:cNvSpPr txBox="1"/>
          <p:nvPr/>
        </p:nvSpPr>
        <p:spPr>
          <a:xfrm>
            <a:off x="2148840" y="5111496"/>
            <a:ext cx="3657600" cy="548640"/>
          </a:xfrm>
          <a:prstGeom prst="rect">
            <a:avLst/>
          </a:prstGeom>
          <a:noFill/>
          <a:ln/>
        </p:spPr>
        <p:txBody>
          <a:bodyPr wrap="square" lIns="0" tIns="0" rIns="0" bIns="0" rtlCol="0" anchor="t"/>
          <a:lstStyle/>
          <a:p>
            <a:pPr indent="0" marL="0">
              <a:buNone/>
            </a:pPr>
            <a:r>
              <a:rPr lang="en-US" sz="1350" dirty="0">
                <a:solidFill>
                  <a:schemeClr val="tx1"/>
                </a:solidFill>
              </a:rPr>
              <a:t>BoQ on screen, Excel &amp; PDF tender document</a:t>
            </a:r>
            <a:endParaRPr lang="en-US" sz="1350" dirty="0"/>
          </a:p>
        </p:txBody>
      </p:sp>
      <p:sp>
        <p:nvSpPr>
          <p:cNvPr id="22" name="AI Operating System column"/>
          <p:cNvSpPr/>
          <p:nvPr/>
        </p:nvSpPr>
        <p:spPr>
          <a:xfrm>
            <a:off x="6172200" y="1417320"/>
            <a:ext cx="5440680" cy="4206240"/>
          </a:xfrm>
          <a:prstGeom prst="rect">
            <a:avLst/>
          </a:prstGeom>
          <a:solidFill>
            <a:schemeClr val="bg1"/>
          </a:solidFill>
          <a:ln w="9525">
            <a:solidFill>
              <a:srgbClr val="D8D3CB"/>
            </a:solidFill>
            <a:prstDash val="solid"/>
          </a:ln>
        </p:spPr>
      </p:sp>
      <p:sp>
        <p:nvSpPr>
          <p:cNvPr id="23" name="AI Operating System circle"/>
          <p:cNvSpPr/>
          <p:nvPr/>
        </p:nvSpPr>
        <p:spPr>
          <a:xfrm>
            <a:off x="6446520" y="1645920"/>
            <a:ext cx="731520" cy="731520"/>
          </a:xfrm>
          <a:prstGeom prst="ellipse">
            <a:avLst/>
          </a:prstGeom>
          <a:solidFill>
            <a:srgbClr val="8E1B1B"/>
          </a:solidFill>
          <a:ln w="12700">
            <a:solidFill>
              <a:srgbClr val="8E1B1B"/>
            </a:solidFill>
            <a:prstDash val="solid"/>
          </a:ln>
        </p:spPr>
      </p:sp>
      <p:pic>
        <p:nvPicPr>
          <p:cNvPr id="24" name="AI Operating System icon" descr="preencoded.png">    </p:cNvPr>
          <p:cNvPicPr>
            <a:picLocks noChangeAspect="1"/>
          </p:cNvPicPr>
          <p:nvPr/>
        </p:nvPicPr>
        <p:blipFill>
          <a:blip r:embed="rId2"/>
          <a:stretch>
            <a:fillRect/>
          </a:stretch>
        </p:blipFill>
        <p:spPr>
          <a:xfrm>
            <a:off x="6636715" y="1836115"/>
            <a:ext cx="351130" cy="351130"/>
          </a:xfrm>
          <a:prstGeom prst="rect">
            <a:avLst/>
          </a:prstGeom>
        </p:spPr>
      </p:pic>
      <p:sp>
        <p:nvSpPr>
          <p:cNvPr id="25" name="AI Operating System title"/>
          <p:cNvSpPr txBox="1"/>
          <p:nvPr/>
        </p:nvSpPr>
        <p:spPr>
          <a:xfrm>
            <a:off x="7360920" y="1664208"/>
            <a:ext cx="4023360" cy="411480"/>
          </a:xfrm>
          <a:prstGeom prst="rect">
            <a:avLst/>
          </a:prstGeom>
          <a:noFill/>
          <a:ln/>
        </p:spPr>
        <p:txBody>
          <a:bodyPr wrap="square" lIns="0" tIns="0" rIns="0" bIns="0" rtlCol="0" anchor="t"/>
          <a:lstStyle/>
          <a:p>
            <a:pPr indent="0" marL="0">
              <a:buNone/>
            </a:pPr>
            <a:r>
              <a:rPr lang="en-US" sz="2200" b="1" dirty="0">
                <a:solidFill>
                  <a:schemeClr val="tx1"/>
                </a:solidFill>
              </a:rPr>
              <a:t>AI Operating System</a:t>
            </a:r>
            <a:endParaRPr lang="en-US" sz="2200" dirty="0"/>
          </a:p>
        </p:txBody>
      </p:sp>
      <p:sp>
        <p:nvSpPr>
          <p:cNvPr id="26" name="AI Operating System subtitle"/>
          <p:cNvSpPr txBox="1"/>
          <p:nvPr/>
        </p:nvSpPr>
        <p:spPr>
          <a:xfrm>
            <a:off x="7360920" y="2057400"/>
            <a:ext cx="4023360" cy="320040"/>
          </a:xfrm>
          <a:prstGeom prst="rect">
            <a:avLst/>
          </a:prstGeom>
          <a:noFill/>
          <a:ln/>
        </p:spPr>
        <p:txBody>
          <a:bodyPr wrap="square" lIns="0" tIns="0" rIns="0" bIns="0" rtlCol="0" anchor="t"/>
          <a:lstStyle/>
          <a:p>
            <a:pPr indent="0" marL="0">
              <a:buNone/>
            </a:pPr>
            <a:r>
              <a:rPr lang="en-US" sz="1300" dirty="0">
                <a:solidFill>
                  <a:schemeClr val="tx2"/>
                </a:solidFill>
              </a:rPr>
              <a:t>code editor (IDE) + AI brain</a:t>
            </a:r>
            <a:endParaRPr lang="en-US" sz="1300" dirty="0"/>
          </a:p>
        </p:txBody>
      </p:sp>
      <p:sp>
        <p:nvSpPr>
          <p:cNvPr id="27" name="AI Operating System row label 1"/>
          <p:cNvSpPr txBox="1"/>
          <p:nvPr/>
        </p:nvSpPr>
        <p:spPr>
          <a:xfrm>
            <a:off x="6446520" y="2697480"/>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Best for</a:t>
            </a:r>
            <a:endParaRPr lang="en-US" sz="1300" dirty="0"/>
          </a:p>
        </p:txBody>
      </p:sp>
      <p:sp>
        <p:nvSpPr>
          <p:cNvPr id="28" name="AI Operating System row text 1"/>
          <p:cNvSpPr txBox="1"/>
          <p:nvPr/>
        </p:nvSpPr>
        <p:spPr>
          <a:xfrm>
            <a:off x="7772400" y="2697480"/>
            <a:ext cx="3657600" cy="548640"/>
          </a:xfrm>
          <a:prstGeom prst="rect">
            <a:avLst/>
          </a:prstGeom>
          <a:noFill/>
          <a:ln/>
        </p:spPr>
        <p:txBody>
          <a:bodyPr wrap="square" lIns="0" tIns="0" rIns="0" bIns="0" rtlCol="0" anchor="t"/>
          <a:lstStyle/>
          <a:p>
            <a:pPr indent="0" marL="0">
              <a:buNone/>
            </a:pPr>
            <a:r>
              <a:rPr lang="en-US" sz="1350" dirty="0">
                <a:solidFill>
                  <a:schemeClr val="tx1"/>
                </a:solidFill>
              </a:rPr>
              <a:t>your own estimating on a real project folder</a:t>
            </a:r>
            <a:endParaRPr lang="en-US" sz="1350" dirty="0"/>
          </a:p>
        </p:txBody>
      </p:sp>
      <p:sp>
        <p:nvSpPr>
          <p:cNvPr id="29" name="AI Operating System row label 2"/>
          <p:cNvSpPr txBox="1"/>
          <p:nvPr/>
        </p:nvSpPr>
        <p:spPr>
          <a:xfrm>
            <a:off x="6446520" y="3300984"/>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How</a:t>
            </a:r>
            <a:endParaRPr lang="en-US" sz="1300" dirty="0"/>
          </a:p>
        </p:txBody>
      </p:sp>
      <p:sp>
        <p:nvSpPr>
          <p:cNvPr id="30" name="AI Operating System row text 2"/>
          <p:cNvSpPr txBox="1"/>
          <p:nvPr/>
        </p:nvSpPr>
        <p:spPr>
          <a:xfrm>
            <a:off x="7772400" y="3300984"/>
            <a:ext cx="3657600" cy="548640"/>
          </a:xfrm>
          <a:prstGeom prst="rect">
            <a:avLst/>
          </a:prstGeom>
          <a:noFill/>
          <a:ln/>
        </p:spPr>
        <p:txBody>
          <a:bodyPr wrap="square" lIns="0" tIns="0" rIns="0" bIns="0" rtlCol="0" anchor="t"/>
          <a:lstStyle/>
          <a:p>
            <a:pPr indent="0" marL="0">
              <a:buNone/>
            </a:pPr>
            <a:r>
              <a:rPr lang="en-US" sz="1350" dirty="0">
                <a:solidFill>
                  <a:schemeClr val="tx1"/>
                </a:solidFill>
              </a:rPr>
              <a:t>“estimate the project in &lt;folder&gt;”</a:t>
            </a:r>
            <a:endParaRPr lang="en-US" sz="1350" dirty="0"/>
          </a:p>
        </p:txBody>
      </p:sp>
      <p:sp>
        <p:nvSpPr>
          <p:cNvPr id="31" name="AI Operating System row label 3"/>
          <p:cNvSpPr txBox="1"/>
          <p:nvPr/>
        </p:nvSpPr>
        <p:spPr>
          <a:xfrm>
            <a:off x="6446520" y="3904488"/>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PDF reading</a:t>
            </a:r>
            <a:endParaRPr lang="en-US" sz="1300" dirty="0"/>
          </a:p>
        </p:txBody>
      </p:sp>
      <p:sp>
        <p:nvSpPr>
          <p:cNvPr id="32" name="AI Operating System row text 3"/>
          <p:cNvSpPr txBox="1"/>
          <p:nvPr/>
        </p:nvSpPr>
        <p:spPr>
          <a:xfrm>
            <a:off x="7772400" y="3904488"/>
            <a:ext cx="3657600" cy="548640"/>
          </a:xfrm>
          <a:prstGeom prst="rect">
            <a:avLst/>
          </a:prstGeom>
          <a:noFill/>
          <a:ln/>
        </p:spPr>
        <p:txBody>
          <a:bodyPr wrap="square" lIns="0" tIns="0" rIns="0" bIns="0" rtlCol="0" anchor="t"/>
          <a:lstStyle/>
          <a:p>
            <a:pPr indent="0" marL="0">
              <a:buNone/>
            </a:pPr>
            <a:r>
              <a:rPr lang="en-US" sz="1350" dirty="0">
                <a:solidFill>
                  <a:schemeClr val="tx1"/>
                </a:solidFill>
              </a:rPr>
              <a:t>the AI brain reads every page — on a subscription, no per-page bill</a:t>
            </a:r>
            <a:endParaRPr lang="en-US" sz="1350" dirty="0"/>
          </a:p>
        </p:txBody>
      </p:sp>
      <p:sp>
        <p:nvSpPr>
          <p:cNvPr id="33" name="AI Operating System row label 4"/>
          <p:cNvSpPr txBox="1"/>
          <p:nvPr/>
        </p:nvSpPr>
        <p:spPr>
          <a:xfrm>
            <a:off x="6446520" y="4507992"/>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DWG/DXF</a:t>
            </a:r>
            <a:endParaRPr lang="en-US" sz="1300" dirty="0"/>
          </a:p>
        </p:txBody>
      </p:sp>
      <p:sp>
        <p:nvSpPr>
          <p:cNvPr id="34" name="AI Operating System row text 4"/>
          <p:cNvSpPr txBox="1"/>
          <p:nvPr/>
        </p:nvSpPr>
        <p:spPr>
          <a:xfrm>
            <a:off x="7772400" y="4507992"/>
            <a:ext cx="3657600" cy="548640"/>
          </a:xfrm>
          <a:prstGeom prst="rect">
            <a:avLst/>
          </a:prstGeom>
          <a:noFill/>
          <a:ln/>
        </p:spPr>
        <p:txBody>
          <a:bodyPr wrap="square" lIns="0" tIns="0" rIns="0" bIns="0" rtlCol="0" anchor="t"/>
          <a:lstStyle/>
          <a:p>
            <a:pPr indent="0" marL="0">
              <a:buNone/>
            </a:pPr>
            <a:r>
              <a:rPr lang="en-US" sz="1350" dirty="0">
                <a:solidFill>
                  <a:schemeClr val="tx1"/>
                </a:solidFill>
              </a:rPr>
              <a:t>the same CAD reader, combined with the PDF forms</a:t>
            </a:r>
            <a:endParaRPr lang="en-US" sz="1350" dirty="0"/>
          </a:p>
        </p:txBody>
      </p:sp>
      <p:sp>
        <p:nvSpPr>
          <p:cNvPr id="35" name="AI Operating System row label 5"/>
          <p:cNvSpPr txBox="1"/>
          <p:nvPr/>
        </p:nvSpPr>
        <p:spPr>
          <a:xfrm>
            <a:off x="6446520" y="5111496"/>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Output</a:t>
            </a:r>
            <a:endParaRPr lang="en-US" sz="1300" dirty="0"/>
          </a:p>
        </p:txBody>
      </p:sp>
      <p:sp>
        <p:nvSpPr>
          <p:cNvPr id="36" name="AI Operating System row text 5"/>
          <p:cNvSpPr txBox="1"/>
          <p:nvPr/>
        </p:nvSpPr>
        <p:spPr>
          <a:xfrm>
            <a:off x="7772400" y="5111496"/>
            <a:ext cx="3657600" cy="548640"/>
          </a:xfrm>
          <a:prstGeom prst="rect">
            <a:avLst/>
          </a:prstGeom>
          <a:noFill/>
          <a:ln/>
        </p:spPr>
        <p:txBody>
          <a:bodyPr wrap="square" lIns="0" tIns="0" rIns="0" bIns="0" rtlCol="0" anchor="t"/>
          <a:lstStyle/>
          <a:p>
            <a:pPr indent="0" marL="0">
              <a:buNone/>
            </a:pPr>
            <a:r>
              <a:rPr lang="en-US" sz="1350" dirty="0">
                <a:solidFill>
                  <a:schemeClr val="tx1"/>
                </a:solidFill>
              </a:rPr>
              <a:t>Excel + PDF + things to check + accuracy report in the folder</a:t>
            </a:r>
            <a:endParaRPr lang="en-US" sz="1350" dirty="0"/>
          </a:p>
        </p:txBody>
      </p:sp>
      <p:sp>
        <p:nvSpPr>
          <p:cNvPr id="37" name="best note"/>
          <p:cNvSpPr txBox="1"/>
          <p:nvPr/>
        </p:nvSpPr>
        <p:spPr>
          <a:xfrm>
            <a:off x="548640" y="5852160"/>
            <a:ext cx="11064240" cy="320040"/>
          </a:xfrm>
          <a:prstGeom prst="rect">
            <a:avLst/>
          </a:prstGeom>
          <a:noFill/>
          <a:ln/>
        </p:spPr>
        <p:txBody>
          <a:bodyPr wrap="square" lIns="0" tIns="0" rIns="0" bIns="0" rtlCol="0" anchor="t"/>
          <a:lstStyle/>
          <a:p>
            <a:pPr indent="0" marL="0">
              <a:buNone/>
            </a:pPr>
            <a:r>
              <a:rPr lang="en-US" sz="1300" i="1" dirty="0">
                <a:solidFill>
                  <a:schemeClr val="accent1"/>
                </a:solidFill>
              </a:rPr>
              <a:t>Best measured accuracy today: the AI Operating System (PDF + DWG combined) — see the accuracy section.</a:t>
            </a:r>
            <a:endParaRPr lang="en-US" sz="13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THE AI OPERATING SYSTEM</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How a job runs in the AI Operating System</a:t>
            </a:r>
            <a:endParaRPr lang="en-US" sz="2600" dirty="0"/>
          </a:p>
        </p:txBody>
      </p:sp>
      <p:sp>
        <p:nvSpPr>
          <p:cNvPr id="7" name="os step 1"/>
          <p:cNvSpPr/>
          <p:nvPr/>
        </p:nvSpPr>
        <p:spPr>
          <a:xfrm>
            <a:off x="548640" y="1417320"/>
            <a:ext cx="2560320" cy="3154680"/>
          </a:xfrm>
          <a:prstGeom prst="rect">
            <a:avLst/>
          </a:prstGeom>
          <a:solidFill>
            <a:schemeClr val="bg1"/>
          </a:solidFill>
          <a:ln w="9525">
            <a:solidFill>
              <a:srgbClr val="D8D3CB"/>
            </a:solidFill>
            <a:prstDash val="solid"/>
          </a:ln>
        </p:spPr>
      </p:sp>
      <p:sp>
        <p:nvSpPr>
          <p:cNvPr id="8" name="os step 1 circle"/>
          <p:cNvSpPr/>
          <p:nvPr/>
        </p:nvSpPr>
        <p:spPr>
          <a:xfrm>
            <a:off x="777240" y="1645920"/>
            <a:ext cx="731520" cy="731520"/>
          </a:xfrm>
          <a:prstGeom prst="ellipse">
            <a:avLst/>
          </a:prstGeom>
          <a:solidFill>
            <a:srgbClr val="8E1B1B"/>
          </a:solidFill>
          <a:ln w="12700">
            <a:solidFill>
              <a:srgbClr val="8E1B1B"/>
            </a:solidFill>
            <a:prstDash val="solid"/>
          </a:ln>
        </p:spPr>
      </p:sp>
      <p:pic>
        <p:nvPicPr>
          <p:cNvPr id="9" name="os step 1 icon" descr="preencoded.png">    </p:cNvPr>
          <p:cNvPicPr>
            <a:picLocks noChangeAspect="1"/>
          </p:cNvPicPr>
          <p:nvPr/>
        </p:nvPicPr>
        <p:blipFill>
          <a:blip r:embed="rId1"/>
          <a:stretch>
            <a:fillRect/>
          </a:stretch>
        </p:blipFill>
        <p:spPr>
          <a:xfrm>
            <a:off x="967435" y="1836115"/>
            <a:ext cx="351130" cy="351130"/>
          </a:xfrm>
          <a:prstGeom prst="rect">
            <a:avLst/>
          </a:prstGeom>
        </p:spPr>
      </p:pic>
      <p:sp>
        <p:nvSpPr>
          <p:cNvPr id="10" name="os step title 1"/>
          <p:cNvSpPr txBox="1"/>
          <p:nvPr/>
        </p:nvSpPr>
        <p:spPr>
          <a:xfrm>
            <a:off x="777240" y="2514600"/>
            <a:ext cx="2194560" cy="365760"/>
          </a:xfrm>
          <a:prstGeom prst="rect">
            <a:avLst/>
          </a:prstGeom>
          <a:noFill/>
          <a:ln/>
        </p:spPr>
        <p:txBody>
          <a:bodyPr wrap="square" lIns="0" tIns="0" rIns="0" bIns="0" rtlCol="0" anchor="t"/>
          <a:lstStyle/>
          <a:p>
            <a:pPr indent="0" marL="0">
              <a:buNone/>
            </a:pPr>
            <a:r>
              <a:rPr lang="en-US" sz="1800" b="1" dirty="0">
                <a:solidFill>
                  <a:schemeClr val="tx1"/>
                </a:solidFill>
              </a:rPr>
              <a:t>1 · Prepare</a:t>
            </a:r>
            <a:endParaRPr lang="en-US" sz="1800" dirty="0"/>
          </a:p>
        </p:txBody>
      </p:sp>
      <p:sp>
        <p:nvSpPr>
          <p:cNvPr id="11" name="os step who 1"/>
          <p:cNvSpPr txBox="1"/>
          <p:nvPr/>
        </p:nvSpPr>
        <p:spPr>
          <a:xfrm>
            <a:off x="777240" y="2880360"/>
            <a:ext cx="2240280" cy="292608"/>
          </a:xfrm>
          <a:prstGeom prst="rect">
            <a:avLst/>
          </a:prstGeom>
          <a:noFill/>
          <a:ln/>
        </p:spPr>
        <p:txBody>
          <a:bodyPr wrap="square" lIns="0" tIns="0" rIns="0" bIns="0" rtlCol="0" anchor="t"/>
          <a:lstStyle/>
          <a:p>
            <a:pPr indent="0" marL="0">
              <a:buNone/>
            </a:pPr>
            <a:r>
              <a:rPr lang="en-US" sz="1200" b="1" dirty="0">
                <a:solidFill>
                  <a:schemeClr val="accent1"/>
                </a:solidFill>
              </a:rPr>
              <a:t>AfriPlan Engine</a:t>
            </a:r>
            <a:endParaRPr lang="en-US" sz="1200" dirty="0"/>
          </a:p>
        </p:txBody>
      </p:sp>
      <p:sp>
        <p:nvSpPr>
          <p:cNvPr id="12" name="os step text 1"/>
          <p:cNvSpPr txBox="1"/>
          <p:nvPr/>
        </p:nvSpPr>
        <p:spPr>
          <a:xfrm>
            <a:off x="777240" y="3200400"/>
            <a:ext cx="2148840" cy="1280160"/>
          </a:xfrm>
          <a:prstGeom prst="rect">
            <a:avLst/>
          </a:prstGeom>
          <a:noFill/>
          <a:ln/>
        </p:spPr>
        <p:txBody>
          <a:bodyPr wrap="square" lIns="0" tIns="0" rIns="0" bIns="0" rtlCol="0" anchor="t"/>
          <a:lstStyle/>
          <a:p>
            <a:pPr indent="0" marL="0">
              <a:buNone/>
            </a:pPr>
            <a:r>
              <a:rPr lang="en-US" sz="1300" dirty="0">
                <a:solidFill>
                  <a:schemeClr val="tx2"/>
                </a:solidFill>
              </a:rPr>
              <a:t>finds every PDF and DWG/DXF, sets old revisions aside, renders each page (whole, zoomed, legend, text)</a:t>
            </a:r>
            <a:endParaRPr lang="en-US" sz="1300" dirty="0"/>
          </a:p>
        </p:txBody>
      </p:sp>
      <p:sp>
        <p:nvSpPr>
          <p:cNvPr id="13" name="Shape 9"/>
          <p:cNvSpPr/>
          <p:nvPr/>
        </p:nvSpPr>
        <p:spPr>
          <a:xfrm>
            <a:off x="3127248" y="2971800"/>
            <a:ext cx="237744" cy="0"/>
          </a:xfrm>
          <a:prstGeom prst="line">
            <a:avLst/>
          </a:prstGeom>
          <a:noFill/>
          <a:ln w="25400">
            <a:solidFill>
              <a:srgbClr val="8B8781"/>
            </a:solidFill>
            <a:prstDash val="solid"/>
            <a:tailEnd type="triangle"/>
          </a:ln>
        </p:spPr>
      </p:sp>
      <p:sp>
        <p:nvSpPr>
          <p:cNvPr id="14" name="os step 2"/>
          <p:cNvSpPr/>
          <p:nvPr/>
        </p:nvSpPr>
        <p:spPr>
          <a:xfrm>
            <a:off x="3383280" y="1417320"/>
            <a:ext cx="2560320" cy="3154680"/>
          </a:xfrm>
          <a:prstGeom prst="rect">
            <a:avLst/>
          </a:prstGeom>
          <a:solidFill>
            <a:schemeClr val="bg2"/>
          </a:solidFill>
          <a:ln w="9525">
            <a:solidFill>
              <a:srgbClr val="D8D3CB"/>
            </a:solidFill>
            <a:prstDash val="solid"/>
          </a:ln>
        </p:spPr>
      </p:sp>
      <p:sp>
        <p:nvSpPr>
          <p:cNvPr id="15" name="os step 2 circle"/>
          <p:cNvSpPr/>
          <p:nvPr/>
        </p:nvSpPr>
        <p:spPr>
          <a:xfrm>
            <a:off x="3611880" y="1645920"/>
            <a:ext cx="731520" cy="731520"/>
          </a:xfrm>
          <a:prstGeom prst="ellipse">
            <a:avLst/>
          </a:prstGeom>
          <a:solidFill>
            <a:srgbClr val="C9A15A"/>
          </a:solidFill>
          <a:ln w="12700">
            <a:solidFill>
              <a:srgbClr val="C9A15A"/>
            </a:solidFill>
            <a:prstDash val="solid"/>
          </a:ln>
        </p:spPr>
      </p:sp>
      <p:pic>
        <p:nvPicPr>
          <p:cNvPr id="16" name="os step 2 icon" descr="preencoded.png">    </p:cNvPr>
          <p:cNvPicPr>
            <a:picLocks noChangeAspect="1"/>
          </p:cNvPicPr>
          <p:nvPr/>
        </p:nvPicPr>
        <p:blipFill>
          <a:blip r:embed="rId2"/>
          <a:stretch>
            <a:fillRect/>
          </a:stretch>
        </p:blipFill>
        <p:spPr>
          <a:xfrm>
            <a:off x="3802075" y="1836115"/>
            <a:ext cx="351130" cy="351130"/>
          </a:xfrm>
          <a:prstGeom prst="rect">
            <a:avLst/>
          </a:prstGeom>
        </p:spPr>
      </p:pic>
      <p:sp>
        <p:nvSpPr>
          <p:cNvPr id="17" name="os step title 2"/>
          <p:cNvSpPr txBox="1"/>
          <p:nvPr/>
        </p:nvSpPr>
        <p:spPr>
          <a:xfrm>
            <a:off x="3611880" y="2514600"/>
            <a:ext cx="2194560" cy="365760"/>
          </a:xfrm>
          <a:prstGeom prst="rect">
            <a:avLst/>
          </a:prstGeom>
          <a:noFill/>
          <a:ln/>
        </p:spPr>
        <p:txBody>
          <a:bodyPr wrap="square" lIns="0" tIns="0" rIns="0" bIns="0" rtlCol="0" anchor="t"/>
          <a:lstStyle/>
          <a:p>
            <a:pPr indent="0" marL="0">
              <a:buNone/>
            </a:pPr>
            <a:r>
              <a:rPr lang="en-US" sz="1800" b="1" dirty="0">
                <a:solidFill>
                  <a:schemeClr val="tx1"/>
                </a:solidFill>
              </a:rPr>
              <a:t>2 · Read</a:t>
            </a:r>
            <a:endParaRPr lang="en-US" sz="1800" dirty="0"/>
          </a:p>
        </p:txBody>
      </p:sp>
      <p:sp>
        <p:nvSpPr>
          <p:cNvPr id="18" name="os step who 2"/>
          <p:cNvSpPr txBox="1"/>
          <p:nvPr/>
        </p:nvSpPr>
        <p:spPr>
          <a:xfrm>
            <a:off x="3611880" y="2880360"/>
            <a:ext cx="2240280" cy="292608"/>
          </a:xfrm>
          <a:prstGeom prst="rect">
            <a:avLst/>
          </a:prstGeom>
          <a:noFill/>
          <a:ln/>
        </p:spPr>
        <p:txBody>
          <a:bodyPr wrap="square" lIns="0" tIns="0" rIns="0" bIns="0" rtlCol="0" anchor="t"/>
          <a:lstStyle/>
          <a:p>
            <a:pPr indent="0" marL="0">
              <a:buNone/>
            </a:pPr>
            <a:r>
              <a:rPr lang="en-US" sz="1200" b="1" dirty="0">
                <a:solidFill>
                  <a:schemeClr val="accent1"/>
                </a:solidFill>
              </a:rPr>
              <a:t>AI brain + estimating skill</a:t>
            </a:r>
            <a:endParaRPr lang="en-US" sz="1200" dirty="0"/>
          </a:p>
        </p:txBody>
      </p:sp>
      <p:sp>
        <p:nvSpPr>
          <p:cNvPr id="19" name="os step text 2"/>
          <p:cNvSpPr txBox="1"/>
          <p:nvPr/>
        </p:nvSpPr>
        <p:spPr>
          <a:xfrm>
            <a:off x="3611880" y="3200400"/>
            <a:ext cx="2148840" cy="1280160"/>
          </a:xfrm>
          <a:prstGeom prst="rect">
            <a:avLst/>
          </a:prstGeom>
          <a:noFill/>
          <a:ln/>
        </p:spPr>
        <p:txBody>
          <a:bodyPr wrap="square" lIns="0" tIns="0" rIns="0" bIns="0" rtlCol="0" anchor="t"/>
          <a:lstStyle/>
          <a:p>
            <a:pPr indent="0" marL="0">
              <a:buNone/>
            </a:pPr>
            <a:r>
              <a:rPr lang="en-US" sz="1300" dirty="0">
                <a:solidFill>
                  <a:schemeClr val="tx2"/>
                </a:solidFill>
              </a:rPr>
              <a:t>reads every page and fills one strict form per page — only what is drawn</a:t>
            </a:r>
            <a:endParaRPr lang="en-US" sz="1300" dirty="0"/>
          </a:p>
        </p:txBody>
      </p:sp>
      <p:sp>
        <p:nvSpPr>
          <p:cNvPr id="20" name="Shape 15"/>
          <p:cNvSpPr/>
          <p:nvPr/>
        </p:nvSpPr>
        <p:spPr>
          <a:xfrm>
            <a:off x="5961888" y="2971800"/>
            <a:ext cx="237744" cy="0"/>
          </a:xfrm>
          <a:prstGeom prst="line">
            <a:avLst/>
          </a:prstGeom>
          <a:noFill/>
          <a:ln w="25400">
            <a:solidFill>
              <a:srgbClr val="8B8781"/>
            </a:solidFill>
            <a:prstDash val="solid"/>
            <a:tailEnd type="triangle"/>
          </a:ln>
        </p:spPr>
      </p:sp>
      <p:sp>
        <p:nvSpPr>
          <p:cNvPr id="21" name="os step 3"/>
          <p:cNvSpPr/>
          <p:nvPr/>
        </p:nvSpPr>
        <p:spPr>
          <a:xfrm>
            <a:off x="6217920" y="1417320"/>
            <a:ext cx="2560320" cy="3154680"/>
          </a:xfrm>
          <a:prstGeom prst="rect">
            <a:avLst/>
          </a:prstGeom>
          <a:solidFill>
            <a:schemeClr val="bg1"/>
          </a:solidFill>
          <a:ln w="9525">
            <a:solidFill>
              <a:srgbClr val="D8D3CB"/>
            </a:solidFill>
            <a:prstDash val="solid"/>
          </a:ln>
        </p:spPr>
      </p:sp>
      <p:sp>
        <p:nvSpPr>
          <p:cNvPr id="22" name="os step 3 circle"/>
          <p:cNvSpPr/>
          <p:nvPr/>
        </p:nvSpPr>
        <p:spPr>
          <a:xfrm>
            <a:off x="6446520" y="1645920"/>
            <a:ext cx="731520" cy="731520"/>
          </a:xfrm>
          <a:prstGeom prst="ellipse">
            <a:avLst/>
          </a:prstGeom>
          <a:solidFill>
            <a:srgbClr val="8E1B1B"/>
          </a:solidFill>
          <a:ln w="12700">
            <a:solidFill>
              <a:srgbClr val="8E1B1B"/>
            </a:solidFill>
            <a:prstDash val="solid"/>
          </a:ln>
        </p:spPr>
      </p:sp>
      <p:pic>
        <p:nvPicPr>
          <p:cNvPr id="23" name="os step 3 icon" descr="preencoded.png">    </p:cNvPr>
          <p:cNvPicPr>
            <a:picLocks noChangeAspect="1"/>
          </p:cNvPicPr>
          <p:nvPr/>
        </p:nvPicPr>
        <p:blipFill>
          <a:blip r:embed="rId3"/>
          <a:stretch>
            <a:fillRect/>
          </a:stretch>
        </p:blipFill>
        <p:spPr>
          <a:xfrm>
            <a:off x="6636715" y="1836115"/>
            <a:ext cx="351130" cy="351130"/>
          </a:xfrm>
          <a:prstGeom prst="rect">
            <a:avLst/>
          </a:prstGeom>
        </p:spPr>
      </p:pic>
      <p:sp>
        <p:nvSpPr>
          <p:cNvPr id="24" name="os step title 3"/>
          <p:cNvSpPr txBox="1"/>
          <p:nvPr/>
        </p:nvSpPr>
        <p:spPr>
          <a:xfrm>
            <a:off x="6446520" y="2514600"/>
            <a:ext cx="2194560" cy="365760"/>
          </a:xfrm>
          <a:prstGeom prst="rect">
            <a:avLst/>
          </a:prstGeom>
          <a:noFill/>
          <a:ln/>
        </p:spPr>
        <p:txBody>
          <a:bodyPr wrap="square" lIns="0" tIns="0" rIns="0" bIns="0" rtlCol="0" anchor="t"/>
          <a:lstStyle/>
          <a:p>
            <a:pPr indent="0" marL="0">
              <a:buNone/>
            </a:pPr>
            <a:r>
              <a:rPr lang="en-US" sz="1800" b="1" dirty="0">
                <a:solidFill>
                  <a:schemeClr val="tx1"/>
                </a:solidFill>
              </a:rPr>
              <a:t>3 · Finish</a:t>
            </a:r>
            <a:endParaRPr lang="en-US" sz="1800" dirty="0"/>
          </a:p>
        </p:txBody>
      </p:sp>
      <p:sp>
        <p:nvSpPr>
          <p:cNvPr id="25" name="os step who 3"/>
          <p:cNvSpPr txBox="1"/>
          <p:nvPr/>
        </p:nvSpPr>
        <p:spPr>
          <a:xfrm>
            <a:off x="6446520" y="2880360"/>
            <a:ext cx="2240280" cy="292608"/>
          </a:xfrm>
          <a:prstGeom prst="rect">
            <a:avLst/>
          </a:prstGeom>
          <a:noFill/>
          <a:ln/>
        </p:spPr>
        <p:txBody>
          <a:bodyPr wrap="square" lIns="0" tIns="0" rIns="0" bIns="0" rtlCol="0" anchor="t"/>
          <a:lstStyle/>
          <a:p>
            <a:pPr indent="0" marL="0">
              <a:buNone/>
            </a:pPr>
            <a:r>
              <a:rPr lang="en-US" sz="1200" b="1" dirty="0">
                <a:solidFill>
                  <a:schemeClr val="accent1"/>
                </a:solidFill>
              </a:rPr>
              <a:t>AfriPlan Engine</a:t>
            </a:r>
            <a:endParaRPr lang="en-US" sz="1200" dirty="0"/>
          </a:p>
        </p:txBody>
      </p:sp>
      <p:sp>
        <p:nvSpPr>
          <p:cNvPr id="26" name="os step text 3"/>
          <p:cNvSpPr txBox="1"/>
          <p:nvPr/>
        </p:nvSpPr>
        <p:spPr>
          <a:xfrm>
            <a:off x="6446520" y="3200400"/>
            <a:ext cx="2148840" cy="1280160"/>
          </a:xfrm>
          <a:prstGeom prst="rect">
            <a:avLst/>
          </a:prstGeom>
          <a:noFill/>
          <a:ln/>
        </p:spPr>
        <p:txBody>
          <a:bodyPr wrap="square" lIns="0" tIns="0" rIns="0" bIns="0" rtlCol="0" anchor="t"/>
          <a:lstStyle/>
          <a:p>
            <a:pPr indent="0" marL="0">
              <a:buNone/>
            </a:pPr>
            <a:r>
              <a:rPr lang="en-US" sz="1300" dirty="0">
                <a:solidFill>
                  <a:schemeClr val="tx2"/>
                </a:solidFill>
              </a:rPr>
              <a:t>checks every form, reads the CAD set, combines both readers, prices once</a:t>
            </a:r>
            <a:endParaRPr lang="en-US" sz="1300" dirty="0"/>
          </a:p>
        </p:txBody>
      </p:sp>
      <p:sp>
        <p:nvSpPr>
          <p:cNvPr id="27" name="Shape 21"/>
          <p:cNvSpPr/>
          <p:nvPr/>
        </p:nvSpPr>
        <p:spPr>
          <a:xfrm>
            <a:off x="8796528" y="2971800"/>
            <a:ext cx="237744" cy="0"/>
          </a:xfrm>
          <a:prstGeom prst="line">
            <a:avLst/>
          </a:prstGeom>
          <a:noFill/>
          <a:ln w="25400">
            <a:solidFill>
              <a:srgbClr val="8B8781"/>
            </a:solidFill>
            <a:prstDash val="solid"/>
            <a:tailEnd type="triangle"/>
          </a:ln>
        </p:spPr>
      </p:sp>
      <p:sp>
        <p:nvSpPr>
          <p:cNvPr id="28" name="os step 4"/>
          <p:cNvSpPr/>
          <p:nvPr/>
        </p:nvSpPr>
        <p:spPr>
          <a:xfrm>
            <a:off x="9052560" y="1417320"/>
            <a:ext cx="2560320" cy="3154680"/>
          </a:xfrm>
          <a:prstGeom prst="rect">
            <a:avLst/>
          </a:prstGeom>
          <a:solidFill>
            <a:schemeClr val="bg1"/>
          </a:solidFill>
          <a:ln w="9525">
            <a:solidFill>
              <a:srgbClr val="D8D3CB"/>
            </a:solidFill>
            <a:prstDash val="solid"/>
          </a:ln>
        </p:spPr>
      </p:sp>
      <p:sp>
        <p:nvSpPr>
          <p:cNvPr id="29" name="os step 4 circle"/>
          <p:cNvSpPr/>
          <p:nvPr/>
        </p:nvSpPr>
        <p:spPr>
          <a:xfrm>
            <a:off x="9281160" y="1645920"/>
            <a:ext cx="731520" cy="731520"/>
          </a:xfrm>
          <a:prstGeom prst="ellipse">
            <a:avLst/>
          </a:prstGeom>
          <a:solidFill>
            <a:srgbClr val="8E1B1B"/>
          </a:solidFill>
          <a:ln w="12700">
            <a:solidFill>
              <a:srgbClr val="8E1B1B"/>
            </a:solidFill>
            <a:prstDash val="solid"/>
          </a:ln>
        </p:spPr>
      </p:sp>
      <p:pic>
        <p:nvPicPr>
          <p:cNvPr id="30" name="os step 4 icon" descr="preencoded.png">    </p:cNvPr>
          <p:cNvPicPr>
            <a:picLocks noChangeAspect="1"/>
          </p:cNvPicPr>
          <p:nvPr/>
        </p:nvPicPr>
        <p:blipFill>
          <a:blip r:embed="rId4"/>
          <a:stretch>
            <a:fillRect/>
          </a:stretch>
        </p:blipFill>
        <p:spPr>
          <a:xfrm>
            <a:off x="9471355" y="1836115"/>
            <a:ext cx="351130" cy="351130"/>
          </a:xfrm>
          <a:prstGeom prst="rect">
            <a:avLst/>
          </a:prstGeom>
        </p:spPr>
      </p:pic>
      <p:sp>
        <p:nvSpPr>
          <p:cNvPr id="31" name="os step title 4"/>
          <p:cNvSpPr txBox="1"/>
          <p:nvPr/>
        </p:nvSpPr>
        <p:spPr>
          <a:xfrm>
            <a:off x="9281160" y="2514600"/>
            <a:ext cx="2194560" cy="365760"/>
          </a:xfrm>
          <a:prstGeom prst="rect">
            <a:avLst/>
          </a:prstGeom>
          <a:noFill/>
          <a:ln/>
        </p:spPr>
        <p:txBody>
          <a:bodyPr wrap="square" lIns="0" tIns="0" rIns="0" bIns="0" rtlCol="0" anchor="t"/>
          <a:lstStyle/>
          <a:p>
            <a:pPr indent="0" marL="0">
              <a:buNone/>
            </a:pPr>
            <a:r>
              <a:rPr lang="en-US" sz="1800" b="1" dirty="0">
                <a:solidFill>
                  <a:schemeClr val="tx1"/>
                </a:solidFill>
              </a:rPr>
              <a:t>AfriPlan_Output</a:t>
            </a:r>
            <a:endParaRPr lang="en-US" sz="1800" dirty="0"/>
          </a:p>
        </p:txBody>
      </p:sp>
      <p:sp>
        <p:nvSpPr>
          <p:cNvPr id="32" name="os step who 4"/>
          <p:cNvSpPr txBox="1"/>
          <p:nvPr/>
        </p:nvSpPr>
        <p:spPr>
          <a:xfrm>
            <a:off x="9281160" y="2880360"/>
            <a:ext cx="2240280" cy="292608"/>
          </a:xfrm>
          <a:prstGeom prst="rect">
            <a:avLst/>
          </a:prstGeom>
          <a:noFill/>
          <a:ln/>
        </p:spPr>
        <p:txBody>
          <a:bodyPr wrap="square" lIns="0" tIns="0" rIns="0" bIns="0" rtlCol="0" anchor="t"/>
          <a:lstStyle/>
          <a:p>
            <a:pPr indent="0" marL="0">
              <a:buNone/>
            </a:pPr>
            <a:r>
              <a:rPr lang="en-US" sz="1200" b="1" dirty="0">
                <a:solidFill>
                  <a:schemeClr val="accent1"/>
                </a:solidFill>
              </a:rPr>
              <a:t>in the project folder</a:t>
            </a:r>
            <a:endParaRPr lang="en-US" sz="1200" dirty="0"/>
          </a:p>
        </p:txBody>
      </p:sp>
      <p:sp>
        <p:nvSpPr>
          <p:cNvPr id="33" name="os step text 4"/>
          <p:cNvSpPr txBox="1"/>
          <p:nvPr/>
        </p:nvSpPr>
        <p:spPr>
          <a:xfrm>
            <a:off x="9281160" y="3200400"/>
            <a:ext cx="2148840" cy="1280160"/>
          </a:xfrm>
          <a:prstGeom prst="rect">
            <a:avLst/>
          </a:prstGeom>
          <a:noFill/>
          <a:ln/>
        </p:spPr>
        <p:txBody>
          <a:bodyPr wrap="square" lIns="0" tIns="0" rIns="0" bIns="0" rtlCol="0" anchor="t"/>
          <a:lstStyle/>
          <a:p>
            <a:pPr indent="0" marL="0">
              <a:buNone/>
            </a:pPr>
            <a:r>
              <a:rPr lang="en-US" sz="1300" dirty="0">
                <a:solidFill>
                  <a:schemeClr val="tx2"/>
                </a:solidFill>
              </a:rPr>
              <a:t>Excel + PDF BoQ, things to check, summary — and an accuracy report when scored</a:t>
            </a:r>
            <a:endParaRPr lang="en-US" sz="1300" dirty="0"/>
          </a:p>
        </p:txBody>
      </p:sp>
      <p:sp>
        <p:nvSpPr>
          <p:cNvPr id="34" name="command box"/>
          <p:cNvSpPr/>
          <p:nvPr/>
        </p:nvSpPr>
        <p:spPr>
          <a:xfrm>
            <a:off x="548640" y="4800600"/>
            <a:ext cx="11064240" cy="1051560"/>
          </a:xfrm>
          <a:prstGeom prst="roundRect">
            <a:avLst>
              <a:gd name="adj" fmla="val 8696"/>
            </a:avLst>
          </a:prstGeom>
          <a:solidFill>
            <a:schemeClr val="tx1"/>
          </a:solidFill>
          <a:ln w="12700">
            <a:solidFill>
              <a:srgbClr val="14151A"/>
            </a:solidFill>
            <a:prstDash val="solid"/>
          </a:ln>
        </p:spPr>
      </p:sp>
      <p:sp>
        <p:nvSpPr>
          <p:cNvPr id="35" name="command text"/>
          <p:cNvSpPr txBox="1"/>
          <p:nvPr/>
        </p:nvSpPr>
        <p:spPr>
          <a:xfrm>
            <a:off x="822960" y="4919472"/>
            <a:ext cx="10607040" cy="822960"/>
          </a:xfrm>
          <a:prstGeom prst="rect">
            <a:avLst/>
          </a:prstGeom>
          <a:noFill/>
          <a:ln/>
        </p:spPr>
        <p:txBody>
          <a:bodyPr wrap="square" lIns="0" tIns="0" rIns="0" bIns="0" rtlCol="0" anchor="ctr"/>
          <a:lstStyle/>
          <a:p>
            <a:pPr indent="0" marL="0">
              <a:buNone/>
            </a:pPr>
            <a:r>
              <a:rPr lang="en-US" sz="1400" b="1" dirty="0">
                <a:solidFill>
                  <a:schemeClr val="accent2"/>
                </a:solidFill>
              </a:rPr>
              <a:t>Say to the AI brain:  </a:t>
            </a:r>
            <a:pPr indent="0" marL="0">
              <a:buNone/>
            </a:pPr>
            <a:r>
              <a:rPr lang="en-US" sz="1400" dirty="0">
                <a:solidFill>
                  <a:schemeClr val="bg1"/>
                </a:solidFill>
              </a:rPr>
              <a:t>estimate the project in C:\Projects\My Job</a:t>
            </a:r>
            <a:endParaRPr lang="en-US" sz="1400" dirty="0"/>
          </a:p>
          <a:p>
            <a:pPr indent="0" marL="0">
              <a:buNone/>
            </a:pPr>
            <a:r>
              <a:rPr lang="en-US" sz="1400" b="1" dirty="0">
                <a:solidFill>
                  <a:schemeClr val="accent2"/>
                </a:solidFill>
              </a:rPr>
              <a:t>Where:  </a:t>
            </a:r>
            <a:pPr indent="0" marL="0">
              <a:buNone/>
            </a:pPr>
            <a:r>
              <a:rPr lang="en-US" sz="1400" dirty="0">
                <a:solidFill>
                  <a:schemeClr val="bg1"/>
                </a:solidFill>
              </a:rPr>
              <a:t>in your code editor (IDE) with the project folder open — the result lands in AfriPlan_Output</a:t>
            </a:r>
            <a:endParaRPr lang="en-US" sz="14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HOW ACCURATE IS IT</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Reading accuracy today: 67.5 % on a real 7-building project</a:t>
            </a:r>
            <a:endParaRPr lang="en-US" sz="2600" dirty="0"/>
          </a:p>
        </p:txBody>
      </p:sp>
      <p:graphicFrame>
        <p:nvGraphicFramePr>
          <p:cNvPr id="7" name="Chart 0" descr=""/>
          <p:cNvGraphicFramePr/>
          <p:nvPr/>
        </p:nvGraphicFramePr>
        <p:xfrm>
          <a:off x="548640" y="1371600"/>
          <a:ext cx="7589520" cy="4526280"/>
        </p:xfrm>
        <a:graphic xmlns:a="http://schemas.openxmlformats.org/drawingml/2006/main">
          <a:graphicData uri="http://schemas.openxmlformats.org/drawingml/2006/chart">
            <c:chart xmlns:c="http://schemas.openxmlformats.org/drawingml/2006/chart" r:id="rId1"/>
          </a:graphicData>
        </a:graphic>
      </p:graphicFrame>
      <p:sp>
        <p:nvSpPr>
          <p:cNvPr id="8" name="reading stat 1"/>
          <p:cNvSpPr/>
          <p:nvPr/>
        </p:nvSpPr>
        <p:spPr>
          <a:xfrm>
            <a:off x="8412480" y="1463040"/>
            <a:ext cx="3200400" cy="1280160"/>
          </a:xfrm>
          <a:prstGeom prst="rect">
            <a:avLst/>
          </a:prstGeom>
          <a:solidFill>
            <a:schemeClr val="bg2"/>
          </a:solidFill>
          <a:ln w="9525">
            <a:solidFill>
              <a:srgbClr val="D8D3CB"/>
            </a:solidFill>
            <a:prstDash val="solid"/>
          </a:ln>
        </p:spPr>
      </p:sp>
      <p:sp>
        <p:nvSpPr>
          <p:cNvPr id="9" name="reading stat value 1"/>
          <p:cNvSpPr txBox="1"/>
          <p:nvPr/>
        </p:nvSpPr>
        <p:spPr>
          <a:xfrm>
            <a:off x="8641080" y="1600200"/>
            <a:ext cx="2834640" cy="54864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67.5 %</a:t>
            </a:r>
            <a:endParaRPr lang="en-US" sz="3000" dirty="0"/>
          </a:p>
        </p:txBody>
      </p:sp>
      <p:sp>
        <p:nvSpPr>
          <p:cNvPr id="10" name="reading stat text 1"/>
          <p:cNvSpPr txBox="1"/>
          <p:nvPr/>
        </p:nvSpPr>
        <p:spPr>
          <a:xfrm>
            <a:off x="8641080" y="2194560"/>
            <a:ext cx="2834640" cy="457200"/>
          </a:xfrm>
          <a:prstGeom prst="rect">
            <a:avLst/>
          </a:prstGeom>
          <a:noFill/>
          <a:ln/>
        </p:spPr>
        <p:txBody>
          <a:bodyPr wrap="square" lIns="0" tIns="0" rIns="0" bIns="0" rtlCol="0" anchor="t"/>
          <a:lstStyle/>
          <a:p>
            <a:pPr indent="0" marL="0">
              <a:buNone/>
            </a:pPr>
            <a:r>
              <a:rPr lang="en-US" sz="1200" dirty="0">
                <a:solidFill>
                  <a:schemeClr val="tx2"/>
                </a:solidFill>
              </a:rPr>
              <a:t>reading score of the delivered bill</a:t>
            </a:r>
            <a:endParaRPr lang="en-US" sz="1200" dirty="0"/>
          </a:p>
        </p:txBody>
      </p:sp>
      <p:sp>
        <p:nvSpPr>
          <p:cNvPr id="11" name="reading stat 2"/>
          <p:cNvSpPr/>
          <p:nvPr/>
        </p:nvSpPr>
        <p:spPr>
          <a:xfrm>
            <a:off x="8412480" y="2926080"/>
            <a:ext cx="3200400" cy="1280160"/>
          </a:xfrm>
          <a:prstGeom prst="rect">
            <a:avLst/>
          </a:prstGeom>
          <a:solidFill>
            <a:schemeClr val="bg1"/>
          </a:solidFill>
          <a:ln w="9525">
            <a:solidFill>
              <a:srgbClr val="D8D3CB"/>
            </a:solidFill>
            <a:prstDash val="solid"/>
          </a:ln>
        </p:spPr>
      </p:sp>
      <p:sp>
        <p:nvSpPr>
          <p:cNvPr id="12" name="reading stat value 2"/>
          <p:cNvSpPr txBox="1"/>
          <p:nvPr/>
        </p:nvSpPr>
        <p:spPr>
          <a:xfrm>
            <a:off x="8641080" y="3063240"/>
            <a:ext cx="2834640" cy="54864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69 %</a:t>
            </a:r>
            <a:endParaRPr lang="en-US" sz="3000" dirty="0"/>
          </a:p>
        </p:txBody>
      </p:sp>
      <p:sp>
        <p:nvSpPr>
          <p:cNvPr id="13" name="reading stat text 2"/>
          <p:cNvSpPr txBox="1"/>
          <p:nvPr/>
        </p:nvSpPr>
        <p:spPr>
          <a:xfrm>
            <a:off x="8641080" y="3657600"/>
            <a:ext cx="2834640" cy="457200"/>
          </a:xfrm>
          <a:prstGeom prst="rect">
            <a:avLst/>
          </a:prstGeom>
          <a:noFill/>
          <a:ln/>
        </p:spPr>
        <p:txBody>
          <a:bodyPr wrap="square" lIns="0" tIns="0" rIns="0" bIns="0" rtlCol="0" anchor="t"/>
          <a:lstStyle/>
          <a:p>
            <a:pPr indent="0" marL="0">
              <a:buNone/>
            </a:pPr>
            <a:r>
              <a:rPr lang="en-US" sz="1200" dirty="0">
                <a:solidFill>
                  <a:schemeClr val="tx2"/>
                </a:solidFill>
              </a:rPr>
              <a:t>of the bill's value is judged as reading</a:t>
            </a:r>
            <a:endParaRPr lang="en-US" sz="1200" dirty="0"/>
          </a:p>
        </p:txBody>
      </p:sp>
      <p:sp>
        <p:nvSpPr>
          <p:cNvPr id="14" name="reading stat 3"/>
          <p:cNvSpPr/>
          <p:nvPr/>
        </p:nvSpPr>
        <p:spPr>
          <a:xfrm>
            <a:off x="8412480" y="4389120"/>
            <a:ext cx="3200400" cy="1280160"/>
          </a:xfrm>
          <a:prstGeom prst="rect">
            <a:avLst/>
          </a:prstGeom>
          <a:solidFill>
            <a:schemeClr val="bg1"/>
          </a:solidFill>
          <a:ln w="9525">
            <a:solidFill>
              <a:srgbClr val="D8D3CB"/>
            </a:solidFill>
            <a:prstDash val="solid"/>
          </a:ln>
        </p:spPr>
      </p:sp>
      <p:sp>
        <p:nvSpPr>
          <p:cNvPr id="15" name="reading stat value 3"/>
          <p:cNvSpPr txBox="1"/>
          <p:nvPr/>
        </p:nvSpPr>
        <p:spPr>
          <a:xfrm>
            <a:off x="8641080" y="4526280"/>
            <a:ext cx="2834640" cy="548640"/>
          </a:xfrm>
          <a:prstGeom prst="rect">
            <a:avLst/>
          </a:prstGeom>
          <a:noFill/>
          <a:ln/>
        </p:spPr>
        <p:txBody>
          <a:bodyPr wrap="square" lIns="0" tIns="0" rIns="0" bIns="0" rtlCol="0" anchor="t"/>
          <a:lstStyle/>
          <a:p>
            <a:pPr indent="0" marL="0">
              <a:buNone/>
            </a:pPr>
            <a:r>
              <a:rPr lang="en-US" sz="2400" b="1" dirty="0">
                <a:solidFill>
                  <a:schemeClr val="accent1"/>
                </a:solidFill>
                <a:latin typeface="Arial" pitchFamily="34" charset="0"/>
                <a:ea typeface="Arial" pitchFamily="34" charset="-122"/>
                <a:cs typeface="Arial" pitchFamily="34" charset="-120"/>
              </a:rPr>
              <a:t>29 % + 1.6 %</a:t>
            </a:r>
            <a:endParaRPr lang="en-US" sz="2400" dirty="0"/>
          </a:p>
        </p:txBody>
      </p:sp>
      <p:sp>
        <p:nvSpPr>
          <p:cNvPr id="16" name="reading stat text 3"/>
          <p:cNvSpPr txBox="1"/>
          <p:nvPr/>
        </p:nvSpPr>
        <p:spPr>
          <a:xfrm>
            <a:off x="8641080" y="5120640"/>
            <a:ext cx="2834640" cy="457200"/>
          </a:xfrm>
          <a:prstGeom prst="rect">
            <a:avLst/>
          </a:prstGeom>
          <a:noFill/>
          <a:ln/>
        </p:spPr>
        <p:txBody>
          <a:bodyPr wrap="square" lIns="0" tIns="0" rIns="0" bIns="0" rtlCol="0" anchor="t"/>
          <a:lstStyle/>
          <a:p>
            <a:pPr indent="0" marL="0">
              <a:buNone/>
            </a:pPr>
            <a:r>
              <a:rPr lang="en-US" sz="1200" dirty="0">
                <a:solidFill>
                  <a:schemeClr val="tx2"/>
                </a:solidFill>
              </a:rPr>
              <a:t>derived material and allowances — left out, judged later</a:t>
            </a:r>
            <a:endParaRPr lang="en-US" sz="1200" dirty="0"/>
          </a:p>
        </p:txBody>
      </p:sp>
      <p:sp>
        <p:nvSpPr>
          <p:cNvPr id="17" name="source"/>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950" dirty="0">
                <a:solidFill>
                  <a:schemeClr val="accent6"/>
                </a:solidFill>
              </a:rPr>
              <a:t>Reference = the quantity surveyor's priced bill for the same project — see the next slide for why that is not a perfect answer key.</a:t>
            </a:r>
            <a:endParaRPr lang="en-US" sz="95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HOW ACCURATE IS IT</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Accuracy conclusion: what is proven, what is not yet</a:t>
            </a:r>
            <a:endParaRPr lang="en-US" sz="2600" dirty="0"/>
          </a:p>
        </p:txBody>
      </p:sp>
      <p:sp>
        <p:nvSpPr>
          <p:cNvPr id="7" name="PROVEN card"/>
          <p:cNvSpPr/>
          <p:nvPr/>
        </p:nvSpPr>
        <p:spPr>
          <a:xfrm>
            <a:off x="548640" y="1417320"/>
            <a:ext cx="3566160" cy="3291840"/>
          </a:xfrm>
          <a:prstGeom prst="rect">
            <a:avLst/>
          </a:prstGeom>
          <a:solidFill>
            <a:schemeClr val="bg2"/>
          </a:solidFill>
          <a:ln w="9525">
            <a:solidFill>
              <a:srgbClr val="D8D3CB"/>
            </a:solidFill>
            <a:prstDash val="solid"/>
          </a:ln>
        </p:spPr>
      </p:sp>
      <p:sp>
        <p:nvSpPr>
          <p:cNvPr id="8" name="PROVEN circle"/>
          <p:cNvSpPr/>
          <p:nvPr/>
        </p:nvSpPr>
        <p:spPr>
          <a:xfrm>
            <a:off x="777240" y="1600200"/>
            <a:ext cx="640080" cy="640080"/>
          </a:xfrm>
          <a:prstGeom prst="ellipse">
            <a:avLst/>
          </a:prstGeom>
          <a:solidFill>
            <a:srgbClr val="3F7D58"/>
          </a:solidFill>
          <a:ln w="12700">
            <a:solidFill>
              <a:srgbClr val="3F7D58"/>
            </a:solidFill>
            <a:prstDash val="solid"/>
          </a:ln>
        </p:spPr>
      </p:sp>
      <p:pic>
        <p:nvPicPr>
          <p:cNvPr id="9" name="PROVEN icon" descr="preencoded.png">    </p:cNvPr>
          <p:cNvPicPr>
            <a:picLocks noChangeAspect="1"/>
          </p:cNvPicPr>
          <p:nvPr/>
        </p:nvPicPr>
        <p:blipFill>
          <a:blip r:embed="rId1"/>
          <a:stretch>
            <a:fillRect/>
          </a:stretch>
        </p:blipFill>
        <p:spPr>
          <a:xfrm>
            <a:off x="943661" y="1766621"/>
            <a:ext cx="307238" cy="307238"/>
          </a:xfrm>
          <a:prstGeom prst="rect">
            <a:avLst/>
          </a:prstGeom>
        </p:spPr>
      </p:pic>
      <p:sp>
        <p:nvSpPr>
          <p:cNvPr id="10" name="PROVEN tag"/>
          <p:cNvSpPr/>
          <p:nvPr/>
        </p:nvSpPr>
        <p:spPr>
          <a:xfrm>
            <a:off x="1554480" y="1737360"/>
            <a:ext cx="1828800" cy="384048"/>
          </a:xfrm>
          <a:prstGeom prst="roundRect">
            <a:avLst>
              <a:gd name="adj" fmla="val 50000"/>
            </a:avLst>
          </a:prstGeom>
          <a:solidFill>
            <a:srgbClr val="3F7D58"/>
          </a:solidFill>
          <a:ln w="12700">
            <a:solidFill>
              <a:srgbClr val="3F7D58"/>
            </a:solidFill>
            <a:prstDash val="solid"/>
          </a:ln>
        </p:spPr>
      </p:sp>
      <p:sp>
        <p:nvSpPr>
          <p:cNvPr id="11" name="PROVEN tag text"/>
          <p:cNvSpPr txBox="1"/>
          <p:nvPr/>
        </p:nvSpPr>
        <p:spPr>
          <a:xfrm>
            <a:off x="1554480" y="1737360"/>
            <a:ext cx="1828800" cy="384048"/>
          </a:xfrm>
          <a:prstGeom prst="rect">
            <a:avLst/>
          </a:prstGeom>
          <a:noFill/>
          <a:ln/>
        </p:spPr>
        <p:txBody>
          <a:bodyPr wrap="square" lIns="0" tIns="0" rIns="0" bIns="0" rtlCol="0" anchor="ctr"/>
          <a:lstStyle/>
          <a:p>
            <a:pPr algn="ctr" indent="0" marL="0">
              <a:buNone/>
            </a:pPr>
            <a:r>
              <a:rPr lang="en-US" sz="1300" b="1" dirty="0">
                <a:solidFill>
                  <a:srgbClr val="F5F3EF"/>
                </a:solidFill>
              </a:rPr>
              <a:t>PROVEN</a:t>
            </a:r>
            <a:endParaRPr lang="en-US" sz="1300" dirty="0"/>
          </a:p>
        </p:txBody>
      </p:sp>
      <p:sp>
        <p:nvSpPr>
          <p:cNvPr id="12" name="PROVEN points"/>
          <p:cNvSpPr txBox="1"/>
          <p:nvPr/>
        </p:nvSpPr>
        <p:spPr>
          <a:xfrm>
            <a:off x="731520" y="2377440"/>
            <a:ext cx="3246120" cy="228600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chemeClr val="tx1"/>
                </a:solidFill>
              </a:rPr>
              <a:t>Single-line diagrams: 13 / 13 boards and 13 / 13 feeder sizes — PDF = CAD</a:t>
            </a:r>
            <a:endParaRPr lang="en-US" sz="1500" dirty="0"/>
          </a:p>
          <a:p>
            <a:pPr marL="342900" indent="-342900">
              <a:spcAft>
                <a:spcPts val="1200"/>
              </a:spcAft>
              <a:buSzPct val="100000"/>
              <a:buChar char="•"/>
            </a:pPr>
            <a:r>
              <a:rPr lang="en-US" sz="1500" dirty="0">
                <a:solidFill>
                  <a:schemeClr val="tx1"/>
                </a:solidFill>
              </a:rPr>
              <a:t>A person checked 20 items: 19 correct, 0 wrong, 1 blank</a:t>
            </a:r>
            <a:endParaRPr lang="en-US" sz="1500" dirty="0"/>
          </a:p>
          <a:p>
            <a:pPr marL="342900" indent="-342900">
              <a:spcAft>
                <a:spcPts val="1200"/>
              </a:spcAft>
              <a:buSzPct val="100000"/>
              <a:buChar char="•"/>
            </a:pPr>
            <a:r>
              <a:rPr lang="en-US" sz="1500" dirty="0">
                <a:solidFill>
                  <a:schemeClr val="tx1"/>
                </a:solidFill>
              </a:rPr>
              <a:t>Every bill line says where it comes from</a:t>
            </a:r>
            <a:endParaRPr lang="en-US" sz="1500" dirty="0"/>
          </a:p>
        </p:txBody>
      </p:sp>
      <p:sp>
        <p:nvSpPr>
          <p:cNvPr id="13" name="NOT YET card"/>
          <p:cNvSpPr/>
          <p:nvPr/>
        </p:nvSpPr>
        <p:spPr>
          <a:xfrm>
            <a:off x="4297680" y="1417320"/>
            <a:ext cx="3566160" cy="3291840"/>
          </a:xfrm>
          <a:prstGeom prst="rect">
            <a:avLst/>
          </a:prstGeom>
          <a:solidFill>
            <a:schemeClr val="bg1"/>
          </a:solidFill>
          <a:ln w="9525">
            <a:solidFill>
              <a:srgbClr val="D8D3CB"/>
            </a:solidFill>
            <a:prstDash val="solid"/>
          </a:ln>
        </p:spPr>
      </p:sp>
      <p:sp>
        <p:nvSpPr>
          <p:cNvPr id="14" name="NOT YET circle"/>
          <p:cNvSpPr/>
          <p:nvPr/>
        </p:nvSpPr>
        <p:spPr>
          <a:xfrm>
            <a:off x="4526280" y="1600200"/>
            <a:ext cx="640080" cy="640080"/>
          </a:xfrm>
          <a:prstGeom prst="ellipse">
            <a:avLst/>
          </a:prstGeom>
          <a:solidFill>
            <a:srgbClr val="C9A15A"/>
          </a:solidFill>
          <a:ln w="12700">
            <a:solidFill>
              <a:srgbClr val="C9A15A"/>
            </a:solidFill>
            <a:prstDash val="solid"/>
          </a:ln>
        </p:spPr>
      </p:sp>
      <p:pic>
        <p:nvPicPr>
          <p:cNvPr id="15" name="NOT YET icon" descr="preencoded.png">    </p:cNvPr>
          <p:cNvPicPr>
            <a:picLocks noChangeAspect="1"/>
          </p:cNvPicPr>
          <p:nvPr/>
        </p:nvPicPr>
        <p:blipFill>
          <a:blip r:embed="rId2"/>
          <a:stretch>
            <a:fillRect/>
          </a:stretch>
        </p:blipFill>
        <p:spPr>
          <a:xfrm>
            <a:off x="4692701" y="1766621"/>
            <a:ext cx="307238" cy="307238"/>
          </a:xfrm>
          <a:prstGeom prst="rect">
            <a:avLst/>
          </a:prstGeom>
        </p:spPr>
      </p:pic>
      <p:sp>
        <p:nvSpPr>
          <p:cNvPr id="16" name="NOT YET tag"/>
          <p:cNvSpPr/>
          <p:nvPr/>
        </p:nvSpPr>
        <p:spPr>
          <a:xfrm>
            <a:off x="5303520" y="1737360"/>
            <a:ext cx="1828800" cy="384048"/>
          </a:xfrm>
          <a:prstGeom prst="roundRect">
            <a:avLst>
              <a:gd name="adj" fmla="val 50000"/>
            </a:avLst>
          </a:prstGeom>
          <a:solidFill>
            <a:srgbClr val="C9A15A"/>
          </a:solidFill>
          <a:ln w="12700">
            <a:solidFill>
              <a:srgbClr val="C9A15A"/>
            </a:solidFill>
            <a:prstDash val="solid"/>
          </a:ln>
        </p:spPr>
      </p:sp>
      <p:sp>
        <p:nvSpPr>
          <p:cNvPr id="17" name="NOT YET tag text"/>
          <p:cNvSpPr txBox="1"/>
          <p:nvPr/>
        </p:nvSpPr>
        <p:spPr>
          <a:xfrm>
            <a:off x="5303520" y="1737360"/>
            <a:ext cx="1828800" cy="384048"/>
          </a:xfrm>
          <a:prstGeom prst="rect">
            <a:avLst/>
          </a:prstGeom>
          <a:noFill/>
          <a:ln/>
        </p:spPr>
        <p:txBody>
          <a:bodyPr wrap="square" lIns="0" tIns="0" rIns="0" bIns="0" rtlCol="0" anchor="ctr"/>
          <a:lstStyle/>
          <a:p>
            <a:pPr algn="ctr" indent="0" marL="0">
              <a:buNone/>
            </a:pPr>
            <a:r>
              <a:rPr lang="en-US" sz="1300" b="1" dirty="0">
                <a:solidFill>
                  <a:srgbClr val="14151A"/>
                </a:solidFill>
              </a:rPr>
              <a:t>NOT YET</a:t>
            </a:r>
            <a:endParaRPr lang="en-US" sz="1300" dirty="0"/>
          </a:p>
        </p:txBody>
      </p:sp>
      <p:sp>
        <p:nvSpPr>
          <p:cNvPr id="18" name="NOT YET points"/>
          <p:cNvSpPr txBox="1"/>
          <p:nvPr/>
        </p:nvSpPr>
        <p:spPr>
          <a:xfrm>
            <a:off x="4480560" y="2377440"/>
            <a:ext cx="3246120" cy="228600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chemeClr val="tx1"/>
                </a:solidFill>
              </a:rPr>
              <a:t>Counting symbols on layouts — sockets and switches 1.6× to 4× too many</a:t>
            </a:r>
            <a:endParaRPr lang="en-US" sz="1500" dirty="0"/>
          </a:p>
          <a:p>
            <a:pPr marL="342900" indent="-342900">
              <a:spcAft>
                <a:spcPts val="1200"/>
              </a:spcAft>
              <a:buSzPct val="100000"/>
              <a:buChar char="•"/>
            </a:pPr>
            <a:r>
              <a:rPr lang="en-US" sz="1500" dirty="0">
                <a:solidFill>
                  <a:schemeClr val="tx1"/>
                </a:solidFill>
              </a:rPr>
              <a:t>Cable lengths; sleeves and manholes on the site plan</a:t>
            </a:r>
            <a:endParaRPr lang="en-US" sz="1500" dirty="0"/>
          </a:p>
          <a:p>
            <a:pPr marL="342900" indent="-342900">
              <a:spcAft>
                <a:spcPts val="1200"/>
              </a:spcAft>
              <a:buSzPct val="100000"/>
              <a:buChar char="•"/>
            </a:pPr>
            <a:r>
              <a:rPr lang="en-US" sz="1500" dirty="0">
                <a:solidFill>
                  <a:schemeClr val="tx1"/>
                </a:solidFill>
              </a:rPr>
              <a:t>Tested on one real project only</a:t>
            </a:r>
            <a:endParaRPr lang="en-US" sz="1500" dirty="0"/>
          </a:p>
        </p:txBody>
      </p:sp>
      <p:sp>
        <p:nvSpPr>
          <p:cNvPr id="19" name="NOT JUDGED card"/>
          <p:cNvSpPr/>
          <p:nvPr/>
        </p:nvSpPr>
        <p:spPr>
          <a:xfrm>
            <a:off x="8046720" y="1417320"/>
            <a:ext cx="3566160" cy="3291840"/>
          </a:xfrm>
          <a:prstGeom prst="rect">
            <a:avLst/>
          </a:prstGeom>
          <a:solidFill>
            <a:schemeClr val="bg1"/>
          </a:solidFill>
          <a:ln w="9525">
            <a:solidFill>
              <a:srgbClr val="D8D3CB"/>
            </a:solidFill>
            <a:prstDash val="solid"/>
          </a:ln>
        </p:spPr>
      </p:sp>
      <p:sp>
        <p:nvSpPr>
          <p:cNvPr id="20" name="NOT JUDGED circle"/>
          <p:cNvSpPr/>
          <p:nvPr/>
        </p:nvSpPr>
        <p:spPr>
          <a:xfrm>
            <a:off x="8275320" y="1600200"/>
            <a:ext cx="640080" cy="640080"/>
          </a:xfrm>
          <a:prstGeom prst="ellipse">
            <a:avLst/>
          </a:prstGeom>
          <a:solidFill>
            <a:srgbClr val="8B8781"/>
          </a:solidFill>
          <a:ln w="12700">
            <a:solidFill>
              <a:srgbClr val="8B8781"/>
            </a:solidFill>
            <a:prstDash val="solid"/>
          </a:ln>
        </p:spPr>
      </p:sp>
      <p:pic>
        <p:nvPicPr>
          <p:cNvPr id="21" name="NOT JUDGED icon" descr="preencoded.png">    </p:cNvPr>
          <p:cNvPicPr>
            <a:picLocks noChangeAspect="1"/>
          </p:cNvPicPr>
          <p:nvPr/>
        </p:nvPicPr>
        <p:blipFill>
          <a:blip r:embed="rId3"/>
          <a:stretch>
            <a:fillRect/>
          </a:stretch>
        </p:blipFill>
        <p:spPr>
          <a:xfrm>
            <a:off x="8441741" y="1766621"/>
            <a:ext cx="307238" cy="307238"/>
          </a:xfrm>
          <a:prstGeom prst="rect">
            <a:avLst/>
          </a:prstGeom>
        </p:spPr>
      </p:pic>
      <p:sp>
        <p:nvSpPr>
          <p:cNvPr id="22" name="NOT JUDGED tag"/>
          <p:cNvSpPr/>
          <p:nvPr/>
        </p:nvSpPr>
        <p:spPr>
          <a:xfrm>
            <a:off x="9052560" y="1737360"/>
            <a:ext cx="1828800" cy="384048"/>
          </a:xfrm>
          <a:prstGeom prst="roundRect">
            <a:avLst>
              <a:gd name="adj" fmla="val 50000"/>
            </a:avLst>
          </a:prstGeom>
          <a:solidFill>
            <a:srgbClr val="8B8781"/>
          </a:solidFill>
          <a:ln w="12700">
            <a:solidFill>
              <a:srgbClr val="8B8781"/>
            </a:solidFill>
            <a:prstDash val="solid"/>
          </a:ln>
        </p:spPr>
      </p:sp>
      <p:sp>
        <p:nvSpPr>
          <p:cNvPr id="23" name="NOT JUDGED tag text"/>
          <p:cNvSpPr txBox="1"/>
          <p:nvPr/>
        </p:nvSpPr>
        <p:spPr>
          <a:xfrm>
            <a:off x="9052560" y="1737360"/>
            <a:ext cx="1828800" cy="384048"/>
          </a:xfrm>
          <a:prstGeom prst="rect">
            <a:avLst/>
          </a:prstGeom>
          <a:noFill/>
          <a:ln/>
        </p:spPr>
        <p:txBody>
          <a:bodyPr wrap="square" lIns="0" tIns="0" rIns="0" bIns="0" rtlCol="0" anchor="ctr"/>
          <a:lstStyle/>
          <a:p>
            <a:pPr algn="ctr" indent="0" marL="0">
              <a:buNone/>
            </a:pPr>
            <a:r>
              <a:rPr lang="en-US" sz="1300" b="1" dirty="0">
                <a:solidFill>
                  <a:srgbClr val="F5F3EF"/>
                </a:solidFill>
              </a:rPr>
              <a:t>NOT JUDGED</a:t>
            </a:r>
            <a:endParaRPr lang="en-US" sz="1300" dirty="0"/>
          </a:p>
        </p:txBody>
      </p:sp>
      <p:sp>
        <p:nvSpPr>
          <p:cNvPr id="24" name="NOT JUDGED points"/>
          <p:cNvSpPr txBox="1"/>
          <p:nvPr/>
        </p:nvSpPr>
        <p:spPr>
          <a:xfrm>
            <a:off x="8229600" y="2377440"/>
            <a:ext cx="3246120" cy="228600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chemeClr val="tx1"/>
                </a:solidFill>
              </a:rPr>
              <a:t>Derived material (wire, conduit, trench) — about 29 % of the bill's value</a:t>
            </a:r>
            <a:endParaRPr lang="en-US" sz="1500" dirty="0"/>
          </a:p>
          <a:p>
            <a:pPr marL="342900" indent="-342900">
              <a:spcAft>
                <a:spcPts val="1200"/>
              </a:spcAft>
              <a:buSzPct val="100000"/>
              <a:buChar char="•"/>
            </a:pPr>
            <a:r>
              <a:rPr lang="en-US" sz="1500" dirty="0">
                <a:solidFill>
                  <a:schemeClr val="tx1"/>
                </a:solidFill>
              </a:rPr>
              <a:t>Pricing — against the AACE Class 1 range, next</a:t>
            </a:r>
            <a:endParaRPr lang="en-US" sz="1500" dirty="0"/>
          </a:p>
          <a:p>
            <a:pPr marL="342900" indent="-342900">
              <a:spcAft>
                <a:spcPts val="1200"/>
              </a:spcAft>
              <a:buSzPct val="100000"/>
              <a:buChar char="•"/>
            </a:pPr>
            <a:r>
              <a:rPr lang="en-US" sz="1500" dirty="0">
                <a:solidFill>
                  <a:schemeClr val="tx1"/>
                </a:solidFill>
              </a:rPr>
              <a:t>Allowances — about 1.6 %</a:t>
            </a:r>
            <a:endParaRPr lang="en-US" sz="1500" dirty="0"/>
          </a:p>
        </p:txBody>
      </p:sp>
      <p:sp>
        <p:nvSpPr>
          <p:cNvPr id="25" name="verdict card"/>
          <p:cNvSpPr/>
          <p:nvPr/>
        </p:nvSpPr>
        <p:spPr>
          <a:xfrm>
            <a:off x="548640" y="4937760"/>
            <a:ext cx="11064240" cy="822960"/>
          </a:xfrm>
          <a:prstGeom prst="rect">
            <a:avLst/>
          </a:prstGeom>
          <a:solidFill>
            <a:schemeClr val="tx1"/>
          </a:solidFill>
          <a:ln w="9525">
            <a:solidFill>
              <a:srgbClr val="D8D3CB"/>
            </a:solidFill>
            <a:prstDash val="solid"/>
          </a:ln>
        </p:spPr>
      </p:sp>
      <p:sp>
        <p:nvSpPr>
          <p:cNvPr id="26" name="verdict text"/>
          <p:cNvSpPr txBox="1"/>
          <p:nvPr/>
        </p:nvSpPr>
        <p:spPr>
          <a:xfrm>
            <a:off x="777240" y="5001768"/>
            <a:ext cx="10698480" cy="685800"/>
          </a:xfrm>
          <a:prstGeom prst="rect">
            <a:avLst/>
          </a:prstGeom>
          <a:noFill/>
          <a:ln/>
        </p:spPr>
        <p:txBody>
          <a:bodyPr wrap="square" lIns="0" tIns="0" rIns="0" bIns="0" rtlCol="0" anchor="ctr"/>
          <a:lstStyle/>
          <a:p>
            <a:pPr indent="0" marL="0">
              <a:buNone/>
            </a:pPr>
            <a:r>
              <a:rPr lang="en-US" sz="1650" b="1" dirty="0">
                <a:solidFill>
                  <a:schemeClr val="accent2"/>
                </a:solidFill>
              </a:rPr>
              <a:t>Verdict: </a:t>
            </a:r>
            <a:pPr indent="0" marL="0">
              <a:buNone/>
            </a:pPr>
            <a:r>
              <a:rPr lang="en-US" sz="1650" dirty="0">
                <a:solidFill>
                  <a:schemeClr val="bg1"/>
                </a:solidFill>
              </a:rPr>
              <a:t>a traceable first draft that an estimator reviews — ready for pilots, not yet for an unchecked tender total.</a:t>
            </a:r>
            <a:endParaRPr lang="en-US" sz="165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HOW ACCURATE IS IT</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The data plan: what each new project adds</a:t>
            </a:r>
            <a:endParaRPr lang="en-US" sz="2600" dirty="0"/>
          </a:p>
        </p:txBody>
      </p:sp>
      <p:sp>
        <p:nvSpPr>
          <p:cNvPr id="7" name="adds card 1"/>
          <p:cNvSpPr/>
          <p:nvPr/>
        </p:nvSpPr>
        <p:spPr>
          <a:xfrm>
            <a:off x="548640" y="1417320"/>
            <a:ext cx="5669280" cy="932688"/>
          </a:xfrm>
          <a:prstGeom prst="rect">
            <a:avLst/>
          </a:prstGeom>
          <a:solidFill>
            <a:schemeClr val="bg1"/>
          </a:solidFill>
          <a:ln w="9525">
            <a:solidFill>
              <a:srgbClr val="D8D3CB"/>
            </a:solidFill>
            <a:prstDash val="solid"/>
          </a:ln>
        </p:spPr>
      </p:sp>
      <p:sp>
        <p:nvSpPr>
          <p:cNvPr id="8" name="adds 1 circle"/>
          <p:cNvSpPr/>
          <p:nvPr/>
        </p:nvSpPr>
        <p:spPr>
          <a:xfrm>
            <a:off x="731520" y="1563624"/>
            <a:ext cx="640080" cy="640080"/>
          </a:xfrm>
          <a:prstGeom prst="ellipse">
            <a:avLst/>
          </a:prstGeom>
          <a:solidFill>
            <a:srgbClr val="8E1B1B"/>
          </a:solidFill>
          <a:ln w="12700">
            <a:solidFill>
              <a:srgbClr val="8E1B1B"/>
            </a:solidFill>
            <a:prstDash val="solid"/>
          </a:ln>
        </p:spPr>
      </p:sp>
      <p:pic>
        <p:nvPicPr>
          <p:cNvPr id="9" name="adds 1 icon" descr="preencoded.png">    </p:cNvPr>
          <p:cNvPicPr>
            <a:picLocks noChangeAspect="1"/>
          </p:cNvPicPr>
          <p:nvPr/>
        </p:nvPicPr>
        <p:blipFill>
          <a:blip r:embed="rId1"/>
          <a:stretch>
            <a:fillRect/>
          </a:stretch>
        </p:blipFill>
        <p:spPr>
          <a:xfrm>
            <a:off x="897941" y="1730045"/>
            <a:ext cx="307238" cy="307238"/>
          </a:xfrm>
          <a:prstGeom prst="rect">
            <a:avLst/>
          </a:prstGeom>
        </p:spPr>
      </p:pic>
      <p:sp>
        <p:nvSpPr>
          <p:cNvPr id="10" name="adds title 1"/>
          <p:cNvSpPr txBox="1"/>
          <p:nvPr/>
        </p:nvSpPr>
        <p:spPr>
          <a:xfrm>
            <a:off x="1554480" y="1508760"/>
            <a:ext cx="4480560" cy="365760"/>
          </a:xfrm>
          <a:prstGeom prst="rect">
            <a:avLst/>
          </a:prstGeom>
          <a:noFill/>
          <a:ln/>
        </p:spPr>
        <p:txBody>
          <a:bodyPr wrap="square" lIns="0" tIns="0" rIns="0" bIns="0" rtlCol="0" anchor="t"/>
          <a:lstStyle/>
          <a:p>
            <a:pPr indent="0" marL="0">
              <a:buNone/>
            </a:pPr>
            <a:r>
              <a:rPr lang="en-US" sz="1600" b="1" dirty="0">
                <a:solidFill>
                  <a:schemeClr val="tx1"/>
                </a:solidFill>
              </a:rPr>
              <a:t>A test</a:t>
            </a:r>
            <a:endParaRPr lang="en-US" sz="1600" dirty="0"/>
          </a:p>
        </p:txBody>
      </p:sp>
      <p:sp>
        <p:nvSpPr>
          <p:cNvPr id="11" name="adds text 1"/>
          <p:cNvSpPr txBox="1"/>
          <p:nvPr/>
        </p:nvSpPr>
        <p:spPr>
          <a:xfrm>
            <a:off x="1554480" y="1874520"/>
            <a:ext cx="4480560" cy="411480"/>
          </a:xfrm>
          <a:prstGeom prst="rect">
            <a:avLst/>
          </a:prstGeom>
          <a:noFill/>
          <a:ln/>
        </p:spPr>
        <p:txBody>
          <a:bodyPr wrap="square" lIns="0" tIns="0" rIns="0" bIns="0" rtlCol="0" anchor="t"/>
          <a:lstStyle/>
          <a:p>
            <a:pPr indent="0" marL="0">
              <a:buNone/>
            </a:pPr>
            <a:r>
              <a:rPr lang="en-US" sz="1300" dirty="0">
                <a:solidFill>
                  <a:schemeClr val="tx2"/>
                </a:solidFill>
              </a:rPr>
              <a:t>every fix is re-checked on every project — no silent regressions</a:t>
            </a:r>
            <a:endParaRPr lang="en-US" sz="1300" dirty="0"/>
          </a:p>
        </p:txBody>
      </p:sp>
      <p:sp>
        <p:nvSpPr>
          <p:cNvPr id="12" name="adds card 2"/>
          <p:cNvSpPr/>
          <p:nvPr/>
        </p:nvSpPr>
        <p:spPr>
          <a:xfrm>
            <a:off x="548640" y="2496312"/>
            <a:ext cx="5669280" cy="932688"/>
          </a:xfrm>
          <a:prstGeom prst="rect">
            <a:avLst/>
          </a:prstGeom>
          <a:solidFill>
            <a:schemeClr val="bg1"/>
          </a:solidFill>
          <a:ln w="9525">
            <a:solidFill>
              <a:srgbClr val="D8D3CB"/>
            </a:solidFill>
            <a:prstDash val="solid"/>
          </a:ln>
        </p:spPr>
      </p:sp>
      <p:sp>
        <p:nvSpPr>
          <p:cNvPr id="13" name="adds 2 circle"/>
          <p:cNvSpPr/>
          <p:nvPr/>
        </p:nvSpPr>
        <p:spPr>
          <a:xfrm>
            <a:off x="731520" y="2642616"/>
            <a:ext cx="640080" cy="640080"/>
          </a:xfrm>
          <a:prstGeom prst="ellipse">
            <a:avLst/>
          </a:prstGeom>
          <a:solidFill>
            <a:srgbClr val="8E1B1B"/>
          </a:solidFill>
          <a:ln w="12700">
            <a:solidFill>
              <a:srgbClr val="8E1B1B"/>
            </a:solidFill>
            <a:prstDash val="solid"/>
          </a:ln>
        </p:spPr>
      </p:sp>
      <p:pic>
        <p:nvPicPr>
          <p:cNvPr id="14" name="adds 2 icon" descr="preencoded.png">    </p:cNvPr>
          <p:cNvPicPr>
            <a:picLocks noChangeAspect="1"/>
          </p:cNvPicPr>
          <p:nvPr/>
        </p:nvPicPr>
        <p:blipFill>
          <a:blip r:embed="rId2"/>
          <a:stretch>
            <a:fillRect/>
          </a:stretch>
        </p:blipFill>
        <p:spPr>
          <a:xfrm>
            <a:off x="897941" y="2809037"/>
            <a:ext cx="307238" cy="307238"/>
          </a:xfrm>
          <a:prstGeom prst="rect">
            <a:avLst/>
          </a:prstGeom>
        </p:spPr>
      </p:pic>
      <p:sp>
        <p:nvSpPr>
          <p:cNvPr id="15" name="adds title 2"/>
          <p:cNvSpPr txBox="1"/>
          <p:nvPr/>
        </p:nvSpPr>
        <p:spPr>
          <a:xfrm>
            <a:off x="1554480" y="2587752"/>
            <a:ext cx="4480560" cy="365760"/>
          </a:xfrm>
          <a:prstGeom prst="rect">
            <a:avLst/>
          </a:prstGeom>
          <a:noFill/>
          <a:ln/>
        </p:spPr>
        <p:txBody>
          <a:bodyPr wrap="square" lIns="0" tIns="0" rIns="0" bIns="0" rtlCol="0" anchor="t"/>
          <a:lstStyle/>
          <a:p>
            <a:pPr indent="0" marL="0">
              <a:buNone/>
            </a:pPr>
            <a:r>
              <a:rPr lang="en-US" sz="1600" b="1" dirty="0">
                <a:solidFill>
                  <a:schemeClr val="tx1"/>
                </a:solidFill>
              </a:rPr>
              <a:t>New symbols</a:t>
            </a:r>
            <a:endParaRPr lang="en-US" sz="1600" dirty="0"/>
          </a:p>
        </p:txBody>
      </p:sp>
      <p:sp>
        <p:nvSpPr>
          <p:cNvPr id="16" name="adds text 2"/>
          <p:cNvSpPr txBox="1"/>
          <p:nvPr/>
        </p:nvSpPr>
        <p:spPr>
          <a:xfrm>
            <a:off x="1554480" y="2953512"/>
            <a:ext cx="4480560" cy="411480"/>
          </a:xfrm>
          <a:prstGeom prst="rect">
            <a:avLst/>
          </a:prstGeom>
          <a:noFill/>
          <a:ln/>
        </p:spPr>
        <p:txBody>
          <a:bodyPr wrap="square" lIns="0" tIns="0" rIns="0" bIns="0" rtlCol="0" anchor="t"/>
          <a:lstStyle/>
          <a:p>
            <a:pPr indent="0" marL="0">
              <a:buNone/>
            </a:pPr>
            <a:r>
              <a:rPr lang="en-US" sz="1300" dirty="0">
                <a:solidFill>
                  <a:schemeClr val="tx2"/>
                </a:solidFill>
              </a:rPr>
              <a:t>each new variant is learned once and works for everyone</a:t>
            </a:r>
            <a:endParaRPr lang="en-US" sz="1300" dirty="0"/>
          </a:p>
        </p:txBody>
      </p:sp>
      <p:sp>
        <p:nvSpPr>
          <p:cNvPr id="17" name="adds card 3"/>
          <p:cNvSpPr/>
          <p:nvPr/>
        </p:nvSpPr>
        <p:spPr>
          <a:xfrm>
            <a:off x="548640" y="3575304"/>
            <a:ext cx="5669280" cy="932688"/>
          </a:xfrm>
          <a:prstGeom prst="rect">
            <a:avLst/>
          </a:prstGeom>
          <a:solidFill>
            <a:schemeClr val="bg1"/>
          </a:solidFill>
          <a:ln w="9525">
            <a:solidFill>
              <a:srgbClr val="D8D3CB"/>
            </a:solidFill>
            <a:prstDash val="solid"/>
          </a:ln>
        </p:spPr>
      </p:sp>
      <p:sp>
        <p:nvSpPr>
          <p:cNvPr id="18" name="adds 3 circle"/>
          <p:cNvSpPr/>
          <p:nvPr/>
        </p:nvSpPr>
        <p:spPr>
          <a:xfrm>
            <a:off x="731520" y="3721608"/>
            <a:ext cx="640080" cy="640080"/>
          </a:xfrm>
          <a:prstGeom prst="ellipse">
            <a:avLst/>
          </a:prstGeom>
          <a:solidFill>
            <a:srgbClr val="8E1B1B"/>
          </a:solidFill>
          <a:ln w="12700">
            <a:solidFill>
              <a:srgbClr val="8E1B1B"/>
            </a:solidFill>
            <a:prstDash val="solid"/>
          </a:ln>
        </p:spPr>
      </p:sp>
      <p:pic>
        <p:nvPicPr>
          <p:cNvPr id="19" name="adds 3 icon" descr="preencoded.png">    </p:cNvPr>
          <p:cNvPicPr>
            <a:picLocks noChangeAspect="1"/>
          </p:cNvPicPr>
          <p:nvPr/>
        </p:nvPicPr>
        <p:blipFill>
          <a:blip r:embed="rId3"/>
          <a:stretch>
            <a:fillRect/>
          </a:stretch>
        </p:blipFill>
        <p:spPr>
          <a:xfrm>
            <a:off x="897941" y="3888029"/>
            <a:ext cx="307238" cy="307238"/>
          </a:xfrm>
          <a:prstGeom prst="rect">
            <a:avLst/>
          </a:prstGeom>
        </p:spPr>
      </p:pic>
      <p:sp>
        <p:nvSpPr>
          <p:cNvPr id="20" name="adds title 3"/>
          <p:cNvSpPr txBox="1"/>
          <p:nvPr/>
        </p:nvSpPr>
        <p:spPr>
          <a:xfrm>
            <a:off x="1554480" y="3666744"/>
            <a:ext cx="4480560" cy="365760"/>
          </a:xfrm>
          <a:prstGeom prst="rect">
            <a:avLst/>
          </a:prstGeom>
          <a:noFill/>
          <a:ln/>
        </p:spPr>
        <p:txBody>
          <a:bodyPr wrap="square" lIns="0" tIns="0" rIns="0" bIns="0" rtlCol="0" anchor="t"/>
          <a:lstStyle/>
          <a:p>
            <a:pPr indent="0" marL="0">
              <a:buNone/>
            </a:pPr>
            <a:r>
              <a:rPr lang="en-US" sz="1600" b="1" dirty="0">
                <a:solidFill>
                  <a:schemeClr val="tx1"/>
                </a:solidFill>
              </a:rPr>
              <a:t>Calibrated rules</a:t>
            </a:r>
            <a:endParaRPr lang="en-US" sz="1600" dirty="0"/>
          </a:p>
        </p:txBody>
      </p:sp>
      <p:sp>
        <p:nvSpPr>
          <p:cNvPr id="21" name="adds text 3"/>
          <p:cNvSpPr txBox="1"/>
          <p:nvPr/>
        </p:nvSpPr>
        <p:spPr>
          <a:xfrm>
            <a:off x="1554480" y="4032504"/>
            <a:ext cx="4480560" cy="411480"/>
          </a:xfrm>
          <a:prstGeom prst="rect">
            <a:avLst/>
          </a:prstGeom>
          <a:noFill/>
          <a:ln/>
        </p:spPr>
        <p:txBody>
          <a:bodyPr wrap="square" lIns="0" tIns="0" rIns="0" bIns="0" rtlCol="0" anchor="t"/>
          <a:lstStyle/>
          <a:p>
            <a:pPr indent="0" marL="0">
              <a:buNone/>
            </a:pPr>
            <a:r>
              <a:rPr lang="en-US" sz="1300" dirty="0">
                <a:solidFill>
                  <a:schemeClr val="tx2"/>
                </a:solidFill>
              </a:rPr>
              <a:t>wire per point, trench per metre — an average, not a guess</a:t>
            </a:r>
            <a:endParaRPr lang="en-US" sz="1300" dirty="0"/>
          </a:p>
        </p:txBody>
      </p:sp>
      <p:sp>
        <p:nvSpPr>
          <p:cNvPr id="22" name="adds card 4"/>
          <p:cNvSpPr/>
          <p:nvPr/>
        </p:nvSpPr>
        <p:spPr>
          <a:xfrm>
            <a:off x="548640" y="4654296"/>
            <a:ext cx="5669280" cy="932688"/>
          </a:xfrm>
          <a:prstGeom prst="rect">
            <a:avLst/>
          </a:prstGeom>
          <a:solidFill>
            <a:schemeClr val="bg1"/>
          </a:solidFill>
          <a:ln w="9525">
            <a:solidFill>
              <a:srgbClr val="D8D3CB"/>
            </a:solidFill>
            <a:prstDash val="solid"/>
          </a:ln>
        </p:spPr>
      </p:sp>
      <p:sp>
        <p:nvSpPr>
          <p:cNvPr id="23" name="adds 4 circle"/>
          <p:cNvSpPr/>
          <p:nvPr/>
        </p:nvSpPr>
        <p:spPr>
          <a:xfrm>
            <a:off x="731520" y="4800600"/>
            <a:ext cx="640080" cy="640080"/>
          </a:xfrm>
          <a:prstGeom prst="ellipse">
            <a:avLst/>
          </a:prstGeom>
          <a:solidFill>
            <a:srgbClr val="8E1B1B"/>
          </a:solidFill>
          <a:ln w="12700">
            <a:solidFill>
              <a:srgbClr val="8E1B1B"/>
            </a:solidFill>
            <a:prstDash val="solid"/>
          </a:ln>
        </p:spPr>
      </p:sp>
      <p:pic>
        <p:nvPicPr>
          <p:cNvPr id="24" name="adds 4 icon" descr="preencoded.png">    </p:cNvPr>
          <p:cNvPicPr>
            <a:picLocks noChangeAspect="1"/>
          </p:cNvPicPr>
          <p:nvPr/>
        </p:nvPicPr>
        <p:blipFill>
          <a:blip r:embed="rId4"/>
          <a:stretch>
            <a:fillRect/>
          </a:stretch>
        </p:blipFill>
        <p:spPr>
          <a:xfrm>
            <a:off x="897941" y="4967021"/>
            <a:ext cx="307238" cy="307238"/>
          </a:xfrm>
          <a:prstGeom prst="rect">
            <a:avLst/>
          </a:prstGeom>
        </p:spPr>
      </p:pic>
      <p:sp>
        <p:nvSpPr>
          <p:cNvPr id="25" name="adds title 4"/>
          <p:cNvSpPr txBox="1"/>
          <p:nvPr/>
        </p:nvSpPr>
        <p:spPr>
          <a:xfrm>
            <a:off x="1554480" y="4745736"/>
            <a:ext cx="4480560" cy="365760"/>
          </a:xfrm>
          <a:prstGeom prst="rect">
            <a:avLst/>
          </a:prstGeom>
          <a:noFill/>
          <a:ln/>
        </p:spPr>
        <p:txBody>
          <a:bodyPr wrap="square" lIns="0" tIns="0" rIns="0" bIns="0" rtlCol="0" anchor="t"/>
          <a:lstStyle/>
          <a:p>
            <a:pPr indent="0" marL="0">
              <a:buNone/>
            </a:pPr>
            <a:r>
              <a:rPr lang="en-US" sz="1600" b="1" dirty="0">
                <a:solidFill>
                  <a:schemeClr val="tx1"/>
                </a:solidFill>
              </a:rPr>
              <a:t>Proof it generalises</a:t>
            </a:r>
            <a:endParaRPr lang="en-US" sz="1600" dirty="0"/>
          </a:p>
        </p:txBody>
      </p:sp>
      <p:sp>
        <p:nvSpPr>
          <p:cNvPr id="26" name="adds text 4"/>
          <p:cNvSpPr txBox="1"/>
          <p:nvPr/>
        </p:nvSpPr>
        <p:spPr>
          <a:xfrm>
            <a:off x="1554480" y="5111496"/>
            <a:ext cx="4480560" cy="411480"/>
          </a:xfrm>
          <a:prstGeom prst="rect">
            <a:avLst/>
          </a:prstGeom>
          <a:noFill/>
          <a:ln/>
        </p:spPr>
        <p:txBody>
          <a:bodyPr wrap="square" lIns="0" tIns="0" rIns="0" bIns="0" rtlCol="0" anchor="t"/>
          <a:lstStyle/>
          <a:p>
            <a:pPr indent="0" marL="0">
              <a:buNone/>
            </a:pPr>
            <a:r>
              <a:rPr lang="en-US" sz="1300" dirty="0">
                <a:solidFill>
                  <a:schemeClr val="tx2"/>
                </a:solidFill>
              </a:rPr>
              <a:t>a score across projects, not an anecdote from one</a:t>
            </a:r>
            <a:endParaRPr lang="en-US" sz="1300" dirty="0"/>
          </a:p>
        </p:txBody>
      </p:sp>
      <p:sp>
        <p:nvSpPr>
          <p:cNvPr id="27" name="plan card"/>
          <p:cNvSpPr/>
          <p:nvPr/>
        </p:nvSpPr>
        <p:spPr>
          <a:xfrm>
            <a:off x="6446520" y="1417320"/>
            <a:ext cx="5166360" cy="4169664"/>
          </a:xfrm>
          <a:prstGeom prst="roundRect">
            <a:avLst>
              <a:gd name="adj" fmla="val 2632"/>
            </a:avLst>
          </a:prstGeom>
          <a:solidFill>
            <a:schemeClr val="tx1"/>
          </a:solidFill>
          <a:ln w="12700">
            <a:solidFill>
              <a:schemeClr val="tx1"/>
            </a:solidFill>
            <a:prstDash val="solid"/>
          </a:ln>
        </p:spPr>
      </p:sp>
      <p:sp>
        <p:nvSpPr>
          <p:cNvPr id="28" name="plan title"/>
          <p:cNvSpPr txBox="1"/>
          <p:nvPr/>
        </p:nvSpPr>
        <p:spPr>
          <a:xfrm>
            <a:off x="6720840" y="1600200"/>
            <a:ext cx="4663440" cy="411480"/>
          </a:xfrm>
          <a:prstGeom prst="rect">
            <a:avLst/>
          </a:prstGeom>
          <a:noFill/>
          <a:ln/>
        </p:spPr>
        <p:txBody>
          <a:bodyPr wrap="square" lIns="0" tIns="0" rIns="0" bIns="0" rtlCol="0" anchor="t"/>
          <a:lstStyle/>
          <a:p>
            <a:pPr indent="0" marL="0">
              <a:buNone/>
            </a:pPr>
            <a:r>
              <a:rPr lang="en-US" sz="1800" b="1" dirty="0">
                <a:solidFill>
                  <a:schemeClr val="accent2"/>
                </a:solidFill>
              </a:rPr>
              <a:t>Recommendation</a:t>
            </a:r>
            <a:endParaRPr lang="en-US" sz="1800" dirty="0"/>
          </a:p>
        </p:txBody>
      </p:sp>
      <p:sp>
        <p:nvSpPr>
          <p:cNvPr id="29" name="plan text"/>
          <p:cNvSpPr txBox="1"/>
          <p:nvPr/>
        </p:nvSpPr>
        <p:spPr>
          <a:xfrm>
            <a:off x="6720840" y="2103120"/>
            <a:ext cx="4663440" cy="3383280"/>
          </a:xfrm>
          <a:prstGeom prst="rect">
            <a:avLst/>
          </a:prstGeom>
          <a:noFill/>
          <a:ln/>
        </p:spPr>
        <p:txBody>
          <a:bodyPr wrap="square" lIns="0" tIns="0" rIns="0" bIns="0" rtlCol="0" anchor="t"/>
          <a:lstStyle/>
          <a:p>
            <a:pPr indent="0" marL="0">
              <a:spcAft>
                <a:spcPts val="800"/>
              </a:spcAft>
              <a:buNone/>
            </a:pPr>
            <a:r>
              <a:rPr lang="en-US" sz="1400" b="1" dirty="0">
                <a:solidFill>
                  <a:schemeClr val="bg1"/>
                </a:solidFill>
              </a:rPr>
              <a:t>5 real projects from 3+ consulting firms</a:t>
            </a:r>
            <a:endParaRPr lang="en-US" sz="1400" dirty="0"/>
          </a:p>
          <a:p>
            <a:pPr marL="342900" indent="-342900">
              <a:spcAft>
                <a:spcPts val="800"/>
              </a:spcAft>
              <a:buSzPct val="100000"/>
              <a:buChar char="•"/>
            </a:pPr>
            <a:r>
              <a:rPr lang="en-US" sz="1400" dirty="0">
                <a:solidFill>
                  <a:schemeClr val="bg1"/>
                </a:solidFill>
              </a:rPr>
              <a:t>Each with: PDF + DWG drawings, the priced bill, a 20-item check by a person (≈ 30 min)</a:t>
            </a:r>
            <a:endParaRPr lang="en-US" sz="1400" dirty="0"/>
          </a:p>
          <a:p>
            <a:pPr marL="342900" indent="-342900">
              <a:spcAft>
                <a:spcPts val="800"/>
              </a:spcAft>
              <a:buSzPct val="100000"/>
              <a:buChar char="•"/>
            </a:pPr>
            <a:r>
              <a:rPr lang="en-US" sz="1400" dirty="0">
                <a:solidFill>
                  <a:schemeClr val="bg1"/>
                </a:solidFill>
              </a:rPr>
              <a:t>From pilot partners — a reduced price in exchange for a past project</a:t>
            </a:r>
            <a:endParaRPr lang="en-US" sz="1400" dirty="0"/>
          </a:p>
          <a:p>
            <a:pPr marL="342900" indent="-342900">
              <a:spcAft>
                <a:spcPts val="800"/>
              </a:spcAft>
              <a:buSzPct val="100000"/>
              <a:buChar char="•"/>
            </a:pPr>
            <a:r>
              <a:rPr lang="en-US" sz="1400" dirty="0">
                <a:solidFill>
                  <a:schemeClr val="bg1"/>
                </a:solidFill>
              </a:rPr>
              <a:t>Estimator corrections saved: drawing facts for all, preferences per company</a:t>
            </a:r>
            <a:endParaRPr lang="en-US" sz="1400" dirty="0"/>
          </a:p>
          <a:p>
            <a:pPr marL="342900" indent="-342900">
              <a:spcAft>
                <a:spcPts val="800"/>
              </a:spcAft>
              <a:buSzPct val="100000"/>
              <a:buChar char="•"/>
            </a:pPr>
            <a:r>
              <a:rPr lang="en-US" sz="1400" dirty="0">
                <a:solidFill>
                  <a:schemeClr val="bg1"/>
                </a:solidFill>
              </a:rPr>
              <a:t>Report the reading score on every project — up or down</a:t>
            </a:r>
            <a:endParaRPr lang="en-US" sz="1400" dirty="0"/>
          </a:p>
        </p:txBody>
      </p:sp>
      <p:sp>
        <p:nvSpPr>
          <p:cNvPr id="30" name="source"/>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950" dirty="0">
                <a:solidFill>
                  <a:schemeClr val="accent6"/>
                </a:solidFill>
              </a:rPr>
              <a:t>Today every accuracy number comes from one reference project (Wedela, 7 buildings).</a:t>
            </a:r>
            <a:endParaRPr lang="en-US" sz="95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VALUE FOR CONSULTING ENGINEERS</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What it is worth to a consulting engineer, in numbers</a:t>
            </a:r>
            <a:endParaRPr lang="en-US" sz="2600" dirty="0"/>
          </a:p>
        </p:txBody>
      </p:sp>
      <p:sp>
        <p:nvSpPr>
          <p:cNvPr id="7" name="value card 1"/>
          <p:cNvSpPr/>
          <p:nvPr/>
        </p:nvSpPr>
        <p:spPr>
          <a:xfrm>
            <a:off x="548640" y="1371600"/>
            <a:ext cx="3566160" cy="1508760"/>
          </a:xfrm>
          <a:prstGeom prst="rect">
            <a:avLst/>
          </a:prstGeom>
          <a:solidFill>
            <a:schemeClr val="bg1"/>
          </a:solidFill>
          <a:ln w="9525">
            <a:solidFill>
              <a:srgbClr val="D8D3CB"/>
            </a:solidFill>
            <a:prstDash val="solid"/>
          </a:ln>
        </p:spPr>
      </p:sp>
      <p:sp>
        <p:nvSpPr>
          <p:cNvPr id="8" name="value 1 circle"/>
          <p:cNvSpPr/>
          <p:nvPr/>
        </p:nvSpPr>
        <p:spPr>
          <a:xfrm>
            <a:off x="777240" y="1600200"/>
            <a:ext cx="594360" cy="594360"/>
          </a:xfrm>
          <a:prstGeom prst="ellipse">
            <a:avLst/>
          </a:prstGeom>
          <a:solidFill>
            <a:srgbClr val="8E1B1B"/>
          </a:solidFill>
          <a:ln w="12700">
            <a:solidFill>
              <a:srgbClr val="8E1B1B"/>
            </a:solidFill>
            <a:prstDash val="solid"/>
          </a:ln>
        </p:spPr>
      </p:sp>
      <p:pic>
        <p:nvPicPr>
          <p:cNvPr id="9" name="value 1 icon" descr="preencoded.png">    </p:cNvPr>
          <p:cNvPicPr>
            <a:picLocks noChangeAspect="1"/>
          </p:cNvPicPr>
          <p:nvPr/>
        </p:nvPicPr>
        <p:blipFill>
          <a:blip r:embed="rId1"/>
          <a:stretch>
            <a:fillRect/>
          </a:stretch>
        </p:blipFill>
        <p:spPr>
          <a:xfrm>
            <a:off x="931774" y="1754734"/>
            <a:ext cx="285293" cy="285293"/>
          </a:xfrm>
          <a:prstGeom prst="rect">
            <a:avLst/>
          </a:prstGeom>
        </p:spPr>
      </p:pic>
      <p:sp>
        <p:nvSpPr>
          <p:cNvPr id="10" name="value number 1"/>
          <p:cNvSpPr txBox="1"/>
          <p:nvPr/>
        </p:nvSpPr>
        <p:spPr>
          <a:xfrm>
            <a:off x="1508760" y="1508760"/>
            <a:ext cx="2514600" cy="64008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1–2 min</a:t>
            </a:r>
            <a:endParaRPr lang="en-US" sz="3000" dirty="0"/>
          </a:p>
        </p:txBody>
      </p:sp>
      <p:sp>
        <p:nvSpPr>
          <p:cNvPr id="11" name="value text 1"/>
          <p:cNvSpPr txBox="1"/>
          <p:nvPr/>
        </p:nvSpPr>
        <p:spPr>
          <a:xfrm>
            <a:off x="1508760" y="2148840"/>
            <a:ext cx="2514600" cy="658368"/>
          </a:xfrm>
          <a:prstGeom prst="rect">
            <a:avLst/>
          </a:prstGeom>
          <a:noFill/>
          <a:ln/>
        </p:spPr>
        <p:txBody>
          <a:bodyPr wrap="square" lIns="0" tIns="0" rIns="0" bIns="0" rtlCol="0" anchor="t"/>
          <a:lstStyle/>
          <a:p>
            <a:pPr indent="0" marL="0">
              <a:buNone/>
            </a:pPr>
            <a:r>
              <a:rPr lang="en-US" sz="1250" dirty="0">
                <a:solidFill>
                  <a:schemeClr val="tx2"/>
                </a:solidFill>
              </a:rPr>
              <a:t>CAD set (DWG/DXF) to a draft BoQ</a:t>
            </a:r>
            <a:endParaRPr lang="en-US" sz="1250" dirty="0"/>
          </a:p>
        </p:txBody>
      </p:sp>
      <p:sp>
        <p:nvSpPr>
          <p:cNvPr id="12" name="value card 2"/>
          <p:cNvSpPr/>
          <p:nvPr/>
        </p:nvSpPr>
        <p:spPr>
          <a:xfrm>
            <a:off x="4297680" y="1371600"/>
            <a:ext cx="3566160" cy="1508760"/>
          </a:xfrm>
          <a:prstGeom prst="rect">
            <a:avLst/>
          </a:prstGeom>
          <a:solidFill>
            <a:schemeClr val="bg1"/>
          </a:solidFill>
          <a:ln w="9525">
            <a:solidFill>
              <a:srgbClr val="D8D3CB"/>
            </a:solidFill>
            <a:prstDash val="solid"/>
          </a:ln>
        </p:spPr>
      </p:sp>
      <p:sp>
        <p:nvSpPr>
          <p:cNvPr id="13" name="value 2 circle"/>
          <p:cNvSpPr/>
          <p:nvPr/>
        </p:nvSpPr>
        <p:spPr>
          <a:xfrm>
            <a:off x="4526280" y="1600200"/>
            <a:ext cx="594360" cy="594360"/>
          </a:xfrm>
          <a:prstGeom prst="ellipse">
            <a:avLst/>
          </a:prstGeom>
          <a:solidFill>
            <a:srgbClr val="8E1B1B"/>
          </a:solidFill>
          <a:ln w="12700">
            <a:solidFill>
              <a:srgbClr val="8E1B1B"/>
            </a:solidFill>
            <a:prstDash val="solid"/>
          </a:ln>
        </p:spPr>
      </p:sp>
      <p:pic>
        <p:nvPicPr>
          <p:cNvPr id="14" name="value 2 icon" descr="preencoded.png">    </p:cNvPr>
          <p:cNvPicPr>
            <a:picLocks noChangeAspect="1"/>
          </p:cNvPicPr>
          <p:nvPr/>
        </p:nvPicPr>
        <p:blipFill>
          <a:blip r:embed="rId2"/>
          <a:stretch>
            <a:fillRect/>
          </a:stretch>
        </p:blipFill>
        <p:spPr>
          <a:xfrm>
            <a:off x="4680814" y="1754734"/>
            <a:ext cx="285293" cy="285293"/>
          </a:xfrm>
          <a:prstGeom prst="rect">
            <a:avLst/>
          </a:prstGeom>
        </p:spPr>
      </p:pic>
      <p:sp>
        <p:nvSpPr>
          <p:cNvPr id="15" name="value number 2"/>
          <p:cNvSpPr txBox="1"/>
          <p:nvPr/>
        </p:nvSpPr>
        <p:spPr>
          <a:xfrm>
            <a:off x="5257800" y="1508760"/>
            <a:ext cx="2514600" cy="64008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 5 min</a:t>
            </a:r>
            <a:endParaRPr lang="en-US" sz="3000" dirty="0"/>
          </a:p>
        </p:txBody>
      </p:sp>
      <p:sp>
        <p:nvSpPr>
          <p:cNvPr id="16" name="value text 2"/>
          <p:cNvSpPr txBox="1"/>
          <p:nvPr/>
        </p:nvSpPr>
        <p:spPr>
          <a:xfrm>
            <a:off x="5257800" y="2148840"/>
            <a:ext cx="2514600" cy="658368"/>
          </a:xfrm>
          <a:prstGeom prst="rect">
            <a:avLst/>
          </a:prstGeom>
          <a:noFill/>
          <a:ln/>
        </p:spPr>
        <p:txBody>
          <a:bodyPr wrap="square" lIns="0" tIns="0" rIns="0" bIns="0" rtlCol="0" anchor="t"/>
          <a:lstStyle/>
          <a:p>
            <a:pPr indent="0" marL="0">
              <a:buNone/>
            </a:pPr>
            <a:r>
              <a:rPr lang="en-US" sz="1250" dirty="0">
                <a:solidFill>
                  <a:schemeClr val="tx2"/>
                </a:solidFill>
              </a:rPr>
              <a:t>18 PDF pages read by the AI model</a:t>
            </a:r>
            <a:endParaRPr lang="en-US" sz="1250" dirty="0"/>
          </a:p>
        </p:txBody>
      </p:sp>
      <p:sp>
        <p:nvSpPr>
          <p:cNvPr id="17" name="value card 3"/>
          <p:cNvSpPr/>
          <p:nvPr/>
        </p:nvSpPr>
        <p:spPr>
          <a:xfrm>
            <a:off x="8046720" y="1371600"/>
            <a:ext cx="3566160" cy="1508760"/>
          </a:xfrm>
          <a:prstGeom prst="rect">
            <a:avLst/>
          </a:prstGeom>
          <a:solidFill>
            <a:schemeClr val="bg1"/>
          </a:solidFill>
          <a:ln w="9525">
            <a:solidFill>
              <a:srgbClr val="D8D3CB"/>
            </a:solidFill>
            <a:prstDash val="solid"/>
          </a:ln>
        </p:spPr>
      </p:sp>
      <p:sp>
        <p:nvSpPr>
          <p:cNvPr id="18" name="value 3 circle"/>
          <p:cNvSpPr/>
          <p:nvPr/>
        </p:nvSpPr>
        <p:spPr>
          <a:xfrm>
            <a:off x="8275320" y="1600200"/>
            <a:ext cx="594360" cy="594360"/>
          </a:xfrm>
          <a:prstGeom prst="ellipse">
            <a:avLst/>
          </a:prstGeom>
          <a:solidFill>
            <a:srgbClr val="8E1B1B"/>
          </a:solidFill>
          <a:ln w="12700">
            <a:solidFill>
              <a:srgbClr val="8E1B1B"/>
            </a:solidFill>
            <a:prstDash val="solid"/>
          </a:ln>
        </p:spPr>
      </p:sp>
      <p:pic>
        <p:nvPicPr>
          <p:cNvPr id="19" name="value 3 icon" descr="preencoded.png">    </p:cNvPr>
          <p:cNvPicPr>
            <a:picLocks noChangeAspect="1"/>
          </p:cNvPicPr>
          <p:nvPr/>
        </p:nvPicPr>
        <p:blipFill>
          <a:blip r:embed="rId3"/>
          <a:stretch>
            <a:fillRect/>
          </a:stretch>
        </p:blipFill>
        <p:spPr>
          <a:xfrm>
            <a:off x="8429854" y="1754734"/>
            <a:ext cx="285293" cy="285293"/>
          </a:xfrm>
          <a:prstGeom prst="rect">
            <a:avLst/>
          </a:prstGeom>
        </p:spPr>
      </p:pic>
      <p:sp>
        <p:nvSpPr>
          <p:cNvPr id="20" name="value number 3"/>
          <p:cNvSpPr txBox="1"/>
          <p:nvPr/>
        </p:nvSpPr>
        <p:spPr>
          <a:xfrm>
            <a:off x="9006840" y="1508760"/>
            <a:ext cx="2514600" cy="64008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 R2.50</a:t>
            </a:r>
            <a:endParaRPr lang="en-US" sz="3000" dirty="0"/>
          </a:p>
        </p:txBody>
      </p:sp>
      <p:sp>
        <p:nvSpPr>
          <p:cNvPr id="21" name="value text 3"/>
          <p:cNvSpPr txBox="1"/>
          <p:nvPr/>
        </p:nvSpPr>
        <p:spPr>
          <a:xfrm>
            <a:off x="9006840" y="2148840"/>
            <a:ext cx="2514600" cy="658368"/>
          </a:xfrm>
          <a:prstGeom prst="rect">
            <a:avLst/>
          </a:prstGeom>
          <a:noFill/>
          <a:ln/>
        </p:spPr>
        <p:txBody>
          <a:bodyPr wrap="square" lIns="0" tIns="0" rIns="0" bIns="0" rtlCol="0" anchor="t"/>
          <a:lstStyle/>
          <a:p>
            <a:pPr indent="0" marL="0">
              <a:buNone/>
            </a:pPr>
            <a:r>
              <a:rPr lang="en-US" sz="1250" dirty="0">
                <a:solidFill>
                  <a:schemeClr val="tx2"/>
                </a:solidFill>
              </a:rPr>
              <a:t>per PDF page with the paid AI model — DWG and the free model cost nothing</a:t>
            </a:r>
            <a:endParaRPr lang="en-US" sz="1250" dirty="0"/>
          </a:p>
        </p:txBody>
      </p:sp>
      <p:sp>
        <p:nvSpPr>
          <p:cNvPr id="22" name="value card 4"/>
          <p:cNvSpPr/>
          <p:nvPr/>
        </p:nvSpPr>
        <p:spPr>
          <a:xfrm>
            <a:off x="548640" y="3063240"/>
            <a:ext cx="3566160" cy="1508760"/>
          </a:xfrm>
          <a:prstGeom prst="rect">
            <a:avLst/>
          </a:prstGeom>
          <a:solidFill>
            <a:schemeClr val="bg2"/>
          </a:solidFill>
          <a:ln w="9525">
            <a:solidFill>
              <a:srgbClr val="D8D3CB"/>
            </a:solidFill>
            <a:prstDash val="solid"/>
          </a:ln>
        </p:spPr>
      </p:sp>
      <p:sp>
        <p:nvSpPr>
          <p:cNvPr id="23" name="value 4 circle"/>
          <p:cNvSpPr/>
          <p:nvPr/>
        </p:nvSpPr>
        <p:spPr>
          <a:xfrm>
            <a:off x="777240" y="3291840"/>
            <a:ext cx="594360" cy="594360"/>
          </a:xfrm>
          <a:prstGeom prst="ellipse">
            <a:avLst/>
          </a:prstGeom>
          <a:solidFill>
            <a:srgbClr val="8E1B1B"/>
          </a:solidFill>
          <a:ln w="12700">
            <a:solidFill>
              <a:srgbClr val="8E1B1B"/>
            </a:solidFill>
            <a:prstDash val="solid"/>
          </a:ln>
        </p:spPr>
      </p:sp>
      <p:pic>
        <p:nvPicPr>
          <p:cNvPr id="24" name="value 4 icon" descr="preencoded.png">    </p:cNvPr>
          <p:cNvPicPr>
            <a:picLocks noChangeAspect="1"/>
          </p:cNvPicPr>
          <p:nvPr/>
        </p:nvPicPr>
        <p:blipFill>
          <a:blip r:embed="rId4"/>
          <a:stretch>
            <a:fillRect/>
          </a:stretch>
        </p:blipFill>
        <p:spPr>
          <a:xfrm>
            <a:off x="931774" y="3446374"/>
            <a:ext cx="285293" cy="285293"/>
          </a:xfrm>
          <a:prstGeom prst="rect">
            <a:avLst/>
          </a:prstGeom>
        </p:spPr>
      </p:pic>
      <p:sp>
        <p:nvSpPr>
          <p:cNvPr id="25" name="value number 4"/>
          <p:cNvSpPr txBox="1"/>
          <p:nvPr/>
        </p:nvSpPr>
        <p:spPr>
          <a:xfrm>
            <a:off x="1508760" y="3200400"/>
            <a:ext cx="2514600" cy="64008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7</a:t>
            </a:r>
            <a:endParaRPr lang="en-US" sz="3000" dirty="0"/>
          </a:p>
        </p:txBody>
      </p:sp>
      <p:sp>
        <p:nvSpPr>
          <p:cNvPr id="26" name="value text 4"/>
          <p:cNvSpPr txBox="1"/>
          <p:nvPr/>
        </p:nvSpPr>
        <p:spPr>
          <a:xfrm>
            <a:off x="1508760" y="3840480"/>
            <a:ext cx="2514600" cy="658368"/>
          </a:xfrm>
          <a:prstGeom prst="rect">
            <a:avLst/>
          </a:prstGeom>
          <a:noFill/>
          <a:ln/>
        </p:spPr>
        <p:txBody>
          <a:bodyPr wrap="square" lIns="0" tIns="0" rIns="0" bIns="0" rtlCol="0" anchor="t"/>
          <a:lstStyle/>
          <a:p>
            <a:pPr indent="0" marL="0">
              <a:buNone/>
            </a:pPr>
            <a:r>
              <a:rPr lang="en-US" sz="1250" dirty="0">
                <a:solidFill>
                  <a:schemeClr val="tx2"/>
                </a:solidFill>
              </a:rPr>
              <a:t>inconsistencies flagged in one real drawing set before tender</a:t>
            </a:r>
            <a:endParaRPr lang="en-US" sz="1250" dirty="0"/>
          </a:p>
        </p:txBody>
      </p:sp>
      <p:sp>
        <p:nvSpPr>
          <p:cNvPr id="27" name="value card 5"/>
          <p:cNvSpPr/>
          <p:nvPr/>
        </p:nvSpPr>
        <p:spPr>
          <a:xfrm>
            <a:off x="4297680" y="3063240"/>
            <a:ext cx="3566160" cy="1508760"/>
          </a:xfrm>
          <a:prstGeom prst="rect">
            <a:avLst/>
          </a:prstGeom>
          <a:solidFill>
            <a:schemeClr val="bg2"/>
          </a:solidFill>
          <a:ln w="9525">
            <a:solidFill>
              <a:srgbClr val="D8D3CB"/>
            </a:solidFill>
            <a:prstDash val="solid"/>
          </a:ln>
        </p:spPr>
      </p:sp>
      <p:sp>
        <p:nvSpPr>
          <p:cNvPr id="28" name="value 5 circle"/>
          <p:cNvSpPr/>
          <p:nvPr/>
        </p:nvSpPr>
        <p:spPr>
          <a:xfrm>
            <a:off x="4526280" y="3291840"/>
            <a:ext cx="594360" cy="594360"/>
          </a:xfrm>
          <a:prstGeom prst="ellipse">
            <a:avLst/>
          </a:prstGeom>
          <a:solidFill>
            <a:srgbClr val="8E1B1B"/>
          </a:solidFill>
          <a:ln w="12700">
            <a:solidFill>
              <a:srgbClr val="8E1B1B"/>
            </a:solidFill>
            <a:prstDash val="solid"/>
          </a:ln>
        </p:spPr>
      </p:sp>
      <p:pic>
        <p:nvPicPr>
          <p:cNvPr id="29" name="value 5 icon" descr="preencoded.png">    </p:cNvPr>
          <p:cNvPicPr>
            <a:picLocks noChangeAspect="1"/>
          </p:cNvPicPr>
          <p:nvPr/>
        </p:nvPicPr>
        <p:blipFill>
          <a:blip r:embed="rId5"/>
          <a:stretch>
            <a:fillRect/>
          </a:stretch>
        </p:blipFill>
        <p:spPr>
          <a:xfrm>
            <a:off x="4680814" y="3446374"/>
            <a:ext cx="285293" cy="285293"/>
          </a:xfrm>
          <a:prstGeom prst="rect">
            <a:avLst/>
          </a:prstGeom>
        </p:spPr>
      </p:pic>
      <p:sp>
        <p:nvSpPr>
          <p:cNvPr id="30" name="value number 5"/>
          <p:cNvSpPr txBox="1"/>
          <p:nvPr/>
        </p:nvSpPr>
        <p:spPr>
          <a:xfrm>
            <a:off x="5257800" y="3200400"/>
            <a:ext cx="2514600" cy="64008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7</a:t>
            </a:r>
            <a:endParaRPr lang="en-US" sz="3000" dirty="0"/>
          </a:p>
        </p:txBody>
      </p:sp>
      <p:sp>
        <p:nvSpPr>
          <p:cNvPr id="31" name="value text 5"/>
          <p:cNvSpPr txBox="1"/>
          <p:nvPr/>
        </p:nvSpPr>
        <p:spPr>
          <a:xfrm>
            <a:off x="5257800" y="3840480"/>
            <a:ext cx="2514600" cy="658368"/>
          </a:xfrm>
          <a:prstGeom prst="rect">
            <a:avLst/>
          </a:prstGeom>
          <a:noFill/>
          <a:ln/>
        </p:spPr>
        <p:txBody>
          <a:bodyPr wrap="square" lIns="0" tIns="0" rIns="0" bIns="0" rtlCol="0" anchor="t"/>
          <a:lstStyle/>
          <a:p>
            <a:pPr indent="0" marL="0">
              <a:buNone/>
            </a:pPr>
            <a:r>
              <a:rPr lang="en-US" sz="1250" dirty="0">
                <a:solidFill>
                  <a:schemeClr val="tx2"/>
                </a:solidFill>
              </a:rPr>
              <a:t>places a priced bill differs from the drawings (bill audit)</a:t>
            </a:r>
            <a:endParaRPr lang="en-US" sz="1250" dirty="0"/>
          </a:p>
        </p:txBody>
      </p:sp>
      <p:sp>
        <p:nvSpPr>
          <p:cNvPr id="32" name="value card 6"/>
          <p:cNvSpPr/>
          <p:nvPr/>
        </p:nvSpPr>
        <p:spPr>
          <a:xfrm>
            <a:off x="8046720" y="3063240"/>
            <a:ext cx="3566160" cy="1508760"/>
          </a:xfrm>
          <a:prstGeom prst="rect">
            <a:avLst/>
          </a:prstGeom>
          <a:solidFill>
            <a:schemeClr val="bg2"/>
          </a:solidFill>
          <a:ln w="9525">
            <a:solidFill>
              <a:srgbClr val="D8D3CB"/>
            </a:solidFill>
            <a:prstDash val="solid"/>
          </a:ln>
        </p:spPr>
      </p:sp>
      <p:sp>
        <p:nvSpPr>
          <p:cNvPr id="33" name="value 6 circle"/>
          <p:cNvSpPr/>
          <p:nvPr/>
        </p:nvSpPr>
        <p:spPr>
          <a:xfrm>
            <a:off x="8275320" y="3291840"/>
            <a:ext cx="594360" cy="594360"/>
          </a:xfrm>
          <a:prstGeom prst="ellipse">
            <a:avLst/>
          </a:prstGeom>
          <a:solidFill>
            <a:srgbClr val="8E1B1B"/>
          </a:solidFill>
          <a:ln w="12700">
            <a:solidFill>
              <a:srgbClr val="8E1B1B"/>
            </a:solidFill>
            <a:prstDash val="solid"/>
          </a:ln>
        </p:spPr>
      </p:sp>
      <p:pic>
        <p:nvPicPr>
          <p:cNvPr id="34" name="value 6 icon" descr="preencoded.png">    </p:cNvPr>
          <p:cNvPicPr>
            <a:picLocks noChangeAspect="1"/>
          </p:cNvPicPr>
          <p:nvPr/>
        </p:nvPicPr>
        <p:blipFill>
          <a:blip r:embed="rId6"/>
          <a:stretch>
            <a:fillRect/>
          </a:stretch>
        </p:blipFill>
        <p:spPr>
          <a:xfrm>
            <a:off x="8429854" y="3446374"/>
            <a:ext cx="285293" cy="285293"/>
          </a:xfrm>
          <a:prstGeom prst="rect">
            <a:avLst/>
          </a:prstGeom>
        </p:spPr>
      </p:pic>
      <p:sp>
        <p:nvSpPr>
          <p:cNvPr id="35" name="value number 6"/>
          <p:cNvSpPr txBox="1"/>
          <p:nvPr/>
        </p:nvSpPr>
        <p:spPr>
          <a:xfrm>
            <a:off x="9006840" y="3200400"/>
            <a:ext cx="2514600" cy="64008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100 %</a:t>
            </a:r>
            <a:endParaRPr lang="en-US" sz="3000" dirty="0"/>
          </a:p>
        </p:txBody>
      </p:sp>
      <p:sp>
        <p:nvSpPr>
          <p:cNvPr id="36" name="value text 6"/>
          <p:cNvSpPr txBox="1"/>
          <p:nvPr/>
        </p:nvSpPr>
        <p:spPr>
          <a:xfrm>
            <a:off x="9006840" y="3840480"/>
            <a:ext cx="2514600" cy="658368"/>
          </a:xfrm>
          <a:prstGeom prst="rect">
            <a:avLst/>
          </a:prstGeom>
          <a:noFill/>
          <a:ln/>
        </p:spPr>
        <p:txBody>
          <a:bodyPr wrap="square" lIns="0" tIns="0" rIns="0" bIns="0" rtlCol="0" anchor="t"/>
          <a:lstStyle/>
          <a:p>
            <a:pPr indent="0" marL="0">
              <a:buNone/>
            </a:pPr>
            <a:r>
              <a:rPr lang="en-US" sz="1250" dirty="0">
                <a:solidFill>
                  <a:schemeClr val="tx2"/>
                </a:solidFill>
              </a:rPr>
              <a:t>of bill lines say where they come from</a:t>
            </a:r>
            <a:endParaRPr lang="en-US" sz="1250" dirty="0"/>
          </a:p>
        </p:txBody>
      </p:sp>
      <p:sp>
        <p:nvSpPr>
          <p:cNvPr id="37" name="use chip 1"/>
          <p:cNvSpPr/>
          <p:nvPr/>
        </p:nvSpPr>
        <p:spPr>
          <a:xfrm>
            <a:off x="548640" y="4846320"/>
            <a:ext cx="3566160" cy="566928"/>
          </a:xfrm>
          <a:prstGeom prst="roundRect">
            <a:avLst>
              <a:gd name="adj" fmla="val 50000"/>
            </a:avLst>
          </a:prstGeom>
          <a:solidFill>
            <a:schemeClr val="tx1"/>
          </a:solidFill>
          <a:ln w="12700">
            <a:solidFill>
              <a:schemeClr val="tx1"/>
            </a:solidFill>
            <a:prstDash val="solid"/>
          </a:ln>
        </p:spPr>
      </p:sp>
      <p:sp>
        <p:nvSpPr>
          <p:cNvPr id="38" name="use text 1"/>
          <p:cNvSpPr txBox="1"/>
          <p:nvPr/>
        </p:nvSpPr>
        <p:spPr>
          <a:xfrm>
            <a:off x="548640" y="4846320"/>
            <a:ext cx="3566160" cy="566928"/>
          </a:xfrm>
          <a:prstGeom prst="rect">
            <a:avLst/>
          </a:prstGeom>
          <a:noFill/>
          <a:ln/>
        </p:spPr>
        <p:txBody>
          <a:bodyPr wrap="square" lIns="0" tIns="0" rIns="0" bIns="0" rtlCol="0" anchor="ctr"/>
          <a:lstStyle/>
          <a:p>
            <a:pPr algn="ctr" indent="0" marL="0">
              <a:buNone/>
            </a:pPr>
            <a:r>
              <a:rPr lang="en-US" sz="1350" b="1" dirty="0">
                <a:solidFill>
                  <a:schemeClr val="bg1"/>
                </a:solidFill>
              </a:rPr>
              <a:t>Check your own drawing set before issue</a:t>
            </a:r>
            <a:endParaRPr lang="en-US" sz="1350" dirty="0"/>
          </a:p>
        </p:txBody>
      </p:sp>
      <p:sp>
        <p:nvSpPr>
          <p:cNvPr id="39" name="use chip 2"/>
          <p:cNvSpPr/>
          <p:nvPr/>
        </p:nvSpPr>
        <p:spPr>
          <a:xfrm>
            <a:off x="4297680" y="4846320"/>
            <a:ext cx="3566160" cy="566928"/>
          </a:xfrm>
          <a:prstGeom prst="roundRect">
            <a:avLst>
              <a:gd name="adj" fmla="val 50000"/>
            </a:avLst>
          </a:prstGeom>
          <a:solidFill>
            <a:schemeClr val="tx1"/>
          </a:solidFill>
          <a:ln w="12700">
            <a:solidFill>
              <a:schemeClr val="tx1"/>
            </a:solidFill>
            <a:prstDash val="solid"/>
          </a:ln>
        </p:spPr>
      </p:sp>
      <p:sp>
        <p:nvSpPr>
          <p:cNvPr id="40" name="use text 2"/>
          <p:cNvSpPr txBox="1"/>
          <p:nvPr/>
        </p:nvSpPr>
        <p:spPr>
          <a:xfrm>
            <a:off x="4297680" y="4846320"/>
            <a:ext cx="3566160" cy="566928"/>
          </a:xfrm>
          <a:prstGeom prst="rect">
            <a:avLst/>
          </a:prstGeom>
          <a:noFill/>
          <a:ln/>
        </p:spPr>
        <p:txBody>
          <a:bodyPr wrap="square" lIns="0" tIns="0" rIns="0" bIns="0" rtlCol="0" anchor="ctr"/>
          <a:lstStyle/>
          <a:p>
            <a:pPr algn="ctr" indent="0" marL="0">
              <a:buNone/>
            </a:pPr>
            <a:r>
              <a:rPr lang="en-US" sz="1350" b="1" dirty="0">
                <a:solidFill>
                  <a:schemeClr val="bg1"/>
                </a:solidFill>
              </a:rPr>
              <a:t>Produce the tender BoQ from your drawings</a:t>
            </a:r>
            <a:endParaRPr lang="en-US" sz="1350" dirty="0"/>
          </a:p>
        </p:txBody>
      </p:sp>
      <p:sp>
        <p:nvSpPr>
          <p:cNvPr id="41" name="use chip 3"/>
          <p:cNvSpPr/>
          <p:nvPr/>
        </p:nvSpPr>
        <p:spPr>
          <a:xfrm>
            <a:off x="8046720" y="4846320"/>
            <a:ext cx="3566160" cy="566928"/>
          </a:xfrm>
          <a:prstGeom prst="roundRect">
            <a:avLst>
              <a:gd name="adj" fmla="val 50000"/>
            </a:avLst>
          </a:prstGeom>
          <a:solidFill>
            <a:schemeClr val="tx1"/>
          </a:solidFill>
          <a:ln w="12700">
            <a:solidFill>
              <a:schemeClr val="tx1"/>
            </a:solidFill>
            <a:prstDash val="solid"/>
          </a:ln>
        </p:spPr>
      </p:sp>
      <p:sp>
        <p:nvSpPr>
          <p:cNvPr id="42" name="use text 3"/>
          <p:cNvSpPr txBox="1"/>
          <p:nvPr/>
        </p:nvSpPr>
        <p:spPr>
          <a:xfrm>
            <a:off x="8046720" y="4846320"/>
            <a:ext cx="3566160" cy="566928"/>
          </a:xfrm>
          <a:prstGeom prst="rect">
            <a:avLst/>
          </a:prstGeom>
          <a:noFill/>
          <a:ln/>
        </p:spPr>
        <p:txBody>
          <a:bodyPr wrap="square" lIns="0" tIns="0" rIns="0" bIns="0" rtlCol="0" anchor="ctr"/>
          <a:lstStyle/>
          <a:p>
            <a:pPr algn="ctr" indent="0" marL="0">
              <a:buNone/>
            </a:pPr>
            <a:r>
              <a:rPr lang="en-US" sz="1350" b="1" dirty="0">
                <a:solidFill>
                  <a:schemeClr val="bg1"/>
                </a:solidFill>
              </a:rPr>
              <a:t>Audit contractors' priced bills</a:t>
            </a:r>
            <a:endParaRPr lang="en-US" sz="1350" dirty="0"/>
          </a:p>
        </p:txBody>
      </p:sp>
      <p:sp>
        <p:nvSpPr>
          <p:cNvPr id="43" name="source"/>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950" dirty="0">
                <a:solidFill>
                  <a:schemeClr val="accent6"/>
                </a:solidFill>
              </a:rPr>
              <a:t>Measured on the Wedela reference project (7 buildings, 18 PDF pages, 17 CAD files), October 2026. AI cost per page as on the Upload slide.</a:t>
            </a:r>
            <a:endParaRPr lang="en-US" sz="95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VALUE FOR CONSULTING ENGINEERS</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What a faster first draft is worth — a worked example</a:t>
            </a:r>
            <a:endParaRPr lang="en-US" sz="2600" dirty="0"/>
          </a:p>
        </p:txBody>
      </p:sp>
      <p:sp>
        <p:nvSpPr>
          <p:cNvPr id="7" name="flow card 1"/>
          <p:cNvSpPr/>
          <p:nvPr/>
        </p:nvSpPr>
        <p:spPr>
          <a:xfrm>
            <a:off x="548640" y="1417320"/>
            <a:ext cx="2560320" cy="2057400"/>
          </a:xfrm>
          <a:prstGeom prst="rect">
            <a:avLst/>
          </a:prstGeom>
          <a:solidFill>
            <a:schemeClr val="bg1"/>
          </a:solidFill>
          <a:ln w="9525">
            <a:solidFill>
              <a:srgbClr val="D8D3CB"/>
            </a:solidFill>
            <a:prstDash val="solid"/>
          </a:ln>
        </p:spPr>
      </p:sp>
      <p:sp>
        <p:nvSpPr>
          <p:cNvPr id="8" name="flow label 1"/>
          <p:cNvSpPr txBox="1"/>
          <p:nvPr/>
        </p:nvSpPr>
        <p:spPr>
          <a:xfrm>
            <a:off x="731520" y="1554480"/>
            <a:ext cx="2194560" cy="365760"/>
          </a:xfrm>
          <a:prstGeom prst="rect">
            <a:avLst/>
          </a:prstGeom>
          <a:noFill/>
          <a:ln/>
        </p:spPr>
        <p:txBody>
          <a:bodyPr wrap="square" lIns="0" tIns="0" rIns="0" bIns="0" rtlCol="0" anchor="t"/>
          <a:lstStyle/>
          <a:p>
            <a:pPr indent="0" marL="0">
              <a:buNone/>
            </a:pPr>
            <a:r>
              <a:rPr lang="en-US" sz="1400" b="1" dirty="0">
                <a:solidFill>
                  <a:schemeClr val="tx2"/>
                </a:solidFill>
              </a:rPr>
              <a:t>Example tender</a:t>
            </a:r>
            <a:endParaRPr lang="en-US" sz="1400" dirty="0"/>
          </a:p>
        </p:txBody>
      </p:sp>
      <p:sp>
        <p:nvSpPr>
          <p:cNvPr id="9" name="flow value 1"/>
          <p:cNvSpPr txBox="1"/>
          <p:nvPr/>
        </p:nvSpPr>
        <p:spPr>
          <a:xfrm>
            <a:off x="731520" y="2011680"/>
            <a:ext cx="2240280" cy="68580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R10 m</a:t>
            </a:r>
            <a:endParaRPr lang="en-US" sz="3000" dirty="0"/>
          </a:p>
        </p:txBody>
      </p:sp>
      <p:sp>
        <p:nvSpPr>
          <p:cNvPr id="10" name="flow text 1"/>
          <p:cNvSpPr txBox="1"/>
          <p:nvPr/>
        </p:nvSpPr>
        <p:spPr>
          <a:xfrm>
            <a:off x="731520" y="2743200"/>
            <a:ext cx="2240280" cy="594360"/>
          </a:xfrm>
          <a:prstGeom prst="rect">
            <a:avLst/>
          </a:prstGeom>
          <a:noFill/>
          <a:ln/>
        </p:spPr>
        <p:txBody>
          <a:bodyPr wrap="square" lIns="0" tIns="0" rIns="0" bIns="0" rtlCol="0" anchor="t"/>
          <a:lstStyle/>
          <a:p>
            <a:pPr indent="0" marL="0">
              <a:buNone/>
            </a:pPr>
            <a:r>
              <a:rPr lang="en-US" sz="1250" dirty="0">
                <a:solidFill>
                  <a:schemeClr val="tx2"/>
                </a:solidFill>
              </a:rPr>
              <a:t>electrical package</a:t>
            </a:r>
            <a:endParaRPr lang="en-US" sz="1250" dirty="0"/>
          </a:p>
        </p:txBody>
      </p:sp>
      <p:sp>
        <p:nvSpPr>
          <p:cNvPr id="11" name="Shape 8"/>
          <p:cNvSpPr/>
          <p:nvPr/>
        </p:nvSpPr>
        <p:spPr>
          <a:xfrm>
            <a:off x="3127248" y="2441448"/>
            <a:ext cx="237744" cy="0"/>
          </a:xfrm>
          <a:prstGeom prst="line">
            <a:avLst/>
          </a:prstGeom>
          <a:noFill/>
          <a:ln w="25400">
            <a:solidFill>
              <a:srgbClr val="8B8781"/>
            </a:solidFill>
            <a:prstDash val="solid"/>
            <a:tailEnd type="triangle"/>
          </a:ln>
        </p:spPr>
      </p:sp>
      <p:sp>
        <p:nvSpPr>
          <p:cNvPr id="12" name="flow card 2"/>
          <p:cNvSpPr/>
          <p:nvPr/>
        </p:nvSpPr>
        <p:spPr>
          <a:xfrm>
            <a:off x="3383280" y="1417320"/>
            <a:ext cx="2560320" cy="2057400"/>
          </a:xfrm>
          <a:prstGeom prst="rect">
            <a:avLst/>
          </a:prstGeom>
          <a:solidFill>
            <a:schemeClr val="bg1"/>
          </a:solidFill>
          <a:ln w="9525">
            <a:solidFill>
              <a:srgbClr val="D8D3CB"/>
            </a:solidFill>
            <a:prstDash val="solid"/>
          </a:ln>
        </p:spPr>
      </p:sp>
      <p:sp>
        <p:nvSpPr>
          <p:cNvPr id="13" name="flow label 2"/>
          <p:cNvSpPr txBox="1"/>
          <p:nvPr/>
        </p:nvSpPr>
        <p:spPr>
          <a:xfrm>
            <a:off x="3566160" y="1554480"/>
            <a:ext cx="2194560" cy="365760"/>
          </a:xfrm>
          <a:prstGeom prst="rect">
            <a:avLst/>
          </a:prstGeom>
          <a:noFill/>
          <a:ln/>
        </p:spPr>
        <p:txBody>
          <a:bodyPr wrap="square" lIns="0" tIns="0" rIns="0" bIns="0" rtlCol="0" anchor="t"/>
          <a:lstStyle/>
          <a:p>
            <a:pPr indent="0" marL="0">
              <a:buNone/>
            </a:pPr>
            <a:r>
              <a:rPr lang="en-US" sz="1400" b="1" dirty="0">
                <a:solidFill>
                  <a:schemeClr val="tx2"/>
                </a:solidFill>
              </a:rPr>
              <a:t>Preparation cost</a:t>
            </a:r>
            <a:endParaRPr lang="en-US" sz="1400" dirty="0"/>
          </a:p>
        </p:txBody>
      </p:sp>
      <p:sp>
        <p:nvSpPr>
          <p:cNvPr id="14" name="flow value 2"/>
          <p:cNvSpPr txBox="1"/>
          <p:nvPr/>
        </p:nvSpPr>
        <p:spPr>
          <a:xfrm>
            <a:off x="3566160" y="2011680"/>
            <a:ext cx="2240280" cy="68580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 R33 000</a:t>
            </a:r>
            <a:endParaRPr lang="en-US" sz="3000" dirty="0"/>
          </a:p>
        </p:txBody>
      </p:sp>
      <p:sp>
        <p:nvSpPr>
          <p:cNvPr id="15" name="flow text 2"/>
          <p:cNvSpPr txBox="1"/>
          <p:nvPr/>
        </p:nvSpPr>
        <p:spPr>
          <a:xfrm>
            <a:off x="3566160" y="2743200"/>
            <a:ext cx="2240280" cy="594360"/>
          </a:xfrm>
          <a:prstGeom prst="rect">
            <a:avLst/>
          </a:prstGeom>
          <a:noFill/>
          <a:ln/>
        </p:spPr>
        <p:txBody>
          <a:bodyPr wrap="square" lIns="0" tIns="0" rIns="0" bIns="0" rtlCol="0" anchor="t"/>
          <a:lstStyle/>
          <a:p>
            <a:pPr indent="0" marL="0">
              <a:buNone/>
            </a:pPr>
            <a:r>
              <a:rPr lang="en-US" sz="1250" dirty="0">
                <a:solidFill>
                  <a:schemeClr val="tx2"/>
                </a:solidFill>
              </a:rPr>
              <a:t>0.33 % of value — research average</a:t>
            </a:r>
            <a:endParaRPr lang="en-US" sz="1250" dirty="0"/>
          </a:p>
        </p:txBody>
      </p:sp>
      <p:sp>
        <p:nvSpPr>
          <p:cNvPr id="16" name="Shape 13"/>
          <p:cNvSpPr/>
          <p:nvPr/>
        </p:nvSpPr>
        <p:spPr>
          <a:xfrm>
            <a:off x="5961888" y="2441448"/>
            <a:ext cx="237744" cy="0"/>
          </a:xfrm>
          <a:prstGeom prst="line">
            <a:avLst/>
          </a:prstGeom>
          <a:noFill/>
          <a:ln w="25400">
            <a:solidFill>
              <a:srgbClr val="8B8781"/>
            </a:solidFill>
            <a:prstDash val="solid"/>
            <a:tailEnd type="triangle"/>
          </a:ln>
        </p:spPr>
      </p:sp>
      <p:sp>
        <p:nvSpPr>
          <p:cNvPr id="17" name="flow card 3"/>
          <p:cNvSpPr/>
          <p:nvPr/>
        </p:nvSpPr>
        <p:spPr>
          <a:xfrm>
            <a:off x="6217920" y="1417320"/>
            <a:ext cx="2560320" cy="2057400"/>
          </a:xfrm>
          <a:prstGeom prst="rect">
            <a:avLst/>
          </a:prstGeom>
          <a:solidFill>
            <a:schemeClr val="bg1"/>
          </a:solidFill>
          <a:ln w="9525">
            <a:solidFill>
              <a:srgbClr val="D8D3CB"/>
            </a:solidFill>
            <a:prstDash val="solid"/>
          </a:ln>
        </p:spPr>
      </p:sp>
      <p:sp>
        <p:nvSpPr>
          <p:cNvPr id="18" name="flow label 3"/>
          <p:cNvSpPr txBox="1"/>
          <p:nvPr/>
        </p:nvSpPr>
        <p:spPr>
          <a:xfrm>
            <a:off x="6400800" y="1554480"/>
            <a:ext cx="2194560" cy="365760"/>
          </a:xfrm>
          <a:prstGeom prst="rect">
            <a:avLst/>
          </a:prstGeom>
          <a:noFill/>
          <a:ln/>
        </p:spPr>
        <p:txBody>
          <a:bodyPr wrap="square" lIns="0" tIns="0" rIns="0" bIns="0" rtlCol="0" anchor="t"/>
          <a:lstStyle/>
          <a:p>
            <a:pPr indent="0" marL="0">
              <a:buNone/>
            </a:pPr>
            <a:r>
              <a:rPr lang="en-US" sz="1400" b="1" dirty="0">
                <a:solidFill>
                  <a:schemeClr val="tx2"/>
                </a:solidFill>
              </a:rPr>
              <a:t>Each 10 % of effort saved</a:t>
            </a:r>
            <a:endParaRPr lang="en-US" sz="1400" dirty="0"/>
          </a:p>
        </p:txBody>
      </p:sp>
      <p:sp>
        <p:nvSpPr>
          <p:cNvPr id="19" name="flow value 3"/>
          <p:cNvSpPr txBox="1"/>
          <p:nvPr/>
        </p:nvSpPr>
        <p:spPr>
          <a:xfrm>
            <a:off x="6400800" y="2011680"/>
            <a:ext cx="2240280" cy="68580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 R3 300</a:t>
            </a:r>
            <a:endParaRPr lang="en-US" sz="3000" dirty="0"/>
          </a:p>
        </p:txBody>
      </p:sp>
      <p:sp>
        <p:nvSpPr>
          <p:cNvPr id="20" name="flow text 3"/>
          <p:cNvSpPr txBox="1"/>
          <p:nvPr/>
        </p:nvSpPr>
        <p:spPr>
          <a:xfrm>
            <a:off x="6400800" y="2743200"/>
            <a:ext cx="2240280" cy="594360"/>
          </a:xfrm>
          <a:prstGeom prst="rect">
            <a:avLst/>
          </a:prstGeom>
          <a:noFill/>
          <a:ln/>
        </p:spPr>
        <p:txBody>
          <a:bodyPr wrap="square" lIns="0" tIns="0" rIns="0" bIns="0" rtlCol="0" anchor="t"/>
          <a:lstStyle/>
          <a:p>
            <a:pPr indent="0" marL="0">
              <a:buNone/>
            </a:pPr>
            <a:r>
              <a:rPr lang="en-US" sz="1250" dirty="0">
                <a:solidFill>
                  <a:schemeClr val="tx2"/>
                </a:solidFill>
              </a:rPr>
              <a:t>per tender</a:t>
            </a:r>
            <a:endParaRPr lang="en-US" sz="1250" dirty="0"/>
          </a:p>
        </p:txBody>
      </p:sp>
      <p:sp>
        <p:nvSpPr>
          <p:cNvPr id="21" name="Shape 18"/>
          <p:cNvSpPr/>
          <p:nvPr/>
        </p:nvSpPr>
        <p:spPr>
          <a:xfrm>
            <a:off x="8796528" y="2441448"/>
            <a:ext cx="237744" cy="0"/>
          </a:xfrm>
          <a:prstGeom prst="line">
            <a:avLst/>
          </a:prstGeom>
          <a:noFill/>
          <a:ln w="25400">
            <a:solidFill>
              <a:srgbClr val="8B8781"/>
            </a:solidFill>
            <a:prstDash val="solid"/>
            <a:tailEnd type="triangle"/>
          </a:ln>
        </p:spPr>
      </p:sp>
      <p:sp>
        <p:nvSpPr>
          <p:cNvPr id="22" name="flow card 4"/>
          <p:cNvSpPr/>
          <p:nvPr/>
        </p:nvSpPr>
        <p:spPr>
          <a:xfrm>
            <a:off x="9052560" y="1417320"/>
            <a:ext cx="2560320" cy="2057400"/>
          </a:xfrm>
          <a:prstGeom prst="rect">
            <a:avLst/>
          </a:prstGeom>
          <a:solidFill>
            <a:schemeClr val="bg2"/>
          </a:solidFill>
          <a:ln w="9525">
            <a:solidFill>
              <a:srgbClr val="D8D3CB"/>
            </a:solidFill>
            <a:prstDash val="solid"/>
          </a:ln>
        </p:spPr>
      </p:sp>
      <p:sp>
        <p:nvSpPr>
          <p:cNvPr id="23" name="flow label 4"/>
          <p:cNvSpPr txBox="1"/>
          <p:nvPr/>
        </p:nvSpPr>
        <p:spPr>
          <a:xfrm>
            <a:off x="9235440" y="1554480"/>
            <a:ext cx="2194560" cy="365760"/>
          </a:xfrm>
          <a:prstGeom prst="rect">
            <a:avLst/>
          </a:prstGeom>
          <a:noFill/>
          <a:ln/>
        </p:spPr>
        <p:txBody>
          <a:bodyPr wrap="square" lIns="0" tIns="0" rIns="0" bIns="0" rtlCol="0" anchor="t"/>
          <a:lstStyle/>
          <a:p>
            <a:pPr indent="0" marL="0">
              <a:buNone/>
            </a:pPr>
            <a:r>
              <a:rPr lang="en-US" sz="1400" b="1" dirty="0">
                <a:solidFill>
                  <a:schemeClr val="tx2"/>
                </a:solidFill>
              </a:rPr>
              <a:t>4 tenders a month</a:t>
            </a:r>
            <a:endParaRPr lang="en-US" sz="1400" dirty="0"/>
          </a:p>
        </p:txBody>
      </p:sp>
      <p:sp>
        <p:nvSpPr>
          <p:cNvPr id="24" name="flow value 4"/>
          <p:cNvSpPr txBox="1"/>
          <p:nvPr/>
        </p:nvSpPr>
        <p:spPr>
          <a:xfrm>
            <a:off x="9235440" y="2011680"/>
            <a:ext cx="2240280" cy="68580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 R13 200</a:t>
            </a:r>
            <a:endParaRPr lang="en-US" sz="3000" dirty="0"/>
          </a:p>
        </p:txBody>
      </p:sp>
      <p:sp>
        <p:nvSpPr>
          <p:cNvPr id="25" name="flow text 4"/>
          <p:cNvSpPr txBox="1"/>
          <p:nvPr/>
        </p:nvSpPr>
        <p:spPr>
          <a:xfrm>
            <a:off x="9235440" y="2743200"/>
            <a:ext cx="2240280" cy="594360"/>
          </a:xfrm>
          <a:prstGeom prst="rect">
            <a:avLst/>
          </a:prstGeom>
          <a:noFill/>
          <a:ln/>
        </p:spPr>
        <p:txBody>
          <a:bodyPr wrap="square" lIns="0" tIns="0" rIns="0" bIns="0" rtlCol="0" anchor="t"/>
          <a:lstStyle/>
          <a:p>
            <a:pPr indent="0" marL="0">
              <a:buNone/>
            </a:pPr>
            <a:r>
              <a:rPr lang="en-US" sz="1250" dirty="0">
                <a:solidFill>
                  <a:schemeClr val="tx2"/>
                </a:solidFill>
              </a:rPr>
              <a:t>a month, per 10 % saved</a:t>
            </a:r>
            <a:endParaRPr lang="en-US" sz="1250" dirty="0"/>
          </a:p>
        </p:txBody>
      </p:sp>
      <p:sp>
        <p:nvSpPr>
          <p:cNvPr id="26" name="compare card 1"/>
          <p:cNvSpPr/>
          <p:nvPr/>
        </p:nvSpPr>
        <p:spPr>
          <a:xfrm>
            <a:off x="548640" y="3703320"/>
            <a:ext cx="11064240" cy="731520"/>
          </a:xfrm>
          <a:prstGeom prst="rect">
            <a:avLst/>
          </a:prstGeom>
          <a:solidFill>
            <a:schemeClr val="bg2"/>
          </a:solidFill>
          <a:ln w="9525">
            <a:solidFill>
              <a:srgbClr val="D8D3CB"/>
            </a:solidFill>
            <a:prstDash val="solid"/>
          </a:ln>
        </p:spPr>
      </p:sp>
      <p:sp>
        <p:nvSpPr>
          <p:cNvPr id="27" name="compare 1 circle"/>
          <p:cNvSpPr/>
          <p:nvPr/>
        </p:nvSpPr>
        <p:spPr>
          <a:xfrm>
            <a:off x="713232" y="3794760"/>
            <a:ext cx="548640" cy="548640"/>
          </a:xfrm>
          <a:prstGeom prst="ellipse">
            <a:avLst/>
          </a:prstGeom>
          <a:solidFill>
            <a:srgbClr val="3F7D58"/>
          </a:solidFill>
          <a:ln w="12700">
            <a:solidFill>
              <a:srgbClr val="3F7D58"/>
            </a:solidFill>
            <a:prstDash val="solid"/>
          </a:ln>
        </p:spPr>
      </p:sp>
      <p:pic>
        <p:nvPicPr>
          <p:cNvPr id="28" name="compare 1 icon" descr="preencoded.png">    </p:cNvPr>
          <p:cNvPicPr>
            <a:picLocks noChangeAspect="1"/>
          </p:cNvPicPr>
          <p:nvPr/>
        </p:nvPicPr>
        <p:blipFill>
          <a:blip r:embed="rId1"/>
          <a:stretch>
            <a:fillRect/>
          </a:stretch>
        </p:blipFill>
        <p:spPr>
          <a:xfrm>
            <a:off x="855878" y="3937406"/>
            <a:ext cx="263347" cy="263347"/>
          </a:xfrm>
          <a:prstGeom prst="rect">
            <a:avLst/>
          </a:prstGeom>
        </p:spPr>
      </p:pic>
      <p:sp>
        <p:nvSpPr>
          <p:cNvPr id="29" name="compare text 1"/>
          <p:cNvSpPr txBox="1"/>
          <p:nvPr/>
        </p:nvSpPr>
        <p:spPr>
          <a:xfrm>
            <a:off x="1463040" y="3749040"/>
            <a:ext cx="9966960" cy="640080"/>
          </a:xfrm>
          <a:prstGeom prst="rect">
            <a:avLst/>
          </a:prstGeom>
          <a:noFill/>
          <a:ln/>
        </p:spPr>
        <p:txBody>
          <a:bodyPr wrap="square" lIns="0" tIns="0" rIns="0" bIns="0" rtlCol="0" anchor="ctr"/>
          <a:lstStyle/>
          <a:p>
            <a:pPr indent="0" marL="0">
              <a:buNone/>
            </a:pPr>
            <a:r>
              <a:rPr lang="en-US" sz="1450" b="1" dirty="0">
                <a:solidFill>
                  <a:schemeClr val="tx1"/>
                </a:solidFill>
              </a:rPr>
              <a:t>AfriPlan on this tender:  </a:t>
            </a:r>
            <a:pPr indent="0" marL="0">
              <a:buNone/>
            </a:pPr>
            <a:r>
              <a:rPr lang="en-US" sz="1450" dirty="0">
                <a:solidFill>
                  <a:schemeClr val="tx1"/>
                </a:solidFill>
              </a:rPr>
              <a:t>≈ R45 to read 18 PDF pages with the paid AI model · R0 for DWG/DXF or the free model</a:t>
            </a:r>
            <a:endParaRPr lang="en-US" sz="1450" dirty="0"/>
          </a:p>
        </p:txBody>
      </p:sp>
      <p:sp>
        <p:nvSpPr>
          <p:cNvPr id="30" name="compare card 2"/>
          <p:cNvSpPr/>
          <p:nvPr/>
        </p:nvSpPr>
        <p:spPr>
          <a:xfrm>
            <a:off x="548640" y="4572000"/>
            <a:ext cx="11064240" cy="731520"/>
          </a:xfrm>
          <a:prstGeom prst="rect">
            <a:avLst/>
          </a:prstGeom>
          <a:solidFill>
            <a:schemeClr val="bg1"/>
          </a:solidFill>
          <a:ln w="9525">
            <a:solidFill>
              <a:srgbClr val="D8D3CB"/>
            </a:solidFill>
            <a:prstDash val="solid"/>
          </a:ln>
        </p:spPr>
      </p:sp>
      <p:sp>
        <p:nvSpPr>
          <p:cNvPr id="31" name="compare 2 circle"/>
          <p:cNvSpPr/>
          <p:nvPr/>
        </p:nvSpPr>
        <p:spPr>
          <a:xfrm>
            <a:off x="713232" y="4663440"/>
            <a:ext cx="548640" cy="548640"/>
          </a:xfrm>
          <a:prstGeom prst="ellipse">
            <a:avLst/>
          </a:prstGeom>
          <a:solidFill>
            <a:srgbClr val="8B8781"/>
          </a:solidFill>
          <a:ln w="12700">
            <a:solidFill>
              <a:srgbClr val="8B8781"/>
            </a:solidFill>
            <a:prstDash val="solid"/>
          </a:ln>
        </p:spPr>
      </p:sp>
      <p:pic>
        <p:nvPicPr>
          <p:cNvPr id="32" name="compare 2 icon" descr="preencoded.png">    </p:cNvPr>
          <p:cNvPicPr>
            <a:picLocks noChangeAspect="1"/>
          </p:cNvPicPr>
          <p:nvPr/>
        </p:nvPicPr>
        <p:blipFill>
          <a:blip r:embed="rId2"/>
          <a:stretch>
            <a:fillRect/>
          </a:stretch>
        </p:blipFill>
        <p:spPr>
          <a:xfrm>
            <a:off x="855878" y="4806086"/>
            <a:ext cx="263347" cy="263347"/>
          </a:xfrm>
          <a:prstGeom prst="rect">
            <a:avLst/>
          </a:prstGeom>
        </p:spPr>
      </p:pic>
      <p:sp>
        <p:nvSpPr>
          <p:cNvPr id="33" name="compare text 2"/>
          <p:cNvSpPr txBox="1"/>
          <p:nvPr/>
        </p:nvSpPr>
        <p:spPr>
          <a:xfrm>
            <a:off x="1463040" y="4617720"/>
            <a:ext cx="9966960" cy="640080"/>
          </a:xfrm>
          <a:prstGeom prst="rect">
            <a:avLst/>
          </a:prstGeom>
          <a:noFill/>
          <a:ln/>
        </p:spPr>
        <p:txBody>
          <a:bodyPr wrap="square" lIns="0" tIns="0" rIns="0" bIns="0" rtlCol="0" anchor="ctr"/>
          <a:lstStyle/>
          <a:p>
            <a:pPr indent="0" marL="0">
              <a:buNone/>
            </a:pPr>
            <a:r>
              <a:rPr lang="en-US" sz="1450" b="1" dirty="0">
                <a:solidFill>
                  <a:schemeClr val="tx1"/>
                </a:solidFill>
              </a:rPr>
              <a:t>Take-off software today:  </a:t>
            </a:r>
            <a:pPr indent="0" marL="0">
              <a:buNone/>
            </a:pPr>
            <a:r>
              <a:rPr lang="en-US" sz="1450" dirty="0">
                <a:solidFill>
                  <a:schemeClr val="tx1"/>
                </a:solidFill>
              </a:rPr>
              <a:t>PDF take-off software ≈ R4 650–10 560 per user a year · AI take-off software ≈ R5 350 per user a month</a:t>
            </a:r>
            <a:endParaRPr lang="en-US" sz="1450" dirty="0"/>
          </a:p>
        </p:txBody>
      </p:sp>
      <p:sp>
        <p:nvSpPr>
          <p:cNvPr id="34" name="worked example note"/>
          <p:cNvSpPr txBox="1"/>
          <p:nvPr/>
        </p:nvSpPr>
        <p:spPr>
          <a:xfrm>
            <a:off x="548640" y="5486400"/>
            <a:ext cx="11064240" cy="365760"/>
          </a:xfrm>
          <a:prstGeom prst="rect">
            <a:avLst/>
          </a:prstGeom>
          <a:noFill/>
          <a:ln/>
        </p:spPr>
        <p:txBody>
          <a:bodyPr wrap="square" lIns="0" tIns="0" rIns="0" bIns="0" rtlCol="0" anchor="t"/>
          <a:lstStyle/>
          <a:p>
            <a:pPr indent="0" marL="0">
              <a:buNone/>
            </a:pPr>
            <a:r>
              <a:rPr lang="en-US" sz="1400" i="1" dirty="0">
                <a:solidFill>
                  <a:schemeClr val="accent1"/>
                </a:solidFill>
              </a:rPr>
              <a:t>Illustration — replace the tender value, tenders per month and share of time saved with your own figures.</a:t>
            </a:r>
            <a:endParaRPr lang="en-US" sz="1400" dirty="0"/>
          </a:p>
        </p:txBody>
      </p:sp>
      <p:sp>
        <p:nvSpPr>
          <p:cNvPr id="35" name="source"/>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950" dirty="0">
                <a:solidFill>
                  <a:schemeClr val="accent6"/>
                </a:solidFill>
              </a:rPr>
              <a:t>Tender cost: Ameyaw, Abaitey &amp; Mensah (2021), 14 public tenders, Ghana — small sample. Software prices from two vendors' price pages, 5 Oct 2026, at R17.9 / USD. No study measures SA electrical take-off hours.</a:t>
            </a:r>
            <a:endParaRPr lang="en-US" sz="95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2"/>
                </a:solidFill>
                <a:latin typeface="Consolas" pitchFamily="34" charset="0"/>
                <a:ea typeface="Consolas" pitchFamily="34" charset="-122"/>
                <a:cs typeface="Consolas" pitchFamily="34" charset="-120"/>
              </a:rPr>
              <a:t>CONCLUSION</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3000" b="1" dirty="0">
                <a:solidFill>
                  <a:schemeClr val="bg2"/>
                </a:solidFill>
              </a:rPr>
              <a:t>Conclusion: what to remember</a:t>
            </a:r>
            <a:endParaRPr lang="en-US" sz="3000" dirty="0"/>
          </a:p>
        </p:txBody>
      </p:sp>
      <p:sp>
        <p:nvSpPr>
          <p:cNvPr id="7" name="takeaway card 1"/>
          <p:cNvSpPr/>
          <p:nvPr/>
        </p:nvSpPr>
        <p:spPr>
          <a:xfrm>
            <a:off x="548640" y="1600200"/>
            <a:ext cx="5440680" cy="1828800"/>
          </a:xfrm>
          <a:prstGeom prst="roundRect">
            <a:avLst>
              <a:gd name="adj" fmla="val 6000"/>
            </a:avLst>
          </a:prstGeom>
          <a:solidFill>
            <a:schemeClr val="tx2"/>
          </a:solidFill>
          <a:ln w="12700">
            <a:solidFill>
              <a:srgbClr val="2C2D33"/>
            </a:solidFill>
            <a:prstDash val="solid"/>
          </a:ln>
        </p:spPr>
      </p:sp>
      <p:sp>
        <p:nvSpPr>
          <p:cNvPr id="8" name="takeaway 1 circle"/>
          <p:cNvSpPr/>
          <p:nvPr/>
        </p:nvSpPr>
        <p:spPr>
          <a:xfrm>
            <a:off x="822960" y="1920240"/>
            <a:ext cx="777240" cy="777240"/>
          </a:xfrm>
          <a:prstGeom prst="ellipse">
            <a:avLst/>
          </a:prstGeom>
          <a:solidFill>
            <a:srgbClr val="C9A15A"/>
          </a:solidFill>
          <a:ln w="12700">
            <a:solidFill>
              <a:srgbClr val="C9A15A"/>
            </a:solidFill>
            <a:prstDash val="solid"/>
          </a:ln>
        </p:spPr>
      </p:sp>
      <p:pic>
        <p:nvPicPr>
          <p:cNvPr id="9" name="takeaway 1 icon" descr="preencoded.png">    </p:cNvPr>
          <p:cNvPicPr>
            <a:picLocks noChangeAspect="1"/>
          </p:cNvPicPr>
          <p:nvPr/>
        </p:nvPicPr>
        <p:blipFill>
          <a:blip r:embed="rId1"/>
          <a:stretch>
            <a:fillRect/>
          </a:stretch>
        </p:blipFill>
        <p:spPr>
          <a:xfrm>
            <a:off x="1025042" y="2122322"/>
            <a:ext cx="373075" cy="373075"/>
          </a:xfrm>
          <a:prstGeom prst="rect">
            <a:avLst/>
          </a:prstGeom>
        </p:spPr>
      </p:pic>
      <p:sp>
        <p:nvSpPr>
          <p:cNvPr id="10" name="takeaway title 1"/>
          <p:cNvSpPr txBox="1"/>
          <p:nvPr/>
        </p:nvSpPr>
        <p:spPr>
          <a:xfrm>
            <a:off x="1828800" y="1920240"/>
            <a:ext cx="3977640" cy="457200"/>
          </a:xfrm>
          <a:prstGeom prst="rect">
            <a:avLst/>
          </a:prstGeom>
          <a:noFill/>
          <a:ln/>
        </p:spPr>
        <p:txBody>
          <a:bodyPr wrap="square" lIns="0" tIns="0" rIns="0" bIns="0" rtlCol="0" anchor="t"/>
          <a:lstStyle/>
          <a:p>
            <a:pPr indent="0" marL="0">
              <a:buNone/>
            </a:pPr>
            <a:r>
              <a:rPr lang="en-US" sz="1900" b="1" dirty="0">
                <a:solidFill>
                  <a:schemeClr val="bg1"/>
                </a:solidFill>
              </a:rPr>
              <a:t>Reads the core reliably</a:t>
            </a:r>
            <a:endParaRPr lang="en-US" sz="1900" dirty="0"/>
          </a:p>
        </p:txBody>
      </p:sp>
      <p:sp>
        <p:nvSpPr>
          <p:cNvPr id="11" name="takeaway text 1"/>
          <p:cNvSpPr txBox="1"/>
          <p:nvPr/>
        </p:nvSpPr>
        <p:spPr>
          <a:xfrm>
            <a:off x="1828800" y="2423160"/>
            <a:ext cx="3977640" cy="1097280"/>
          </a:xfrm>
          <a:prstGeom prst="rect">
            <a:avLst/>
          </a:prstGeom>
          <a:noFill/>
          <a:ln/>
        </p:spPr>
        <p:txBody>
          <a:bodyPr wrap="square" lIns="0" tIns="0" rIns="0" bIns="0" rtlCol="0" anchor="t"/>
          <a:lstStyle/>
          <a:p>
            <a:pPr indent="0" marL="0">
              <a:buNone/>
            </a:pPr>
            <a:r>
              <a:rPr lang="en-US" sz="1400" dirty="0">
                <a:solidFill>
                  <a:srgbClr val="B9B6B0"/>
                </a:solidFill>
              </a:rPr>
              <a:t>every board and feeder size on the single-line diagrams — a person confirmed 19 of 19 checked items</a:t>
            </a:r>
            <a:endParaRPr lang="en-US" sz="1400" dirty="0"/>
          </a:p>
        </p:txBody>
      </p:sp>
      <p:sp>
        <p:nvSpPr>
          <p:cNvPr id="12" name="takeaway card 2"/>
          <p:cNvSpPr/>
          <p:nvPr/>
        </p:nvSpPr>
        <p:spPr>
          <a:xfrm>
            <a:off x="6172200" y="1600200"/>
            <a:ext cx="5440680" cy="1828800"/>
          </a:xfrm>
          <a:prstGeom prst="roundRect">
            <a:avLst>
              <a:gd name="adj" fmla="val 6000"/>
            </a:avLst>
          </a:prstGeom>
          <a:solidFill>
            <a:schemeClr val="tx2"/>
          </a:solidFill>
          <a:ln w="12700">
            <a:solidFill>
              <a:srgbClr val="2C2D33"/>
            </a:solidFill>
            <a:prstDash val="solid"/>
          </a:ln>
        </p:spPr>
      </p:sp>
      <p:sp>
        <p:nvSpPr>
          <p:cNvPr id="13" name="takeaway 2 circle"/>
          <p:cNvSpPr/>
          <p:nvPr/>
        </p:nvSpPr>
        <p:spPr>
          <a:xfrm>
            <a:off x="6446520" y="1920240"/>
            <a:ext cx="777240" cy="777240"/>
          </a:xfrm>
          <a:prstGeom prst="ellipse">
            <a:avLst/>
          </a:prstGeom>
          <a:solidFill>
            <a:srgbClr val="C9A15A"/>
          </a:solidFill>
          <a:ln w="12700">
            <a:solidFill>
              <a:srgbClr val="C9A15A"/>
            </a:solidFill>
            <a:prstDash val="solid"/>
          </a:ln>
        </p:spPr>
      </p:sp>
      <p:pic>
        <p:nvPicPr>
          <p:cNvPr id="14" name="takeaway 2 icon" descr="preencoded.png">    </p:cNvPr>
          <p:cNvPicPr>
            <a:picLocks noChangeAspect="1"/>
          </p:cNvPicPr>
          <p:nvPr/>
        </p:nvPicPr>
        <p:blipFill>
          <a:blip r:embed="rId2"/>
          <a:stretch>
            <a:fillRect/>
          </a:stretch>
        </p:blipFill>
        <p:spPr>
          <a:xfrm>
            <a:off x="6648602" y="2122322"/>
            <a:ext cx="373075" cy="373075"/>
          </a:xfrm>
          <a:prstGeom prst="rect">
            <a:avLst/>
          </a:prstGeom>
        </p:spPr>
      </p:pic>
      <p:sp>
        <p:nvSpPr>
          <p:cNvPr id="15" name="takeaway title 2"/>
          <p:cNvSpPr txBox="1"/>
          <p:nvPr/>
        </p:nvSpPr>
        <p:spPr>
          <a:xfrm>
            <a:off x="7452360" y="1920240"/>
            <a:ext cx="3977640" cy="457200"/>
          </a:xfrm>
          <a:prstGeom prst="rect">
            <a:avLst/>
          </a:prstGeom>
          <a:noFill/>
          <a:ln/>
        </p:spPr>
        <p:txBody>
          <a:bodyPr wrap="square" lIns="0" tIns="0" rIns="0" bIns="0" rtlCol="0" anchor="t"/>
          <a:lstStyle/>
          <a:p>
            <a:pPr indent="0" marL="0">
              <a:buNone/>
            </a:pPr>
            <a:r>
              <a:rPr lang="en-US" sz="1900" b="1" dirty="0">
                <a:solidFill>
                  <a:schemeClr val="bg1"/>
                </a:solidFill>
              </a:rPr>
              <a:t>67.5 % reading score today</a:t>
            </a:r>
            <a:endParaRPr lang="en-US" sz="1900" dirty="0"/>
          </a:p>
        </p:txBody>
      </p:sp>
      <p:sp>
        <p:nvSpPr>
          <p:cNvPr id="16" name="takeaway text 2"/>
          <p:cNvSpPr txBox="1"/>
          <p:nvPr/>
        </p:nvSpPr>
        <p:spPr>
          <a:xfrm>
            <a:off x="7452360" y="2423160"/>
            <a:ext cx="3977640" cy="1097280"/>
          </a:xfrm>
          <a:prstGeom prst="rect">
            <a:avLst/>
          </a:prstGeom>
          <a:noFill/>
          <a:ln/>
        </p:spPr>
        <p:txBody>
          <a:bodyPr wrap="square" lIns="0" tIns="0" rIns="0" bIns="0" rtlCol="0" anchor="t"/>
          <a:lstStyle/>
          <a:p>
            <a:pPr indent="0" marL="0">
              <a:buNone/>
            </a:pPr>
            <a:r>
              <a:rPr lang="en-US" sz="1400" dirty="0">
                <a:solidFill>
                  <a:srgbClr val="B9B6B0"/>
                </a:solidFill>
              </a:rPr>
              <a:t>against a real bill that itself differs from the drawings in places</a:t>
            </a:r>
            <a:endParaRPr lang="en-US" sz="1400" dirty="0"/>
          </a:p>
        </p:txBody>
      </p:sp>
      <p:sp>
        <p:nvSpPr>
          <p:cNvPr id="17" name="takeaway card 3"/>
          <p:cNvSpPr/>
          <p:nvPr/>
        </p:nvSpPr>
        <p:spPr>
          <a:xfrm>
            <a:off x="548640" y="3703320"/>
            <a:ext cx="5440680" cy="1828800"/>
          </a:xfrm>
          <a:prstGeom prst="roundRect">
            <a:avLst>
              <a:gd name="adj" fmla="val 6000"/>
            </a:avLst>
          </a:prstGeom>
          <a:solidFill>
            <a:schemeClr val="tx2"/>
          </a:solidFill>
          <a:ln w="12700">
            <a:solidFill>
              <a:srgbClr val="2C2D33"/>
            </a:solidFill>
            <a:prstDash val="solid"/>
          </a:ln>
        </p:spPr>
      </p:sp>
      <p:sp>
        <p:nvSpPr>
          <p:cNvPr id="18" name="takeaway 3 circle"/>
          <p:cNvSpPr/>
          <p:nvPr/>
        </p:nvSpPr>
        <p:spPr>
          <a:xfrm>
            <a:off x="822960" y="4023360"/>
            <a:ext cx="777240" cy="777240"/>
          </a:xfrm>
          <a:prstGeom prst="ellipse">
            <a:avLst/>
          </a:prstGeom>
          <a:solidFill>
            <a:srgbClr val="C9A15A"/>
          </a:solidFill>
          <a:ln w="12700">
            <a:solidFill>
              <a:srgbClr val="C9A15A"/>
            </a:solidFill>
            <a:prstDash val="solid"/>
          </a:ln>
        </p:spPr>
      </p:sp>
      <p:pic>
        <p:nvPicPr>
          <p:cNvPr id="19" name="takeaway 3 icon" descr="preencoded.png">    </p:cNvPr>
          <p:cNvPicPr>
            <a:picLocks noChangeAspect="1"/>
          </p:cNvPicPr>
          <p:nvPr/>
        </p:nvPicPr>
        <p:blipFill>
          <a:blip r:embed="rId3"/>
          <a:stretch>
            <a:fillRect/>
          </a:stretch>
        </p:blipFill>
        <p:spPr>
          <a:xfrm>
            <a:off x="1025042" y="4225442"/>
            <a:ext cx="373075" cy="373075"/>
          </a:xfrm>
          <a:prstGeom prst="rect">
            <a:avLst/>
          </a:prstGeom>
        </p:spPr>
      </p:pic>
      <p:sp>
        <p:nvSpPr>
          <p:cNvPr id="20" name="takeaway title 3"/>
          <p:cNvSpPr txBox="1"/>
          <p:nvPr/>
        </p:nvSpPr>
        <p:spPr>
          <a:xfrm>
            <a:off x="1828800" y="4023360"/>
            <a:ext cx="3977640" cy="457200"/>
          </a:xfrm>
          <a:prstGeom prst="rect">
            <a:avLst/>
          </a:prstGeom>
          <a:noFill/>
          <a:ln/>
        </p:spPr>
        <p:txBody>
          <a:bodyPr wrap="square" lIns="0" tIns="0" rIns="0" bIns="0" rtlCol="0" anchor="t"/>
          <a:lstStyle/>
          <a:p>
            <a:pPr indent="0" marL="0">
              <a:buNone/>
            </a:pPr>
            <a:r>
              <a:rPr lang="en-US" sz="1900" b="1" dirty="0">
                <a:solidFill>
                  <a:schemeClr val="bg1"/>
                </a:solidFill>
              </a:rPr>
              <a:t>A first draft, reviewed</a:t>
            </a:r>
            <a:endParaRPr lang="en-US" sz="1900" dirty="0"/>
          </a:p>
        </p:txBody>
      </p:sp>
      <p:sp>
        <p:nvSpPr>
          <p:cNvPr id="21" name="takeaway text 3"/>
          <p:cNvSpPr txBox="1"/>
          <p:nvPr/>
        </p:nvSpPr>
        <p:spPr>
          <a:xfrm>
            <a:off x="1828800" y="4526280"/>
            <a:ext cx="3977640" cy="1097280"/>
          </a:xfrm>
          <a:prstGeom prst="rect">
            <a:avLst/>
          </a:prstGeom>
          <a:noFill/>
          <a:ln/>
        </p:spPr>
        <p:txBody>
          <a:bodyPr wrap="square" lIns="0" tIns="0" rIns="0" bIns="0" rtlCol="0" anchor="t"/>
          <a:lstStyle/>
          <a:p>
            <a:pPr indent="0" marL="0">
              <a:buNone/>
            </a:pPr>
            <a:r>
              <a:rPr lang="en-US" sz="1400" dirty="0">
                <a:solidFill>
                  <a:srgbClr val="B9B6B0"/>
                </a:solidFill>
              </a:rPr>
              <a:t>every line says where it comes from — start with “Guessed – check” and MUST FIX</a:t>
            </a:r>
            <a:endParaRPr lang="en-US" sz="1400" dirty="0"/>
          </a:p>
        </p:txBody>
      </p:sp>
      <p:sp>
        <p:nvSpPr>
          <p:cNvPr id="22" name="takeaway card 4"/>
          <p:cNvSpPr/>
          <p:nvPr/>
        </p:nvSpPr>
        <p:spPr>
          <a:xfrm>
            <a:off x="6172200" y="3703320"/>
            <a:ext cx="5440680" cy="1828800"/>
          </a:xfrm>
          <a:prstGeom prst="roundRect">
            <a:avLst>
              <a:gd name="adj" fmla="val 6000"/>
            </a:avLst>
          </a:prstGeom>
          <a:solidFill>
            <a:schemeClr val="tx2"/>
          </a:solidFill>
          <a:ln w="12700">
            <a:solidFill>
              <a:srgbClr val="2C2D33"/>
            </a:solidFill>
            <a:prstDash val="solid"/>
          </a:ln>
        </p:spPr>
      </p:sp>
      <p:sp>
        <p:nvSpPr>
          <p:cNvPr id="23" name="takeaway 4 circle"/>
          <p:cNvSpPr/>
          <p:nvPr/>
        </p:nvSpPr>
        <p:spPr>
          <a:xfrm>
            <a:off x="6446520" y="4023360"/>
            <a:ext cx="777240" cy="777240"/>
          </a:xfrm>
          <a:prstGeom prst="ellipse">
            <a:avLst/>
          </a:prstGeom>
          <a:solidFill>
            <a:srgbClr val="C9A15A"/>
          </a:solidFill>
          <a:ln w="12700">
            <a:solidFill>
              <a:srgbClr val="C9A15A"/>
            </a:solidFill>
            <a:prstDash val="solid"/>
          </a:ln>
        </p:spPr>
      </p:sp>
      <p:pic>
        <p:nvPicPr>
          <p:cNvPr id="24" name="takeaway 4 icon" descr="preencoded.png">    </p:cNvPr>
          <p:cNvPicPr>
            <a:picLocks noChangeAspect="1"/>
          </p:cNvPicPr>
          <p:nvPr/>
        </p:nvPicPr>
        <p:blipFill>
          <a:blip r:embed="rId4"/>
          <a:stretch>
            <a:fillRect/>
          </a:stretch>
        </p:blipFill>
        <p:spPr>
          <a:xfrm>
            <a:off x="6648602" y="4225442"/>
            <a:ext cx="373075" cy="373075"/>
          </a:xfrm>
          <a:prstGeom prst="rect">
            <a:avLst/>
          </a:prstGeom>
        </p:spPr>
      </p:pic>
      <p:sp>
        <p:nvSpPr>
          <p:cNvPr id="25" name="takeaway title 4"/>
          <p:cNvSpPr txBox="1"/>
          <p:nvPr/>
        </p:nvSpPr>
        <p:spPr>
          <a:xfrm>
            <a:off x="7452360" y="4023360"/>
            <a:ext cx="3977640" cy="457200"/>
          </a:xfrm>
          <a:prstGeom prst="rect">
            <a:avLst/>
          </a:prstGeom>
          <a:noFill/>
          <a:ln/>
        </p:spPr>
        <p:txBody>
          <a:bodyPr wrap="square" lIns="0" tIns="0" rIns="0" bIns="0" rtlCol="0" anchor="t"/>
          <a:lstStyle/>
          <a:p>
            <a:pPr indent="0" marL="0">
              <a:buNone/>
            </a:pPr>
            <a:r>
              <a:rPr lang="en-US" sz="1900" b="1" dirty="0">
                <a:solidFill>
                  <a:schemeClr val="bg1"/>
                </a:solidFill>
              </a:rPr>
              <a:t>Next: rules, then more data</a:t>
            </a:r>
            <a:endParaRPr lang="en-US" sz="1900" dirty="0"/>
          </a:p>
        </p:txBody>
      </p:sp>
      <p:sp>
        <p:nvSpPr>
          <p:cNvPr id="26" name="takeaway text 4"/>
          <p:cNvSpPr txBox="1"/>
          <p:nvPr/>
        </p:nvSpPr>
        <p:spPr>
          <a:xfrm>
            <a:off x="7452360" y="4526280"/>
            <a:ext cx="3977640" cy="1097280"/>
          </a:xfrm>
          <a:prstGeom prst="rect">
            <a:avLst/>
          </a:prstGeom>
          <a:noFill/>
          <a:ln/>
        </p:spPr>
        <p:txBody>
          <a:bodyPr wrap="square" lIns="0" tIns="0" rIns="0" bIns="0" rtlCol="0" anchor="t"/>
          <a:lstStyle/>
          <a:p>
            <a:pPr indent="0" marL="0">
              <a:buNone/>
            </a:pPr>
            <a:r>
              <a:rPr lang="en-US" sz="1400" dirty="0">
                <a:solidFill>
                  <a:srgbClr val="B9B6B0"/>
                </a:solidFill>
              </a:rPr>
              <a:t>fix the reader gaps with an electrical engineer, then 5 real projects from 3+ firms, then pricing</a:t>
            </a:r>
            <a:endParaRPr lang="en-US" sz="1400" dirty="0"/>
          </a:p>
        </p:txBody>
      </p:sp>
      <p:sp>
        <p:nvSpPr>
          <p:cNvPr id="27" name="closing pointers"/>
          <p:cNvSpPr txBox="1"/>
          <p:nvPr/>
        </p:nvSpPr>
        <p:spPr>
          <a:xfrm>
            <a:off x="548640" y="6263640"/>
            <a:ext cx="11064240" cy="320040"/>
          </a:xfrm>
          <a:prstGeom prst="rect">
            <a:avLst/>
          </a:prstGeom>
          <a:noFill/>
          <a:ln/>
        </p:spPr>
        <p:txBody>
          <a:bodyPr wrap="square" lIns="0" tIns="0" rIns="0" bIns="0" rtlCol="0" anchor="t"/>
          <a:lstStyle/>
          <a:p>
            <a:pPr indent="0" marL="0">
              <a:buNone/>
            </a:pPr>
            <a:r>
              <a:rPr lang="en-US" sz="1100" dirty="0">
                <a:solidFill>
                  <a:schemeClr val="accent6"/>
                </a:solidFill>
              </a:rPr>
              <a:t>Try it: https://afriplan.onrender.com</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REFERENCES</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References</a:t>
            </a:r>
            <a:endParaRPr lang="en-US" sz="2600" dirty="0"/>
          </a:p>
        </p:txBody>
      </p:sp>
      <p:sp>
        <p:nvSpPr>
          <p:cNvPr id="7" name="references left"/>
          <p:cNvSpPr txBox="1"/>
          <p:nvPr/>
        </p:nvSpPr>
        <p:spPr>
          <a:xfrm>
            <a:off x="548640" y="1325880"/>
            <a:ext cx="5440680" cy="4846320"/>
          </a:xfrm>
          <a:prstGeom prst="rect">
            <a:avLst/>
          </a:prstGeom>
          <a:noFill/>
          <a:ln/>
        </p:spPr>
        <p:txBody>
          <a:bodyPr wrap="square" lIns="0" tIns="0" rIns="0" bIns="0" rtlCol="0" anchor="t"/>
          <a:lstStyle/>
          <a:p>
            <a:pPr indent="0" marL="0">
              <a:spcAft>
                <a:spcPts val="500"/>
              </a:spcAft>
              <a:buNone/>
            </a:pPr>
            <a:r>
              <a:rPr lang="en-US" sz="1000" dirty="0">
                <a:solidFill>
                  <a:schemeClr val="tx2"/>
                </a:solidFill>
              </a:rPr>
              <a:t>Akampurira, E., &amp; Windapo, A. (2019). Key quality attributes of design documentation: South African perspective. Journal of Engineering, Design and Technology, 17(2), 362–382. https://doi.org/10.1108/jedt-08-2018-0137</a:t>
            </a:r>
            <a:endParaRPr lang="en-US" sz="1000" dirty="0"/>
          </a:p>
          <a:p>
            <a:pPr indent="0" marL="0">
              <a:spcAft>
                <a:spcPts val="500"/>
              </a:spcAft>
              <a:buNone/>
            </a:pPr>
            <a:r>
              <a:rPr lang="en-US" sz="1000" dirty="0">
                <a:solidFill>
                  <a:schemeClr val="tx2"/>
                </a:solidFill>
              </a:rPr>
              <a:t>Alkhateeb, A. M., Hyari, K. H., &amp; Hiyassat, M. (2020). Analyzing bidding competitiveness and success rate of contractors competing for public construction projects. Construction Innovation, 21(4), 576–591. https://doi.org/10.1108/ci-04-2020-0060</a:t>
            </a:r>
            <a:endParaRPr lang="en-US" sz="1000" dirty="0"/>
          </a:p>
          <a:p>
            <a:pPr indent="0" marL="0">
              <a:spcAft>
                <a:spcPts val="500"/>
              </a:spcAft>
              <a:buNone/>
            </a:pPr>
            <a:r>
              <a:rPr lang="en-US" sz="1000" dirty="0">
                <a:solidFill>
                  <a:schemeClr val="tx2"/>
                </a:solidFill>
              </a:rPr>
              <a:t>Ameyaw, C., Abaitey, B. A., &amp; Mensah, S. (2021). Assessing the cost of competitive tendering in Ghana using transaction cost theory. Built Environment Project and Asset Management, 11(5), 835–850. https://doi.org/10.1108/bepam-05-2020-0095</a:t>
            </a:r>
            <a:endParaRPr lang="en-US" sz="1000" dirty="0"/>
          </a:p>
          <a:p>
            <a:pPr indent="0" marL="0">
              <a:spcAft>
                <a:spcPts val="500"/>
              </a:spcAft>
              <a:buNone/>
            </a:pPr>
            <a:r>
              <a:rPr lang="en-US" sz="1000" dirty="0">
                <a:solidFill>
                  <a:schemeClr val="tx2"/>
                </a:solidFill>
              </a:rPr>
              <a:t>Elyan, E., Jamieson, L., &amp; Ali-Gombe, A. (2020). Deep learning for symbols detection and classification in engineering drawings. Neural Networks, 129, 91–102. https://doi.org/10.1016/j.neunet.2020.05.025</a:t>
            </a:r>
            <a:endParaRPr lang="en-US" sz="1000" dirty="0"/>
          </a:p>
          <a:p>
            <a:pPr indent="0" marL="0">
              <a:spcAft>
                <a:spcPts val="500"/>
              </a:spcAft>
              <a:buNone/>
            </a:pPr>
            <a:r>
              <a:rPr lang="en-US" sz="1000" dirty="0">
                <a:solidFill>
                  <a:schemeClr val="tx2"/>
                </a:solidFill>
              </a:rPr>
              <a:t>Govender, N., Laryea, S., &amp; Watermeyer, R. (2022). A framework for assessing quality of tender documents. Built Environment Project and Asset Management, 12(4), 573–589. https://doi.org/10.1108/bepam-07-2021-0094</a:t>
            </a:r>
            <a:endParaRPr lang="en-US" sz="1000" dirty="0"/>
          </a:p>
          <a:p>
            <a:pPr indent="0" marL="0">
              <a:spcAft>
                <a:spcPts val="500"/>
              </a:spcAft>
              <a:buNone/>
            </a:pPr>
            <a:r>
              <a:rPr lang="en-US" sz="1000" dirty="0">
                <a:solidFill>
                  <a:schemeClr val="tx2"/>
                </a:solidFill>
              </a:rPr>
              <a:t>Jamieson, L., Moreno-García, C. F., &amp; Elyan, E. (2024). A review of deep learning methods for digitisation of complex documents and engineering diagrams. Artificial Intelligence Review, 57(6). https://doi.org/10.1007/s10462-024-10779-2</a:t>
            </a:r>
            <a:endParaRPr lang="en-US" sz="1000" dirty="0"/>
          </a:p>
          <a:p>
            <a:pPr indent="0" marL="0">
              <a:spcAft>
                <a:spcPts val="500"/>
              </a:spcAft>
              <a:buNone/>
            </a:pPr>
            <a:r>
              <a:rPr lang="en-US" sz="1000" dirty="0">
                <a:solidFill>
                  <a:schemeClr val="tx2"/>
                </a:solidFill>
              </a:rPr>
              <a:t>Morena, M., &amp; Amoah, C. (2021). Assessment of the mitigating measures for cost overruns in the South African construction industry. IOP Conference Series: Earth and Environmental Science, 654, 012003. https://doi.org/10.1088/1755-1315/654/1/012003</a:t>
            </a:r>
            <a:endParaRPr lang="en-US" sz="1000" dirty="0"/>
          </a:p>
        </p:txBody>
      </p:sp>
      <p:sp>
        <p:nvSpPr>
          <p:cNvPr id="8" name="references right"/>
          <p:cNvSpPr txBox="1"/>
          <p:nvPr/>
        </p:nvSpPr>
        <p:spPr>
          <a:xfrm>
            <a:off x="6172200" y="1325880"/>
            <a:ext cx="5440680" cy="4846320"/>
          </a:xfrm>
          <a:prstGeom prst="rect">
            <a:avLst/>
          </a:prstGeom>
          <a:noFill/>
          <a:ln/>
        </p:spPr>
        <p:txBody>
          <a:bodyPr wrap="square" lIns="0" tIns="0" rIns="0" bIns="0" rtlCol="0" anchor="t"/>
          <a:lstStyle/>
          <a:p>
            <a:pPr indent="0" marL="0">
              <a:spcAft>
                <a:spcPts val="500"/>
              </a:spcAft>
              <a:buNone/>
            </a:pPr>
            <a:r>
              <a:rPr lang="en-US" sz="1000" dirty="0">
                <a:solidFill>
                  <a:schemeClr val="tx2"/>
                </a:solidFill>
              </a:rPr>
              <a:t>Murwira, D., &amp; Bekker, M. C. (2017). Building an infrastructure project performance in the North-West Province Department of Public Works and Roads. Acta Structilia, 24(2), 128–145. https://doi.org/10.18820/24150487/as24i2.5</a:t>
            </a:r>
            <a:endParaRPr lang="en-US" sz="1000" dirty="0"/>
          </a:p>
          <a:p>
            <a:pPr indent="0" marL="0">
              <a:spcAft>
                <a:spcPts val="500"/>
              </a:spcAft>
              <a:buNone/>
            </a:pPr>
            <a:r>
              <a:rPr lang="en-US" sz="1000" dirty="0">
                <a:solidFill>
                  <a:schemeClr val="tx2"/>
                </a:solidFill>
              </a:rPr>
              <a:t>Construction Industry Development Board. (2025). Strategic and annual performance plan (presented to Parliament, 25 June 2025). https://pmg.org.za/files/250625_DPWI_CIDB__Strategic_and_Annual_Performance_Plan.pdf</a:t>
            </a:r>
            <a:endParaRPr lang="en-US" sz="1000" dirty="0"/>
          </a:p>
          <a:p>
            <a:pPr indent="0" marL="0">
              <a:spcAft>
                <a:spcPts val="500"/>
              </a:spcAft>
              <a:buNone/>
            </a:pPr>
            <a:r>
              <a:rPr lang="en-US" sz="1000" dirty="0">
                <a:solidFill>
                  <a:schemeClr val="tx2"/>
                </a:solidFill>
              </a:rPr>
              <a:t>National Treasury. (2026). Budget review 2026, Annexure D: Public-sector infrastructure. https://www.treasury.gov.za/documents/National%20Budget/2026/review/Annexure%20D.pdf</a:t>
            </a:r>
            <a:endParaRPr lang="en-US" sz="1000" dirty="0"/>
          </a:p>
          <a:p>
            <a:pPr indent="0" marL="0">
              <a:spcAft>
                <a:spcPts val="500"/>
              </a:spcAft>
              <a:buNone/>
            </a:pPr>
            <a:r>
              <a:rPr lang="en-US" sz="1000" dirty="0">
                <a:solidFill>
                  <a:schemeClr val="tx2"/>
                </a:solidFill>
              </a:rPr>
              <a:t>Statistics South Africa. (2026). Construction industry, 2024 (Report 50-02-01). https://www.statssa.gov.za/publications/Report-50-02-01/Report-50-02-012024.pdf</a:t>
            </a:r>
            <a:endParaRPr lang="en-US" sz="1000" dirty="0"/>
          </a:p>
          <a:p>
            <a:pPr indent="0" marL="0">
              <a:spcAft>
                <a:spcPts val="500"/>
              </a:spcAft>
              <a:buNone/>
            </a:pPr>
            <a:r>
              <a:rPr lang="en-US" sz="1000" dirty="0">
                <a:solidFill>
                  <a:schemeClr val="tx2"/>
                </a:solidFill>
              </a:rPr>
              <a:t>Statistics South Africa. (2026). Key shifts in the construction industry. https://www.statssa.gov.za/?p=19701</a:t>
            </a:r>
            <a:endParaRPr lang="en-US" sz="1000" dirty="0"/>
          </a:p>
          <a:p>
            <a:pPr indent="0" marL="0">
              <a:spcAft>
                <a:spcPts val="500"/>
              </a:spcAft>
              <a:buNone/>
            </a:pPr>
            <a:r>
              <a:rPr lang="en-US" sz="1000" dirty="0">
                <a:solidFill>
                  <a:schemeClr val="tx2"/>
                </a:solidFill>
              </a:rPr>
              <a:t>GreenCape. (n.d.). Understanding the municipal procurement process (Municipal SCM Regulations, reg. 22). https://greencape.co.za/assets/municipalprocurementguideREPRO.pdf</a:t>
            </a:r>
            <a:endParaRPr lang="en-US" sz="1000" dirty="0"/>
          </a:p>
          <a:p>
            <a:pPr indent="0" marL="0">
              <a:spcAft>
                <a:spcPts val="500"/>
              </a:spcAft>
              <a:buNone/>
            </a:pPr>
            <a:r>
              <a:rPr lang="en-US" sz="1000" dirty="0">
                <a:solidFill>
                  <a:schemeClr val="tx2"/>
                </a:solidFill>
              </a:rPr>
              <a:t>Engineering News. (2026, June 19). Capacity of rooftop solar installed in South Africa has passed 8 GW mark.</a:t>
            </a:r>
            <a:endParaRPr lang="en-US" sz="10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19</a:t>
            </a:fld>
            <a:endParaRPr lang="en-US"/>
          </a:p>
        </p:txBody>
      </p:sp>
    </p:spTree>
  </p:cSld>
  <p:clrMapOvr>
    <a:masterClrMapping/>
  </p:clrMapOvr>
</p:sld>
</file>

<file path=ppt/theme/theme1.xml><?xml version="1.0" encoding="utf-8"?>
<a:theme xmlns:a="http://schemas.openxmlformats.org/drawingml/2006/main" name="AfriPlan Electrical">
  <a:themeElements>
    <a:clrScheme name="AfriPlan Electrical">
      <a:dk1>
        <a:srgbClr val="14151A"/>
      </a:dk1>
      <a:lt1>
        <a:srgbClr val="F5F3EF"/>
      </a:lt1>
      <a:dk2>
        <a:srgbClr val="2C2D33"/>
      </a:dk2>
      <a:lt2>
        <a:srgbClr val="FFFFFF"/>
      </a:lt2>
      <a:accent1>
        <a:srgbClr val="8E1B1B"/>
      </a:accent1>
      <a:accent2>
        <a:srgbClr val="C9A15A"/>
      </a:accent2>
      <a:accent3>
        <a:srgbClr val="3F7D58"/>
      </a:accent3>
      <a:accent4>
        <a:srgbClr val="C2410C"/>
      </a:accent4>
      <a:accent5>
        <a:srgbClr val="2C2D33"/>
      </a:accent5>
      <a:accent6>
        <a:srgbClr val="8B8781"/>
      </a:accent6>
      <a:hlink>
        <a:srgbClr val="8E1B1B"/>
      </a:hlink>
      <a:folHlink>
        <a:srgbClr val="6E1515"/>
      </a:folHlink>
    </a:clrScheme>
    <a:fontScheme name="AfriPlan Electric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AfriPlan Electrical — user guide</dc:title>
  <dc:subject>PptxGenJS Presentation</dc:subject>
  <dc:creator>JLWanalytics</dc:creator>
  <cp:lastModifiedBy>JLWanalytics</cp:lastModifiedBy>
  <cp:revision>1</cp:revision>
  <dcterms:created xsi:type="dcterms:W3CDTF">2026-10-06T12:29:34Z</dcterms:created>
  <dcterms:modified xsi:type="dcterms:W3CDTF">2026-10-06T12:29:34Z</dcterms:modified>
</cp:coreProperties>
</file>