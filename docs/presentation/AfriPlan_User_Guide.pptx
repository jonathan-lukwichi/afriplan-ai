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31fe396-af09-bc86-e5a1-30ecf7b1b1dc}">
          <p14:sldIdLst>
            <p14:sldId id="256"/>
          </p14:sldIdLst>
        </p14:section>
        <p14:section name="The problem" id="{1135e1cd-e007-faf6-7824-cfea4d594342}">
          <p14:sldIdLst>
            <p14:sldId id="257"/>
            <p14:sldId id="258"/>
            <p14:sldId id="259"/>
            <p14:sldId id="260"/>
            <p14:sldId id="261"/>
          </p14:sldIdLst>
        </p14:section>
        <p14:section name="How AfriPlan works" id="{4eafd7c8-6012-3f03-c11b-70d9de90ba66}">
          <p14:sldIdLst>
            <p14:sldId id="262"/>
            <p14:sldId id="263"/>
            <p14:sldId id="264"/>
          </p14:sldIdLst>
        </p14:section>
        <p14:section name="Using the web app" id="{9298cd2b-0bc4-8c67-31de-8bc71204346a}">
          <p14:sldIdLst>
            <p14:sldId id="265"/>
            <p14:sldId id="266"/>
            <p14:sldId id="267"/>
            <p14:sldId id="268"/>
          </p14:sldIdLst>
        </p14:section>
        <p14:section name="The DOE workflow" id="{d38046c9-7fc3-c186-b253-860c1af8b107}">
          <p14:sldIdLst>
            <p14:sldId id="269"/>
            <p14:sldId id="270"/>
          </p14:sldIdLst>
        </p14:section>
        <p14:section name="How accurate is it" id="{82d212ab-d3fa-3b17-c6c4-80a40468aaa8}">
          <p14:sldIdLst>
            <p14:sldId id="271"/>
            <p14:sldId id="272"/>
            <p14:sldId id="273"/>
            <p14:sldId id="274"/>
          </p14:sldIdLst>
        </p14:section>
        <p14:section name="Conclusion" id="{61065ee4-8d85-6c03-b988-bc275e7d1202}">
          <p14:sldIdLst>
            <p14:sldId id="275"/>
          </p14:sldIdLst>
        </p14:section>
        <p14:section name="References" id="{d7a0764c-a295-5657-8003-062215204e7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1A33"/>
                </a:solidFill>
                <a:latin typeface="+mn-lt"/>
              </a:defRPr>
            </a:pPr>
            <a:r>
              <a:rPr sz="1400" b="0" i="0" u="none" strike="noStrike">
                <a:solidFill>
                  <a:srgbClr val="101A33"/>
                </a:solidFill>
                <a:latin typeface="+mn-lt"/>
              </a:rPr>
              <a:t>CIDB register, 2024 Q4 — active contractors</a:t>
            </a:r>
          </a:p>
        </c:rich>
      </c:tx>
      <c:layout/>
      <c:overlay val="0"/>
    </c:title>
    <c:autoTitleDeleted val="0"/>
    <c:plotArea>
      <c:layout/>
      <c:barChart>
        <c:barDir val="bar"/>
        <c:grouping val="clustered"/>
        <c:varyColors val="0"/>
        <c:ser>
          <c:idx val="0"/>
          <c:order val="0"/>
          <c:tx>
            <c:strRef>
              <c:f>Sheet1!$B$1</c:f>
              <c:strCache>
                <c:ptCount val="1"/>
                <c:pt idx="0">
                  <c:v>Active contractors</c:v>
                </c:pt>
              </c:strCache>
            </c:strRef>
          </c:tx>
          <c:spPr>
            <a:solidFill>
              <a:srgbClr val="2E5BE8"/>
            </a:solidFill>
            <a:effectLst/>
          </c:spPr>
          <c:invertIfNegative val="0"/>
          <c:dLbls>
            <c:numFmt formatCode="#,##0" sourceLinked="0"/>
            <c:txPr>
              <a:bodyPr/>
              <a:lstStyle/>
              <a:p>
                <a:pPr>
                  <a:defRPr b="0" i="0" strike="noStrike" sz="1300" u="none">
                    <a:solidFill>
                      <a:srgbClr val="101A33"/>
                    </a:solidFill>
                    <a:latin typeface="+mn-lt"/>
                  </a:defRPr>
                </a:pPr>
              </a:p>
            </c:txPr>
            <c:showLegendKey val="0"/>
            <c:showVal val="1"/>
            <c:showCatName val="0"/>
            <c:showSerName val="0"/>
            <c:showPercent val="0"/>
            <c:showBubbleSize val="0"/>
            <c:showLeaderLines val="0"/>
          </c:dLbls>
          <c:dPt>
            <c:idx val="0"/>
            <c:invertIfNegative val="0"/>
            <c:bubble3D val="0"/>
            <c:spPr>
              <a:solidFill>
                <a:srgbClr val="2E5BE8"/>
              </a:solidFill>
              <a:effectLst/>
            </c:spPr>
          </c:dPt>
          <c:dPt>
            <c:idx val="1"/>
            <c:invertIfNegative val="0"/>
            <c:bubble3D val="0"/>
            <c:spPr>
              <a:solidFill>
                <a:srgbClr val="8A93AB"/>
              </a:solidFill>
              <a:effectLst/>
            </c:spPr>
          </c:dPt>
          <c:cat>
            <c:multiLvlStrRef>
              <c:f>Sheet1!$A$2:$A$3</c:f>
              <c:multiLvlStrCache>
                <c:ptCount val="2"/>
                <c:lvl>
                  <c:pt idx="0">
                    <c:v>Grade 1</c:v>
                  </c:pt>
                  <c:pt idx="1">
                    <c:v>Grades 2–9</c:v>
                  </c:pt>
                </c:lvl>
              </c:multiLvlStrCache>
            </c:multiLvlStrRef>
          </c:cat>
          <c:val>
            <c:numRef>
              <c:f>Sheet1!$B$2:$B$3</c:f>
              <c:numCache>
                <c:formatCode>General</c:formatCode>
                <c:ptCount val="2"/>
                <c:pt idx="0">
                  <c:v>108224</c:v>
                </c:pt>
                <c:pt idx="1">
                  <c:v>21331</c:v>
                </c:pt>
              </c:numCache>
            </c:numRef>
          </c:val>
        </c:ser>
        <c:dLbls>
          <c:numFmt formatCode="#,##0" sourceLinked="0"/>
          <c:txPr>
            <a:bodyPr/>
            <a:lstStyle/>
            <a:p>
              <a:pPr>
                <a:defRPr b="0" i="0" strike="noStrike" sz="1300" u="none">
                  <a:solidFill>
                    <a:srgbClr val="101A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01A33"/>
                </a:solidFill>
                <a:latin typeface="+mn-lt"/>
              </a:defRPr>
            </a:pPr>
            <a:endParaRPr lang="en-US"/>
          </a:p>
        </c:txPr>
        <c:crossAx val="2094734552"/>
        <c:crosses val="autoZero"/>
        <c:auto val="1"/>
        <c:lblAlgn val="ctr"/>
        <c:noMultiLvlLbl val="1"/>
      </c:catAx>
      <c:valAx>
        <c:axId val="2094734552"/>
        <c:scaling>
          <c:orientation val="minMax"/>
          <c:max val="13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Share of bill value</c:v>
                </c:pt>
              </c:strCache>
            </c:strRef>
          </c:tx>
          <c:spPr>
            <a:solidFill>
              <a:schemeClr val="accent1"/>
            </a:solidFill>
            <a:ln w="9525" cap="flat">
              <a:solidFill>
                <a:srgbClr val="F9F9F9"/>
              </a:solidFill>
              <a:prstDash val="solid"/>
              <a:round/>
            </a:ln>
            <a:effectLst/>
          </c:spPr>
          <c:dPt>
            <c:idx val="0"/>
            <c:bubble3D val="0"/>
            <c:spPr>
              <a:solidFill>
                <a:srgbClr val="2E5BE8"/>
              </a:solidFill>
              <a:effectLst/>
            </c:spPr>
          </c:dPt>
          <c:dPt>
            <c:idx val="1"/>
            <c:bubble3D val="0"/>
            <c:spPr>
              <a:solidFill>
                <a:srgbClr val="F2A900"/>
              </a:solidFill>
              <a:effectLst/>
            </c:spPr>
          </c:dPt>
          <c:dPt>
            <c:idx val="2"/>
            <c:bubble3D val="0"/>
            <c:spPr>
              <a:solidFill>
                <a:srgbClr val="0E9BB8"/>
              </a:solidFill>
              <a:effectLst/>
            </c:spPr>
          </c:dPt>
          <c:dPt>
            <c:idx val="3"/>
            <c:bubble3D val="0"/>
            <c:spPr>
              <a:solidFill>
                <a:srgbClr val="0F8A5F"/>
              </a:solidFill>
              <a:effectLst/>
            </c:spPr>
          </c:dPt>
          <c:dPt>
            <c:idx val="4"/>
            <c:bubble3D val="0"/>
            <c:spPr>
              <a:solidFill>
                <a:srgbClr val="8A93AB"/>
              </a:solidFill>
              <a:effectLst/>
            </c:spPr>
          </c:dPt>
          <c:dLbls>
            <c:dLbl>
              <c:idx val="0"/>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A · Boards, feeders, trenches</c:v>
                </c:pt>
                <c:pt idx="1">
                  <c:v>D · Lighting</c:v>
                </c:pt>
                <c:pt idx="2">
                  <c:v>B · Wiring &amp; trunking</c:v>
                </c:pt>
                <c:pt idx="3">
                  <c:v>C · Outlets</c:v>
                </c:pt>
                <c:pt idx="4">
                  <c:v>F · Bulk supply (kiosk)</c:v>
                </c:pt>
              </c:strCache>
            </c:strRef>
          </c:cat>
          <c:val>
            <c:numRef>
              <c:f>Sheet1!$B$2:$B$6</c:f>
              <c:numCache>
                <c:ptCount val="5"/>
                <c:pt idx="0">
                  <c:v>60.5</c:v>
                </c:pt>
                <c:pt idx="1">
                  <c:v>21.3</c:v>
                </c:pt>
                <c:pt idx="2">
                  <c:v>10.1</c:v>
                </c:pt>
                <c:pt idx="3">
                  <c:v>4.1</c:v>
                </c:pt>
                <c:pt idx="4">
                  <c:v>4</c:v>
                </c:pt>
              </c:numCache>
            </c:numRef>
          </c:val>
        </c:ser>
        <c:firstSliceAng val="0"/>
        <c:holeSize val="55"/>
      </c:doughnutChart>
      <c:spPr>
        <a:noFill/>
        <a:ln>
          <a:noFill/>
        </a:ln>
        <a:effectLst/>
      </c:spPr>
    </c:plotArea>
    <c:legend>
      <c:legendPos val="r"/>
      <c:overlay val="0"/>
      <c:txPr>
        <a:bodyPr/>
        <a:lstStyle/>
        <a:p>
          <a:pPr>
            <a:defRPr sz="1200">
              <a:solidFill>
                <a:srgbClr val="101A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1A33"/>
                </a:solidFill>
                <a:latin typeface="+mn-lt"/>
              </a:defRPr>
            </a:pPr>
            <a:r>
              <a:rPr sz="1400" b="0" i="0" u="none" strike="noStrike">
                <a:solidFill>
                  <a:srgbClr val="101A33"/>
                </a:solidFill>
                <a:latin typeface="+mn-lt"/>
              </a:rPr>
              <a:t>Best Reproduction Score by date (%)</a:t>
            </a:r>
          </a:p>
        </c:rich>
      </c:tx>
      <c:layout/>
      <c:overlay val="0"/>
    </c:title>
    <c:autoTitleDeleted val="0"/>
    <c:plotArea>
      <c:layout/>
      <c:barChart>
        <c:barDir val="col"/>
        <c:grouping val="clustered"/>
        <c:varyColors val="0"/>
        <c:ser>
          <c:idx val="0"/>
          <c:order val="0"/>
          <c:tx>
            <c:strRef>
              <c:f>Sheet1!$B$1</c:f>
              <c:strCache>
                <c:ptCount val="1"/>
                <c:pt idx="0">
                  <c:v>Best Reproduction Score</c:v>
                </c:pt>
              </c:strCache>
            </c:strRef>
          </c:tx>
          <c:spPr>
            <a:solidFill>
              <a:srgbClr val="8A93AB"/>
            </a:solidFill>
            <a:effectLst/>
          </c:spPr>
          <c:invertIfNegative val="0"/>
          <c:dLbls>
            <c:numFmt formatCode="0.0" sourceLinked="0"/>
            <c:txPr>
              <a:bodyPr/>
              <a:lstStyle/>
              <a:p>
                <a:pPr>
                  <a:defRPr b="0" i="0" strike="noStrike" sz="1200" u="none">
                    <a:solidFill>
                      <a:srgbClr val="101A33"/>
                    </a:solidFill>
                    <a:latin typeface="+mn-lt"/>
                  </a:defRPr>
                </a:pPr>
              </a:p>
            </c:txPr>
            <c:showLegendKey val="0"/>
            <c:showVal val="1"/>
            <c:showCatName val="0"/>
            <c:showSerName val="0"/>
            <c:showPercent val="0"/>
            <c:showBubbleSize val="0"/>
            <c:showLeaderLines val="0"/>
          </c:dLbls>
          <c:dPt>
            <c:idx val="0"/>
            <c:invertIfNegative val="0"/>
            <c:bubble3D val="0"/>
            <c:spPr>
              <a:solidFill>
                <a:srgbClr val="8A93AB"/>
              </a:solidFill>
              <a:effectLst/>
            </c:spPr>
          </c:dPt>
          <c:dPt>
            <c:idx val="1"/>
            <c:invertIfNegative val="0"/>
            <c:bubble3D val="0"/>
            <c:spPr>
              <a:solidFill>
                <a:srgbClr val="8A93AB"/>
              </a:solidFill>
              <a:effectLst/>
            </c:spPr>
          </c:dPt>
          <c:dPt>
            <c:idx val="2"/>
            <c:invertIfNegative val="0"/>
            <c:bubble3D val="0"/>
            <c:spPr>
              <a:solidFill>
                <a:srgbClr val="2E5BE8"/>
              </a:solidFill>
              <a:effectLst/>
            </c:spPr>
          </c:dPt>
          <c:dPt>
            <c:idx val="3"/>
            <c:invertIfNegative val="0"/>
            <c:bubble3D val="0"/>
            <c:spPr>
              <a:solidFill>
                <a:srgbClr val="2E5BE8"/>
              </a:solidFill>
              <a:effectLst/>
            </c:spPr>
          </c:dPt>
          <c:dPt>
            <c:idx val="4"/>
            <c:invertIfNegative val="0"/>
            <c:bubble3D val="0"/>
            <c:spPr>
              <a:solidFill>
                <a:srgbClr val="2E5BE8"/>
              </a:solidFill>
              <a:effectLst/>
            </c:spPr>
          </c:dPt>
          <c:dPt>
            <c:idx val="5"/>
            <c:invertIfNegative val="0"/>
            <c:bubble3D val="0"/>
            <c:spPr>
              <a:solidFill>
                <a:srgbClr val="F2A900"/>
              </a:solidFill>
              <a:effectLst/>
            </c:spPr>
          </c:dPt>
          <c:cat>
            <c:multiLvlStrRef>
              <c:f>Sheet1!$A$2:$A$7</c:f>
              <c:multiLvlStrCache>
                <c:ptCount val="6"/>
                <c:lvl>
                  <c:pt idx="0">
                    <c:v>23 Sep</c:v>
                  </c:pt>
                  <c:pt idx="1">
                    <c:v>26 Sep</c:v>
                  </c:pt>
                  <c:pt idx="2">
                    <c:v>27 Sep</c:v>
                  </c:pt>
                  <c:pt idx="3">
                    <c:v>28 Sep</c:v>
                  </c:pt>
                  <c:pt idx="4">
                    <c:v>2 Oct</c:v>
                  </c:pt>
                  <c:pt idx="5">
                    <c:v>2 Oct (forms)</c:v>
                  </c:pt>
                </c:lvl>
              </c:multiLvlStrCache>
            </c:multiLvlStrRef>
          </c:cat>
          <c:val>
            <c:numRef>
              <c:f>Sheet1!$B$2:$B$7</c:f>
              <c:numCache>
                <c:formatCode>General</c:formatCode>
                <c:ptCount val="6"/>
                <c:pt idx="0">
                  <c:v>16.9</c:v>
                </c:pt>
                <c:pt idx="1">
                  <c:v>17.8</c:v>
                </c:pt>
                <c:pt idx="2">
                  <c:v>44.6</c:v>
                </c:pt>
                <c:pt idx="3">
                  <c:v>47.2</c:v>
                </c:pt>
                <c:pt idx="4">
                  <c:v>55.8</c:v>
                </c:pt>
                <c:pt idx="5">
                  <c:v>58.5</c:v>
                </c:pt>
              </c:numCache>
            </c:numRef>
          </c:val>
        </c:ser>
        <c:dLbls>
          <c:numFmt formatCode="0.0" sourceLinked="0"/>
          <c:txPr>
            <a:bodyPr/>
            <a:lstStyle/>
            <a:p>
              <a:pPr>
                <a:defRPr b="0" i="0" strike="noStrike" sz="1200" u="none">
                  <a:solidFill>
                    <a:srgbClr val="101A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A33"/>
                </a:solidFill>
                <a:latin typeface="+mn-lt"/>
              </a:defRPr>
            </a:pPr>
            <a:endParaRPr lang="en-US"/>
          </a:p>
        </c:txPr>
        <c:crossAx val="2094734552"/>
        <c:crosses val="autoZero"/>
        <c:auto val="1"/>
        <c:lblAlgn val="ctr"/>
        <c:noMultiLvlLbl val="1"/>
      </c:catAx>
      <c:valAx>
        <c:axId val="2094734552"/>
        <c:scaling>
          <c:orientation val="minMax"/>
          <c:max val="7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1A33"/>
                </a:solidFill>
                <a:latin typeface="+mn-lt"/>
              </a:defRPr>
            </a:pPr>
            <a:r>
              <a:rPr sz="1400" b="0" i="0" u="none" strike="noStrike">
                <a:solidFill>
                  <a:srgbClr val="101A33"/>
                </a:solidFill>
                <a:latin typeface="+mn-lt"/>
              </a:rPr>
              <a:t>Today's DOE run, by reader (%)</a:t>
            </a:r>
          </a:p>
        </c:rich>
      </c:tx>
      <c:layout/>
      <c:overlay val="0"/>
    </c:title>
    <c:autoTitleDeleted val="0"/>
    <c:plotArea>
      <c:layout/>
      <c:barChart>
        <c:barDir val="col"/>
        <c:grouping val="clustered"/>
        <c:varyColors val="0"/>
        <c:ser>
          <c:idx val="0"/>
          <c:order val="0"/>
          <c:tx>
            <c:strRef>
              <c:f>Sheet1!$B$1</c:f>
              <c:strCache>
                <c:ptCount val="1"/>
                <c:pt idx="0">
                  <c:v>RS</c:v>
                </c:pt>
              </c:strCache>
            </c:strRef>
          </c:tx>
          <c:spPr>
            <a:solidFill>
              <a:srgbClr val="F2A900"/>
            </a:solidFill>
            <a:effectLst/>
          </c:spPr>
          <c:invertIfNegative val="0"/>
          <c:dLbls>
            <c:numFmt formatCode="0" sourceLinked="0"/>
            <c:txPr>
              <a:bodyPr/>
              <a:lstStyle/>
              <a:p>
                <a:pPr>
                  <a:defRPr b="0" i="0" strike="noStrike" sz="9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alone</c:v>
                  </c:pt>
                  <c:pt idx="1">
                    <c:v>PDF alone</c:v>
                  </c:pt>
                  <c:pt idx="2">
                    <c:v>Combined</c:v>
                  </c:pt>
                </c:lvl>
              </c:multiLvlStrCache>
            </c:multiLvlStrRef>
          </c:cat>
          <c:val>
            <c:numRef>
              <c:f>Sheet1!$B$2:$B$4</c:f>
              <c:numCache>
                <c:formatCode>General</c:formatCode>
                <c:ptCount val="3"/>
                <c:pt idx="0">
                  <c:v>48.7</c:v>
                </c:pt>
                <c:pt idx="1">
                  <c:v>50.6</c:v>
                </c:pt>
                <c:pt idx="2">
                  <c:v>58.5</c:v>
                </c:pt>
              </c:numCache>
            </c:numRef>
          </c:val>
        </c:ser>
        <c:ser>
          <c:idx val="1"/>
          <c:order val="1"/>
          <c:tx>
            <c:strRef>
              <c:f>Sheet1!$C$1</c:f>
              <c:strCache>
                <c:ptCount val="1"/>
                <c:pt idx="0">
                  <c:v>Coverage</c:v>
                </c:pt>
              </c:strCache>
            </c:strRef>
          </c:tx>
          <c:spPr>
            <a:solidFill>
              <a:srgbClr val="2E5BE8"/>
            </a:solidFill>
            <a:effectLst/>
          </c:spPr>
          <c:invertIfNegative val="0"/>
          <c:dLbls>
            <c:numFmt formatCode="0" sourceLinked="0"/>
            <c:txPr>
              <a:bodyPr/>
              <a:lstStyle/>
              <a:p>
                <a:pPr>
                  <a:defRPr b="0" i="0" strike="noStrike" sz="9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alone</c:v>
                  </c:pt>
                  <c:pt idx="1">
                    <c:v>PDF alone</c:v>
                  </c:pt>
                  <c:pt idx="2">
                    <c:v>Combined</c:v>
                  </c:pt>
                </c:lvl>
              </c:multiLvlStrCache>
            </c:multiLvlStrRef>
          </c:cat>
          <c:val>
            <c:numRef>
              <c:f>Sheet1!$C$2:$C$4</c:f>
              <c:numCache>
                <c:formatCode>General</c:formatCode>
                <c:ptCount val="3"/>
                <c:pt idx="0">
                  <c:v>66.1</c:v>
                </c:pt>
                <c:pt idx="1">
                  <c:v>82.8</c:v>
                </c:pt>
                <c:pt idx="2">
                  <c:v>83</c:v>
                </c:pt>
              </c:numCache>
            </c:numRef>
          </c:val>
        </c:ser>
        <c:ser>
          <c:idx val="2"/>
          <c:order val="2"/>
          <c:tx>
            <c:strRef>
              <c:f>Sheet1!$D$1</c:f>
              <c:strCache>
                <c:ptCount val="1"/>
                <c:pt idx="0">
                  <c:v>Precision</c:v>
                </c:pt>
              </c:strCache>
            </c:strRef>
          </c:tx>
          <c:spPr>
            <a:solidFill>
              <a:srgbClr val="0E9BB8"/>
            </a:solidFill>
            <a:effectLst/>
          </c:spPr>
          <c:invertIfNegative val="0"/>
          <c:dLbls>
            <c:numFmt formatCode="0" sourceLinked="0"/>
            <c:txPr>
              <a:bodyPr/>
              <a:lstStyle/>
              <a:p>
                <a:pPr>
                  <a:defRPr b="0" i="0" strike="noStrike" sz="9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alone</c:v>
                  </c:pt>
                  <c:pt idx="1">
                    <c:v>PDF alone</c:v>
                  </c:pt>
                  <c:pt idx="2">
                    <c:v>Combined</c:v>
                  </c:pt>
                </c:lvl>
              </c:multiLvlStrCache>
            </c:multiLvlStrRef>
          </c:cat>
          <c:val>
            <c:numRef>
              <c:f>Sheet1!$D$2:$D$4</c:f>
              <c:numCache>
                <c:formatCode>General</c:formatCode>
                <c:ptCount val="3"/>
                <c:pt idx="0">
                  <c:v>89.5</c:v>
                </c:pt>
                <c:pt idx="1">
                  <c:v>89.4</c:v>
                </c:pt>
                <c:pt idx="2">
                  <c:v>89.4</c:v>
                </c:pt>
              </c:numCache>
            </c:numRef>
          </c:val>
        </c:ser>
        <c:ser>
          <c:idx val="3"/>
          <c:order val="3"/>
          <c:tx>
            <c:strRef>
              <c:f>Sheet1!$E$1</c:f>
              <c:strCache>
                <c:ptCount val="1"/>
                <c:pt idx="0">
                  <c:v>Qty accuracy</c:v>
                </c:pt>
              </c:strCache>
            </c:strRef>
          </c:tx>
          <c:spPr>
            <a:solidFill>
              <a:srgbClr val="8A93AB"/>
            </a:solidFill>
            <a:effectLst/>
          </c:spPr>
          <c:invertIfNegative val="0"/>
          <c:dLbls>
            <c:numFmt formatCode="0" sourceLinked="0"/>
            <c:txPr>
              <a:bodyPr/>
              <a:lstStyle/>
              <a:p>
                <a:pPr>
                  <a:defRPr b="0" i="0" strike="noStrike" sz="9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alone</c:v>
                  </c:pt>
                  <c:pt idx="1">
                    <c:v>PDF alone</c:v>
                  </c:pt>
                  <c:pt idx="2">
                    <c:v>Combined</c:v>
                  </c:pt>
                </c:lvl>
              </c:multiLvlStrCache>
            </c:multiLvlStrRef>
          </c:cat>
          <c:val>
            <c:numRef>
              <c:f>Sheet1!$E$2:$E$4</c:f>
              <c:numCache>
                <c:formatCode>General</c:formatCode>
                <c:ptCount val="3"/>
                <c:pt idx="0">
                  <c:v>73.6</c:v>
                </c:pt>
                <c:pt idx="1">
                  <c:v>61.2</c:v>
                </c:pt>
                <c:pt idx="2">
                  <c:v>70.5</c:v>
                </c:pt>
              </c:numCache>
            </c:numRef>
          </c:val>
        </c:ser>
        <c:dLbls>
          <c:numFmt formatCode="0" sourceLinked="0"/>
          <c:txPr>
            <a:bodyPr/>
            <a:lstStyle/>
            <a:p>
              <a:pPr>
                <a:defRPr b="0" i="0" strike="noStrike" sz="900" u="none">
                  <a:solidFill>
                    <a:srgbClr val="101A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A33"/>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01A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1A33"/>
                </a:solidFill>
                <a:latin typeface="+mn-lt"/>
              </a:defRPr>
            </a:pPr>
            <a:r>
              <a:rPr sz="1400" b="0" i="0" u="none" strike="noStrike">
                <a:solidFill>
                  <a:srgbClr val="101A33"/>
                </a:solidFill>
                <a:latin typeface="+mn-lt"/>
              </a:rPr>
              <a:t>Points lost by bill section and cause</a:t>
            </a:r>
          </a:p>
        </c:rich>
      </c:tx>
      <c:layout/>
      <c:overlay val="0"/>
    </c:title>
    <c:autoTitleDeleted val="0"/>
    <c:plotArea>
      <c:layout/>
      <c:barChart>
        <c:barDir val="bar"/>
        <c:grouping val="stacked"/>
        <c:varyColors val="0"/>
        <c:ser>
          <c:idx val="0"/>
          <c:order val="0"/>
          <c:tx>
            <c:strRef>
              <c:f>Sheet1!$B$1</c:f>
              <c:strCache>
                <c:ptCount val="1"/>
                <c:pt idx="0">
                  <c:v>Never produced</c:v>
                </c:pt>
              </c:strCache>
            </c:strRef>
          </c:tx>
          <c:spPr>
            <a:solidFill>
              <a:srgbClr val="C6423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A · Boards, feeders, trenches</c:v>
                  </c:pt>
                  <c:pt idx="1">
                    <c:v>B · Wiring &amp; trunking</c:v>
                  </c:pt>
                  <c:pt idx="2">
                    <c:v>C · Outlets</c:v>
                  </c:pt>
                  <c:pt idx="3">
                    <c:v>F · Bulk supply</c:v>
                  </c:pt>
                  <c:pt idx="4">
                    <c:v>D · Lighting</c:v>
                  </c:pt>
                </c:lvl>
              </c:multiLvlStrCache>
            </c:multiLvlStrRef>
          </c:cat>
          <c:val>
            <c:numRef>
              <c:f>Sheet1!$B$2:$B$6</c:f>
              <c:numCache>
                <c:formatCode>General</c:formatCode>
                <c:ptCount val="5"/>
                <c:pt idx="0">
                  <c:v>5.7</c:v>
                </c:pt>
                <c:pt idx="1">
                  <c:v>5.7</c:v>
                </c:pt>
                <c:pt idx="2">
                  <c:v>3.6</c:v>
                </c:pt>
                <c:pt idx="3">
                  <c:v>2</c:v>
                </c:pt>
                <c:pt idx="4">
                  <c:v>0</c:v>
                </c:pt>
              </c:numCache>
            </c:numRef>
          </c:val>
        </c:ser>
        <c:ser>
          <c:idx val="1"/>
          <c:order val="1"/>
          <c:tx>
            <c:strRef>
              <c:f>Sheet1!$C$1</c:f>
              <c:strCache>
                <c:ptCount val="1"/>
                <c:pt idx="0">
                  <c:v>Quantity too low</c:v>
                </c:pt>
              </c:strCache>
            </c:strRef>
          </c:tx>
          <c:spPr>
            <a:solidFill>
              <a:srgbClr val="F2A9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A · Boards, feeders, trenches</c:v>
                  </c:pt>
                  <c:pt idx="1">
                    <c:v>B · Wiring &amp; trunking</c:v>
                  </c:pt>
                  <c:pt idx="2">
                    <c:v>C · Outlets</c:v>
                  </c:pt>
                  <c:pt idx="3">
                    <c:v>F · Bulk supply</c:v>
                  </c:pt>
                  <c:pt idx="4">
                    <c:v>D · Lighting</c:v>
                  </c:pt>
                </c:lvl>
              </c:multiLvlStrCache>
            </c:multiLvlStrRef>
          </c:cat>
          <c:val>
            <c:numRef>
              <c:f>Sheet1!$C$2:$C$6</c:f>
              <c:numCache>
                <c:formatCode>General</c:formatCode>
                <c:ptCount val="5"/>
                <c:pt idx="0">
                  <c:v>10.2</c:v>
                </c:pt>
                <c:pt idx="1">
                  <c:v>1.9</c:v>
                </c:pt>
                <c:pt idx="2">
                  <c:v>0</c:v>
                </c:pt>
                <c:pt idx="3">
                  <c:v>0</c:v>
                </c:pt>
                <c:pt idx="4">
                  <c:v>0</c:v>
                </c:pt>
              </c:numCache>
            </c:numRef>
          </c:val>
        </c:ser>
        <c:ser>
          <c:idx val="2"/>
          <c:order val="2"/>
          <c:tx>
            <c:strRef>
              <c:f>Sheet1!$D$1</c:f>
              <c:strCache>
                <c:ptCount val="1"/>
                <c:pt idx="0">
                  <c:v>Quantity too high</c:v>
                </c:pt>
              </c:strCache>
            </c:strRef>
          </c:tx>
          <c:spPr>
            <a:solidFill>
              <a:srgbClr val="2E5BE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A · Boards, feeders, trenches</c:v>
                  </c:pt>
                  <c:pt idx="1">
                    <c:v>B · Wiring &amp; trunking</c:v>
                  </c:pt>
                  <c:pt idx="2">
                    <c:v>C · Outlets</c:v>
                  </c:pt>
                  <c:pt idx="3">
                    <c:v>F · Bulk supply</c:v>
                  </c:pt>
                  <c:pt idx="4">
                    <c:v>D · Lighting</c:v>
                  </c:pt>
                </c:lvl>
              </c:multiLvlStrCache>
            </c:multiLvlStrRef>
          </c:cat>
          <c:val>
            <c:numRef>
              <c:f>Sheet1!$D$2:$D$6</c:f>
              <c:numCache>
                <c:formatCode>General</c:formatCode>
                <c:ptCount val="5"/>
                <c:pt idx="0">
                  <c:v>10.6</c:v>
                </c:pt>
                <c:pt idx="1">
                  <c:v>0</c:v>
                </c:pt>
                <c:pt idx="2">
                  <c:v>0.4</c:v>
                </c:pt>
                <c:pt idx="3">
                  <c:v>0</c:v>
                </c:pt>
                <c:pt idx="4">
                  <c:v>1.4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01A33"/>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6350" cap="flat">
              <a:solidFill>
                <a:srgbClr val="E3E7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A93AB"/>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101A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turns a set of electrical drawings — PDF, DWG/DXF or both — into a priced, SANS-style Bill of Quantities. This deck covers the problem it solves, how it works, how to use the web app and the Claude Code (DOE) workflow, and how accurate it is today, measured against a real human-priced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figures are verified at a primary or peer-reviewed source (docs/research/evidence-register.md). Municipal bids must be advertised for at least 14 days up to R10 million and 30 days above (Municipal SCM Regulations, reg. 22). Stats SA's Construction industry 2024 report: 'Between 2014 and 2024, the construction industry recorded its highest profit margin of 4,8% in 2024.' Peer-reviewed public-procurement studies abroad: contractors won 13.3% of 2,296 bids for 289 public tenders in Jordan (Alkhateeb et al., 2020); preparing a tender cost 0.05–0.65% of its value, average 0.33%, across 14 public tenders in Ghana (Ameyaw et al., 2021 — small sample, authors advise caution). No study measures South African electrical take-off hours or win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CIDB Annual Performance Plan (PMG, 2024 Q4): 108,224 active Grade 1 contractors and 21,331 in Grades 2 to 9, so 84% of the 129,555 active contractors are Grade 1, the smallest grade. Stats SA: small and micro enterprises earned 25.0% of construction income in 2014 and 32.2% in 2024, and gave 55.3% of construction jobs in 2024. Demand: National Treasury's 2026 Budget Review plans R1.07 trillion of public infrastructure over the medium term; Eskom's National Transmission Company puts rooftop solar above 8.3 GW (Engineering News, 19 June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South African peer-reviewed studies, verified through Scite. Murwira and Bekker (2017, Acta Structilia): the most significant causes of poor project performance in the North-West Department of Public Works and Roads include underestimation of project cost. Akampurira and Windapo (2019, Journal of Engineering, Design and Technology; 120 respondents): poor design documentation is a significant contributor to delays, rework and cost overruns, and documents are inadequate on accuracy and certainty. Govender, Laryea and Watermeyer (2022, BEPAM): researchers report that tender-document quality is declining, with no standard instrument to assess it. Morena and Amoah (2021, IOP Conference Series; 74 respondents): cost overruns reduce contractor profit, and an accurate estimate is one of the remedies.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at the vendors' own pages (5 Oct 2026): Bluebeam costs $260 to $590 per user per year; Togal.AI Growth costs $299 per user per month billed yearly and describes itself as detecting and measuring spaces and features on architectural drawings; Civils.ai, an AI electrical take-off vendor, states 'No inference of circuiting, conduit routes, tray fill or cable sizing'. Peer-reviewed research: deep learning recognised more than 94% of symbols on industrial engineering drawings (Elyan et al., 2020, Neural Networks), but a 2024 review concludes improved methods are still needed for symbols, text and connectors (Jamieson et al., 2024, Artificial Intelligence Review). Rand values are conversions at R17.9 per US dollar.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the real bill's value by bill section on the 7-building reference project. Section A — distribution boards, main feeder cables, trenching and earthing — is about 60% of the value. Lighting is about 21%. The fittings, outlets and switches that symbol counters handle well are a small part: a perfect symbol counter alone would score below 10%. That is why AfriPlan reads single-line diagrams and measures feeder routes on the site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readers state findings with their evidence — measured beats counted beats written beats seen beats assumed. The PDF reader uses an AI as its eyes (Claude API, Gemini, or Claude Code on your subscription); the CAD reader is pure geometry: it counts symbols, reads single-line diagram text and measures feeder routes on the electrical site plan. Combining pairs PDF pages with their CAD sheet by the words both print; the stronger evidence wins and nothing is counted twice. One pricer turns findings into lines with the SA 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enforced in code and tests, not just in documentation. Every estimated quantity carries a tag and an assumption and appears in the gap report, so an estimator always knows what to check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for contractors and demos: upload in the browser, see the take-off, price, export. The DOE workflow runs inside VS Code with Claude Code: point it at a project folder and Claude reads the PDF pages on your subscription, so there is no API bill — and it gives the best scores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in (demo login, pre-filled). Upload the drawings and choose the engine. The Take-off page shows progress and then the drawing set, legend, coverage and gaps. The BoQ page lists every line with its evidence. Pricing requests supplier quotes. Export produces the tender Excel and PDF and can email them. Audit a BoQ checks any bill, including one you did not make with AfriPlan.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DXF/DWG: select the whole set at once — single-line diagrams, lighting and plug layouts and the electrical site plan — so feeders are measured on the site plan; an older revision of a sheet is skipped automatically. Optional AI symbol names cost about R1–2 per set. PDF: an AI reads every page; Claude API costs about R2.50 a page and about 5 minutes for 18 pages; Gemini is free but limited per minute and per day. Both: runs the two engines and shows where they agree and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 PDF run works, the Take-off page shows the step (sort pages, read drawings, measure and price), pages done of total, the time so far and the AI provider's wait notes — so a slow free-tier run no longer looks dead. If it fails, the page says why, for example that Gemini's free daily limit is used up and what to do. When it passes: the drawing set panel, the legend, coverage and the gap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BoQ lists every line with its quantity, rate and evidence tag. The gap report lists what to check, most serious first. Live Pricing requests quotes from suppliers and applies the one you pick. Export produces the tender Excel and PDF, with an email option. Audit a BoQ checks any bill — arithmetic, unpriced or untotalled lines, duplicates, roll-ups and contingencies, orphan sheets, missing companion items — and says which drawings a complete BoQ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AfriPlan folder in VS Code with Claude Code and say: estimate the project in &lt;folder&gt;. Step 1 and step 3 are deterministic Python; only step 2 uses the AI, and it runs on your Claude subscription. Python renders every PDF page (whole page, zoomed quarters, the legend table, the text layer) and writes the form instructions; Claude Code reads each page and fills one strict form per page; Python checks every form — a missing or invalid form stops the run — reads the CAD set, combines both readers and prices once. The forms are saved, so every result can be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 Git, Python 3.12 or newer and Node.js 20 or newer. LibreDWG is optional and only needed for .dwg uploads (macOS: brew install libredwg). Claude Code is needed only for the DOE workflow. Then clone the repository and run setup once; start runs the backend and the app together. API keys are optional and go in api/.env, which is never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bill is compared line by line with the quantity surveyor's priced Excel bill, matched by building and item type, so different wordings of the same item match. Every item is weighted by its rand value in the real bill. The headline is the Reproduction Score: the share of the real bill's value we reproduced with the right quantity. Coverage says whether we produced the item at all, precision whether what we priced belongs, quantity accuracy how close the quantities are. Rates are reported separately because they come from our pricing policy, not from reading drawings. Total accuracy can look good by luck when misses and extras cancel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best Reproduction Score on each date, all on the same reference project with the same frozen scorer (23 Sep PDF 16.9%; 26 Sep 17.8%; 27 Sep DXF as one project with site-plan routes 44.6%; 28 Sep combined DWG + PDF 47.2%; 2 Oct DOE combined 55.8%, then 58.5% with new form boxes). Right: today's DOE run by reader — CAD alone 48.7%, PDF read by Claude Code 50.6%, combined 58.5%. Coverage of the combined bill is 83%, precision 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missing points add up exactly to 100 minus the Reproduction Score. Section A — boards, feeders and trenches — loses 26.5 of the 41.5 points: 5.7 never produced, 10.2 with quantities too low, 10.6 too high. Wiring and trunking (B) loses 7.6, mostly never produced. Lighting loses only 1.4. By cause: 17.0 points are items never produced, 12.1 quantities too low and 12.4 too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Ranked by points to win. 1: feeder network, about 19 points — our total cable length is close to the real one but the cable sizes per feeder differ from the bill; the earth cable, trench and sleeves follow the feeders; the trench is measured per feeder instead of once per shared route; sleeves and manholes are never produced. 2: derived installation material, about 9 points — trunking, conduit and wire never produced; the completer already adds 2 to 3 points but is not yet used on the delivered bill. 3: boards counted twice, 6.2 points. 4: connection fee, 1.5 points — never on a drawing. 5: fittings counted on two sheets, about 1.4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already reproduces 58.5% of a real human-priced bill (83% coverage, 89% precision) from the drawings alone, and every doubt is listed. It is a fast, honest first draft that an estimator reviews, not a replacement for one. The next gains are known and ranked: feeder sizes and routes, installation material, board de-duplication, the connection-fee rule, and a second reference project to prove the numbers hold beyond one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source behind the problem slides, in APA style. Each claim, its exact wording at the source and how it was verified are in docs/research/evidence-register.md. AfriPlan's accuracy figures are first-party measurements with the frozen scorer, documented in docs/accuracy-metrics.md.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94944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429000"/>
            <a:ext cx="6766560" cy="1188720"/>
          </a:xfrm>
          <a:prstGeom prst="rect">
            <a:avLst/>
          </a:prstGeom>
          <a:noFill/>
          <a:ln/>
        </p:spPr>
        <p:txBody>
          <a:bodyPr wrap="square" rtlCol="0"/>
          <a:lstStyle>
            <a:lvl1pPr indent="0" marL="0">
              <a:buNone/>
              <a:defRPr lang="en-US" sz="2000" dirty="0">
                <a:solidFill>
                  <a:schemeClr val="accent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AfriPlan Electrical  ·  user guide</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3.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3.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949440" cy="1463040"/>
          </a:xfrm>
          <a:prstGeom prst="rect">
            <a:avLst/>
          </a:prstGeom>
          <a:noFill/>
          <a:ln/>
        </p:spPr>
        <p:txBody>
          <a:bodyPr wrap="square" lIns="0" tIns="0" rIns="0" bIns="0" rtlCol="0" anchor="b"/>
          <a:lstStyle/>
          <a:p>
            <a:pPr algn="l" indent="0" marL="0">
              <a:buNone/>
            </a:pPr>
            <a:r>
              <a:rPr lang="en-US" sz="4400" b="1" dirty="0">
                <a:solidFill>
                  <a:schemeClr val="bg1"/>
                </a:solidFill>
              </a:rPr>
              <a:t>AfriPlan Electrical</a:t>
            </a:r>
            <a:endParaRPr lang="en-US" sz="4400" dirty="0"/>
          </a:p>
        </p:txBody>
      </p:sp>
      <p:sp>
        <p:nvSpPr>
          <p:cNvPr id="3" name="Text 0"/>
          <p:cNvSpPr/>
          <p:nvPr>
            <p:ph idx="101" type="body" hasCustomPrompt="1"/>
          </p:nvPr>
        </p:nvSpPr>
        <p:spPr>
          <a:xfrm>
            <a:off x="640080" y="3429000"/>
            <a:ext cx="6766560" cy="1188720"/>
          </a:xfrm>
          <a:prstGeom prst="rect">
            <a:avLst/>
          </a:prstGeom>
          <a:noFill/>
          <a:ln/>
        </p:spPr>
        <p:txBody>
          <a:bodyPr wrap="square" lIns="0" tIns="0" rIns="0" bIns="0" rtlCol="0" anchor="t"/>
          <a:lstStyle/>
          <a:p>
            <a:pPr indent="0" marL="0">
              <a:buNone/>
            </a:pPr>
            <a:r>
              <a:rPr lang="en-US" sz="2000" dirty="0">
                <a:solidFill>
                  <a:schemeClr val="accent2"/>
                </a:solidFill>
              </a:rPr>
              <a:t>Drawings in, priced Bill of Quantities out — a user guide</a:t>
            </a:r>
            <a:endParaRPr lang="en-US" sz="2000" dirty="0"/>
          </a:p>
        </p:txBody>
      </p:sp>
      <p:sp>
        <p:nvSpPr>
          <p:cNvPr id="4" name="audience"/>
          <p:cNvSpPr txBox="1"/>
          <p:nvPr/>
        </p:nvSpPr>
        <p:spPr>
          <a:xfrm>
            <a:off x="640080" y="4892040"/>
            <a:ext cx="6766560" cy="365760"/>
          </a:xfrm>
          <a:prstGeom prst="rect">
            <a:avLst/>
          </a:prstGeom>
          <a:noFill/>
          <a:ln/>
        </p:spPr>
        <p:txBody>
          <a:bodyPr wrap="square" lIns="0" tIns="0" rIns="0" bIns="0" rtlCol="0" anchor="t"/>
          <a:lstStyle/>
          <a:p>
            <a:pPr indent="0" marL="0">
              <a:buNone/>
            </a:pPr>
            <a:r>
              <a:rPr lang="en-US" sz="1400" dirty="0">
                <a:solidFill>
                  <a:schemeClr val="accent6"/>
                </a:solidFill>
              </a:rPr>
              <a:t>For South African electrical contractors, estimators and engineers  ·  October 2026</a:t>
            </a:r>
            <a:endParaRPr lang="en-US" sz="1400" dirty="0"/>
          </a:p>
        </p:txBody>
      </p:sp>
      <p:sp>
        <p:nvSpPr>
          <p:cNvPr id="5" name="title step 1 circle"/>
          <p:cNvSpPr/>
          <p:nvPr/>
        </p:nvSpPr>
        <p:spPr>
          <a:xfrm>
            <a:off x="8503920" y="1234440"/>
            <a:ext cx="822960" cy="822960"/>
          </a:xfrm>
          <a:prstGeom prst="ellipse">
            <a:avLst/>
          </a:prstGeom>
          <a:solidFill>
            <a:srgbClr val="1E2B4F"/>
          </a:solidFill>
          <a:ln w="12700">
            <a:solidFill>
              <a:srgbClr val="1E2B4F"/>
            </a:solidFill>
            <a:prstDash val="solid"/>
          </a:ln>
        </p:spPr>
      </p:sp>
      <p:pic>
        <p:nvPicPr>
          <p:cNvPr id="6" name="title step 1 icon" descr="preencoded.png">    </p:cNvPr>
          <p:cNvPicPr>
            <a:picLocks noChangeAspect="1"/>
          </p:cNvPicPr>
          <p:nvPr/>
        </p:nvPicPr>
        <p:blipFill>
          <a:blip r:embed="rId1"/>
          <a:stretch>
            <a:fillRect/>
          </a:stretch>
        </p:blipFill>
        <p:spPr>
          <a:xfrm>
            <a:off x="8717890" y="1448410"/>
            <a:ext cx="395021" cy="395021"/>
          </a:xfrm>
          <a:prstGeom prst="rect">
            <a:avLst/>
          </a:prstGeom>
        </p:spPr>
      </p:pic>
      <p:sp>
        <p:nvSpPr>
          <p:cNvPr id="7" name="title step label 1"/>
          <p:cNvSpPr txBox="1"/>
          <p:nvPr/>
        </p:nvSpPr>
        <p:spPr>
          <a:xfrm>
            <a:off x="9509760" y="1481328"/>
            <a:ext cx="2377440" cy="365760"/>
          </a:xfrm>
          <a:prstGeom prst="rect">
            <a:avLst/>
          </a:prstGeom>
          <a:noFill/>
          <a:ln/>
        </p:spPr>
        <p:txBody>
          <a:bodyPr wrap="square" lIns="0" tIns="0" rIns="0" bIns="0" rtlCol="0" anchor="t"/>
          <a:lstStyle/>
          <a:p>
            <a:pPr indent="0" marL="0">
              <a:buNone/>
            </a:pPr>
            <a:r>
              <a:rPr lang="en-US" sz="1600" dirty="0">
                <a:solidFill>
                  <a:schemeClr val="bg1"/>
                </a:solidFill>
              </a:rPr>
              <a:t>PDF &amp; DWG drawings</a:t>
            </a:r>
            <a:endParaRPr lang="en-US" sz="1600" dirty="0"/>
          </a:p>
        </p:txBody>
      </p:sp>
      <p:sp>
        <p:nvSpPr>
          <p:cNvPr id="8" name="Shape 5"/>
          <p:cNvSpPr/>
          <p:nvPr/>
        </p:nvSpPr>
        <p:spPr>
          <a:xfrm>
            <a:off x="8915400" y="2103120"/>
            <a:ext cx="0" cy="274320"/>
          </a:xfrm>
          <a:prstGeom prst="line">
            <a:avLst/>
          </a:prstGeom>
          <a:noFill/>
          <a:ln w="25400">
            <a:solidFill>
              <a:srgbClr val="F2A900"/>
            </a:solidFill>
            <a:prstDash val="solid"/>
            <a:tailEnd type="triangle"/>
          </a:ln>
        </p:spPr>
      </p:sp>
      <p:sp>
        <p:nvSpPr>
          <p:cNvPr id="9" name="title step 2 circle"/>
          <p:cNvSpPr/>
          <p:nvPr/>
        </p:nvSpPr>
        <p:spPr>
          <a:xfrm>
            <a:off x="8503920" y="2423160"/>
            <a:ext cx="822960" cy="822960"/>
          </a:xfrm>
          <a:prstGeom prst="ellipse">
            <a:avLst/>
          </a:prstGeom>
          <a:solidFill>
            <a:srgbClr val="1E2B4F"/>
          </a:solidFill>
          <a:ln w="12700">
            <a:solidFill>
              <a:srgbClr val="1E2B4F"/>
            </a:solidFill>
            <a:prstDash val="solid"/>
          </a:ln>
        </p:spPr>
      </p:sp>
      <p:pic>
        <p:nvPicPr>
          <p:cNvPr id="10" name="title step 2 icon" descr="preencoded.png">    </p:cNvPr>
          <p:cNvPicPr>
            <a:picLocks noChangeAspect="1"/>
          </p:cNvPicPr>
          <p:nvPr/>
        </p:nvPicPr>
        <p:blipFill>
          <a:blip r:embed="rId2"/>
          <a:stretch>
            <a:fillRect/>
          </a:stretch>
        </p:blipFill>
        <p:spPr>
          <a:xfrm>
            <a:off x="8717890" y="2637130"/>
            <a:ext cx="395021" cy="395021"/>
          </a:xfrm>
          <a:prstGeom prst="rect">
            <a:avLst/>
          </a:prstGeom>
        </p:spPr>
      </p:pic>
      <p:sp>
        <p:nvSpPr>
          <p:cNvPr id="11" name="title step label 2"/>
          <p:cNvSpPr txBox="1"/>
          <p:nvPr/>
        </p:nvSpPr>
        <p:spPr>
          <a:xfrm>
            <a:off x="9509760" y="2670048"/>
            <a:ext cx="2377440" cy="365760"/>
          </a:xfrm>
          <a:prstGeom prst="rect">
            <a:avLst/>
          </a:prstGeom>
          <a:noFill/>
          <a:ln/>
        </p:spPr>
        <p:txBody>
          <a:bodyPr wrap="square" lIns="0" tIns="0" rIns="0" bIns="0" rtlCol="0" anchor="t"/>
          <a:lstStyle/>
          <a:p>
            <a:pPr indent="0" marL="0">
              <a:buNone/>
            </a:pPr>
            <a:r>
              <a:rPr lang="en-US" sz="1600" dirty="0">
                <a:solidFill>
                  <a:schemeClr val="bg1"/>
                </a:solidFill>
              </a:rPr>
              <a:t>Read &amp; measure</a:t>
            </a:r>
            <a:endParaRPr lang="en-US" sz="1600" dirty="0"/>
          </a:p>
        </p:txBody>
      </p:sp>
      <p:sp>
        <p:nvSpPr>
          <p:cNvPr id="12" name="Shape 8"/>
          <p:cNvSpPr/>
          <p:nvPr/>
        </p:nvSpPr>
        <p:spPr>
          <a:xfrm>
            <a:off x="8915400" y="3291840"/>
            <a:ext cx="0" cy="274320"/>
          </a:xfrm>
          <a:prstGeom prst="line">
            <a:avLst/>
          </a:prstGeom>
          <a:noFill/>
          <a:ln w="25400">
            <a:solidFill>
              <a:srgbClr val="F2A900"/>
            </a:solidFill>
            <a:prstDash val="solid"/>
            <a:tailEnd type="triangle"/>
          </a:ln>
        </p:spPr>
      </p:sp>
      <p:sp>
        <p:nvSpPr>
          <p:cNvPr id="13" name="title step 3 circle"/>
          <p:cNvSpPr/>
          <p:nvPr/>
        </p:nvSpPr>
        <p:spPr>
          <a:xfrm>
            <a:off x="8503920" y="3611880"/>
            <a:ext cx="822960" cy="822960"/>
          </a:xfrm>
          <a:prstGeom prst="ellipse">
            <a:avLst/>
          </a:prstGeom>
          <a:solidFill>
            <a:srgbClr val="1E2B4F"/>
          </a:solidFill>
          <a:ln w="12700">
            <a:solidFill>
              <a:srgbClr val="1E2B4F"/>
            </a:solidFill>
            <a:prstDash val="solid"/>
          </a:ln>
        </p:spPr>
      </p:sp>
      <p:pic>
        <p:nvPicPr>
          <p:cNvPr id="14" name="title step 3 icon" descr="preencoded.png">    </p:cNvPr>
          <p:cNvPicPr>
            <a:picLocks noChangeAspect="1"/>
          </p:cNvPicPr>
          <p:nvPr/>
        </p:nvPicPr>
        <p:blipFill>
          <a:blip r:embed="rId3"/>
          <a:stretch>
            <a:fillRect/>
          </a:stretch>
        </p:blipFill>
        <p:spPr>
          <a:xfrm>
            <a:off x="8717890" y="3825850"/>
            <a:ext cx="395021" cy="395021"/>
          </a:xfrm>
          <a:prstGeom prst="rect">
            <a:avLst/>
          </a:prstGeom>
        </p:spPr>
      </p:pic>
      <p:sp>
        <p:nvSpPr>
          <p:cNvPr id="15" name="title step label 3"/>
          <p:cNvSpPr txBox="1"/>
          <p:nvPr/>
        </p:nvSpPr>
        <p:spPr>
          <a:xfrm>
            <a:off x="9509760" y="3858768"/>
            <a:ext cx="2377440" cy="365760"/>
          </a:xfrm>
          <a:prstGeom prst="rect">
            <a:avLst/>
          </a:prstGeom>
          <a:noFill/>
          <a:ln/>
        </p:spPr>
        <p:txBody>
          <a:bodyPr wrap="square" lIns="0" tIns="0" rIns="0" bIns="0" rtlCol="0" anchor="t"/>
          <a:lstStyle/>
          <a:p>
            <a:pPr indent="0" marL="0">
              <a:buNone/>
            </a:pPr>
            <a:r>
              <a:rPr lang="en-US" sz="1600" dirty="0">
                <a:solidFill>
                  <a:schemeClr val="bg1"/>
                </a:solidFill>
              </a:rPr>
              <a:t>Price at SA rates</a:t>
            </a:r>
            <a:endParaRPr lang="en-US" sz="1600" dirty="0"/>
          </a:p>
        </p:txBody>
      </p:sp>
      <p:sp>
        <p:nvSpPr>
          <p:cNvPr id="16" name="Shape 11"/>
          <p:cNvSpPr/>
          <p:nvPr/>
        </p:nvSpPr>
        <p:spPr>
          <a:xfrm>
            <a:off x="8915400" y="4480560"/>
            <a:ext cx="0" cy="274320"/>
          </a:xfrm>
          <a:prstGeom prst="line">
            <a:avLst/>
          </a:prstGeom>
          <a:noFill/>
          <a:ln w="25400">
            <a:solidFill>
              <a:srgbClr val="F2A900"/>
            </a:solidFill>
            <a:prstDash val="solid"/>
            <a:tailEnd type="triangle"/>
          </a:ln>
        </p:spPr>
      </p:sp>
      <p:sp>
        <p:nvSpPr>
          <p:cNvPr id="17" name="title step 4 circle"/>
          <p:cNvSpPr/>
          <p:nvPr/>
        </p:nvSpPr>
        <p:spPr>
          <a:xfrm>
            <a:off x="8503920" y="4800600"/>
            <a:ext cx="822960" cy="822960"/>
          </a:xfrm>
          <a:prstGeom prst="ellipse">
            <a:avLst/>
          </a:prstGeom>
          <a:solidFill>
            <a:srgbClr val="F2A900"/>
          </a:solidFill>
          <a:ln w="12700">
            <a:solidFill>
              <a:srgbClr val="F2A900"/>
            </a:solidFill>
            <a:prstDash val="solid"/>
          </a:ln>
        </p:spPr>
      </p:sp>
      <p:pic>
        <p:nvPicPr>
          <p:cNvPr id="18" name="title step 4 icon" descr="preencoded.png">    </p:cNvPr>
          <p:cNvPicPr>
            <a:picLocks noChangeAspect="1"/>
          </p:cNvPicPr>
          <p:nvPr/>
        </p:nvPicPr>
        <p:blipFill>
          <a:blip r:embed="rId4"/>
          <a:stretch>
            <a:fillRect/>
          </a:stretch>
        </p:blipFill>
        <p:spPr>
          <a:xfrm>
            <a:off x="8717890" y="5014570"/>
            <a:ext cx="395021" cy="395021"/>
          </a:xfrm>
          <a:prstGeom prst="rect">
            <a:avLst/>
          </a:prstGeom>
        </p:spPr>
      </p:pic>
      <p:sp>
        <p:nvSpPr>
          <p:cNvPr id="19" name="title step label 4"/>
          <p:cNvSpPr txBox="1"/>
          <p:nvPr/>
        </p:nvSpPr>
        <p:spPr>
          <a:xfrm>
            <a:off x="9509760" y="5047488"/>
            <a:ext cx="2377440" cy="365760"/>
          </a:xfrm>
          <a:prstGeom prst="rect">
            <a:avLst/>
          </a:prstGeom>
          <a:noFill/>
          <a:ln/>
        </p:spPr>
        <p:txBody>
          <a:bodyPr wrap="square" lIns="0" tIns="0" rIns="0" bIns="0" rtlCol="0" anchor="t"/>
          <a:lstStyle/>
          <a:p>
            <a:pPr indent="0" marL="0">
              <a:buNone/>
            </a:pPr>
            <a:r>
              <a:rPr lang="en-US" sz="1600" dirty="0">
                <a:solidFill>
                  <a:schemeClr val="bg1"/>
                </a:solidFill>
              </a:rPr>
              <a:t>Tender BoQ</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Every tender is priced against the clock, on a thin margin</a:t>
            </a:r>
            <a:endParaRPr lang="en-US" sz="3000" dirty="0"/>
          </a:p>
        </p:txBody>
      </p:sp>
      <p:sp>
        <p:nvSpPr>
          <p:cNvPr id="4" name="stat card 1"/>
          <p:cNvSpPr/>
          <p:nvPr/>
        </p:nvSpPr>
        <p:spPr>
          <a:xfrm>
            <a:off x="548640"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stat 1 circle"/>
          <p:cNvSpPr/>
          <p:nvPr/>
        </p:nvSpPr>
        <p:spPr>
          <a:xfrm>
            <a:off x="822960" y="1783080"/>
            <a:ext cx="685800" cy="685800"/>
          </a:xfrm>
          <a:prstGeom prst="ellipse">
            <a:avLst/>
          </a:prstGeom>
          <a:solidFill>
            <a:srgbClr val="F2F4F9"/>
          </a:solidFill>
          <a:ln w="12700">
            <a:solidFill>
              <a:srgbClr val="F2F4F9"/>
            </a:solidFill>
            <a:prstDash val="solid"/>
          </a:ln>
        </p:spPr>
      </p:sp>
      <p:pic>
        <p:nvPicPr>
          <p:cNvPr id="6" name="stat 1 icon" descr="preencoded.png">    </p:cNvPr>
          <p:cNvPicPr>
            <a:picLocks noChangeAspect="1"/>
          </p:cNvPicPr>
          <p:nvPr/>
        </p:nvPicPr>
        <p:blipFill>
          <a:blip r:embed="rId1"/>
          <a:stretch>
            <a:fillRect/>
          </a:stretch>
        </p:blipFill>
        <p:spPr>
          <a:xfrm>
            <a:off x="1001268" y="1961388"/>
            <a:ext cx="329184" cy="329184"/>
          </a:xfrm>
          <a:prstGeom prst="rect">
            <a:avLst/>
          </a:prstGeom>
        </p:spPr>
      </p:pic>
      <p:sp>
        <p:nvSpPr>
          <p:cNvPr id="7" name="stat value 1"/>
          <p:cNvSpPr txBox="1"/>
          <p:nvPr/>
        </p:nvSpPr>
        <p:spPr>
          <a:xfrm>
            <a:off x="822960"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14–30</a:t>
            </a:r>
            <a:endParaRPr lang="en-US" sz="4800" dirty="0"/>
          </a:p>
        </p:txBody>
      </p:sp>
      <p:sp>
        <p:nvSpPr>
          <p:cNvPr id="8" name="stat unit 1"/>
          <p:cNvSpPr txBox="1"/>
          <p:nvPr/>
        </p:nvSpPr>
        <p:spPr>
          <a:xfrm>
            <a:off x="822960"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days</a:t>
            </a:r>
            <a:endParaRPr lang="en-US" sz="1600" dirty="0"/>
          </a:p>
        </p:txBody>
      </p:sp>
      <p:sp>
        <p:nvSpPr>
          <p:cNvPr id="9" name="stat text 1"/>
          <p:cNvSpPr txBox="1"/>
          <p:nvPr/>
        </p:nvSpPr>
        <p:spPr>
          <a:xfrm>
            <a:off x="822960"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minimum a municipal tender is advertised — 14 days up to R10 m, 30 days above</a:t>
            </a:r>
            <a:endParaRPr lang="en-US" sz="1400" dirty="0"/>
          </a:p>
        </p:txBody>
      </p:sp>
      <p:sp>
        <p:nvSpPr>
          <p:cNvPr id="10" name="stat source 1"/>
          <p:cNvSpPr txBox="1"/>
          <p:nvPr/>
        </p:nvSpPr>
        <p:spPr>
          <a:xfrm>
            <a:off x="822960"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rule · Municipal SCM Regulations, reg. 22</a:t>
            </a:r>
            <a:endParaRPr lang="en-US" sz="1000" dirty="0"/>
          </a:p>
        </p:txBody>
      </p:sp>
      <p:sp>
        <p:nvSpPr>
          <p:cNvPr id="11" name="stat card 2"/>
          <p:cNvSpPr/>
          <p:nvPr/>
        </p:nvSpPr>
        <p:spPr>
          <a:xfrm>
            <a:off x="3364992"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stat 2 circle"/>
          <p:cNvSpPr/>
          <p:nvPr/>
        </p:nvSpPr>
        <p:spPr>
          <a:xfrm>
            <a:off x="3639312" y="1783080"/>
            <a:ext cx="685800" cy="685800"/>
          </a:xfrm>
          <a:prstGeom prst="ellipse">
            <a:avLst/>
          </a:prstGeom>
          <a:solidFill>
            <a:srgbClr val="F2F4F9"/>
          </a:solidFill>
          <a:ln w="12700">
            <a:solidFill>
              <a:srgbClr val="F2F4F9"/>
            </a:solidFill>
            <a:prstDash val="solid"/>
          </a:ln>
        </p:spPr>
      </p:sp>
      <p:pic>
        <p:nvPicPr>
          <p:cNvPr id="13" name="stat 2 icon" descr="preencoded.png">    </p:cNvPr>
          <p:cNvPicPr>
            <a:picLocks noChangeAspect="1"/>
          </p:cNvPicPr>
          <p:nvPr/>
        </p:nvPicPr>
        <p:blipFill>
          <a:blip r:embed="rId2"/>
          <a:stretch>
            <a:fillRect/>
          </a:stretch>
        </p:blipFill>
        <p:spPr>
          <a:xfrm>
            <a:off x="3817620" y="1961388"/>
            <a:ext cx="329184" cy="329184"/>
          </a:xfrm>
          <a:prstGeom prst="rect">
            <a:avLst/>
          </a:prstGeom>
        </p:spPr>
      </p:pic>
      <p:sp>
        <p:nvSpPr>
          <p:cNvPr id="14" name="stat value 2"/>
          <p:cNvSpPr txBox="1"/>
          <p:nvPr/>
        </p:nvSpPr>
        <p:spPr>
          <a:xfrm>
            <a:off x="3639312"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4.8%</a:t>
            </a:r>
            <a:endParaRPr lang="en-US" sz="4800" dirty="0"/>
          </a:p>
        </p:txBody>
      </p:sp>
      <p:sp>
        <p:nvSpPr>
          <p:cNvPr id="15" name="stat unit 2"/>
          <p:cNvSpPr txBox="1"/>
          <p:nvPr/>
        </p:nvSpPr>
        <p:spPr>
          <a:xfrm>
            <a:off x="3639312"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profit margin</a:t>
            </a:r>
            <a:endParaRPr lang="en-US" sz="1600" dirty="0"/>
          </a:p>
        </p:txBody>
      </p:sp>
      <p:sp>
        <p:nvSpPr>
          <p:cNvPr id="16" name="stat text 2"/>
          <p:cNvSpPr txBox="1"/>
          <p:nvPr/>
        </p:nvSpPr>
        <p:spPr>
          <a:xfrm>
            <a:off x="3639312"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SA construction in 2024 — the highest since 2014; one missed item can erase it</a:t>
            </a:r>
            <a:endParaRPr lang="en-US" sz="1400" dirty="0"/>
          </a:p>
        </p:txBody>
      </p:sp>
      <p:sp>
        <p:nvSpPr>
          <p:cNvPr id="17" name="stat source 2"/>
          <p:cNvSpPr txBox="1"/>
          <p:nvPr/>
        </p:nvSpPr>
        <p:spPr>
          <a:xfrm>
            <a:off x="3639312"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 Stats SA, Construction industry 2024</a:t>
            </a:r>
            <a:endParaRPr lang="en-US" sz="1000" dirty="0"/>
          </a:p>
        </p:txBody>
      </p:sp>
      <p:sp>
        <p:nvSpPr>
          <p:cNvPr id="18" name="stat card 3"/>
          <p:cNvSpPr/>
          <p:nvPr/>
        </p:nvSpPr>
        <p:spPr>
          <a:xfrm>
            <a:off x="6181344"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9" name="stat 3 circle"/>
          <p:cNvSpPr/>
          <p:nvPr/>
        </p:nvSpPr>
        <p:spPr>
          <a:xfrm>
            <a:off x="6455664" y="1783080"/>
            <a:ext cx="685800" cy="685800"/>
          </a:xfrm>
          <a:prstGeom prst="ellipse">
            <a:avLst/>
          </a:prstGeom>
          <a:solidFill>
            <a:srgbClr val="F2F4F9"/>
          </a:solidFill>
          <a:ln w="12700">
            <a:solidFill>
              <a:srgbClr val="F2F4F9"/>
            </a:solidFill>
            <a:prstDash val="solid"/>
          </a:ln>
        </p:spPr>
      </p:sp>
      <p:pic>
        <p:nvPicPr>
          <p:cNvPr id="20" name="stat 3 icon" descr="preencoded.png">    </p:cNvPr>
          <p:cNvPicPr>
            <a:picLocks noChangeAspect="1"/>
          </p:cNvPicPr>
          <p:nvPr/>
        </p:nvPicPr>
        <p:blipFill>
          <a:blip r:embed="rId3"/>
          <a:stretch>
            <a:fillRect/>
          </a:stretch>
        </p:blipFill>
        <p:spPr>
          <a:xfrm>
            <a:off x="6633972" y="1961388"/>
            <a:ext cx="329184" cy="329184"/>
          </a:xfrm>
          <a:prstGeom prst="rect">
            <a:avLst/>
          </a:prstGeom>
        </p:spPr>
      </p:pic>
      <p:sp>
        <p:nvSpPr>
          <p:cNvPr id="21" name="stat value 3"/>
          <p:cNvSpPr txBox="1"/>
          <p:nvPr/>
        </p:nvSpPr>
        <p:spPr>
          <a:xfrm>
            <a:off x="6455664"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13.3%</a:t>
            </a:r>
            <a:endParaRPr lang="en-US" sz="4800" dirty="0"/>
          </a:p>
        </p:txBody>
      </p:sp>
      <p:sp>
        <p:nvSpPr>
          <p:cNvPr id="22" name="stat unit 3"/>
          <p:cNvSpPr txBox="1"/>
          <p:nvPr/>
        </p:nvSpPr>
        <p:spPr>
          <a:xfrm>
            <a:off x="6455664"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bids won</a:t>
            </a:r>
            <a:endParaRPr lang="en-US" sz="1600" dirty="0"/>
          </a:p>
        </p:txBody>
      </p:sp>
      <p:sp>
        <p:nvSpPr>
          <p:cNvPr id="23" name="stat text 3"/>
          <p:cNvSpPr txBox="1"/>
          <p:nvPr/>
        </p:nvSpPr>
        <p:spPr>
          <a:xfrm>
            <a:off x="6455664"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2,296 bids for 289 public tenders — most estimates earn nothing</a:t>
            </a:r>
            <a:endParaRPr lang="en-US" sz="1400" dirty="0"/>
          </a:p>
        </p:txBody>
      </p:sp>
      <p:sp>
        <p:nvSpPr>
          <p:cNvPr id="24" name="stat source 3"/>
          <p:cNvSpPr txBox="1"/>
          <p:nvPr/>
        </p:nvSpPr>
        <p:spPr>
          <a:xfrm>
            <a:off x="6455664"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Alkhateeb et al., 2020 (Jordan)</a:t>
            </a:r>
            <a:endParaRPr lang="en-US" sz="1000" dirty="0"/>
          </a:p>
        </p:txBody>
      </p:sp>
      <p:sp>
        <p:nvSpPr>
          <p:cNvPr id="25" name="stat card 4"/>
          <p:cNvSpPr/>
          <p:nvPr/>
        </p:nvSpPr>
        <p:spPr>
          <a:xfrm>
            <a:off x="8997696"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6" name="stat 4 circle"/>
          <p:cNvSpPr/>
          <p:nvPr/>
        </p:nvSpPr>
        <p:spPr>
          <a:xfrm>
            <a:off x="9272016" y="1783080"/>
            <a:ext cx="685800" cy="685800"/>
          </a:xfrm>
          <a:prstGeom prst="ellipse">
            <a:avLst/>
          </a:prstGeom>
          <a:solidFill>
            <a:srgbClr val="F2F4F9"/>
          </a:solidFill>
          <a:ln w="12700">
            <a:solidFill>
              <a:srgbClr val="F2F4F9"/>
            </a:solidFill>
            <a:prstDash val="solid"/>
          </a:ln>
        </p:spPr>
      </p:sp>
      <p:pic>
        <p:nvPicPr>
          <p:cNvPr id="27" name="stat 4 icon" descr="preencoded.png">    </p:cNvPr>
          <p:cNvPicPr>
            <a:picLocks noChangeAspect="1"/>
          </p:cNvPicPr>
          <p:nvPr/>
        </p:nvPicPr>
        <p:blipFill>
          <a:blip r:embed="rId4"/>
          <a:stretch>
            <a:fillRect/>
          </a:stretch>
        </p:blipFill>
        <p:spPr>
          <a:xfrm>
            <a:off x="9450324" y="1961388"/>
            <a:ext cx="329184" cy="329184"/>
          </a:xfrm>
          <a:prstGeom prst="rect">
            <a:avLst/>
          </a:prstGeom>
        </p:spPr>
      </p:pic>
      <p:sp>
        <p:nvSpPr>
          <p:cNvPr id="28" name="stat value 4"/>
          <p:cNvSpPr txBox="1"/>
          <p:nvPr/>
        </p:nvSpPr>
        <p:spPr>
          <a:xfrm>
            <a:off x="9272016" y="2697480"/>
            <a:ext cx="2194560" cy="86868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0.05–0.65%</a:t>
            </a:r>
            <a:endParaRPr lang="en-US" sz="3000" dirty="0"/>
          </a:p>
        </p:txBody>
      </p:sp>
      <p:sp>
        <p:nvSpPr>
          <p:cNvPr id="29" name="stat unit 4"/>
          <p:cNvSpPr txBox="1"/>
          <p:nvPr/>
        </p:nvSpPr>
        <p:spPr>
          <a:xfrm>
            <a:off x="9272016"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the tender value</a:t>
            </a:r>
            <a:endParaRPr lang="en-US" sz="1600" dirty="0"/>
          </a:p>
        </p:txBody>
      </p:sp>
      <p:sp>
        <p:nvSpPr>
          <p:cNvPr id="30" name="stat text 4"/>
          <p:cNvSpPr txBox="1"/>
          <p:nvPr/>
        </p:nvSpPr>
        <p:spPr>
          <a:xfrm>
            <a:off x="9272016"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spent preparing each tender — paid again on every bid that is lost</a:t>
            </a:r>
            <a:endParaRPr lang="en-US" sz="1400" dirty="0"/>
          </a:p>
        </p:txBody>
      </p:sp>
      <p:sp>
        <p:nvSpPr>
          <p:cNvPr id="31" name="stat source 4"/>
          <p:cNvSpPr txBox="1"/>
          <p:nvPr/>
        </p:nvSpPr>
        <p:spPr>
          <a:xfrm>
            <a:off x="9272016"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Ameyaw et al., 2021 (Ghana)</a:t>
            </a:r>
            <a:endParaRPr lang="en-US" sz="1000" dirty="0"/>
          </a:p>
        </p:txBody>
      </p:sp>
      <p:sp>
        <p:nvSpPr>
          <p:cNvPr id="32"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No study measures South African electrical take-off hours, SA tender win rates or manual take-off error rates — win rate and tender cost come from comparable public-procurement studies abroad.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Most contractors are small firms — and their share is growing</a:t>
            </a:r>
            <a:endParaRPr lang="en-US" sz="3000" dirty="0"/>
          </a:p>
        </p:txBody>
      </p:sp>
      <p:graphicFrame>
        <p:nvGraphicFramePr>
          <p:cNvPr id="4" name="Chart 0" descr=""/>
          <p:cNvGraphicFramePr/>
          <p:nvPr/>
        </p:nvGraphicFramePr>
        <p:xfrm>
          <a:off x="548640" y="1417320"/>
          <a:ext cx="5669280" cy="4206240"/>
        </p:xfrm>
        <a:graphic xmlns:a="http://schemas.openxmlformats.org/drawingml/2006/main">
          <a:graphicData uri="http://schemas.openxmlformats.org/drawingml/2006/chart">
            <c:chart xmlns:c="http://schemas.openxmlformats.org/drawingml/2006/chart" r:id="rId1"/>
          </a:graphicData>
        </a:graphic>
      </p:graphicFrame>
      <p:sp>
        <p:nvSpPr>
          <p:cNvPr id="5" name="market card 1"/>
          <p:cNvSpPr/>
          <p:nvPr/>
        </p:nvSpPr>
        <p:spPr>
          <a:xfrm>
            <a:off x="6583680" y="141732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market 1 circle"/>
          <p:cNvSpPr/>
          <p:nvPr/>
        </p:nvSpPr>
        <p:spPr>
          <a:xfrm>
            <a:off x="6784848" y="1618488"/>
            <a:ext cx="502920" cy="502920"/>
          </a:xfrm>
          <a:prstGeom prst="ellipse">
            <a:avLst/>
          </a:prstGeom>
          <a:solidFill>
            <a:srgbClr val="F2F4F9"/>
          </a:solidFill>
          <a:ln w="12700">
            <a:solidFill>
              <a:srgbClr val="F2F4F9"/>
            </a:solidFill>
            <a:prstDash val="solid"/>
          </a:ln>
        </p:spPr>
      </p:sp>
      <p:pic>
        <p:nvPicPr>
          <p:cNvPr id="7" name="market 1 icon" descr="preencoded.png">    </p:cNvPr>
          <p:cNvPicPr>
            <a:picLocks noChangeAspect="1"/>
          </p:cNvPicPr>
          <p:nvPr/>
        </p:nvPicPr>
        <p:blipFill>
          <a:blip r:embed="rId2"/>
          <a:stretch>
            <a:fillRect/>
          </a:stretch>
        </p:blipFill>
        <p:spPr>
          <a:xfrm>
            <a:off x="6915607" y="1749247"/>
            <a:ext cx="241402" cy="241402"/>
          </a:xfrm>
          <a:prstGeom prst="rect">
            <a:avLst/>
          </a:prstGeom>
        </p:spPr>
      </p:pic>
      <p:sp>
        <p:nvSpPr>
          <p:cNvPr id="8" name="market value 1"/>
          <p:cNvSpPr txBox="1"/>
          <p:nvPr/>
        </p:nvSpPr>
        <p:spPr>
          <a:xfrm>
            <a:off x="6784848" y="216712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84%</a:t>
            </a:r>
            <a:endParaRPr lang="en-US" sz="2600" dirty="0"/>
          </a:p>
        </p:txBody>
      </p:sp>
      <p:sp>
        <p:nvSpPr>
          <p:cNvPr id="9" name="market text 1"/>
          <p:cNvSpPr txBox="1"/>
          <p:nvPr/>
        </p:nvSpPr>
        <p:spPr>
          <a:xfrm>
            <a:off x="6784848" y="2624328"/>
            <a:ext cx="2011680" cy="594360"/>
          </a:xfrm>
          <a:prstGeom prst="rect">
            <a:avLst/>
          </a:prstGeom>
          <a:noFill/>
          <a:ln/>
        </p:spPr>
        <p:txBody>
          <a:bodyPr wrap="square" lIns="0" tIns="0" rIns="0" bIns="0" rtlCol="0" anchor="t"/>
          <a:lstStyle/>
          <a:p>
            <a:pPr indent="0" marL="0">
              <a:buNone/>
            </a:pPr>
            <a:r>
              <a:rPr lang="en-US" sz="1150" dirty="0">
                <a:solidFill>
                  <a:schemeClr val="tx2"/>
                </a:solidFill>
              </a:rPr>
              <a:t>of 129,555 active CIDB contractors are Grade 1, the smallest grade</a:t>
            </a:r>
            <a:endParaRPr lang="en-US" sz="1150" dirty="0"/>
          </a:p>
        </p:txBody>
      </p:sp>
      <p:sp>
        <p:nvSpPr>
          <p:cNvPr id="10" name="market card 2"/>
          <p:cNvSpPr/>
          <p:nvPr/>
        </p:nvSpPr>
        <p:spPr>
          <a:xfrm>
            <a:off x="9189720" y="141732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market 2 circle"/>
          <p:cNvSpPr/>
          <p:nvPr/>
        </p:nvSpPr>
        <p:spPr>
          <a:xfrm>
            <a:off x="9390888" y="1618488"/>
            <a:ext cx="502920" cy="502920"/>
          </a:xfrm>
          <a:prstGeom prst="ellipse">
            <a:avLst/>
          </a:prstGeom>
          <a:solidFill>
            <a:srgbClr val="F2F4F9"/>
          </a:solidFill>
          <a:ln w="12700">
            <a:solidFill>
              <a:srgbClr val="F2F4F9"/>
            </a:solidFill>
            <a:prstDash val="solid"/>
          </a:ln>
        </p:spPr>
      </p:sp>
      <p:pic>
        <p:nvPicPr>
          <p:cNvPr id="12" name="market 2 icon" descr="preencoded.png">    </p:cNvPr>
          <p:cNvPicPr>
            <a:picLocks noChangeAspect="1"/>
          </p:cNvPicPr>
          <p:nvPr/>
        </p:nvPicPr>
        <p:blipFill>
          <a:blip r:embed="rId3"/>
          <a:stretch>
            <a:fillRect/>
          </a:stretch>
        </p:blipFill>
        <p:spPr>
          <a:xfrm>
            <a:off x="9521647" y="1749247"/>
            <a:ext cx="241402" cy="241402"/>
          </a:xfrm>
          <a:prstGeom prst="rect">
            <a:avLst/>
          </a:prstGeom>
        </p:spPr>
      </p:pic>
      <p:sp>
        <p:nvSpPr>
          <p:cNvPr id="13" name="market value 2"/>
          <p:cNvSpPr txBox="1"/>
          <p:nvPr/>
        </p:nvSpPr>
        <p:spPr>
          <a:xfrm>
            <a:off x="9390888" y="216712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32.2%</a:t>
            </a:r>
            <a:endParaRPr lang="en-US" sz="2600" dirty="0"/>
          </a:p>
        </p:txBody>
      </p:sp>
      <p:sp>
        <p:nvSpPr>
          <p:cNvPr id="14" name="market text 2"/>
          <p:cNvSpPr txBox="1"/>
          <p:nvPr/>
        </p:nvSpPr>
        <p:spPr>
          <a:xfrm>
            <a:off x="9390888" y="2624328"/>
            <a:ext cx="2011680" cy="594360"/>
          </a:xfrm>
          <a:prstGeom prst="rect">
            <a:avLst/>
          </a:prstGeom>
          <a:noFill/>
          <a:ln/>
        </p:spPr>
        <p:txBody>
          <a:bodyPr wrap="square" lIns="0" tIns="0" rIns="0" bIns="0" rtlCol="0" anchor="t"/>
          <a:lstStyle/>
          <a:p>
            <a:pPr indent="0" marL="0">
              <a:buNone/>
            </a:pPr>
            <a:r>
              <a:rPr lang="en-US" sz="1150" dirty="0">
                <a:solidFill>
                  <a:schemeClr val="tx2"/>
                </a:solidFill>
              </a:rPr>
              <a:t>of construction income earned by small &amp; micro firms in 2024 (25.0% in 2014)</a:t>
            </a:r>
            <a:endParaRPr lang="en-US" sz="1150" dirty="0"/>
          </a:p>
        </p:txBody>
      </p:sp>
      <p:sp>
        <p:nvSpPr>
          <p:cNvPr id="15" name="market card 3"/>
          <p:cNvSpPr/>
          <p:nvPr/>
        </p:nvSpPr>
        <p:spPr>
          <a:xfrm>
            <a:off x="6583680" y="356616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6" name="market 3 circle"/>
          <p:cNvSpPr/>
          <p:nvPr/>
        </p:nvSpPr>
        <p:spPr>
          <a:xfrm>
            <a:off x="6784848" y="3767328"/>
            <a:ext cx="502920" cy="502920"/>
          </a:xfrm>
          <a:prstGeom prst="ellipse">
            <a:avLst/>
          </a:prstGeom>
          <a:solidFill>
            <a:srgbClr val="F2F4F9"/>
          </a:solidFill>
          <a:ln w="12700">
            <a:solidFill>
              <a:srgbClr val="F2F4F9"/>
            </a:solidFill>
            <a:prstDash val="solid"/>
          </a:ln>
        </p:spPr>
      </p:sp>
      <p:pic>
        <p:nvPicPr>
          <p:cNvPr id="17" name="market 3 icon" descr="preencoded.png">    </p:cNvPr>
          <p:cNvPicPr>
            <a:picLocks noChangeAspect="1"/>
          </p:cNvPicPr>
          <p:nvPr/>
        </p:nvPicPr>
        <p:blipFill>
          <a:blip r:embed="rId4"/>
          <a:stretch>
            <a:fillRect/>
          </a:stretch>
        </p:blipFill>
        <p:spPr>
          <a:xfrm>
            <a:off x="6915607" y="3898087"/>
            <a:ext cx="241402" cy="241402"/>
          </a:xfrm>
          <a:prstGeom prst="rect">
            <a:avLst/>
          </a:prstGeom>
        </p:spPr>
      </p:pic>
      <p:sp>
        <p:nvSpPr>
          <p:cNvPr id="18" name="market value 3"/>
          <p:cNvSpPr txBox="1"/>
          <p:nvPr/>
        </p:nvSpPr>
        <p:spPr>
          <a:xfrm>
            <a:off x="6784848" y="431596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R1.07 tn</a:t>
            </a:r>
            <a:endParaRPr lang="en-US" sz="2600" dirty="0"/>
          </a:p>
        </p:txBody>
      </p:sp>
      <p:sp>
        <p:nvSpPr>
          <p:cNvPr id="19" name="market text 3"/>
          <p:cNvSpPr txBox="1"/>
          <p:nvPr/>
        </p:nvSpPr>
        <p:spPr>
          <a:xfrm>
            <a:off x="6784848" y="4773168"/>
            <a:ext cx="2011680" cy="594360"/>
          </a:xfrm>
          <a:prstGeom prst="rect">
            <a:avLst/>
          </a:prstGeom>
          <a:noFill/>
          <a:ln/>
        </p:spPr>
        <p:txBody>
          <a:bodyPr wrap="square" lIns="0" tIns="0" rIns="0" bIns="0" rtlCol="0" anchor="t"/>
          <a:lstStyle/>
          <a:p>
            <a:pPr indent="0" marL="0">
              <a:buNone/>
            </a:pPr>
            <a:r>
              <a:rPr lang="en-US" sz="1150" dirty="0">
                <a:solidFill>
                  <a:schemeClr val="tx2"/>
                </a:solidFill>
              </a:rPr>
              <a:t>public infrastructure planned over the medium term</a:t>
            </a:r>
            <a:endParaRPr lang="en-US" sz="1150" dirty="0"/>
          </a:p>
        </p:txBody>
      </p:sp>
      <p:sp>
        <p:nvSpPr>
          <p:cNvPr id="20" name="market card 4"/>
          <p:cNvSpPr/>
          <p:nvPr/>
        </p:nvSpPr>
        <p:spPr>
          <a:xfrm>
            <a:off x="9189720" y="356616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1" name="market 4 circle"/>
          <p:cNvSpPr/>
          <p:nvPr/>
        </p:nvSpPr>
        <p:spPr>
          <a:xfrm>
            <a:off x="9390888" y="3767328"/>
            <a:ext cx="502920" cy="502920"/>
          </a:xfrm>
          <a:prstGeom prst="ellipse">
            <a:avLst/>
          </a:prstGeom>
          <a:solidFill>
            <a:srgbClr val="F2F4F9"/>
          </a:solidFill>
          <a:ln w="12700">
            <a:solidFill>
              <a:srgbClr val="F2F4F9"/>
            </a:solidFill>
            <a:prstDash val="solid"/>
          </a:ln>
        </p:spPr>
      </p:sp>
      <p:pic>
        <p:nvPicPr>
          <p:cNvPr id="22" name="market 4 icon" descr="preencoded.png">    </p:cNvPr>
          <p:cNvPicPr>
            <a:picLocks noChangeAspect="1"/>
          </p:cNvPicPr>
          <p:nvPr/>
        </p:nvPicPr>
        <p:blipFill>
          <a:blip r:embed="rId5"/>
          <a:stretch>
            <a:fillRect/>
          </a:stretch>
        </p:blipFill>
        <p:spPr>
          <a:xfrm>
            <a:off x="9521647" y="3898087"/>
            <a:ext cx="241402" cy="241402"/>
          </a:xfrm>
          <a:prstGeom prst="rect">
            <a:avLst/>
          </a:prstGeom>
        </p:spPr>
      </p:pic>
      <p:sp>
        <p:nvSpPr>
          <p:cNvPr id="23" name="market value 4"/>
          <p:cNvSpPr txBox="1"/>
          <p:nvPr/>
        </p:nvSpPr>
        <p:spPr>
          <a:xfrm>
            <a:off x="9390888" y="431596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8.3 GW</a:t>
            </a:r>
            <a:endParaRPr lang="en-US" sz="2600" dirty="0"/>
          </a:p>
        </p:txBody>
      </p:sp>
      <p:sp>
        <p:nvSpPr>
          <p:cNvPr id="24" name="market text 4"/>
          <p:cNvSpPr txBox="1"/>
          <p:nvPr/>
        </p:nvSpPr>
        <p:spPr>
          <a:xfrm>
            <a:off x="9390888" y="4773168"/>
            <a:ext cx="2011680" cy="594360"/>
          </a:xfrm>
          <a:prstGeom prst="rect">
            <a:avLst/>
          </a:prstGeom>
          <a:noFill/>
          <a:ln/>
        </p:spPr>
        <p:txBody>
          <a:bodyPr wrap="square" lIns="0" tIns="0" rIns="0" bIns="0" rtlCol="0" anchor="t"/>
          <a:lstStyle/>
          <a:p>
            <a:pPr indent="0" marL="0">
              <a:buNone/>
            </a:pPr>
            <a:r>
              <a:rPr lang="en-US" sz="1150" dirty="0">
                <a:solidFill>
                  <a:schemeClr val="tx2"/>
                </a:solidFill>
              </a:rPr>
              <a:t>rooftop solar installed — more work for electrical contractors</a:t>
            </a:r>
            <a:endParaRPr lang="en-US" sz="1150" dirty="0"/>
          </a:p>
        </p:txBody>
      </p:sp>
      <p:sp>
        <p:nvSpPr>
          <p:cNvPr id="25"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Sources: CIDB APP (PMG, 2024 Q4) · Stats SA, Construction industry 2024 and 'Key shifts in the construction industry' · National Treasury, Budget Review 2026, Annexure D · Engineering News, 19 Jun 2026 (Eskom NTCSA).</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SA research ties overruns to estimates and tender documents</a:t>
            </a:r>
            <a:endParaRPr lang="en-US" sz="3000" dirty="0"/>
          </a:p>
        </p:txBody>
      </p:sp>
      <p:sp>
        <p:nvSpPr>
          <p:cNvPr id="4" name="study card 1"/>
          <p:cNvSpPr/>
          <p:nvPr/>
        </p:nvSpPr>
        <p:spPr>
          <a:xfrm>
            <a:off x="548640" y="141732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study 1 circle"/>
          <p:cNvSpPr/>
          <p:nvPr/>
        </p:nvSpPr>
        <p:spPr>
          <a:xfrm>
            <a:off x="822960" y="1691640"/>
            <a:ext cx="685800" cy="685800"/>
          </a:xfrm>
          <a:prstGeom prst="ellipse">
            <a:avLst/>
          </a:prstGeom>
          <a:solidFill>
            <a:srgbClr val="2E5BE8"/>
          </a:solidFill>
          <a:ln w="12700">
            <a:solidFill>
              <a:srgbClr val="2E5BE8"/>
            </a:solidFill>
            <a:prstDash val="solid"/>
          </a:ln>
        </p:spPr>
      </p:sp>
      <p:pic>
        <p:nvPicPr>
          <p:cNvPr id="6" name="study 1 icon" descr="preencoded.png">    </p:cNvPr>
          <p:cNvPicPr>
            <a:picLocks noChangeAspect="1"/>
          </p:cNvPicPr>
          <p:nvPr/>
        </p:nvPicPr>
        <p:blipFill>
          <a:blip r:embed="rId1"/>
          <a:stretch>
            <a:fillRect/>
          </a:stretch>
        </p:blipFill>
        <p:spPr>
          <a:xfrm>
            <a:off x="1001268" y="1869948"/>
            <a:ext cx="329184" cy="329184"/>
          </a:xfrm>
          <a:prstGeom prst="rect">
            <a:avLst/>
          </a:prstGeom>
        </p:spPr>
      </p:pic>
      <p:sp>
        <p:nvSpPr>
          <p:cNvPr id="7" name="study title 1"/>
          <p:cNvSpPr txBox="1"/>
          <p:nvPr/>
        </p:nvSpPr>
        <p:spPr>
          <a:xfrm>
            <a:off x="1737360" y="1645920"/>
            <a:ext cx="4069080" cy="365760"/>
          </a:xfrm>
          <a:prstGeom prst="rect">
            <a:avLst/>
          </a:prstGeom>
          <a:noFill/>
          <a:ln/>
        </p:spPr>
        <p:txBody>
          <a:bodyPr wrap="square" lIns="0" tIns="0" rIns="0" bIns="0" rtlCol="0" anchor="t"/>
          <a:lstStyle/>
          <a:p>
            <a:pPr indent="0" marL="0">
              <a:buNone/>
            </a:pPr>
            <a:r>
              <a:rPr lang="en-US" sz="1700" b="1" dirty="0">
                <a:solidFill>
                  <a:schemeClr val="tx1"/>
                </a:solidFill>
              </a:rPr>
              <a:t>Under-estimated cost</a:t>
            </a:r>
            <a:endParaRPr lang="en-US" sz="1700" dirty="0"/>
          </a:p>
        </p:txBody>
      </p:sp>
      <p:sp>
        <p:nvSpPr>
          <p:cNvPr id="8" name="study text 1"/>
          <p:cNvSpPr txBox="1"/>
          <p:nvPr/>
        </p:nvSpPr>
        <p:spPr>
          <a:xfrm>
            <a:off x="1737360" y="2039112"/>
            <a:ext cx="4069080" cy="731520"/>
          </a:xfrm>
          <a:prstGeom prst="rect">
            <a:avLst/>
          </a:prstGeom>
          <a:noFill/>
          <a:ln/>
        </p:spPr>
        <p:txBody>
          <a:bodyPr wrap="square" lIns="0" tIns="0" rIns="0" bIns="0" rtlCol="0" anchor="t"/>
          <a:lstStyle/>
          <a:p>
            <a:pPr indent="0" marL="0">
              <a:buNone/>
            </a:pPr>
            <a:r>
              <a:rPr lang="en-US" sz="1300" dirty="0">
                <a:solidFill>
                  <a:schemeClr val="tx2"/>
                </a:solidFill>
              </a:rPr>
              <a:t>“Underestimation of project cost” is among the most significant causes of poor project performance.</a:t>
            </a:r>
            <a:endParaRPr lang="en-US" sz="1300" dirty="0"/>
          </a:p>
        </p:txBody>
      </p:sp>
      <p:sp>
        <p:nvSpPr>
          <p:cNvPr id="9" name="study source 1"/>
          <p:cNvSpPr txBox="1"/>
          <p:nvPr/>
        </p:nvSpPr>
        <p:spPr>
          <a:xfrm>
            <a:off x="1737360" y="278892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Murwira &amp; Bekker, 2017 · Acta Structilia · NW Public Works &amp; Roads</a:t>
            </a:r>
            <a:endParaRPr lang="en-US" sz="1000" dirty="0"/>
          </a:p>
        </p:txBody>
      </p:sp>
      <p:sp>
        <p:nvSpPr>
          <p:cNvPr id="10" name="study card 2"/>
          <p:cNvSpPr/>
          <p:nvPr/>
        </p:nvSpPr>
        <p:spPr>
          <a:xfrm>
            <a:off x="6172200" y="141732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study 2 circle"/>
          <p:cNvSpPr/>
          <p:nvPr/>
        </p:nvSpPr>
        <p:spPr>
          <a:xfrm>
            <a:off x="6446520" y="1691640"/>
            <a:ext cx="685800" cy="685800"/>
          </a:xfrm>
          <a:prstGeom prst="ellipse">
            <a:avLst/>
          </a:prstGeom>
          <a:solidFill>
            <a:srgbClr val="2E5BE8"/>
          </a:solidFill>
          <a:ln w="12700">
            <a:solidFill>
              <a:srgbClr val="2E5BE8"/>
            </a:solidFill>
            <a:prstDash val="solid"/>
          </a:ln>
        </p:spPr>
      </p:sp>
      <p:pic>
        <p:nvPicPr>
          <p:cNvPr id="12" name="study 2 icon" descr="preencoded.png">    </p:cNvPr>
          <p:cNvPicPr>
            <a:picLocks noChangeAspect="1"/>
          </p:cNvPicPr>
          <p:nvPr/>
        </p:nvPicPr>
        <p:blipFill>
          <a:blip r:embed="rId2"/>
          <a:stretch>
            <a:fillRect/>
          </a:stretch>
        </p:blipFill>
        <p:spPr>
          <a:xfrm>
            <a:off x="6624828" y="1869948"/>
            <a:ext cx="329184" cy="329184"/>
          </a:xfrm>
          <a:prstGeom prst="rect">
            <a:avLst/>
          </a:prstGeom>
        </p:spPr>
      </p:pic>
      <p:sp>
        <p:nvSpPr>
          <p:cNvPr id="13" name="study title 2"/>
          <p:cNvSpPr txBox="1"/>
          <p:nvPr/>
        </p:nvSpPr>
        <p:spPr>
          <a:xfrm>
            <a:off x="7360920" y="1645920"/>
            <a:ext cx="4069080" cy="365760"/>
          </a:xfrm>
          <a:prstGeom prst="rect">
            <a:avLst/>
          </a:prstGeom>
          <a:noFill/>
          <a:ln/>
        </p:spPr>
        <p:txBody>
          <a:bodyPr wrap="square" lIns="0" tIns="0" rIns="0" bIns="0" rtlCol="0" anchor="t"/>
          <a:lstStyle/>
          <a:p>
            <a:pPr indent="0" marL="0">
              <a:buNone/>
            </a:pPr>
            <a:r>
              <a:rPr lang="en-US" sz="1700" b="1" dirty="0">
                <a:solidFill>
                  <a:schemeClr val="tx1"/>
                </a:solidFill>
              </a:rPr>
              <a:t>Flawed design documents</a:t>
            </a:r>
            <a:endParaRPr lang="en-US" sz="1700" dirty="0"/>
          </a:p>
        </p:txBody>
      </p:sp>
      <p:sp>
        <p:nvSpPr>
          <p:cNvPr id="14" name="study text 2"/>
          <p:cNvSpPr txBox="1"/>
          <p:nvPr/>
        </p:nvSpPr>
        <p:spPr>
          <a:xfrm>
            <a:off x="7360920" y="2039112"/>
            <a:ext cx="4069080" cy="731520"/>
          </a:xfrm>
          <a:prstGeom prst="rect">
            <a:avLst/>
          </a:prstGeom>
          <a:noFill/>
          <a:ln/>
        </p:spPr>
        <p:txBody>
          <a:bodyPr wrap="square" lIns="0" tIns="0" rIns="0" bIns="0" rtlCol="0" anchor="t"/>
          <a:lstStyle/>
          <a:p>
            <a:pPr indent="0" marL="0">
              <a:buNone/>
            </a:pPr>
            <a:r>
              <a:rPr lang="en-US" sz="1300" dirty="0">
                <a:solidFill>
                  <a:schemeClr val="tx2"/>
                </a:solidFill>
              </a:rPr>
              <a:t>Poor design documentation is a significant contributor to delays, rework and cost overruns; rated inadequate on accuracy.</a:t>
            </a:r>
            <a:endParaRPr lang="en-US" sz="1300" dirty="0"/>
          </a:p>
        </p:txBody>
      </p:sp>
      <p:sp>
        <p:nvSpPr>
          <p:cNvPr id="15" name="study source 2"/>
          <p:cNvSpPr txBox="1"/>
          <p:nvPr/>
        </p:nvSpPr>
        <p:spPr>
          <a:xfrm>
            <a:off x="7360920" y="278892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Akampurira &amp; Windapo, 2019 · J. Eng. Design &amp; Technology · 120 respondents</a:t>
            </a:r>
            <a:endParaRPr lang="en-US" sz="1000" dirty="0"/>
          </a:p>
        </p:txBody>
      </p:sp>
      <p:sp>
        <p:nvSpPr>
          <p:cNvPr id="16" name="study card 3"/>
          <p:cNvSpPr/>
          <p:nvPr/>
        </p:nvSpPr>
        <p:spPr>
          <a:xfrm>
            <a:off x="548640" y="342900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study 3 circle"/>
          <p:cNvSpPr/>
          <p:nvPr/>
        </p:nvSpPr>
        <p:spPr>
          <a:xfrm>
            <a:off x="822960" y="3703320"/>
            <a:ext cx="685800" cy="685800"/>
          </a:xfrm>
          <a:prstGeom prst="ellipse">
            <a:avLst/>
          </a:prstGeom>
          <a:solidFill>
            <a:srgbClr val="2E5BE8"/>
          </a:solidFill>
          <a:ln w="12700">
            <a:solidFill>
              <a:srgbClr val="2E5BE8"/>
            </a:solidFill>
            <a:prstDash val="solid"/>
          </a:ln>
        </p:spPr>
      </p:sp>
      <p:pic>
        <p:nvPicPr>
          <p:cNvPr id="18" name="study 3 icon" descr="preencoded.png">    </p:cNvPr>
          <p:cNvPicPr>
            <a:picLocks noChangeAspect="1"/>
          </p:cNvPicPr>
          <p:nvPr/>
        </p:nvPicPr>
        <p:blipFill>
          <a:blip r:embed="rId3"/>
          <a:stretch>
            <a:fillRect/>
          </a:stretch>
        </p:blipFill>
        <p:spPr>
          <a:xfrm>
            <a:off x="1001268" y="3881628"/>
            <a:ext cx="329184" cy="329184"/>
          </a:xfrm>
          <a:prstGeom prst="rect">
            <a:avLst/>
          </a:prstGeom>
        </p:spPr>
      </p:pic>
      <p:sp>
        <p:nvSpPr>
          <p:cNvPr id="19" name="study title 3"/>
          <p:cNvSpPr txBox="1"/>
          <p:nvPr/>
        </p:nvSpPr>
        <p:spPr>
          <a:xfrm>
            <a:off x="1737360" y="3657600"/>
            <a:ext cx="4069080" cy="365760"/>
          </a:xfrm>
          <a:prstGeom prst="rect">
            <a:avLst/>
          </a:prstGeom>
          <a:noFill/>
          <a:ln/>
        </p:spPr>
        <p:txBody>
          <a:bodyPr wrap="square" lIns="0" tIns="0" rIns="0" bIns="0" rtlCol="0" anchor="t"/>
          <a:lstStyle/>
          <a:p>
            <a:pPr indent="0" marL="0">
              <a:buNone/>
            </a:pPr>
            <a:r>
              <a:rPr lang="en-US" sz="1700" b="1" dirty="0">
                <a:solidFill>
                  <a:schemeClr val="tx1"/>
                </a:solidFill>
              </a:rPr>
              <a:t>Declining tender documents</a:t>
            </a:r>
            <a:endParaRPr lang="en-US" sz="1700" dirty="0"/>
          </a:p>
        </p:txBody>
      </p:sp>
      <p:sp>
        <p:nvSpPr>
          <p:cNvPr id="20" name="study text 3"/>
          <p:cNvSpPr txBox="1"/>
          <p:nvPr/>
        </p:nvSpPr>
        <p:spPr>
          <a:xfrm>
            <a:off x="1737360" y="4050792"/>
            <a:ext cx="4069080" cy="731520"/>
          </a:xfrm>
          <a:prstGeom prst="rect">
            <a:avLst/>
          </a:prstGeom>
          <a:noFill/>
          <a:ln/>
        </p:spPr>
        <p:txBody>
          <a:bodyPr wrap="square" lIns="0" tIns="0" rIns="0" bIns="0" rtlCol="0" anchor="t"/>
          <a:lstStyle/>
          <a:p>
            <a:pPr indent="0" marL="0">
              <a:buNone/>
            </a:pPr>
            <a:r>
              <a:rPr lang="en-US" sz="1300" dirty="0">
                <a:solidFill>
                  <a:schemeClr val="tx2"/>
                </a:solidFill>
              </a:rPr>
              <a:t>Researchers report tender-document quality is declining — and there was no standard way to assess it.</a:t>
            </a:r>
            <a:endParaRPr lang="en-US" sz="1300" dirty="0"/>
          </a:p>
        </p:txBody>
      </p:sp>
      <p:sp>
        <p:nvSpPr>
          <p:cNvPr id="21" name="study source 3"/>
          <p:cNvSpPr txBox="1"/>
          <p:nvPr/>
        </p:nvSpPr>
        <p:spPr>
          <a:xfrm>
            <a:off x="1737360" y="480060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Govender, Laryea &amp; Watermeyer, 2022 · BEPAM · SA experts</a:t>
            </a:r>
            <a:endParaRPr lang="en-US" sz="1000" dirty="0"/>
          </a:p>
        </p:txBody>
      </p:sp>
      <p:sp>
        <p:nvSpPr>
          <p:cNvPr id="22" name="study card 4"/>
          <p:cNvSpPr/>
          <p:nvPr/>
        </p:nvSpPr>
        <p:spPr>
          <a:xfrm>
            <a:off x="6172200" y="342900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3" name="study 4 circle"/>
          <p:cNvSpPr/>
          <p:nvPr/>
        </p:nvSpPr>
        <p:spPr>
          <a:xfrm>
            <a:off x="6446520" y="3703320"/>
            <a:ext cx="685800" cy="685800"/>
          </a:xfrm>
          <a:prstGeom prst="ellipse">
            <a:avLst/>
          </a:prstGeom>
          <a:solidFill>
            <a:srgbClr val="2E5BE8"/>
          </a:solidFill>
          <a:ln w="12700">
            <a:solidFill>
              <a:srgbClr val="2E5BE8"/>
            </a:solidFill>
            <a:prstDash val="solid"/>
          </a:ln>
        </p:spPr>
      </p:sp>
      <p:pic>
        <p:nvPicPr>
          <p:cNvPr id="24" name="study 4 icon" descr="preencoded.png">    </p:cNvPr>
          <p:cNvPicPr>
            <a:picLocks noChangeAspect="1"/>
          </p:cNvPicPr>
          <p:nvPr/>
        </p:nvPicPr>
        <p:blipFill>
          <a:blip r:embed="rId4"/>
          <a:stretch>
            <a:fillRect/>
          </a:stretch>
        </p:blipFill>
        <p:spPr>
          <a:xfrm>
            <a:off x="6624828" y="3881628"/>
            <a:ext cx="329184" cy="329184"/>
          </a:xfrm>
          <a:prstGeom prst="rect">
            <a:avLst/>
          </a:prstGeom>
        </p:spPr>
      </p:pic>
      <p:sp>
        <p:nvSpPr>
          <p:cNvPr id="25" name="study title 4"/>
          <p:cNvSpPr txBox="1"/>
          <p:nvPr/>
        </p:nvSpPr>
        <p:spPr>
          <a:xfrm>
            <a:off x="7360920" y="3657600"/>
            <a:ext cx="4069080" cy="365760"/>
          </a:xfrm>
          <a:prstGeom prst="rect">
            <a:avLst/>
          </a:prstGeom>
          <a:noFill/>
          <a:ln/>
        </p:spPr>
        <p:txBody>
          <a:bodyPr wrap="square" lIns="0" tIns="0" rIns="0" bIns="0" rtlCol="0" anchor="t"/>
          <a:lstStyle/>
          <a:p>
            <a:pPr indent="0" marL="0">
              <a:buNone/>
            </a:pPr>
            <a:r>
              <a:rPr lang="en-US" sz="1700" b="1" dirty="0">
                <a:solidFill>
                  <a:schemeClr val="tx1"/>
                </a:solidFill>
              </a:rPr>
              <a:t>Profit is what is lost</a:t>
            </a:r>
            <a:endParaRPr lang="en-US" sz="1700" dirty="0"/>
          </a:p>
        </p:txBody>
      </p:sp>
      <p:sp>
        <p:nvSpPr>
          <p:cNvPr id="26" name="study text 4"/>
          <p:cNvSpPr txBox="1"/>
          <p:nvPr/>
        </p:nvSpPr>
        <p:spPr>
          <a:xfrm>
            <a:off x="7360920" y="4050792"/>
            <a:ext cx="4069080" cy="731520"/>
          </a:xfrm>
          <a:prstGeom prst="rect">
            <a:avLst/>
          </a:prstGeom>
          <a:noFill/>
          <a:ln/>
        </p:spPr>
        <p:txBody>
          <a:bodyPr wrap="square" lIns="0" tIns="0" rIns="0" bIns="0" rtlCol="0" anchor="t"/>
          <a:lstStyle/>
          <a:p>
            <a:pPr indent="0" marL="0">
              <a:buNone/>
            </a:pPr>
            <a:r>
              <a:rPr lang="en-US" sz="1300" dirty="0">
                <a:solidFill>
                  <a:schemeClr val="tx2"/>
                </a:solidFill>
              </a:rPr>
              <a:t>Cost overruns reduce the contractor's profit; an accurate estimate is one of the remedies.</a:t>
            </a:r>
            <a:endParaRPr lang="en-US" sz="1300" dirty="0"/>
          </a:p>
        </p:txBody>
      </p:sp>
      <p:sp>
        <p:nvSpPr>
          <p:cNvPr id="27" name="study source 4"/>
          <p:cNvSpPr txBox="1"/>
          <p:nvPr/>
        </p:nvSpPr>
        <p:spPr>
          <a:xfrm>
            <a:off x="7360920" y="480060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Morena &amp; Amoah, 2021 · IOP Conf. Series · 74 SA professionals</a:t>
            </a:r>
            <a:endParaRPr lang="en-US" sz="1000" dirty="0"/>
          </a:p>
        </p:txBody>
      </p:sp>
      <p:sp>
        <p:nvSpPr>
          <p:cNvPr id="28" name="study implication"/>
          <p:cNvSpPr txBox="1"/>
          <p:nvPr/>
        </p:nvSpPr>
        <p:spPr>
          <a:xfrm>
            <a:off x="548640" y="5532120"/>
            <a:ext cx="11064240" cy="411480"/>
          </a:xfrm>
          <a:prstGeom prst="rect">
            <a:avLst/>
          </a:prstGeom>
          <a:noFill/>
          <a:ln/>
        </p:spPr>
        <p:txBody>
          <a:bodyPr wrap="square" lIns="0" tIns="0" rIns="0" bIns="0" rtlCol="0" anchor="t"/>
          <a:lstStyle/>
          <a:p>
            <a:pPr indent="0" marL="0">
              <a:buNone/>
            </a:pPr>
            <a:r>
              <a:rPr lang="en-US" sz="1400" b="1" dirty="0">
                <a:solidFill>
                  <a:schemeClr val="accent1"/>
                </a:solidFill>
              </a:rPr>
              <a:t>What follows for a contractor: </a:t>
            </a:r>
            <a:pPr indent="0" marL="0">
              <a:buNone/>
            </a:pPr>
            <a:r>
              <a:rPr lang="en-US" sz="1400" dirty="0">
                <a:solidFill>
                  <a:schemeClr val="accent1"/>
                </a:solidFill>
              </a:rPr>
              <a:t>a fast, checkable take-off — and an audit of the bill you are handed — act on two causes the research names.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What tools and AI research can — and cannot — do yet</a:t>
            </a:r>
            <a:endParaRPr lang="en-US" sz="3000" dirty="0"/>
          </a:p>
        </p:txBody>
      </p:sp>
      <p:graphicFrame>
        <p:nvGraphicFramePr>
          <p:cNvPr id="6" name="tools table"/>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gridCol w="2194560"/>
                <a:gridCol w="2834640"/>
              </a:tblGrid>
              <a:tr h="384048">
                <a:tc>
                  <a:txBody>
                    <a:bodyPr/>
                    <a:lstStyle/>
                    <a:p>
                      <a:pPr indent="0" marL="0">
                        <a:buNone/>
                      </a:pPr>
                      <a:r>
                        <a:rPr lang="en-US" sz="1200" b="1" dirty="0">
                          <a:solidFill>
                            <a:schemeClr val="bg1"/>
                          </a:solidFill>
                        </a:rPr>
                        <a:t>Tool</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Price (vendor page)</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the vendor itself says</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685800">
                <a:tc>
                  <a:txBody>
                    <a:bodyPr/>
                    <a:lstStyle/>
                    <a:p>
                      <a:pPr indent="0" marL="0">
                        <a:buNone/>
                      </a:pPr>
                      <a:r>
                        <a:rPr lang="en-US" sz="1200" dirty="0">
                          <a:solidFill>
                            <a:schemeClr val="tx1"/>
                          </a:solidFill>
                        </a:rPr>
                        <a:t>Bluebeam (PDF take-off)</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$260–$590 / user / year (≈ R4.7k–R10.6k)</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General PDF mark-up and measurement, priced in US dollars</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685800">
                <a:tc>
                  <a:txBody>
                    <a:bodyPr/>
                    <a:lstStyle/>
                    <a:p>
                      <a:pPr indent="0" marL="0">
                        <a:buNone/>
                      </a:pPr>
                      <a:r>
                        <a:rPr lang="en-US" sz="1200" dirty="0">
                          <a:solidFill>
                            <a:schemeClr val="tx1"/>
                          </a:solidFill>
                        </a:rPr>
                        <a:t>Togal.AI (AI take-off)</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$299 / user / month, billed yearly (≈ R64k / year)</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“detecting, measuring … spaces and features on architectural drawings”</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685800">
                <a:tc>
                  <a:txBody>
                    <a:bodyPr/>
                    <a:lstStyle/>
                    <a:p>
                      <a:pPr indent="0" marL="0">
                        <a:buNone/>
                      </a:pPr>
                      <a:r>
                        <a:rPr lang="en-US" sz="1200" dirty="0">
                          <a:solidFill>
                            <a:schemeClr val="tx1"/>
                          </a:solidFill>
                        </a:rPr>
                        <a:t>Civils.ai (AI electrical)</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“No inference of circuiting, conduit routes, tray fill or cable sizing”</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research card 1"/>
          <p:cNvSpPr/>
          <p:nvPr/>
        </p:nvSpPr>
        <p:spPr>
          <a:xfrm>
            <a:off x="7589520" y="1417320"/>
            <a:ext cx="4023360" cy="1143000"/>
          </a:xfrm>
          <a:prstGeom prst="roundRect">
            <a:avLst>
              <a:gd name="adj" fmla="val 96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research 1 circle"/>
          <p:cNvSpPr/>
          <p:nvPr/>
        </p:nvSpPr>
        <p:spPr>
          <a:xfrm>
            <a:off x="7772400" y="1645920"/>
            <a:ext cx="640080" cy="640080"/>
          </a:xfrm>
          <a:prstGeom prst="ellipse">
            <a:avLst/>
          </a:prstGeom>
          <a:solidFill>
            <a:srgbClr val="2E5BE8"/>
          </a:solidFill>
          <a:ln w="12700">
            <a:solidFill>
              <a:srgbClr val="2E5BE8"/>
            </a:solidFill>
            <a:prstDash val="solid"/>
          </a:ln>
        </p:spPr>
      </p:sp>
      <p:pic>
        <p:nvPicPr>
          <p:cNvPr id="7" name="research 1 icon" descr="preencoded.png">    </p:cNvPr>
          <p:cNvPicPr>
            <a:picLocks noChangeAspect="1"/>
          </p:cNvPicPr>
          <p:nvPr/>
        </p:nvPicPr>
        <p:blipFill>
          <a:blip r:embed="rId1"/>
          <a:stretch>
            <a:fillRect/>
          </a:stretch>
        </p:blipFill>
        <p:spPr>
          <a:xfrm>
            <a:off x="7938821" y="1812341"/>
            <a:ext cx="307238" cy="307238"/>
          </a:xfrm>
          <a:prstGeom prst="rect">
            <a:avLst/>
          </a:prstGeom>
        </p:spPr>
      </p:pic>
      <p:sp>
        <p:nvSpPr>
          <p:cNvPr id="8" name="research title 1"/>
          <p:cNvSpPr txBox="1"/>
          <p:nvPr/>
        </p:nvSpPr>
        <p:spPr>
          <a:xfrm>
            <a:off x="8549640" y="1527048"/>
            <a:ext cx="2971800" cy="320040"/>
          </a:xfrm>
          <a:prstGeom prst="rect">
            <a:avLst/>
          </a:prstGeom>
          <a:noFill/>
          <a:ln/>
        </p:spPr>
        <p:txBody>
          <a:bodyPr wrap="square" lIns="0" tIns="0" rIns="0" bIns="0" rtlCol="0" anchor="t"/>
          <a:lstStyle/>
          <a:p>
            <a:pPr indent="0" marL="0">
              <a:buNone/>
            </a:pPr>
            <a:r>
              <a:rPr lang="en-US" sz="1600" b="1" dirty="0">
                <a:solidFill>
                  <a:schemeClr val="tx1"/>
                </a:solidFill>
              </a:rPr>
              <a:t>&gt; 94 % of symbols</a:t>
            </a:r>
            <a:endParaRPr lang="en-US" sz="1600" dirty="0"/>
          </a:p>
        </p:txBody>
      </p:sp>
      <p:sp>
        <p:nvSpPr>
          <p:cNvPr id="9" name="research text 1"/>
          <p:cNvSpPr txBox="1"/>
          <p:nvPr/>
        </p:nvSpPr>
        <p:spPr>
          <a:xfrm>
            <a:off x="8549640" y="1847088"/>
            <a:ext cx="2971800" cy="457200"/>
          </a:xfrm>
          <a:prstGeom prst="rect">
            <a:avLst/>
          </a:prstGeom>
          <a:noFill/>
          <a:ln/>
        </p:spPr>
        <p:txBody>
          <a:bodyPr wrap="square" lIns="0" tIns="0" rIns="0" bIns="0" rtlCol="0" anchor="t"/>
          <a:lstStyle/>
          <a:p>
            <a:pPr indent="0" marL="0">
              <a:buNone/>
            </a:pPr>
            <a:r>
              <a:rPr lang="en-US" sz="1150" dirty="0">
                <a:solidFill>
                  <a:schemeClr val="tx2"/>
                </a:solidFill>
              </a:rPr>
              <a:t>recognised by deep learning on industrial engineering drawings</a:t>
            </a:r>
            <a:endParaRPr lang="en-US" sz="1150" dirty="0"/>
          </a:p>
        </p:txBody>
      </p:sp>
      <p:sp>
        <p:nvSpPr>
          <p:cNvPr id="10" name="research source 1"/>
          <p:cNvSpPr txBox="1"/>
          <p:nvPr/>
        </p:nvSpPr>
        <p:spPr>
          <a:xfrm>
            <a:off x="8549640" y="2286000"/>
            <a:ext cx="2971800" cy="228600"/>
          </a:xfrm>
          <a:prstGeom prst="rect">
            <a:avLst/>
          </a:prstGeom>
          <a:noFill/>
          <a:ln/>
        </p:spPr>
        <p:txBody>
          <a:bodyPr wrap="square" lIns="0" tIns="0" rIns="0" bIns="0" rtlCol="0" anchor="t"/>
          <a:lstStyle/>
          <a:p>
            <a:pPr indent="0" marL="0">
              <a:buNone/>
            </a:pPr>
            <a:r>
              <a:rPr lang="en-US" sz="950" i="1" dirty="0">
                <a:solidFill>
                  <a:schemeClr val="accent6"/>
                </a:solidFill>
              </a:rPr>
              <a:t>Elyan et al., 2020 · Neural Networks</a:t>
            </a:r>
            <a:endParaRPr lang="en-US" sz="950" dirty="0"/>
          </a:p>
        </p:txBody>
      </p:sp>
      <p:sp>
        <p:nvSpPr>
          <p:cNvPr id="11" name="research card 2"/>
          <p:cNvSpPr/>
          <p:nvPr/>
        </p:nvSpPr>
        <p:spPr>
          <a:xfrm>
            <a:off x="7589520" y="2697480"/>
            <a:ext cx="4023360" cy="1143000"/>
          </a:xfrm>
          <a:prstGeom prst="roundRect">
            <a:avLst>
              <a:gd name="adj" fmla="val 96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research 2 circle"/>
          <p:cNvSpPr/>
          <p:nvPr/>
        </p:nvSpPr>
        <p:spPr>
          <a:xfrm>
            <a:off x="7772400" y="2926080"/>
            <a:ext cx="640080" cy="640080"/>
          </a:xfrm>
          <a:prstGeom prst="ellipse">
            <a:avLst/>
          </a:prstGeom>
          <a:solidFill>
            <a:srgbClr val="2E5BE8"/>
          </a:solidFill>
          <a:ln w="12700">
            <a:solidFill>
              <a:srgbClr val="2E5BE8"/>
            </a:solidFill>
            <a:prstDash val="solid"/>
          </a:ln>
        </p:spPr>
      </p:sp>
      <p:pic>
        <p:nvPicPr>
          <p:cNvPr id="13" name="research 2 icon" descr="preencoded.png">    </p:cNvPr>
          <p:cNvPicPr>
            <a:picLocks noChangeAspect="1"/>
          </p:cNvPicPr>
          <p:nvPr/>
        </p:nvPicPr>
        <p:blipFill>
          <a:blip r:embed="rId2"/>
          <a:stretch>
            <a:fillRect/>
          </a:stretch>
        </p:blipFill>
        <p:spPr>
          <a:xfrm>
            <a:off x="7938821" y="3092501"/>
            <a:ext cx="307238" cy="307238"/>
          </a:xfrm>
          <a:prstGeom prst="rect">
            <a:avLst/>
          </a:prstGeom>
        </p:spPr>
      </p:pic>
      <p:sp>
        <p:nvSpPr>
          <p:cNvPr id="14" name="research title 2"/>
          <p:cNvSpPr txBox="1"/>
          <p:nvPr/>
        </p:nvSpPr>
        <p:spPr>
          <a:xfrm>
            <a:off x="8549640" y="2807208"/>
            <a:ext cx="2971800" cy="320040"/>
          </a:xfrm>
          <a:prstGeom prst="rect">
            <a:avLst/>
          </a:prstGeom>
          <a:noFill/>
          <a:ln/>
        </p:spPr>
        <p:txBody>
          <a:bodyPr wrap="square" lIns="0" tIns="0" rIns="0" bIns="0" rtlCol="0" anchor="t"/>
          <a:lstStyle/>
          <a:p>
            <a:pPr indent="0" marL="0">
              <a:buNone/>
            </a:pPr>
            <a:r>
              <a:rPr lang="en-US" sz="1600" b="1" dirty="0">
                <a:solidFill>
                  <a:schemeClr val="tx1"/>
                </a:solidFill>
              </a:rPr>
              <a:t>Lines still need work</a:t>
            </a:r>
            <a:endParaRPr lang="en-US" sz="1600" dirty="0"/>
          </a:p>
        </p:txBody>
      </p:sp>
      <p:sp>
        <p:nvSpPr>
          <p:cNvPr id="15" name="research text 2"/>
          <p:cNvSpPr txBox="1"/>
          <p:nvPr/>
        </p:nvSpPr>
        <p:spPr>
          <a:xfrm>
            <a:off x="8549640" y="3127248"/>
            <a:ext cx="2971800" cy="457200"/>
          </a:xfrm>
          <a:prstGeom prst="rect">
            <a:avLst/>
          </a:prstGeom>
          <a:noFill/>
          <a:ln/>
        </p:spPr>
        <p:txBody>
          <a:bodyPr wrap="square" lIns="0" tIns="0" rIns="0" bIns="0" rtlCol="0" anchor="t"/>
          <a:lstStyle/>
          <a:p>
            <a:pPr indent="0" marL="0">
              <a:buNone/>
            </a:pPr>
            <a:r>
              <a:rPr lang="en-US" sz="1150" dirty="0">
                <a:solidFill>
                  <a:schemeClr val="tx2"/>
                </a:solidFill>
              </a:rPr>
              <a:t>“improved methods are still needed … symbols, text and connectors”</a:t>
            </a:r>
            <a:endParaRPr lang="en-US" sz="1150" dirty="0"/>
          </a:p>
        </p:txBody>
      </p:sp>
      <p:sp>
        <p:nvSpPr>
          <p:cNvPr id="16" name="research source 2"/>
          <p:cNvSpPr txBox="1"/>
          <p:nvPr/>
        </p:nvSpPr>
        <p:spPr>
          <a:xfrm>
            <a:off x="8549640" y="3566160"/>
            <a:ext cx="2971800" cy="228600"/>
          </a:xfrm>
          <a:prstGeom prst="rect">
            <a:avLst/>
          </a:prstGeom>
          <a:noFill/>
          <a:ln/>
        </p:spPr>
        <p:txBody>
          <a:bodyPr wrap="square" lIns="0" tIns="0" rIns="0" bIns="0" rtlCol="0" anchor="t"/>
          <a:lstStyle/>
          <a:p>
            <a:pPr indent="0" marL="0">
              <a:buNone/>
            </a:pPr>
            <a:r>
              <a:rPr lang="en-US" sz="950" i="1" dirty="0">
                <a:solidFill>
                  <a:schemeClr val="accent6"/>
                </a:solidFill>
              </a:rPr>
              <a:t>Jamieson et al., 2024 · AI Review</a:t>
            </a:r>
            <a:endParaRPr lang="en-US" sz="950" dirty="0"/>
          </a:p>
        </p:txBody>
      </p:sp>
      <p:sp>
        <p:nvSpPr>
          <p:cNvPr id="17" name="afriplan answer card"/>
          <p:cNvSpPr/>
          <p:nvPr/>
        </p:nvSpPr>
        <p:spPr>
          <a:xfrm>
            <a:off x="548640" y="4206240"/>
            <a:ext cx="11064240" cy="1325880"/>
          </a:xfrm>
          <a:prstGeom prst="roundRect">
            <a:avLst>
              <a:gd name="adj" fmla="val 8276"/>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8" name="answer circle"/>
          <p:cNvSpPr/>
          <p:nvPr/>
        </p:nvSpPr>
        <p:spPr>
          <a:xfrm>
            <a:off x="777240" y="4480560"/>
            <a:ext cx="777240" cy="777240"/>
          </a:xfrm>
          <a:prstGeom prst="ellipse">
            <a:avLst/>
          </a:prstGeom>
          <a:solidFill>
            <a:srgbClr val="F2A900"/>
          </a:solidFill>
          <a:ln w="12700">
            <a:solidFill>
              <a:srgbClr val="F2A900"/>
            </a:solidFill>
            <a:prstDash val="solid"/>
          </a:ln>
        </p:spPr>
      </p:sp>
      <p:pic>
        <p:nvPicPr>
          <p:cNvPr id="19" name="answer icon" descr="preencoded.png">    </p:cNvPr>
          <p:cNvPicPr>
            <a:picLocks noChangeAspect="1"/>
          </p:cNvPicPr>
          <p:nvPr/>
        </p:nvPicPr>
        <p:blipFill>
          <a:blip r:embed="rId3"/>
          <a:stretch>
            <a:fillRect/>
          </a:stretch>
        </p:blipFill>
        <p:spPr>
          <a:xfrm>
            <a:off x="979322" y="4682642"/>
            <a:ext cx="373075" cy="373075"/>
          </a:xfrm>
          <a:prstGeom prst="rect">
            <a:avLst/>
          </a:prstGeom>
        </p:spPr>
      </p:pic>
      <p:sp>
        <p:nvSpPr>
          <p:cNvPr id="20" name="answer text"/>
          <p:cNvSpPr txBox="1"/>
          <p:nvPr/>
        </p:nvSpPr>
        <p:spPr>
          <a:xfrm>
            <a:off x="1783080" y="4343400"/>
            <a:ext cx="9601200" cy="1051560"/>
          </a:xfrm>
          <a:prstGeom prst="rect">
            <a:avLst/>
          </a:prstGeom>
          <a:noFill/>
          <a:ln/>
        </p:spPr>
        <p:txBody>
          <a:bodyPr wrap="square" lIns="0" tIns="0" rIns="0" bIns="0" rtlCol="0" anchor="ctr"/>
          <a:lstStyle/>
          <a:p>
            <a:pPr indent="0" marL="0">
              <a:buNone/>
            </a:pPr>
            <a:r>
              <a:rPr lang="en-US" sz="1500" b="1" dirty="0">
                <a:solidFill>
                  <a:schemeClr val="tx1"/>
                </a:solidFill>
              </a:rPr>
              <a:t>So AfriPlan does not guess the lines: </a:t>
            </a:r>
            <a:pPr indent="0" marL="0">
              <a:buNone/>
            </a:pPr>
            <a:r>
              <a:rPr lang="en-US" sz="1500" dirty="0">
                <a:solidFill>
                  <a:schemeClr val="tx1"/>
                </a:solidFill>
              </a:rPr>
              <a:t>it reads cable sizes from the single-line diagram and measures feeder routes from the CAD geometry of the site plan — the parts symbol readers leave open — then prices at SA rates and audits the bill.</a:t>
            </a:r>
            <a:endParaRPr lang="en-US" sz="1500" dirty="0"/>
          </a:p>
        </p:txBody>
      </p:sp>
      <p:sp>
        <p:nvSpPr>
          <p:cNvPr id="21"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Vendor pages read 5 Oct 2026; rand values converted at R17.9 / USD. Vendor accuracy claims ("98–99 %", "70–90 % faster") are not independently verified and are not used.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bill's value sits in boards, feeders and trenches</a:t>
            </a:r>
            <a:endParaRPr lang="en-US" sz="3000" dirty="0"/>
          </a:p>
        </p:txBody>
      </p:sp>
      <p:graphicFrame>
        <p:nvGraphicFramePr>
          <p:cNvPr id="4" name="Chart 0" descr=""/>
          <p:cNvGraphicFramePr/>
          <p:nvPr/>
        </p:nvGraphicFramePr>
        <p:xfrm>
          <a:off x="548640" y="1371600"/>
          <a:ext cx="5852160" cy="4572000"/>
        </p:xfrm>
        <a:graphic xmlns:a="http://schemas.openxmlformats.org/drawingml/2006/main">
          <a:graphicData uri="http://schemas.openxmlformats.org/drawingml/2006/chart">
            <c:chart xmlns:c="http://schemas.openxmlformats.org/drawingml/2006/chart" r:id="rId1"/>
          </a:graphicData>
        </a:graphic>
      </p:graphicFrame>
      <p:sp>
        <p:nvSpPr>
          <p:cNvPr id="5" name="value point 1 circle"/>
          <p:cNvSpPr/>
          <p:nvPr/>
        </p:nvSpPr>
        <p:spPr>
          <a:xfrm>
            <a:off x="6766560" y="1554480"/>
            <a:ext cx="685800" cy="685800"/>
          </a:xfrm>
          <a:prstGeom prst="ellipse">
            <a:avLst/>
          </a:prstGeom>
          <a:solidFill>
            <a:srgbClr val="2E5BE8"/>
          </a:solidFill>
          <a:ln w="12700">
            <a:solidFill>
              <a:srgbClr val="2E5BE8"/>
            </a:solidFill>
            <a:prstDash val="solid"/>
          </a:ln>
        </p:spPr>
      </p:sp>
      <p:pic>
        <p:nvPicPr>
          <p:cNvPr id="6" name="value point 1 icon" descr="preencoded.png">    </p:cNvPr>
          <p:cNvPicPr>
            <a:picLocks noChangeAspect="1"/>
          </p:cNvPicPr>
          <p:nvPr/>
        </p:nvPicPr>
        <p:blipFill>
          <a:blip r:embed="rId2"/>
          <a:stretch>
            <a:fillRect/>
          </a:stretch>
        </p:blipFill>
        <p:spPr>
          <a:xfrm>
            <a:off x="6944868" y="1732788"/>
            <a:ext cx="329184" cy="329184"/>
          </a:xfrm>
          <a:prstGeom prst="rect">
            <a:avLst/>
          </a:prstGeom>
        </p:spPr>
      </p:pic>
      <p:sp>
        <p:nvSpPr>
          <p:cNvPr id="7" name="value point title 1"/>
          <p:cNvSpPr txBox="1"/>
          <p:nvPr/>
        </p:nvSpPr>
        <p:spPr>
          <a:xfrm>
            <a:off x="7680960" y="1554480"/>
            <a:ext cx="3931920" cy="365760"/>
          </a:xfrm>
          <a:prstGeom prst="rect">
            <a:avLst/>
          </a:prstGeom>
          <a:noFill/>
          <a:ln/>
        </p:spPr>
        <p:txBody>
          <a:bodyPr wrap="square" lIns="0" tIns="0" rIns="0" bIns="0" rtlCol="0" anchor="t"/>
          <a:lstStyle/>
          <a:p>
            <a:pPr indent="0" marL="0">
              <a:buNone/>
            </a:pPr>
            <a:r>
              <a:rPr lang="en-US" sz="1700" b="1" dirty="0">
                <a:solidFill>
                  <a:schemeClr val="tx1"/>
                </a:solidFill>
              </a:rPr>
              <a:t>Feeders &amp; trenches</a:t>
            </a:r>
            <a:endParaRPr lang="en-US" sz="1700" dirty="0"/>
          </a:p>
        </p:txBody>
      </p:sp>
      <p:sp>
        <p:nvSpPr>
          <p:cNvPr id="8" name="value point text 1"/>
          <p:cNvSpPr txBox="1"/>
          <p:nvPr/>
        </p:nvSpPr>
        <p:spPr>
          <a:xfrm>
            <a:off x="7680960" y="1938528"/>
            <a:ext cx="3931920" cy="822960"/>
          </a:xfrm>
          <a:prstGeom prst="rect">
            <a:avLst/>
          </a:prstGeom>
          <a:noFill/>
          <a:ln/>
        </p:spPr>
        <p:txBody>
          <a:bodyPr wrap="square" lIns="0" tIns="0" rIns="0" bIns="0" rtlCol="0" anchor="t"/>
          <a:lstStyle/>
          <a:p>
            <a:pPr indent="0" marL="0">
              <a:buNone/>
            </a:pPr>
            <a:r>
              <a:rPr lang="en-US" sz="1400" dirty="0">
                <a:solidFill>
                  <a:schemeClr val="tx2"/>
                </a:solidFill>
              </a:rPr>
              <a:t>Cable size from the single-line diagram, length measured on the electrical site plan.</a:t>
            </a:r>
            <a:endParaRPr lang="en-US" sz="1400" dirty="0"/>
          </a:p>
        </p:txBody>
      </p:sp>
      <p:sp>
        <p:nvSpPr>
          <p:cNvPr id="9" name="value point 2 circle"/>
          <p:cNvSpPr/>
          <p:nvPr/>
        </p:nvSpPr>
        <p:spPr>
          <a:xfrm>
            <a:off x="6766560" y="3017520"/>
            <a:ext cx="685800" cy="685800"/>
          </a:xfrm>
          <a:prstGeom prst="ellipse">
            <a:avLst/>
          </a:prstGeom>
          <a:solidFill>
            <a:srgbClr val="2E5BE8"/>
          </a:solidFill>
          <a:ln w="12700">
            <a:solidFill>
              <a:srgbClr val="2E5BE8"/>
            </a:solidFill>
            <a:prstDash val="solid"/>
          </a:ln>
        </p:spPr>
      </p:sp>
      <p:pic>
        <p:nvPicPr>
          <p:cNvPr id="10" name="value point 2 icon" descr="preencoded.png">    </p:cNvPr>
          <p:cNvPicPr>
            <a:picLocks noChangeAspect="1"/>
          </p:cNvPicPr>
          <p:nvPr/>
        </p:nvPicPr>
        <p:blipFill>
          <a:blip r:embed="rId3"/>
          <a:stretch>
            <a:fillRect/>
          </a:stretch>
        </p:blipFill>
        <p:spPr>
          <a:xfrm>
            <a:off x="6944868" y="3195828"/>
            <a:ext cx="329184" cy="329184"/>
          </a:xfrm>
          <a:prstGeom prst="rect">
            <a:avLst/>
          </a:prstGeom>
        </p:spPr>
      </p:pic>
      <p:sp>
        <p:nvSpPr>
          <p:cNvPr id="11" name="value point title 2"/>
          <p:cNvSpPr txBox="1"/>
          <p:nvPr/>
        </p:nvSpPr>
        <p:spPr>
          <a:xfrm>
            <a:off x="7680960" y="3017520"/>
            <a:ext cx="3931920" cy="365760"/>
          </a:xfrm>
          <a:prstGeom prst="rect">
            <a:avLst/>
          </a:prstGeom>
          <a:noFill/>
          <a:ln/>
        </p:spPr>
        <p:txBody>
          <a:bodyPr wrap="square" lIns="0" tIns="0" rIns="0" bIns="0" rtlCol="0" anchor="t"/>
          <a:lstStyle/>
          <a:p>
            <a:pPr indent="0" marL="0">
              <a:buNone/>
            </a:pPr>
            <a:r>
              <a:rPr lang="en-US" sz="1700" b="1" dirty="0">
                <a:solidFill>
                  <a:schemeClr val="tx1"/>
                </a:solidFill>
              </a:rPr>
              <a:t>Distribution boards</a:t>
            </a:r>
            <a:endParaRPr lang="en-US" sz="1700" dirty="0"/>
          </a:p>
        </p:txBody>
      </p:sp>
      <p:sp>
        <p:nvSpPr>
          <p:cNvPr id="12" name="value point text 2"/>
          <p:cNvSpPr txBox="1"/>
          <p:nvPr/>
        </p:nvSpPr>
        <p:spPr>
          <a:xfrm>
            <a:off x="7680960" y="3401568"/>
            <a:ext cx="3931920" cy="822960"/>
          </a:xfrm>
          <a:prstGeom prst="rect">
            <a:avLst/>
          </a:prstGeom>
          <a:noFill/>
          <a:ln/>
        </p:spPr>
        <p:txBody>
          <a:bodyPr wrap="square" lIns="0" tIns="0" rIns="0" bIns="0" rtlCol="0" anchor="t"/>
          <a:lstStyle/>
          <a:p>
            <a:pPr indent="0" marL="0">
              <a:buNone/>
            </a:pPr>
            <a:r>
              <a:rPr lang="en-US" sz="1400" dirty="0">
                <a:solidFill>
                  <a:schemeClr val="tx2"/>
                </a:solidFill>
              </a:rPr>
              <a:t>One per board, never twice across sheets; priced from its contents.</a:t>
            </a:r>
            <a:endParaRPr lang="en-US" sz="1400" dirty="0"/>
          </a:p>
        </p:txBody>
      </p:sp>
      <p:sp>
        <p:nvSpPr>
          <p:cNvPr id="13" name="value point 3 circle"/>
          <p:cNvSpPr/>
          <p:nvPr/>
        </p:nvSpPr>
        <p:spPr>
          <a:xfrm>
            <a:off x="6766560" y="4480560"/>
            <a:ext cx="685800" cy="685800"/>
          </a:xfrm>
          <a:prstGeom prst="ellipse">
            <a:avLst/>
          </a:prstGeom>
          <a:solidFill>
            <a:srgbClr val="F2F4F9"/>
          </a:solidFill>
          <a:ln w="12700">
            <a:solidFill>
              <a:srgbClr val="F2F4F9"/>
            </a:solidFill>
            <a:prstDash val="solid"/>
          </a:ln>
        </p:spPr>
      </p:sp>
      <p:pic>
        <p:nvPicPr>
          <p:cNvPr id="14" name="value point 3 icon" descr="preencoded.png">    </p:cNvPr>
          <p:cNvPicPr>
            <a:picLocks noChangeAspect="1"/>
          </p:cNvPicPr>
          <p:nvPr/>
        </p:nvPicPr>
        <p:blipFill>
          <a:blip r:embed="rId4"/>
          <a:stretch>
            <a:fillRect/>
          </a:stretch>
        </p:blipFill>
        <p:spPr>
          <a:xfrm>
            <a:off x="6944868" y="4658868"/>
            <a:ext cx="329184" cy="329184"/>
          </a:xfrm>
          <a:prstGeom prst="rect">
            <a:avLst/>
          </a:prstGeom>
        </p:spPr>
      </p:pic>
      <p:sp>
        <p:nvSpPr>
          <p:cNvPr id="15" name="value point title 3"/>
          <p:cNvSpPr txBox="1"/>
          <p:nvPr/>
        </p:nvSpPr>
        <p:spPr>
          <a:xfrm>
            <a:off x="7680960" y="4480560"/>
            <a:ext cx="3931920" cy="365760"/>
          </a:xfrm>
          <a:prstGeom prst="rect">
            <a:avLst/>
          </a:prstGeom>
          <a:noFill/>
          <a:ln/>
        </p:spPr>
        <p:txBody>
          <a:bodyPr wrap="square" lIns="0" tIns="0" rIns="0" bIns="0" rtlCol="0" anchor="t"/>
          <a:lstStyle/>
          <a:p>
            <a:pPr indent="0" marL="0">
              <a:buNone/>
            </a:pPr>
            <a:r>
              <a:rPr lang="en-US" sz="1700" b="1" dirty="0">
                <a:solidFill>
                  <a:schemeClr val="tx1"/>
                </a:solidFill>
              </a:rPr>
              <a:t>Symbols are the small part</a:t>
            </a:r>
            <a:endParaRPr lang="en-US" sz="1700" dirty="0"/>
          </a:p>
        </p:txBody>
      </p:sp>
      <p:sp>
        <p:nvSpPr>
          <p:cNvPr id="16" name="value point text 3"/>
          <p:cNvSpPr txBox="1"/>
          <p:nvPr/>
        </p:nvSpPr>
        <p:spPr>
          <a:xfrm>
            <a:off x="7680960" y="4864608"/>
            <a:ext cx="3931920" cy="822960"/>
          </a:xfrm>
          <a:prstGeom prst="rect">
            <a:avLst/>
          </a:prstGeom>
          <a:noFill/>
          <a:ln/>
        </p:spPr>
        <p:txBody>
          <a:bodyPr wrap="square" lIns="0" tIns="0" rIns="0" bIns="0" rtlCol="0" anchor="t"/>
          <a:lstStyle/>
          <a:p>
            <a:pPr indent="0" marL="0">
              <a:buNone/>
            </a:pPr>
            <a:r>
              <a:rPr lang="en-US" sz="1400" dirty="0">
                <a:solidFill>
                  <a:schemeClr val="tx2"/>
                </a:solidFill>
              </a:rPr>
              <a:t>Fittings, outlets and switches: a perfect symbol counter alone scores below 10%.</a:t>
            </a:r>
            <a:endParaRPr lang="en-US" sz="1400" dirty="0"/>
          </a:p>
        </p:txBody>
      </p:sp>
      <p:sp>
        <p:nvSpPr>
          <p:cNvPr id="17"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Measured on a real, human-priced 7-building reference bill (priced building lines; contingency, VAT and P&amp;Gs excluded).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Two readers, one set of findings, one pricer</a:t>
            </a:r>
            <a:endParaRPr lang="en-US" sz="3000" dirty="0"/>
          </a:p>
        </p:txBody>
      </p:sp>
      <p:sp>
        <p:nvSpPr>
          <p:cNvPr id="4" name="input 1"/>
          <p:cNvSpPr/>
          <p:nvPr/>
        </p:nvSpPr>
        <p:spPr>
          <a:xfrm>
            <a:off x="548640" y="1600200"/>
            <a:ext cx="2148840" cy="1417320"/>
          </a:xfrm>
          <a:prstGeom prst="roundRect">
            <a:avLst>
              <a:gd name="adj" fmla="val 774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input 1 circle"/>
          <p:cNvSpPr/>
          <p:nvPr/>
        </p:nvSpPr>
        <p:spPr>
          <a:xfrm>
            <a:off x="749808" y="1828800"/>
            <a:ext cx="548640" cy="548640"/>
          </a:xfrm>
          <a:prstGeom prst="ellipse">
            <a:avLst/>
          </a:prstGeom>
          <a:solidFill>
            <a:srgbClr val="F2F4F9"/>
          </a:solidFill>
          <a:ln w="12700">
            <a:solidFill>
              <a:srgbClr val="F2F4F9"/>
            </a:solidFill>
            <a:prstDash val="solid"/>
          </a:ln>
        </p:spPr>
      </p:sp>
      <p:pic>
        <p:nvPicPr>
          <p:cNvPr id="6" name="input 1 icon" descr="preencoded.png">    </p:cNvPr>
          <p:cNvPicPr>
            <a:picLocks noChangeAspect="1"/>
          </p:cNvPicPr>
          <p:nvPr/>
        </p:nvPicPr>
        <p:blipFill>
          <a:blip r:embed="rId1"/>
          <a:stretch>
            <a:fillRect/>
          </a:stretch>
        </p:blipFill>
        <p:spPr>
          <a:xfrm>
            <a:off x="892454" y="1971446"/>
            <a:ext cx="263347" cy="263347"/>
          </a:xfrm>
          <a:prstGeom prst="rect">
            <a:avLst/>
          </a:prstGeom>
        </p:spPr>
      </p:pic>
      <p:sp>
        <p:nvSpPr>
          <p:cNvPr id="7" name="input title 1"/>
          <p:cNvSpPr txBox="1"/>
          <p:nvPr/>
        </p:nvSpPr>
        <p:spPr>
          <a:xfrm>
            <a:off x="749808" y="2441448"/>
            <a:ext cx="1828800" cy="274320"/>
          </a:xfrm>
          <a:prstGeom prst="rect">
            <a:avLst/>
          </a:prstGeom>
          <a:noFill/>
          <a:ln/>
        </p:spPr>
        <p:txBody>
          <a:bodyPr wrap="square" lIns="0" tIns="0" rIns="0" bIns="0" rtlCol="0" anchor="t"/>
          <a:lstStyle/>
          <a:p>
            <a:pPr indent="0" marL="0">
              <a:buNone/>
            </a:pPr>
            <a:r>
              <a:rPr lang="en-US" sz="1400" b="1" dirty="0">
                <a:solidFill>
                  <a:schemeClr val="tx1"/>
                </a:solidFill>
              </a:rPr>
              <a:t>PDF drawings</a:t>
            </a:r>
            <a:endParaRPr lang="en-US" sz="1400" dirty="0"/>
          </a:p>
        </p:txBody>
      </p:sp>
      <p:sp>
        <p:nvSpPr>
          <p:cNvPr id="8" name="input text 1"/>
          <p:cNvSpPr txBox="1"/>
          <p:nvPr/>
        </p:nvSpPr>
        <p:spPr>
          <a:xfrm>
            <a:off x="749808" y="2697480"/>
            <a:ext cx="1828800" cy="274320"/>
          </a:xfrm>
          <a:prstGeom prst="rect">
            <a:avLst/>
          </a:prstGeom>
          <a:noFill/>
          <a:ln/>
        </p:spPr>
        <p:txBody>
          <a:bodyPr wrap="square" lIns="0" tIns="0" rIns="0" bIns="0" rtlCol="0" anchor="t"/>
          <a:lstStyle/>
          <a:p>
            <a:pPr indent="0" marL="0">
              <a:buNone/>
            </a:pPr>
            <a:r>
              <a:rPr lang="en-US" sz="1100" dirty="0">
                <a:solidFill>
                  <a:schemeClr val="tx2"/>
                </a:solidFill>
              </a:rPr>
              <a:t>scanned or exported</a:t>
            </a:r>
            <a:endParaRPr lang="en-US" sz="1100" dirty="0"/>
          </a:p>
        </p:txBody>
      </p:sp>
      <p:sp>
        <p:nvSpPr>
          <p:cNvPr id="9" name="Shape 5"/>
          <p:cNvSpPr/>
          <p:nvPr/>
        </p:nvSpPr>
        <p:spPr>
          <a:xfrm>
            <a:off x="2743200" y="2313432"/>
            <a:ext cx="365760" cy="0"/>
          </a:xfrm>
          <a:prstGeom prst="line">
            <a:avLst/>
          </a:prstGeom>
          <a:noFill/>
          <a:ln w="25400">
            <a:solidFill>
              <a:srgbClr val="8A93AB"/>
            </a:solidFill>
            <a:prstDash val="solid"/>
            <a:tailEnd type="triangle"/>
          </a:ln>
        </p:spPr>
      </p:sp>
      <p:sp>
        <p:nvSpPr>
          <p:cNvPr id="10" name="reader 1"/>
          <p:cNvSpPr/>
          <p:nvPr/>
        </p:nvSpPr>
        <p:spPr>
          <a:xfrm>
            <a:off x="3154680" y="1600200"/>
            <a:ext cx="2377440" cy="1417320"/>
          </a:xfrm>
          <a:prstGeom prst="roundRect">
            <a:avLst>
              <a:gd name="adj" fmla="val 774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reader 1 circle"/>
          <p:cNvSpPr/>
          <p:nvPr/>
        </p:nvSpPr>
        <p:spPr>
          <a:xfrm>
            <a:off x="3355848" y="1828800"/>
            <a:ext cx="548640" cy="548640"/>
          </a:xfrm>
          <a:prstGeom prst="ellipse">
            <a:avLst/>
          </a:prstGeom>
          <a:solidFill>
            <a:srgbClr val="2E5BE8"/>
          </a:solidFill>
          <a:ln w="12700">
            <a:solidFill>
              <a:srgbClr val="2E5BE8"/>
            </a:solidFill>
            <a:prstDash val="solid"/>
          </a:ln>
        </p:spPr>
      </p:sp>
      <p:pic>
        <p:nvPicPr>
          <p:cNvPr id="12" name="reader 1 icon" descr="preencoded.png">    </p:cNvPr>
          <p:cNvPicPr>
            <a:picLocks noChangeAspect="1"/>
          </p:cNvPicPr>
          <p:nvPr/>
        </p:nvPicPr>
        <p:blipFill>
          <a:blip r:embed="rId2"/>
          <a:stretch>
            <a:fillRect/>
          </a:stretch>
        </p:blipFill>
        <p:spPr>
          <a:xfrm>
            <a:off x="3498494" y="1971446"/>
            <a:ext cx="263347" cy="263347"/>
          </a:xfrm>
          <a:prstGeom prst="rect">
            <a:avLst/>
          </a:prstGeom>
        </p:spPr>
      </p:pic>
      <p:sp>
        <p:nvSpPr>
          <p:cNvPr id="13" name="reader title 1"/>
          <p:cNvSpPr txBox="1"/>
          <p:nvPr/>
        </p:nvSpPr>
        <p:spPr>
          <a:xfrm>
            <a:off x="4023360" y="1901952"/>
            <a:ext cx="1463040" cy="365760"/>
          </a:xfrm>
          <a:prstGeom prst="rect">
            <a:avLst/>
          </a:prstGeom>
          <a:noFill/>
          <a:ln/>
        </p:spPr>
        <p:txBody>
          <a:bodyPr wrap="square" lIns="0" tIns="0" rIns="0" bIns="0" rtlCol="0" anchor="t"/>
          <a:lstStyle/>
          <a:p>
            <a:pPr indent="0" marL="0">
              <a:buNone/>
            </a:pPr>
            <a:r>
              <a:rPr lang="en-US" sz="1500" b="1" dirty="0">
                <a:solidFill>
                  <a:schemeClr val="tx1"/>
                </a:solidFill>
              </a:rPr>
              <a:t>PDF reader</a:t>
            </a:r>
            <a:endParaRPr lang="en-US" sz="1500" dirty="0"/>
          </a:p>
        </p:txBody>
      </p:sp>
      <p:sp>
        <p:nvSpPr>
          <p:cNvPr id="14" name="reader text 1"/>
          <p:cNvSpPr txBox="1"/>
          <p:nvPr/>
        </p:nvSpPr>
        <p:spPr>
          <a:xfrm>
            <a:off x="3355848" y="2468880"/>
            <a:ext cx="2057400" cy="502920"/>
          </a:xfrm>
          <a:prstGeom prst="rect">
            <a:avLst/>
          </a:prstGeom>
          <a:noFill/>
          <a:ln/>
        </p:spPr>
        <p:txBody>
          <a:bodyPr wrap="square" lIns="0" tIns="0" rIns="0" bIns="0" rtlCol="0" anchor="t"/>
          <a:lstStyle/>
          <a:p>
            <a:pPr indent="0" marL="0">
              <a:buNone/>
            </a:pPr>
            <a:r>
              <a:rPr lang="en-US" sz="1150" dirty="0">
                <a:solidFill>
                  <a:schemeClr val="tx2"/>
                </a:solidFill>
              </a:rPr>
              <a:t>AI reads each page into strict forms</a:t>
            </a:r>
            <a:endParaRPr lang="en-US" sz="1150" dirty="0"/>
          </a:p>
        </p:txBody>
      </p:sp>
      <p:sp>
        <p:nvSpPr>
          <p:cNvPr id="15" name="Shape 10"/>
          <p:cNvSpPr/>
          <p:nvPr/>
        </p:nvSpPr>
        <p:spPr>
          <a:xfrm>
            <a:off x="5577840" y="2313432"/>
            <a:ext cx="365760" cy="0"/>
          </a:xfrm>
          <a:prstGeom prst="line">
            <a:avLst/>
          </a:prstGeom>
          <a:noFill/>
          <a:ln w="25400">
            <a:solidFill>
              <a:srgbClr val="8A93AB"/>
            </a:solidFill>
            <a:prstDash val="solid"/>
            <a:tailEnd type="triangle"/>
          </a:ln>
        </p:spPr>
      </p:sp>
      <p:sp>
        <p:nvSpPr>
          <p:cNvPr id="16" name="input 2"/>
          <p:cNvSpPr/>
          <p:nvPr/>
        </p:nvSpPr>
        <p:spPr>
          <a:xfrm>
            <a:off x="548640" y="3794760"/>
            <a:ext cx="2148840" cy="1417320"/>
          </a:xfrm>
          <a:prstGeom prst="roundRect">
            <a:avLst>
              <a:gd name="adj" fmla="val 774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input 2 circle"/>
          <p:cNvSpPr/>
          <p:nvPr/>
        </p:nvSpPr>
        <p:spPr>
          <a:xfrm>
            <a:off x="749808" y="4023360"/>
            <a:ext cx="548640" cy="548640"/>
          </a:xfrm>
          <a:prstGeom prst="ellipse">
            <a:avLst/>
          </a:prstGeom>
          <a:solidFill>
            <a:srgbClr val="F2F4F9"/>
          </a:solidFill>
          <a:ln w="12700">
            <a:solidFill>
              <a:srgbClr val="F2F4F9"/>
            </a:solidFill>
            <a:prstDash val="solid"/>
          </a:ln>
        </p:spPr>
      </p:sp>
      <p:pic>
        <p:nvPicPr>
          <p:cNvPr id="18" name="input 2 icon" descr="preencoded.png">    </p:cNvPr>
          <p:cNvPicPr>
            <a:picLocks noChangeAspect="1"/>
          </p:cNvPicPr>
          <p:nvPr/>
        </p:nvPicPr>
        <p:blipFill>
          <a:blip r:embed="rId3"/>
          <a:stretch>
            <a:fillRect/>
          </a:stretch>
        </p:blipFill>
        <p:spPr>
          <a:xfrm>
            <a:off x="892454" y="4166006"/>
            <a:ext cx="263347" cy="263347"/>
          </a:xfrm>
          <a:prstGeom prst="rect">
            <a:avLst/>
          </a:prstGeom>
        </p:spPr>
      </p:pic>
      <p:sp>
        <p:nvSpPr>
          <p:cNvPr id="19" name="input title 2"/>
          <p:cNvSpPr txBox="1"/>
          <p:nvPr/>
        </p:nvSpPr>
        <p:spPr>
          <a:xfrm>
            <a:off x="749808" y="4636008"/>
            <a:ext cx="1828800" cy="274320"/>
          </a:xfrm>
          <a:prstGeom prst="rect">
            <a:avLst/>
          </a:prstGeom>
          <a:noFill/>
          <a:ln/>
        </p:spPr>
        <p:txBody>
          <a:bodyPr wrap="square" lIns="0" tIns="0" rIns="0" bIns="0" rtlCol="0" anchor="t"/>
          <a:lstStyle/>
          <a:p>
            <a:pPr indent="0" marL="0">
              <a:buNone/>
            </a:pPr>
            <a:r>
              <a:rPr lang="en-US" sz="1400" b="1" dirty="0">
                <a:solidFill>
                  <a:schemeClr val="tx1"/>
                </a:solidFill>
              </a:rPr>
              <a:t>DWG / DXF drawings</a:t>
            </a:r>
            <a:endParaRPr lang="en-US" sz="1400" dirty="0"/>
          </a:p>
        </p:txBody>
      </p:sp>
      <p:sp>
        <p:nvSpPr>
          <p:cNvPr id="20" name="input text 2"/>
          <p:cNvSpPr txBox="1"/>
          <p:nvPr/>
        </p:nvSpPr>
        <p:spPr>
          <a:xfrm>
            <a:off x="749808" y="4892040"/>
            <a:ext cx="1828800" cy="274320"/>
          </a:xfrm>
          <a:prstGeom prst="rect">
            <a:avLst/>
          </a:prstGeom>
          <a:noFill/>
          <a:ln/>
        </p:spPr>
        <p:txBody>
          <a:bodyPr wrap="square" lIns="0" tIns="0" rIns="0" bIns="0" rtlCol="0" anchor="t"/>
          <a:lstStyle/>
          <a:p>
            <a:pPr indent="0" marL="0">
              <a:buNone/>
            </a:pPr>
            <a:r>
              <a:rPr lang="en-US" sz="1100" dirty="0">
                <a:solidFill>
                  <a:schemeClr val="tx2"/>
                </a:solidFill>
              </a:rPr>
              <a:t>the CAD set</a:t>
            </a:r>
            <a:endParaRPr lang="en-US" sz="1100" dirty="0"/>
          </a:p>
        </p:txBody>
      </p:sp>
      <p:sp>
        <p:nvSpPr>
          <p:cNvPr id="21" name="Shape 15"/>
          <p:cNvSpPr/>
          <p:nvPr/>
        </p:nvSpPr>
        <p:spPr>
          <a:xfrm>
            <a:off x="2743200" y="4507992"/>
            <a:ext cx="365760" cy="0"/>
          </a:xfrm>
          <a:prstGeom prst="line">
            <a:avLst/>
          </a:prstGeom>
          <a:noFill/>
          <a:ln w="25400">
            <a:solidFill>
              <a:srgbClr val="8A93AB"/>
            </a:solidFill>
            <a:prstDash val="solid"/>
            <a:tailEnd type="triangle"/>
          </a:ln>
        </p:spPr>
      </p:sp>
      <p:sp>
        <p:nvSpPr>
          <p:cNvPr id="22" name="reader 2"/>
          <p:cNvSpPr/>
          <p:nvPr/>
        </p:nvSpPr>
        <p:spPr>
          <a:xfrm>
            <a:off x="3154680" y="3794760"/>
            <a:ext cx="2377440" cy="1417320"/>
          </a:xfrm>
          <a:prstGeom prst="roundRect">
            <a:avLst>
              <a:gd name="adj" fmla="val 774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3" name="reader 2 circle"/>
          <p:cNvSpPr/>
          <p:nvPr/>
        </p:nvSpPr>
        <p:spPr>
          <a:xfrm>
            <a:off x="3355848" y="4023360"/>
            <a:ext cx="548640" cy="548640"/>
          </a:xfrm>
          <a:prstGeom prst="ellipse">
            <a:avLst/>
          </a:prstGeom>
          <a:solidFill>
            <a:srgbClr val="2E5BE8"/>
          </a:solidFill>
          <a:ln w="12700">
            <a:solidFill>
              <a:srgbClr val="2E5BE8"/>
            </a:solidFill>
            <a:prstDash val="solid"/>
          </a:ln>
        </p:spPr>
      </p:sp>
      <p:pic>
        <p:nvPicPr>
          <p:cNvPr id="24" name="reader 2 icon" descr="preencoded.png">    </p:cNvPr>
          <p:cNvPicPr>
            <a:picLocks noChangeAspect="1"/>
          </p:cNvPicPr>
          <p:nvPr/>
        </p:nvPicPr>
        <p:blipFill>
          <a:blip r:embed="rId4"/>
          <a:stretch>
            <a:fillRect/>
          </a:stretch>
        </p:blipFill>
        <p:spPr>
          <a:xfrm>
            <a:off x="3498494" y="4166006"/>
            <a:ext cx="263347" cy="263347"/>
          </a:xfrm>
          <a:prstGeom prst="rect">
            <a:avLst/>
          </a:prstGeom>
        </p:spPr>
      </p:pic>
      <p:sp>
        <p:nvSpPr>
          <p:cNvPr id="25" name="reader title 2"/>
          <p:cNvSpPr txBox="1"/>
          <p:nvPr/>
        </p:nvSpPr>
        <p:spPr>
          <a:xfrm>
            <a:off x="4023360" y="4096512"/>
            <a:ext cx="1463040" cy="365760"/>
          </a:xfrm>
          <a:prstGeom prst="rect">
            <a:avLst/>
          </a:prstGeom>
          <a:noFill/>
          <a:ln/>
        </p:spPr>
        <p:txBody>
          <a:bodyPr wrap="square" lIns="0" tIns="0" rIns="0" bIns="0" rtlCol="0" anchor="t"/>
          <a:lstStyle/>
          <a:p>
            <a:pPr indent="0" marL="0">
              <a:buNone/>
            </a:pPr>
            <a:r>
              <a:rPr lang="en-US" sz="1500" b="1" dirty="0">
                <a:solidFill>
                  <a:schemeClr val="tx1"/>
                </a:solidFill>
              </a:rPr>
              <a:t>CAD reader</a:t>
            </a:r>
            <a:endParaRPr lang="en-US" sz="1500" dirty="0"/>
          </a:p>
        </p:txBody>
      </p:sp>
      <p:sp>
        <p:nvSpPr>
          <p:cNvPr id="26" name="reader text 2"/>
          <p:cNvSpPr txBox="1"/>
          <p:nvPr/>
        </p:nvSpPr>
        <p:spPr>
          <a:xfrm>
            <a:off x="3355848" y="4663440"/>
            <a:ext cx="2057400" cy="502920"/>
          </a:xfrm>
          <a:prstGeom prst="rect">
            <a:avLst/>
          </a:prstGeom>
          <a:noFill/>
          <a:ln/>
        </p:spPr>
        <p:txBody>
          <a:bodyPr wrap="square" lIns="0" tIns="0" rIns="0" bIns="0" rtlCol="0" anchor="t"/>
          <a:lstStyle/>
          <a:p>
            <a:pPr indent="0" marL="0">
              <a:buNone/>
            </a:pPr>
            <a:r>
              <a:rPr lang="en-US" sz="1150" dirty="0">
                <a:solidFill>
                  <a:schemeClr val="tx2"/>
                </a:solidFill>
              </a:rPr>
              <a:t>counts symbols, reads SLDs, measures routes</a:t>
            </a:r>
            <a:endParaRPr lang="en-US" sz="1150" dirty="0"/>
          </a:p>
        </p:txBody>
      </p:sp>
      <p:sp>
        <p:nvSpPr>
          <p:cNvPr id="27" name="Shape 20"/>
          <p:cNvSpPr/>
          <p:nvPr/>
        </p:nvSpPr>
        <p:spPr>
          <a:xfrm>
            <a:off x="5577840" y="4507992"/>
            <a:ext cx="365760" cy="0"/>
          </a:xfrm>
          <a:prstGeom prst="line">
            <a:avLst/>
          </a:prstGeom>
          <a:noFill/>
          <a:ln w="25400">
            <a:solidFill>
              <a:srgbClr val="8A93AB"/>
            </a:solidFill>
            <a:prstDash val="solid"/>
            <a:tailEnd type="triangle"/>
          </a:ln>
        </p:spPr>
      </p:sp>
      <p:sp>
        <p:nvSpPr>
          <p:cNvPr id="28" name="findings"/>
          <p:cNvSpPr/>
          <p:nvPr/>
        </p:nvSpPr>
        <p:spPr>
          <a:xfrm>
            <a:off x="5989320" y="1600200"/>
            <a:ext cx="1828800" cy="361188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9" name="findings circle"/>
          <p:cNvSpPr/>
          <p:nvPr/>
        </p:nvSpPr>
        <p:spPr>
          <a:xfrm>
            <a:off x="6583680" y="1783080"/>
            <a:ext cx="640080" cy="640080"/>
          </a:xfrm>
          <a:prstGeom prst="ellipse">
            <a:avLst/>
          </a:prstGeom>
          <a:solidFill>
            <a:srgbClr val="F2A900"/>
          </a:solidFill>
          <a:ln w="12700">
            <a:solidFill>
              <a:srgbClr val="F2A900"/>
            </a:solidFill>
            <a:prstDash val="solid"/>
          </a:ln>
        </p:spPr>
      </p:sp>
      <p:pic>
        <p:nvPicPr>
          <p:cNvPr id="30" name="findings icon" descr="preencoded.png">    </p:cNvPr>
          <p:cNvPicPr>
            <a:picLocks noChangeAspect="1"/>
          </p:cNvPicPr>
          <p:nvPr/>
        </p:nvPicPr>
        <p:blipFill>
          <a:blip r:embed="rId5"/>
          <a:stretch>
            <a:fillRect/>
          </a:stretch>
        </p:blipFill>
        <p:spPr>
          <a:xfrm>
            <a:off x="6750101" y="1949501"/>
            <a:ext cx="307238" cy="307238"/>
          </a:xfrm>
          <a:prstGeom prst="rect">
            <a:avLst/>
          </a:prstGeom>
        </p:spPr>
      </p:pic>
      <p:sp>
        <p:nvSpPr>
          <p:cNvPr id="31" name="findings title"/>
          <p:cNvSpPr txBox="1"/>
          <p:nvPr/>
        </p:nvSpPr>
        <p:spPr>
          <a:xfrm>
            <a:off x="6172200" y="2514600"/>
            <a:ext cx="1463040" cy="320040"/>
          </a:xfrm>
          <a:prstGeom prst="rect">
            <a:avLst/>
          </a:prstGeom>
          <a:noFill/>
          <a:ln/>
        </p:spPr>
        <p:txBody>
          <a:bodyPr wrap="square" lIns="0" tIns="0" rIns="0" bIns="0" rtlCol="0" anchor="t"/>
          <a:lstStyle/>
          <a:p>
            <a:pPr algn="ctr" indent="0" marL="0">
              <a:buNone/>
            </a:pPr>
            <a:r>
              <a:rPr lang="en-US" sz="1500" b="1" dirty="0">
                <a:solidFill>
                  <a:schemeClr val="tx1"/>
                </a:solidFill>
              </a:rPr>
              <a:t>Findings</a:t>
            </a:r>
            <a:endParaRPr lang="en-US" sz="1500" dirty="0"/>
          </a:p>
        </p:txBody>
      </p:sp>
      <p:sp>
        <p:nvSpPr>
          <p:cNvPr id="32" name="findings evidence"/>
          <p:cNvSpPr txBox="1"/>
          <p:nvPr/>
        </p:nvSpPr>
        <p:spPr>
          <a:xfrm>
            <a:off x="6172200" y="2880360"/>
            <a:ext cx="1463040" cy="2103120"/>
          </a:xfrm>
          <a:prstGeom prst="rect">
            <a:avLst/>
          </a:prstGeom>
          <a:noFill/>
          <a:ln/>
        </p:spPr>
        <p:txBody>
          <a:bodyPr wrap="square" lIns="0" tIns="0" rIns="0" bIns="0" rtlCol="0" anchor="t"/>
          <a:lstStyle/>
          <a:p>
            <a:pPr algn="ctr" indent="0" marL="0">
              <a:buNone/>
            </a:pPr>
            <a:r>
              <a:rPr lang="en-US" sz="1250" dirty="0">
                <a:solidFill>
                  <a:schemeClr val="tx2"/>
                </a:solidFill>
              </a:rPr>
              <a:t>with evidence</a:t>
            </a:r>
            <a:endParaRPr lang="en-US" sz="1250" dirty="0"/>
          </a:p>
          <a:p>
            <a:pPr algn="ctr" indent="0" marL="0">
              <a:buNone/>
            </a:pPr>
            <a:r>
              <a:rPr lang="en-US" sz="1250" b="1" dirty="0">
                <a:solidFill>
                  <a:schemeClr val="accent3"/>
                </a:solidFill>
              </a:rPr>
              <a:t>measured</a:t>
            </a:r>
            <a:endParaRPr lang="en-US" sz="1250" dirty="0"/>
          </a:p>
          <a:p>
            <a:pPr algn="ctr" indent="0" marL="0">
              <a:buNone/>
            </a:pPr>
            <a:r>
              <a:rPr lang="en-US" sz="1250" dirty="0">
                <a:solidFill>
                  <a:schemeClr val="tx1"/>
                </a:solidFill>
              </a:rPr>
              <a:t>› counted</a:t>
            </a:r>
            <a:endParaRPr lang="en-US" sz="1250" dirty="0"/>
          </a:p>
          <a:p>
            <a:pPr algn="ctr" indent="0" marL="0">
              <a:buNone/>
            </a:pPr>
            <a:r>
              <a:rPr lang="en-US" sz="1250" dirty="0">
                <a:solidFill>
                  <a:schemeClr val="tx1"/>
                </a:solidFill>
              </a:rPr>
              <a:t>› written</a:t>
            </a:r>
            <a:endParaRPr lang="en-US" sz="1250" dirty="0"/>
          </a:p>
          <a:p>
            <a:pPr algn="ctr" indent="0" marL="0">
              <a:buNone/>
            </a:pPr>
            <a:r>
              <a:rPr lang="en-US" sz="1250" dirty="0">
                <a:solidFill>
                  <a:schemeClr val="tx1"/>
                </a:solidFill>
              </a:rPr>
              <a:t>› seen</a:t>
            </a:r>
            <a:endParaRPr lang="en-US" sz="1250" dirty="0"/>
          </a:p>
          <a:p>
            <a:pPr algn="ctr" indent="0" marL="0">
              <a:buNone/>
            </a:pPr>
            <a:r>
              <a:rPr lang="en-US" sz="1250" dirty="0">
                <a:solidFill>
                  <a:schemeClr val="accent4"/>
                </a:solidFill>
              </a:rPr>
              <a:t>› assumed</a:t>
            </a:r>
            <a:endParaRPr lang="en-US" sz="1250" dirty="0"/>
          </a:p>
        </p:txBody>
      </p:sp>
      <p:sp>
        <p:nvSpPr>
          <p:cNvPr id="33" name="Shape 25"/>
          <p:cNvSpPr/>
          <p:nvPr/>
        </p:nvSpPr>
        <p:spPr>
          <a:xfrm>
            <a:off x="7863840" y="3401568"/>
            <a:ext cx="365760" cy="0"/>
          </a:xfrm>
          <a:prstGeom prst="line">
            <a:avLst/>
          </a:prstGeom>
          <a:noFill/>
          <a:ln w="25400">
            <a:solidFill>
              <a:srgbClr val="8A93AB"/>
            </a:solidFill>
            <a:prstDash val="solid"/>
            <a:tailEnd type="triangle"/>
          </a:ln>
        </p:spPr>
      </p:sp>
      <p:sp>
        <p:nvSpPr>
          <p:cNvPr id="34" name="combine"/>
          <p:cNvSpPr/>
          <p:nvPr/>
        </p:nvSpPr>
        <p:spPr>
          <a:xfrm>
            <a:off x="8275320" y="1600200"/>
            <a:ext cx="1783080" cy="1508760"/>
          </a:xfrm>
          <a:prstGeom prst="roundRect">
            <a:avLst>
              <a:gd name="adj" fmla="val 727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35" name="combine circle"/>
          <p:cNvSpPr/>
          <p:nvPr/>
        </p:nvSpPr>
        <p:spPr>
          <a:xfrm>
            <a:off x="8458200" y="1755648"/>
            <a:ext cx="502920" cy="502920"/>
          </a:xfrm>
          <a:prstGeom prst="ellipse">
            <a:avLst/>
          </a:prstGeom>
          <a:solidFill>
            <a:srgbClr val="2E5BE8"/>
          </a:solidFill>
          <a:ln w="12700">
            <a:solidFill>
              <a:srgbClr val="2E5BE8"/>
            </a:solidFill>
            <a:prstDash val="solid"/>
          </a:ln>
        </p:spPr>
      </p:sp>
      <p:pic>
        <p:nvPicPr>
          <p:cNvPr id="36" name="combine icon" descr="preencoded.png">    </p:cNvPr>
          <p:cNvPicPr>
            <a:picLocks noChangeAspect="1"/>
          </p:cNvPicPr>
          <p:nvPr/>
        </p:nvPicPr>
        <p:blipFill>
          <a:blip r:embed="rId6"/>
          <a:stretch>
            <a:fillRect/>
          </a:stretch>
        </p:blipFill>
        <p:spPr>
          <a:xfrm>
            <a:off x="8588959" y="1886407"/>
            <a:ext cx="241402" cy="241402"/>
          </a:xfrm>
          <a:prstGeom prst="rect">
            <a:avLst/>
          </a:prstGeom>
        </p:spPr>
      </p:pic>
      <p:sp>
        <p:nvSpPr>
          <p:cNvPr id="37" name="combine title"/>
          <p:cNvSpPr txBox="1"/>
          <p:nvPr/>
        </p:nvSpPr>
        <p:spPr>
          <a:xfrm>
            <a:off x="8458200" y="2331720"/>
            <a:ext cx="1463040" cy="274320"/>
          </a:xfrm>
          <a:prstGeom prst="rect">
            <a:avLst/>
          </a:prstGeom>
          <a:noFill/>
          <a:ln/>
        </p:spPr>
        <p:txBody>
          <a:bodyPr wrap="square" lIns="0" tIns="0" rIns="0" bIns="0" rtlCol="0" anchor="t"/>
          <a:lstStyle/>
          <a:p>
            <a:pPr indent="0" marL="0">
              <a:buNone/>
            </a:pPr>
            <a:r>
              <a:rPr lang="en-US" sz="1400" b="1" dirty="0">
                <a:solidFill>
                  <a:schemeClr val="tx1"/>
                </a:solidFill>
              </a:rPr>
              <a:t>Combine</a:t>
            </a:r>
            <a:endParaRPr lang="en-US" sz="1400" dirty="0"/>
          </a:p>
        </p:txBody>
      </p:sp>
      <p:sp>
        <p:nvSpPr>
          <p:cNvPr id="38" name="combine text"/>
          <p:cNvSpPr txBox="1"/>
          <p:nvPr/>
        </p:nvSpPr>
        <p:spPr>
          <a:xfrm>
            <a:off x="8458200" y="2606040"/>
            <a:ext cx="1508760" cy="457200"/>
          </a:xfrm>
          <a:prstGeom prst="rect">
            <a:avLst/>
          </a:prstGeom>
          <a:noFill/>
          <a:ln/>
        </p:spPr>
        <p:txBody>
          <a:bodyPr wrap="square" lIns="0" tIns="0" rIns="0" bIns="0" rtlCol="0" anchor="t"/>
          <a:lstStyle/>
          <a:p>
            <a:pPr indent="0" marL="0">
              <a:buNone/>
            </a:pPr>
            <a:r>
              <a:rPr lang="en-US" sz="1050" dirty="0">
                <a:solidFill>
                  <a:schemeClr val="tx2"/>
                </a:solidFill>
              </a:rPr>
              <a:t>stronger evidence wins, nothing counted twice</a:t>
            </a:r>
            <a:endParaRPr lang="en-US" sz="1050" dirty="0"/>
          </a:p>
        </p:txBody>
      </p:sp>
      <p:sp>
        <p:nvSpPr>
          <p:cNvPr id="39" name="Shape 30"/>
          <p:cNvSpPr/>
          <p:nvPr/>
        </p:nvSpPr>
        <p:spPr>
          <a:xfrm>
            <a:off x="9162288" y="3154680"/>
            <a:ext cx="0" cy="502920"/>
          </a:xfrm>
          <a:prstGeom prst="line">
            <a:avLst/>
          </a:prstGeom>
          <a:noFill/>
          <a:ln w="25400">
            <a:solidFill>
              <a:srgbClr val="8A93AB"/>
            </a:solidFill>
            <a:prstDash val="solid"/>
            <a:tailEnd type="triangle"/>
          </a:ln>
        </p:spPr>
      </p:sp>
      <p:sp>
        <p:nvSpPr>
          <p:cNvPr id="40" name="price"/>
          <p:cNvSpPr/>
          <p:nvPr/>
        </p:nvSpPr>
        <p:spPr>
          <a:xfrm>
            <a:off x="8275320" y="3703320"/>
            <a:ext cx="1783080" cy="1508760"/>
          </a:xfrm>
          <a:prstGeom prst="roundRect">
            <a:avLst>
              <a:gd name="adj" fmla="val 727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1" name="price circle"/>
          <p:cNvSpPr/>
          <p:nvPr/>
        </p:nvSpPr>
        <p:spPr>
          <a:xfrm>
            <a:off x="8458200" y="3858768"/>
            <a:ext cx="502920" cy="502920"/>
          </a:xfrm>
          <a:prstGeom prst="ellipse">
            <a:avLst/>
          </a:prstGeom>
          <a:solidFill>
            <a:srgbClr val="2E5BE8"/>
          </a:solidFill>
          <a:ln w="12700">
            <a:solidFill>
              <a:srgbClr val="2E5BE8"/>
            </a:solidFill>
            <a:prstDash val="solid"/>
          </a:ln>
        </p:spPr>
      </p:sp>
      <p:pic>
        <p:nvPicPr>
          <p:cNvPr id="42" name="price icon" descr="preencoded.png">    </p:cNvPr>
          <p:cNvPicPr>
            <a:picLocks noChangeAspect="1"/>
          </p:cNvPicPr>
          <p:nvPr/>
        </p:nvPicPr>
        <p:blipFill>
          <a:blip r:embed="rId7"/>
          <a:stretch>
            <a:fillRect/>
          </a:stretch>
        </p:blipFill>
        <p:spPr>
          <a:xfrm>
            <a:off x="8588959" y="3989527"/>
            <a:ext cx="241402" cy="241402"/>
          </a:xfrm>
          <a:prstGeom prst="rect">
            <a:avLst/>
          </a:prstGeom>
        </p:spPr>
      </p:pic>
      <p:sp>
        <p:nvSpPr>
          <p:cNvPr id="43" name="price title"/>
          <p:cNvSpPr txBox="1"/>
          <p:nvPr/>
        </p:nvSpPr>
        <p:spPr>
          <a:xfrm>
            <a:off x="8458200" y="4434840"/>
            <a:ext cx="1463040" cy="274320"/>
          </a:xfrm>
          <a:prstGeom prst="rect">
            <a:avLst/>
          </a:prstGeom>
          <a:noFill/>
          <a:ln/>
        </p:spPr>
        <p:txBody>
          <a:bodyPr wrap="square" lIns="0" tIns="0" rIns="0" bIns="0" rtlCol="0" anchor="t"/>
          <a:lstStyle/>
          <a:p>
            <a:pPr indent="0" marL="0">
              <a:buNone/>
            </a:pPr>
            <a:r>
              <a:rPr lang="en-US" sz="1400" b="1" dirty="0">
                <a:solidFill>
                  <a:schemeClr val="tx1"/>
                </a:solidFill>
              </a:rPr>
              <a:t>Price once</a:t>
            </a:r>
            <a:endParaRPr lang="en-US" sz="1400" dirty="0"/>
          </a:p>
        </p:txBody>
      </p:sp>
      <p:sp>
        <p:nvSpPr>
          <p:cNvPr id="44" name="price text"/>
          <p:cNvSpPr txBox="1"/>
          <p:nvPr/>
        </p:nvSpPr>
        <p:spPr>
          <a:xfrm>
            <a:off x="8458200" y="4709160"/>
            <a:ext cx="1508760" cy="457200"/>
          </a:xfrm>
          <a:prstGeom prst="rect">
            <a:avLst/>
          </a:prstGeom>
          <a:noFill/>
          <a:ln/>
        </p:spPr>
        <p:txBody>
          <a:bodyPr wrap="square" lIns="0" tIns="0" rIns="0" bIns="0" rtlCol="0" anchor="t"/>
          <a:lstStyle/>
          <a:p>
            <a:pPr indent="0" marL="0">
              <a:buNone/>
            </a:pPr>
            <a:r>
              <a:rPr lang="en-US" sz="1050" dirty="0">
                <a:solidFill>
                  <a:schemeClr val="tx2"/>
                </a:solidFill>
              </a:rPr>
              <a:t>SA rate model: crew × hours, DB build-up</a:t>
            </a:r>
            <a:endParaRPr lang="en-US" sz="1050" dirty="0"/>
          </a:p>
        </p:txBody>
      </p:sp>
      <p:sp>
        <p:nvSpPr>
          <p:cNvPr id="45" name="Shape 35"/>
          <p:cNvSpPr/>
          <p:nvPr/>
        </p:nvSpPr>
        <p:spPr>
          <a:xfrm>
            <a:off x="10104120" y="4462272"/>
            <a:ext cx="320040" cy="0"/>
          </a:xfrm>
          <a:prstGeom prst="line">
            <a:avLst/>
          </a:prstGeom>
          <a:noFill/>
          <a:ln w="25400">
            <a:solidFill>
              <a:srgbClr val="8A93AB"/>
            </a:solidFill>
            <a:prstDash val="solid"/>
            <a:tailEnd type="triangle"/>
          </a:ln>
        </p:spPr>
      </p:sp>
      <p:sp>
        <p:nvSpPr>
          <p:cNvPr id="46" name="outputs"/>
          <p:cNvSpPr/>
          <p:nvPr/>
        </p:nvSpPr>
        <p:spPr>
          <a:xfrm>
            <a:off x="10469880" y="1600200"/>
            <a:ext cx="1188720" cy="3611880"/>
          </a:xfrm>
          <a:prstGeom prst="roundRect">
            <a:avLst>
              <a:gd name="adj" fmla="val 9231"/>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7" name="output 1 circle"/>
          <p:cNvSpPr/>
          <p:nvPr/>
        </p:nvSpPr>
        <p:spPr>
          <a:xfrm>
            <a:off x="10808208" y="1783080"/>
            <a:ext cx="502920" cy="502920"/>
          </a:xfrm>
          <a:prstGeom prst="ellipse">
            <a:avLst/>
          </a:prstGeom>
          <a:solidFill>
            <a:srgbClr val="F2F4F9"/>
          </a:solidFill>
          <a:ln w="12700">
            <a:solidFill>
              <a:srgbClr val="F2F4F9"/>
            </a:solidFill>
            <a:prstDash val="solid"/>
          </a:ln>
        </p:spPr>
      </p:sp>
      <p:pic>
        <p:nvPicPr>
          <p:cNvPr id="48" name="output 1 icon" descr="preencoded.png">    </p:cNvPr>
          <p:cNvPicPr>
            <a:picLocks noChangeAspect="1"/>
          </p:cNvPicPr>
          <p:nvPr/>
        </p:nvPicPr>
        <p:blipFill>
          <a:blip r:embed="rId8"/>
          <a:stretch>
            <a:fillRect/>
          </a:stretch>
        </p:blipFill>
        <p:spPr>
          <a:xfrm>
            <a:off x="10938967" y="1913839"/>
            <a:ext cx="241402" cy="241402"/>
          </a:xfrm>
          <a:prstGeom prst="rect">
            <a:avLst/>
          </a:prstGeom>
        </p:spPr>
      </p:pic>
      <p:sp>
        <p:nvSpPr>
          <p:cNvPr id="49" name="output label 1"/>
          <p:cNvSpPr txBox="1"/>
          <p:nvPr/>
        </p:nvSpPr>
        <p:spPr>
          <a:xfrm>
            <a:off x="10515600" y="2304288"/>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Excel</a:t>
            </a:r>
            <a:endParaRPr lang="en-US" sz="1100" dirty="0"/>
          </a:p>
        </p:txBody>
      </p:sp>
      <p:sp>
        <p:nvSpPr>
          <p:cNvPr id="50" name="output 2 circle"/>
          <p:cNvSpPr/>
          <p:nvPr/>
        </p:nvSpPr>
        <p:spPr>
          <a:xfrm>
            <a:off x="10808208" y="2633472"/>
            <a:ext cx="502920" cy="502920"/>
          </a:xfrm>
          <a:prstGeom prst="ellipse">
            <a:avLst/>
          </a:prstGeom>
          <a:solidFill>
            <a:srgbClr val="F2F4F9"/>
          </a:solidFill>
          <a:ln w="12700">
            <a:solidFill>
              <a:srgbClr val="F2F4F9"/>
            </a:solidFill>
            <a:prstDash val="solid"/>
          </a:ln>
        </p:spPr>
      </p:sp>
      <p:pic>
        <p:nvPicPr>
          <p:cNvPr id="51" name="output 2 icon" descr="preencoded.png">    </p:cNvPr>
          <p:cNvPicPr>
            <a:picLocks noChangeAspect="1"/>
          </p:cNvPicPr>
          <p:nvPr/>
        </p:nvPicPr>
        <p:blipFill>
          <a:blip r:embed="rId9"/>
          <a:stretch>
            <a:fillRect/>
          </a:stretch>
        </p:blipFill>
        <p:spPr>
          <a:xfrm>
            <a:off x="10938967" y="2764231"/>
            <a:ext cx="241402" cy="241402"/>
          </a:xfrm>
          <a:prstGeom prst="rect">
            <a:avLst/>
          </a:prstGeom>
        </p:spPr>
      </p:pic>
      <p:sp>
        <p:nvSpPr>
          <p:cNvPr id="52" name="output label 2"/>
          <p:cNvSpPr txBox="1"/>
          <p:nvPr/>
        </p:nvSpPr>
        <p:spPr>
          <a:xfrm>
            <a:off x="10515600" y="3154680"/>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PDF</a:t>
            </a:r>
            <a:endParaRPr lang="en-US" sz="1100" dirty="0"/>
          </a:p>
        </p:txBody>
      </p:sp>
      <p:sp>
        <p:nvSpPr>
          <p:cNvPr id="53" name="output 3 circle"/>
          <p:cNvSpPr/>
          <p:nvPr/>
        </p:nvSpPr>
        <p:spPr>
          <a:xfrm>
            <a:off x="10808208" y="3483864"/>
            <a:ext cx="502920" cy="502920"/>
          </a:xfrm>
          <a:prstGeom prst="ellipse">
            <a:avLst/>
          </a:prstGeom>
          <a:solidFill>
            <a:srgbClr val="F2F4F9"/>
          </a:solidFill>
          <a:ln w="12700">
            <a:solidFill>
              <a:srgbClr val="F2F4F9"/>
            </a:solidFill>
            <a:prstDash val="solid"/>
          </a:ln>
        </p:spPr>
      </p:sp>
      <p:pic>
        <p:nvPicPr>
          <p:cNvPr id="54" name="output 3 icon" descr="preencoded.png">    </p:cNvPr>
          <p:cNvPicPr>
            <a:picLocks noChangeAspect="1"/>
          </p:cNvPicPr>
          <p:nvPr/>
        </p:nvPicPr>
        <p:blipFill>
          <a:blip r:embed="rId10"/>
          <a:stretch>
            <a:fillRect/>
          </a:stretch>
        </p:blipFill>
        <p:spPr>
          <a:xfrm>
            <a:off x="10938967" y="3614623"/>
            <a:ext cx="241402" cy="241402"/>
          </a:xfrm>
          <a:prstGeom prst="rect">
            <a:avLst/>
          </a:prstGeom>
        </p:spPr>
      </p:pic>
      <p:sp>
        <p:nvSpPr>
          <p:cNvPr id="55" name="output label 3"/>
          <p:cNvSpPr txBox="1"/>
          <p:nvPr/>
        </p:nvSpPr>
        <p:spPr>
          <a:xfrm>
            <a:off x="10515600" y="4005072"/>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Gaps</a:t>
            </a:r>
            <a:endParaRPr lang="en-US" sz="1100" dirty="0"/>
          </a:p>
        </p:txBody>
      </p:sp>
      <p:sp>
        <p:nvSpPr>
          <p:cNvPr id="56" name="output 4 circle"/>
          <p:cNvSpPr/>
          <p:nvPr/>
        </p:nvSpPr>
        <p:spPr>
          <a:xfrm>
            <a:off x="10808208" y="4334256"/>
            <a:ext cx="502920" cy="502920"/>
          </a:xfrm>
          <a:prstGeom prst="ellipse">
            <a:avLst/>
          </a:prstGeom>
          <a:solidFill>
            <a:srgbClr val="F2F4F9"/>
          </a:solidFill>
          <a:ln w="12700">
            <a:solidFill>
              <a:srgbClr val="F2F4F9"/>
            </a:solidFill>
            <a:prstDash val="solid"/>
          </a:ln>
        </p:spPr>
      </p:sp>
      <p:pic>
        <p:nvPicPr>
          <p:cNvPr id="57" name="output 4 icon" descr="preencoded.png">    </p:cNvPr>
          <p:cNvPicPr>
            <a:picLocks noChangeAspect="1"/>
          </p:cNvPicPr>
          <p:nvPr/>
        </p:nvPicPr>
        <p:blipFill>
          <a:blip r:embed="rId11"/>
          <a:stretch>
            <a:fillRect/>
          </a:stretch>
        </p:blipFill>
        <p:spPr>
          <a:xfrm>
            <a:off x="10938967" y="4465015"/>
            <a:ext cx="241402" cy="241402"/>
          </a:xfrm>
          <a:prstGeom prst="rect">
            <a:avLst/>
          </a:prstGeom>
        </p:spPr>
      </p:pic>
      <p:sp>
        <p:nvSpPr>
          <p:cNvPr id="58" name="output label 4"/>
          <p:cNvSpPr txBox="1"/>
          <p:nvPr/>
        </p:nvSpPr>
        <p:spPr>
          <a:xfrm>
            <a:off x="10515600" y="4855464"/>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Score</a:t>
            </a:r>
            <a:endParaRPr lang="en-US" sz="1100" dirty="0"/>
          </a:p>
        </p:txBody>
      </p:sp>
      <p:sp>
        <p:nvSpPr>
          <p:cNvPr id="59" name="motto"/>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500" i="1" dirty="0">
                <a:solidFill>
                  <a:schemeClr val="accent1"/>
                </a:solidFill>
              </a:rPr>
              <a:t>The AI is the eyes; Python is the brain — the AI never invents a quantity, a length or a rate.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Four rules keep the bill honest</a:t>
            </a:r>
            <a:endParaRPr lang="en-US" sz="3000" dirty="0"/>
          </a:p>
        </p:txBody>
      </p:sp>
      <p:sp>
        <p:nvSpPr>
          <p:cNvPr id="4" name="rule card 1"/>
          <p:cNvSpPr/>
          <p:nvPr/>
        </p:nvSpPr>
        <p:spPr>
          <a:xfrm>
            <a:off x="548640" y="146304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rule 1 circle"/>
          <p:cNvSpPr/>
          <p:nvPr/>
        </p:nvSpPr>
        <p:spPr>
          <a:xfrm>
            <a:off x="822960" y="1783080"/>
            <a:ext cx="822960" cy="822960"/>
          </a:xfrm>
          <a:prstGeom prst="ellipse">
            <a:avLst/>
          </a:prstGeom>
          <a:solidFill>
            <a:srgbClr val="2E5BE8"/>
          </a:solidFill>
          <a:ln w="12700">
            <a:solidFill>
              <a:srgbClr val="2E5BE8"/>
            </a:solidFill>
            <a:prstDash val="solid"/>
          </a:ln>
        </p:spPr>
      </p:sp>
      <p:pic>
        <p:nvPicPr>
          <p:cNvPr id="6" name="rule 1 icon" descr="preencoded.png">    </p:cNvPr>
          <p:cNvPicPr>
            <a:picLocks noChangeAspect="1"/>
          </p:cNvPicPr>
          <p:nvPr/>
        </p:nvPicPr>
        <p:blipFill>
          <a:blip r:embed="rId1"/>
          <a:stretch>
            <a:fillRect/>
          </a:stretch>
        </p:blipFill>
        <p:spPr>
          <a:xfrm>
            <a:off x="1036930" y="1997050"/>
            <a:ext cx="395021" cy="395021"/>
          </a:xfrm>
          <a:prstGeom prst="rect">
            <a:avLst/>
          </a:prstGeom>
        </p:spPr>
      </p:pic>
      <p:sp>
        <p:nvSpPr>
          <p:cNvPr id="7" name="rule title 1"/>
          <p:cNvSpPr txBox="1"/>
          <p:nvPr/>
        </p:nvSpPr>
        <p:spPr>
          <a:xfrm>
            <a:off x="1874520" y="1783080"/>
            <a:ext cx="3886200" cy="411480"/>
          </a:xfrm>
          <a:prstGeom prst="rect">
            <a:avLst/>
          </a:prstGeom>
          <a:noFill/>
          <a:ln/>
        </p:spPr>
        <p:txBody>
          <a:bodyPr wrap="square" lIns="0" tIns="0" rIns="0" bIns="0" rtlCol="0" anchor="t"/>
          <a:lstStyle/>
          <a:p>
            <a:pPr indent="0" marL="0">
              <a:buNone/>
            </a:pPr>
            <a:r>
              <a:rPr lang="en-US" sz="1900" b="1" dirty="0">
                <a:solidFill>
                  <a:schemeClr val="tx1"/>
                </a:solidFill>
              </a:rPr>
              <a:t>AI reads, Python decides</a:t>
            </a:r>
            <a:endParaRPr lang="en-US" sz="1900" dirty="0"/>
          </a:p>
        </p:txBody>
      </p:sp>
      <p:sp>
        <p:nvSpPr>
          <p:cNvPr id="8" name="rule text 1"/>
          <p:cNvSpPr txBox="1"/>
          <p:nvPr/>
        </p:nvSpPr>
        <p:spPr>
          <a:xfrm>
            <a:off x="1874520" y="2240280"/>
            <a:ext cx="3886200" cy="1097280"/>
          </a:xfrm>
          <a:prstGeom prst="rect">
            <a:avLst/>
          </a:prstGeom>
          <a:noFill/>
          <a:ln/>
        </p:spPr>
        <p:txBody>
          <a:bodyPr wrap="square" lIns="0" tIns="0" rIns="0" bIns="0" rtlCol="0" anchor="t"/>
          <a:lstStyle/>
          <a:p>
            <a:pPr indent="0" marL="0">
              <a:buNone/>
            </a:pPr>
            <a:r>
              <a:rPr lang="en-US" sz="1400" dirty="0">
                <a:solidFill>
                  <a:schemeClr val="tx2"/>
                </a:solidFill>
              </a:rPr>
              <a:t>The AI only reports what is drawn, through strict forms. Python counts, measures, validates and prices — no AI-invented numbers or rates.</a:t>
            </a:r>
            <a:endParaRPr lang="en-US" sz="1400" dirty="0"/>
          </a:p>
        </p:txBody>
      </p:sp>
      <p:sp>
        <p:nvSpPr>
          <p:cNvPr id="9" name="rule card 2"/>
          <p:cNvSpPr/>
          <p:nvPr/>
        </p:nvSpPr>
        <p:spPr>
          <a:xfrm>
            <a:off x="6172200" y="146304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rule 2 circle"/>
          <p:cNvSpPr/>
          <p:nvPr/>
        </p:nvSpPr>
        <p:spPr>
          <a:xfrm>
            <a:off x="6446520" y="1783080"/>
            <a:ext cx="822960" cy="822960"/>
          </a:xfrm>
          <a:prstGeom prst="ellipse">
            <a:avLst/>
          </a:prstGeom>
          <a:solidFill>
            <a:srgbClr val="F2A900"/>
          </a:solidFill>
          <a:ln w="12700">
            <a:solidFill>
              <a:srgbClr val="F2A900"/>
            </a:solidFill>
            <a:prstDash val="solid"/>
          </a:ln>
        </p:spPr>
      </p:sp>
      <p:pic>
        <p:nvPicPr>
          <p:cNvPr id="11" name="rule 2 icon" descr="preencoded.png">    </p:cNvPr>
          <p:cNvPicPr>
            <a:picLocks noChangeAspect="1"/>
          </p:cNvPicPr>
          <p:nvPr/>
        </p:nvPicPr>
        <p:blipFill>
          <a:blip r:embed="rId2"/>
          <a:stretch>
            <a:fillRect/>
          </a:stretch>
        </p:blipFill>
        <p:spPr>
          <a:xfrm>
            <a:off x="6660490" y="1997050"/>
            <a:ext cx="395021" cy="395021"/>
          </a:xfrm>
          <a:prstGeom prst="rect">
            <a:avLst/>
          </a:prstGeom>
        </p:spPr>
      </p:pic>
      <p:sp>
        <p:nvSpPr>
          <p:cNvPr id="12" name="rule title 2"/>
          <p:cNvSpPr txBox="1"/>
          <p:nvPr/>
        </p:nvSpPr>
        <p:spPr>
          <a:xfrm>
            <a:off x="7498080" y="1783080"/>
            <a:ext cx="3886200" cy="411480"/>
          </a:xfrm>
          <a:prstGeom prst="rect">
            <a:avLst/>
          </a:prstGeom>
          <a:noFill/>
          <a:ln/>
        </p:spPr>
        <p:txBody>
          <a:bodyPr wrap="square" lIns="0" tIns="0" rIns="0" bIns="0" rtlCol="0" anchor="t"/>
          <a:lstStyle/>
          <a:p>
            <a:pPr indent="0" marL="0">
              <a:buNone/>
            </a:pPr>
            <a:r>
              <a:rPr lang="en-US" sz="1900" b="1" dirty="0">
                <a:solidFill>
                  <a:schemeClr val="tx1"/>
                </a:solidFill>
              </a:rPr>
              <a:t>Never silent</a:t>
            </a:r>
            <a:endParaRPr lang="en-US" sz="1900" dirty="0"/>
          </a:p>
        </p:txBody>
      </p:sp>
      <p:sp>
        <p:nvSpPr>
          <p:cNvPr id="13" name="rule text 2"/>
          <p:cNvSpPr txBox="1"/>
          <p:nvPr/>
        </p:nvSpPr>
        <p:spPr>
          <a:xfrm>
            <a:off x="7498080" y="2240280"/>
            <a:ext cx="3886200" cy="1097280"/>
          </a:xfrm>
          <a:prstGeom prst="rect">
            <a:avLst/>
          </a:prstGeom>
          <a:noFill/>
          <a:ln/>
        </p:spPr>
        <p:txBody>
          <a:bodyPr wrap="square" lIns="0" tIns="0" rIns="0" bIns="0" rtlCol="0" anchor="t"/>
          <a:lstStyle/>
          <a:p>
            <a:pPr indent="0" marL="0">
              <a:buNone/>
            </a:pPr>
            <a:r>
              <a:rPr lang="en-US" sz="1400" dirty="0">
                <a:solidFill>
                  <a:schemeClr val="tx2"/>
                </a:solidFill>
              </a:rPr>
              <a:t>Every estimated quantity is tagged INFERRED, ASSUMED or PROVISIONAL, carries its assumption and appears in “things to check”.</a:t>
            </a:r>
            <a:endParaRPr lang="en-US" sz="1400" dirty="0"/>
          </a:p>
        </p:txBody>
      </p:sp>
      <p:sp>
        <p:nvSpPr>
          <p:cNvPr id="14" name="rule card 3"/>
          <p:cNvSpPr/>
          <p:nvPr/>
        </p:nvSpPr>
        <p:spPr>
          <a:xfrm>
            <a:off x="548640" y="370332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rule 3 circle"/>
          <p:cNvSpPr/>
          <p:nvPr/>
        </p:nvSpPr>
        <p:spPr>
          <a:xfrm>
            <a:off x="822960" y="4023360"/>
            <a:ext cx="822960" cy="822960"/>
          </a:xfrm>
          <a:prstGeom prst="ellipse">
            <a:avLst/>
          </a:prstGeom>
          <a:solidFill>
            <a:srgbClr val="2E5BE8"/>
          </a:solidFill>
          <a:ln w="12700">
            <a:solidFill>
              <a:srgbClr val="2E5BE8"/>
            </a:solidFill>
            <a:prstDash val="solid"/>
          </a:ln>
        </p:spPr>
      </p:sp>
      <p:pic>
        <p:nvPicPr>
          <p:cNvPr id="16" name="rule 3 icon" descr="preencoded.png">    </p:cNvPr>
          <p:cNvPicPr>
            <a:picLocks noChangeAspect="1"/>
          </p:cNvPicPr>
          <p:nvPr/>
        </p:nvPicPr>
        <p:blipFill>
          <a:blip r:embed="rId3"/>
          <a:stretch>
            <a:fillRect/>
          </a:stretch>
        </p:blipFill>
        <p:spPr>
          <a:xfrm>
            <a:off x="1036930" y="4237330"/>
            <a:ext cx="395021" cy="395021"/>
          </a:xfrm>
          <a:prstGeom prst="rect">
            <a:avLst/>
          </a:prstGeom>
        </p:spPr>
      </p:pic>
      <p:sp>
        <p:nvSpPr>
          <p:cNvPr id="17" name="rule title 3"/>
          <p:cNvSpPr txBox="1"/>
          <p:nvPr/>
        </p:nvSpPr>
        <p:spPr>
          <a:xfrm>
            <a:off x="1874520" y="4023360"/>
            <a:ext cx="3886200" cy="411480"/>
          </a:xfrm>
          <a:prstGeom prst="rect">
            <a:avLst/>
          </a:prstGeom>
          <a:noFill/>
          <a:ln/>
        </p:spPr>
        <p:txBody>
          <a:bodyPr wrap="square" lIns="0" tIns="0" rIns="0" bIns="0" rtlCol="0" anchor="t"/>
          <a:lstStyle/>
          <a:p>
            <a:pPr indent="0" marL="0">
              <a:buNone/>
            </a:pPr>
            <a:r>
              <a:rPr lang="en-US" sz="1900" b="1" dirty="0">
                <a:solidFill>
                  <a:schemeClr val="tx1"/>
                </a:solidFill>
              </a:rPr>
              <a:t>Stronger evidence wins</a:t>
            </a:r>
            <a:endParaRPr lang="en-US" sz="1900" dirty="0"/>
          </a:p>
        </p:txBody>
      </p:sp>
      <p:sp>
        <p:nvSpPr>
          <p:cNvPr id="18" name="rule text 3"/>
          <p:cNvSpPr txBox="1"/>
          <p:nvPr/>
        </p:nvSpPr>
        <p:spPr>
          <a:xfrm>
            <a:off x="1874520" y="4480560"/>
            <a:ext cx="3886200" cy="1097280"/>
          </a:xfrm>
          <a:prstGeom prst="rect">
            <a:avLst/>
          </a:prstGeom>
          <a:noFill/>
          <a:ln/>
        </p:spPr>
        <p:txBody>
          <a:bodyPr wrap="square" lIns="0" tIns="0" rIns="0" bIns="0" rtlCol="0" anchor="t"/>
          <a:lstStyle/>
          <a:p>
            <a:pPr indent="0" marL="0">
              <a:buNone/>
            </a:pPr>
            <a:r>
              <a:rPr lang="en-US" sz="1400" dirty="0">
                <a:solidFill>
                  <a:schemeClr val="tx2"/>
                </a:solidFill>
              </a:rPr>
              <a:t>A measured route beats a written length beats an assumed one. The same item read twice is billed once.</a:t>
            </a:r>
            <a:endParaRPr lang="en-US" sz="1400" dirty="0"/>
          </a:p>
        </p:txBody>
      </p:sp>
      <p:sp>
        <p:nvSpPr>
          <p:cNvPr id="19" name="rule card 4"/>
          <p:cNvSpPr/>
          <p:nvPr/>
        </p:nvSpPr>
        <p:spPr>
          <a:xfrm>
            <a:off x="6172200" y="370332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rule 4 circle"/>
          <p:cNvSpPr/>
          <p:nvPr/>
        </p:nvSpPr>
        <p:spPr>
          <a:xfrm>
            <a:off x="6446520" y="4023360"/>
            <a:ext cx="822960" cy="822960"/>
          </a:xfrm>
          <a:prstGeom prst="ellipse">
            <a:avLst/>
          </a:prstGeom>
          <a:solidFill>
            <a:srgbClr val="2E5BE8"/>
          </a:solidFill>
          <a:ln w="12700">
            <a:solidFill>
              <a:srgbClr val="2E5BE8"/>
            </a:solidFill>
            <a:prstDash val="solid"/>
          </a:ln>
        </p:spPr>
      </p:sp>
      <p:pic>
        <p:nvPicPr>
          <p:cNvPr id="21" name="rule 4 icon" descr="preencoded.png">    </p:cNvPr>
          <p:cNvPicPr>
            <a:picLocks noChangeAspect="1"/>
          </p:cNvPicPr>
          <p:nvPr/>
        </p:nvPicPr>
        <p:blipFill>
          <a:blip r:embed="rId4"/>
          <a:stretch>
            <a:fillRect/>
          </a:stretch>
        </p:blipFill>
        <p:spPr>
          <a:xfrm>
            <a:off x="6660490" y="4237330"/>
            <a:ext cx="395021" cy="395021"/>
          </a:xfrm>
          <a:prstGeom prst="rect">
            <a:avLst/>
          </a:prstGeom>
        </p:spPr>
      </p:pic>
      <p:sp>
        <p:nvSpPr>
          <p:cNvPr id="22" name="rule title 4"/>
          <p:cNvSpPr txBox="1"/>
          <p:nvPr/>
        </p:nvSpPr>
        <p:spPr>
          <a:xfrm>
            <a:off x="7498080" y="4023360"/>
            <a:ext cx="3886200" cy="411480"/>
          </a:xfrm>
          <a:prstGeom prst="rect">
            <a:avLst/>
          </a:prstGeom>
          <a:noFill/>
          <a:ln/>
        </p:spPr>
        <p:txBody>
          <a:bodyPr wrap="square" lIns="0" tIns="0" rIns="0" bIns="0" rtlCol="0" anchor="t"/>
          <a:lstStyle/>
          <a:p>
            <a:pPr indent="0" marL="0">
              <a:buNone/>
            </a:pPr>
            <a:r>
              <a:rPr lang="en-US" sz="1900" b="1" dirty="0">
                <a:solidFill>
                  <a:schemeClr val="tx1"/>
                </a:solidFill>
              </a:rPr>
              <a:t>Markup applied once</a:t>
            </a:r>
            <a:endParaRPr lang="en-US" sz="1900" dirty="0"/>
          </a:p>
        </p:txBody>
      </p:sp>
      <p:sp>
        <p:nvSpPr>
          <p:cNvPr id="23" name="rule text 4"/>
          <p:cNvSpPr txBox="1"/>
          <p:nvPr/>
        </p:nvSpPr>
        <p:spPr>
          <a:xfrm>
            <a:off x="7498080" y="4480560"/>
            <a:ext cx="3886200" cy="1097280"/>
          </a:xfrm>
          <a:prstGeom prst="rect">
            <a:avLst/>
          </a:prstGeom>
          <a:noFill/>
          <a:ln/>
        </p:spPr>
        <p:txBody>
          <a:bodyPr wrap="square" lIns="0" tIns="0" rIns="0" bIns="0" rtlCol="0" anchor="t"/>
          <a:lstStyle/>
          <a:p>
            <a:pPr indent="0" marL="0">
              <a:buNone/>
            </a:pPr>
            <a:r>
              <a:rPr lang="en-US" sz="1400" dirty="0">
                <a:solidFill>
                  <a:schemeClr val="tx2"/>
                </a:solidFill>
              </a:rPr>
              <a:t>Rates already carry the material markup; the extra markup starts at 0 % so nothing is charged twice.</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Two ways to produce a BoQ — pick the one that fits the job</a:t>
            </a:r>
            <a:endParaRPr lang="en-US" sz="3000" dirty="0"/>
          </a:p>
        </p:txBody>
      </p:sp>
      <p:sp>
        <p:nvSpPr>
          <p:cNvPr id="4" name="Web app column"/>
          <p:cNvSpPr/>
          <p:nvPr/>
        </p:nvSpPr>
        <p:spPr>
          <a:xfrm>
            <a:off x="548640" y="1417320"/>
            <a:ext cx="5440680" cy="4206240"/>
          </a:xfrm>
          <a:prstGeom prst="roundRect">
            <a:avLst>
              <a:gd name="adj" fmla="val 2609"/>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Web app circle"/>
          <p:cNvSpPr/>
          <p:nvPr/>
        </p:nvSpPr>
        <p:spPr>
          <a:xfrm>
            <a:off x="822960" y="1645920"/>
            <a:ext cx="731520" cy="731520"/>
          </a:xfrm>
          <a:prstGeom prst="ellipse">
            <a:avLst/>
          </a:prstGeom>
          <a:solidFill>
            <a:srgbClr val="2E5BE8"/>
          </a:solidFill>
          <a:ln w="12700">
            <a:solidFill>
              <a:srgbClr val="2E5BE8"/>
            </a:solidFill>
            <a:prstDash val="solid"/>
          </a:ln>
        </p:spPr>
      </p:sp>
      <p:pic>
        <p:nvPicPr>
          <p:cNvPr id="6" name="Web app icon" descr="preencoded.png">    </p:cNvPr>
          <p:cNvPicPr>
            <a:picLocks noChangeAspect="1"/>
          </p:cNvPicPr>
          <p:nvPr/>
        </p:nvPicPr>
        <p:blipFill>
          <a:blip r:embed="rId1"/>
          <a:stretch>
            <a:fillRect/>
          </a:stretch>
        </p:blipFill>
        <p:spPr>
          <a:xfrm>
            <a:off x="1013155" y="1836115"/>
            <a:ext cx="351130" cy="351130"/>
          </a:xfrm>
          <a:prstGeom prst="rect">
            <a:avLst/>
          </a:prstGeom>
        </p:spPr>
      </p:pic>
      <p:sp>
        <p:nvSpPr>
          <p:cNvPr id="7" name="Web app title"/>
          <p:cNvSpPr txBox="1"/>
          <p:nvPr/>
        </p:nvSpPr>
        <p:spPr>
          <a:xfrm>
            <a:off x="173736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Web app</a:t>
            </a:r>
            <a:endParaRPr lang="en-US" sz="2200" dirty="0"/>
          </a:p>
        </p:txBody>
      </p:sp>
      <p:sp>
        <p:nvSpPr>
          <p:cNvPr id="8" name="Web app subtitle"/>
          <p:cNvSpPr txBox="1"/>
          <p:nvPr/>
        </p:nvSpPr>
        <p:spPr>
          <a:xfrm>
            <a:off x="173736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in the browser</a:t>
            </a:r>
            <a:endParaRPr lang="en-US" sz="1300" dirty="0"/>
          </a:p>
        </p:txBody>
      </p:sp>
      <p:sp>
        <p:nvSpPr>
          <p:cNvPr id="9" name="Web app row label 1"/>
          <p:cNvSpPr txBox="1"/>
          <p:nvPr/>
        </p:nvSpPr>
        <p:spPr>
          <a:xfrm>
            <a:off x="82296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10" name="Web app row text 1"/>
          <p:cNvSpPr txBox="1"/>
          <p:nvPr/>
        </p:nvSpPr>
        <p:spPr>
          <a:xfrm>
            <a:off x="214884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contractors, quick DWG/DXF jobs, demos</a:t>
            </a:r>
            <a:endParaRPr lang="en-US" sz="1350" dirty="0"/>
          </a:p>
        </p:txBody>
      </p:sp>
      <p:sp>
        <p:nvSpPr>
          <p:cNvPr id="11" name="Web app row label 2"/>
          <p:cNvSpPr txBox="1"/>
          <p:nvPr/>
        </p:nvSpPr>
        <p:spPr>
          <a:xfrm>
            <a:off x="82296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12" name="Web app row text 2"/>
          <p:cNvSpPr txBox="1"/>
          <p:nvPr/>
        </p:nvSpPr>
        <p:spPr>
          <a:xfrm>
            <a:off x="214884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upload drawings → Take-off → BoQ → export</a:t>
            </a:r>
            <a:endParaRPr lang="en-US" sz="1350" dirty="0"/>
          </a:p>
        </p:txBody>
      </p:sp>
      <p:sp>
        <p:nvSpPr>
          <p:cNvPr id="13" name="Web app row label 3"/>
          <p:cNvSpPr txBox="1"/>
          <p:nvPr/>
        </p:nvSpPr>
        <p:spPr>
          <a:xfrm>
            <a:off x="82296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14" name="Web app row text 3"/>
          <p:cNvSpPr txBox="1"/>
          <p:nvPr/>
        </p:nvSpPr>
        <p:spPr>
          <a:xfrm>
            <a:off x="214884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Claude API (paid) or Gemini (free, slower, daily limit)</a:t>
            </a:r>
            <a:endParaRPr lang="en-US" sz="1350" dirty="0"/>
          </a:p>
        </p:txBody>
      </p:sp>
      <p:sp>
        <p:nvSpPr>
          <p:cNvPr id="15" name="Web app row label 4"/>
          <p:cNvSpPr txBox="1"/>
          <p:nvPr/>
        </p:nvSpPr>
        <p:spPr>
          <a:xfrm>
            <a:off x="82296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16" name="Web app row text 4"/>
          <p:cNvSpPr txBox="1"/>
          <p:nvPr/>
        </p:nvSpPr>
        <p:spPr>
          <a:xfrm>
            <a:off x="214884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free and exact, about 1–2 minutes</a:t>
            </a:r>
            <a:endParaRPr lang="en-US" sz="1350" dirty="0"/>
          </a:p>
        </p:txBody>
      </p:sp>
      <p:sp>
        <p:nvSpPr>
          <p:cNvPr id="17" name="Web app row label 5"/>
          <p:cNvSpPr txBox="1"/>
          <p:nvPr/>
        </p:nvSpPr>
        <p:spPr>
          <a:xfrm>
            <a:off x="82296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18" name="Web app row text 5"/>
          <p:cNvSpPr txBox="1"/>
          <p:nvPr/>
        </p:nvSpPr>
        <p:spPr>
          <a:xfrm>
            <a:off x="214884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BoQ on screen, Excel &amp; PDF tender document</a:t>
            </a:r>
            <a:endParaRPr lang="en-US" sz="1350" dirty="0"/>
          </a:p>
        </p:txBody>
      </p:sp>
      <p:sp>
        <p:nvSpPr>
          <p:cNvPr id="19" name="DOE workflow column"/>
          <p:cNvSpPr/>
          <p:nvPr/>
        </p:nvSpPr>
        <p:spPr>
          <a:xfrm>
            <a:off x="6172200" y="1417320"/>
            <a:ext cx="5440680" cy="4206240"/>
          </a:xfrm>
          <a:prstGeom prst="roundRect">
            <a:avLst>
              <a:gd name="adj" fmla="val 2609"/>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DOE workflow circle"/>
          <p:cNvSpPr/>
          <p:nvPr/>
        </p:nvSpPr>
        <p:spPr>
          <a:xfrm>
            <a:off x="6446520" y="1645920"/>
            <a:ext cx="731520" cy="731520"/>
          </a:xfrm>
          <a:prstGeom prst="ellipse">
            <a:avLst/>
          </a:prstGeom>
          <a:solidFill>
            <a:srgbClr val="2E5BE8"/>
          </a:solidFill>
          <a:ln w="12700">
            <a:solidFill>
              <a:srgbClr val="2E5BE8"/>
            </a:solidFill>
            <a:prstDash val="solid"/>
          </a:ln>
        </p:spPr>
      </p:sp>
      <p:pic>
        <p:nvPicPr>
          <p:cNvPr id="21" name="DOE workflow icon" descr="preencoded.png">    </p:cNvPr>
          <p:cNvPicPr>
            <a:picLocks noChangeAspect="1"/>
          </p:cNvPicPr>
          <p:nvPr/>
        </p:nvPicPr>
        <p:blipFill>
          <a:blip r:embed="rId2"/>
          <a:stretch>
            <a:fillRect/>
          </a:stretch>
        </p:blipFill>
        <p:spPr>
          <a:xfrm>
            <a:off x="6636715" y="1836115"/>
            <a:ext cx="351130" cy="351130"/>
          </a:xfrm>
          <a:prstGeom prst="rect">
            <a:avLst/>
          </a:prstGeom>
        </p:spPr>
      </p:pic>
      <p:sp>
        <p:nvSpPr>
          <p:cNvPr id="22" name="DOE workflow title"/>
          <p:cNvSpPr txBox="1"/>
          <p:nvPr/>
        </p:nvSpPr>
        <p:spPr>
          <a:xfrm>
            <a:off x="736092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DOE workflow</a:t>
            </a:r>
            <a:endParaRPr lang="en-US" sz="2200" dirty="0"/>
          </a:p>
        </p:txBody>
      </p:sp>
      <p:sp>
        <p:nvSpPr>
          <p:cNvPr id="23" name="DOE workflow subtitle"/>
          <p:cNvSpPr txBox="1"/>
          <p:nvPr/>
        </p:nvSpPr>
        <p:spPr>
          <a:xfrm>
            <a:off x="736092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VS Code + Claude Code</a:t>
            </a:r>
            <a:endParaRPr lang="en-US" sz="1300" dirty="0"/>
          </a:p>
        </p:txBody>
      </p:sp>
      <p:sp>
        <p:nvSpPr>
          <p:cNvPr id="24" name="DOE workflow row label 1"/>
          <p:cNvSpPr txBox="1"/>
          <p:nvPr/>
        </p:nvSpPr>
        <p:spPr>
          <a:xfrm>
            <a:off x="644652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25" name="DOE workflow row text 1"/>
          <p:cNvSpPr txBox="1"/>
          <p:nvPr/>
        </p:nvSpPr>
        <p:spPr>
          <a:xfrm>
            <a:off x="777240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your own estimating on a real project folder</a:t>
            </a:r>
            <a:endParaRPr lang="en-US" sz="1350" dirty="0"/>
          </a:p>
        </p:txBody>
      </p:sp>
      <p:sp>
        <p:nvSpPr>
          <p:cNvPr id="26" name="DOE workflow row label 2"/>
          <p:cNvSpPr txBox="1"/>
          <p:nvPr/>
        </p:nvSpPr>
        <p:spPr>
          <a:xfrm>
            <a:off x="644652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27" name="DOE workflow row text 2"/>
          <p:cNvSpPr txBox="1"/>
          <p:nvPr/>
        </p:nvSpPr>
        <p:spPr>
          <a:xfrm>
            <a:off x="777240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“estimate the project in &lt;folder&gt;”</a:t>
            </a:r>
            <a:endParaRPr lang="en-US" sz="1350" dirty="0"/>
          </a:p>
        </p:txBody>
      </p:sp>
      <p:sp>
        <p:nvSpPr>
          <p:cNvPr id="28" name="DOE workflow row label 3"/>
          <p:cNvSpPr txBox="1"/>
          <p:nvPr/>
        </p:nvSpPr>
        <p:spPr>
          <a:xfrm>
            <a:off x="644652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29" name="DOE workflow row text 3"/>
          <p:cNvSpPr txBox="1"/>
          <p:nvPr/>
        </p:nvSpPr>
        <p:spPr>
          <a:xfrm>
            <a:off x="777240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Claude Code reads every page — on your subscription, no API bill</a:t>
            </a:r>
            <a:endParaRPr lang="en-US" sz="1350" dirty="0"/>
          </a:p>
        </p:txBody>
      </p:sp>
      <p:sp>
        <p:nvSpPr>
          <p:cNvPr id="30" name="DOE workflow row label 4"/>
          <p:cNvSpPr txBox="1"/>
          <p:nvPr/>
        </p:nvSpPr>
        <p:spPr>
          <a:xfrm>
            <a:off x="644652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31" name="DOE workflow row text 4"/>
          <p:cNvSpPr txBox="1"/>
          <p:nvPr/>
        </p:nvSpPr>
        <p:spPr>
          <a:xfrm>
            <a:off x="777240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the same CAD reader, combined with the PDF forms</a:t>
            </a:r>
            <a:endParaRPr lang="en-US" sz="1350" dirty="0"/>
          </a:p>
        </p:txBody>
      </p:sp>
      <p:sp>
        <p:nvSpPr>
          <p:cNvPr id="32" name="DOE workflow row label 5"/>
          <p:cNvSpPr txBox="1"/>
          <p:nvPr/>
        </p:nvSpPr>
        <p:spPr>
          <a:xfrm>
            <a:off x="644652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33" name="DOE workflow row text 5"/>
          <p:cNvSpPr txBox="1"/>
          <p:nvPr/>
        </p:nvSpPr>
        <p:spPr>
          <a:xfrm>
            <a:off x="777240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Excel + PDF + things to check + accuracy report in the folder</a:t>
            </a:r>
            <a:endParaRPr lang="en-US" sz="1350" dirty="0"/>
          </a:p>
        </p:txBody>
      </p:sp>
      <p:sp>
        <p:nvSpPr>
          <p:cNvPr id="34" name="best note"/>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Best measured accuracy today: the DOE workflow (PDF + DWG combined) — see the accuracy section.</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web app in seven steps</a:t>
            </a:r>
            <a:endParaRPr lang="en-US" sz="3000" dirty="0"/>
          </a:p>
        </p:txBody>
      </p:sp>
      <p:sp>
        <p:nvSpPr>
          <p:cNvPr id="4" name="web step 1 circle"/>
          <p:cNvSpPr/>
          <p:nvPr/>
        </p:nvSpPr>
        <p:spPr>
          <a:xfrm>
            <a:off x="881743" y="1828800"/>
            <a:ext cx="914400" cy="914400"/>
          </a:xfrm>
          <a:prstGeom prst="ellipse">
            <a:avLst/>
          </a:prstGeom>
          <a:solidFill>
            <a:srgbClr val="2E5BE8"/>
          </a:solidFill>
          <a:ln w="12700">
            <a:solidFill>
              <a:srgbClr val="2E5BE8"/>
            </a:solidFill>
            <a:prstDash val="solid"/>
          </a:ln>
        </p:spPr>
      </p:sp>
      <p:pic>
        <p:nvPicPr>
          <p:cNvPr id="5" name="web step 1 icon" descr="preencoded.png">    </p:cNvPr>
          <p:cNvPicPr>
            <a:picLocks noChangeAspect="1"/>
          </p:cNvPicPr>
          <p:nvPr/>
        </p:nvPicPr>
        <p:blipFill>
          <a:blip r:embed="rId1"/>
          <a:stretch>
            <a:fillRect/>
          </a:stretch>
        </p:blipFill>
        <p:spPr>
          <a:xfrm>
            <a:off x="1119487" y="2066544"/>
            <a:ext cx="438912" cy="438912"/>
          </a:xfrm>
          <a:prstGeom prst="rect">
            <a:avLst/>
          </a:prstGeom>
        </p:spPr>
      </p:pic>
      <p:sp>
        <p:nvSpPr>
          <p:cNvPr id="6" name="Shape 2"/>
          <p:cNvSpPr/>
          <p:nvPr/>
        </p:nvSpPr>
        <p:spPr>
          <a:xfrm>
            <a:off x="1869295" y="2286000"/>
            <a:ext cx="519902" cy="0"/>
          </a:xfrm>
          <a:prstGeom prst="line">
            <a:avLst/>
          </a:prstGeom>
          <a:noFill/>
          <a:ln w="25400">
            <a:solidFill>
              <a:srgbClr val="8A93AB"/>
            </a:solidFill>
            <a:prstDash val="solid"/>
            <a:tailEnd type="triangle"/>
          </a:ln>
        </p:spPr>
      </p:sp>
      <p:sp>
        <p:nvSpPr>
          <p:cNvPr id="7" name="web step number 1"/>
          <p:cNvSpPr txBox="1"/>
          <p:nvPr/>
        </p:nvSpPr>
        <p:spPr>
          <a:xfrm>
            <a:off x="1156063"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1</a:t>
            </a:r>
            <a:endParaRPr lang="en-US" sz="1300" dirty="0"/>
          </a:p>
        </p:txBody>
      </p:sp>
      <p:sp>
        <p:nvSpPr>
          <p:cNvPr id="8" name="web step title 1"/>
          <p:cNvSpPr txBox="1"/>
          <p:nvPr/>
        </p:nvSpPr>
        <p:spPr>
          <a:xfrm>
            <a:off x="594360"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Sign in</a:t>
            </a:r>
            <a:endParaRPr lang="en-US" sz="1700" dirty="0"/>
          </a:p>
        </p:txBody>
      </p:sp>
      <p:sp>
        <p:nvSpPr>
          <p:cNvPr id="9" name="web step text 1"/>
          <p:cNvSpPr txBox="1"/>
          <p:nvPr/>
        </p:nvSpPr>
        <p:spPr>
          <a:xfrm>
            <a:off x="640080"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demo login, pre-filled</a:t>
            </a:r>
            <a:endParaRPr lang="en-US" sz="1250" dirty="0"/>
          </a:p>
        </p:txBody>
      </p:sp>
      <p:sp>
        <p:nvSpPr>
          <p:cNvPr id="10" name="web step 2 circle"/>
          <p:cNvSpPr/>
          <p:nvPr/>
        </p:nvSpPr>
        <p:spPr>
          <a:xfrm>
            <a:off x="2462349" y="1828800"/>
            <a:ext cx="914400" cy="914400"/>
          </a:xfrm>
          <a:prstGeom prst="ellipse">
            <a:avLst/>
          </a:prstGeom>
          <a:solidFill>
            <a:srgbClr val="2E5BE8"/>
          </a:solidFill>
          <a:ln w="12700">
            <a:solidFill>
              <a:srgbClr val="2E5BE8"/>
            </a:solidFill>
            <a:prstDash val="solid"/>
          </a:ln>
        </p:spPr>
      </p:sp>
      <p:pic>
        <p:nvPicPr>
          <p:cNvPr id="11" name="web step 2 icon" descr="preencoded.png">    </p:cNvPr>
          <p:cNvPicPr>
            <a:picLocks noChangeAspect="1"/>
          </p:cNvPicPr>
          <p:nvPr/>
        </p:nvPicPr>
        <p:blipFill>
          <a:blip r:embed="rId2"/>
          <a:stretch>
            <a:fillRect/>
          </a:stretch>
        </p:blipFill>
        <p:spPr>
          <a:xfrm>
            <a:off x="2700093" y="2066544"/>
            <a:ext cx="438912" cy="438912"/>
          </a:xfrm>
          <a:prstGeom prst="rect">
            <a:avLst/>
          </a:prstGeom>
        </p:spPr>
      </p:pic>
      <p:sp>
        <p:nvSpPr>
          <p:cNvPr id="12" name="Shape 7"/>
          <p:cNvSpPr/>
          <p:nvPr/>
        </p:nvSpPr>
        <p:spPr>
          <a:xfrm>
            <a:off x="3449901" y="2286000"/>
            <a:ext cx="519902" cy="0"/>
          </a:xfrm>
          <a:prstGeom prst="line">
            <a:avLst/>
          </a:prstGeom>
          <a:noFill/>
          <a:ln w="25400">
            <a:solidFill>
              <a:srgbClr val="8A93AB"/>
            </a:solidFill>
            <a:prstDash val="solid"/>
            <a:tailEnd type="triangle"/>
          </a:ln>
        </p:spPr>
      </p:sp>
      <p:sp>
        <p:nvSpPr>
          <p:cNvPr id="13" name="web step number 2"/>
          <p:cNvSpPr txBox="1"/>
          <p:nvPr/>
        </p:nvSpPr>
        <p:spPr>
          <a:xfrm>
            <a:off x="2736669"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2</a:t>
            </a:r>
            <a:endParaRPr lang="en-US" sz="1300" dirty="0"/>
          </a:p>
        </p:txBody>
      </p:sp>
      <p:sp>
        <p:nvSpPr>
          <p:cNvPr id="14" name="web step title 2"/>
          <p:cNvSpPr txBox="1"/>
          <p:nvPr/>
        </p:nvSpPr>
        <p:spPr>
          <a:xfrm>
            <a:off x="2174966"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Upload</a:t>
            </a:r>
            <a:endParaRPr lang="en-US" sz="1700" dirty="0"/>
          </a:p>
        </p:txBody>
      </p:sp>
      <p:sp>
        <p:nvSpPr>
          <p:cNvPr id="15" name="web step text 2"/>
          <p:cNvSpPr txBox="1"/>
          <p:nvPr/>
        </p:nvSpPr>
        <p:spPr>
          <a:xfrm>
            <a:off x="2220686"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DXF/DWG, PDF or both</a:t>
            </a:r>
            <a:endParaRPr lang="en-US" sz="1250" dirty="0"/>
          </a:p>
        </p:txBody>
      </p:sp>
      <p:sp>
        <p:nvSpPr>
          <p:cNvPr id="16" name="web step 3 circle"/>
          <p:cNvSpPr/>
          <p:nvPr/>
        </p:nvSpPr>
        <p:spPr>
          <a:xfrm>
            <a:off x="4042954" y="1828800"/>
            <a:ext cx="914400" cy="914400"/>
          </a:xfrm>
          <a:prstGeom prst="ellipse">
            <a:avLst/>
          </a:prstGeom>
          <a:solidFill>
            <a:srgbClr val="F2A900"/>
          </a:solidFill>
          <a:ln w="12700">
            <a:solidFill>
              <a:srgbClr val="F2A900"/>
            </a:solidFill>
            <a:prstDash val="solid"/>
          </a:ln>
        </p:spPr>
      </p:sp>
      <p:pic>
        <p:nvPicPr>
          <p:cNvPr id="17" name="web step 3 icon" descr="preencoded.png">    </p:cNvPr>
          <p:cNvPicPr>
            <a:picLocks noChangeAspect="1"/>
          </p:cNvPicPr>
          <p:nvPr/>
        </p:nvPicPr>
        <p:blipFill>
          <a:blip r:embed="rId3"/>
          <a:stretch>
            <a:fillRect/>
          </a:stretch>
        </p:blipFill>
        <p:spPr>
          <a:xfrm>
            <a:off x="4280698" y="2066544"/>
            <a:ext cx="438912" cy="438912"/>
          </a:xfrm>
          <a:prstGeom prst="rect">
            <a:avLst/>
          </a:prstGeom>
        </p:spPr>
      </p:pic>
      <p:sp>
        <p:nvSpPr>
          <p:cNvPr id="18" name="Shape 12"/>
          <p:cNvSpPr/>
          <p:nvPr/>
        </p:nvSpPr>
        <p:spPr>
          <a:xfrm>
            <a:off x="5030506" y="2286000"/>
            <a:ext cx="519902" cy="0"/>
          </a:xfrm>
          <a:prstGeom prst="line">
            <a:avLst/>
          </a:prstGeom>
          <a:noFill/>
          <a:ln w="25400">
            <a:solidFill>
              <a:srgbClr val="8A93AB"/>
            </a:solidFill>
            <a:prstDash val="solid"/>
            <a:tailEnd type="triangle"/>
          </a:ln>
        </p:spPr>
      </p:sp>
      <p:sp>
        <p:nvSpPr>
          <p:cNvPr id="19" name="web step number 3"/>
          <p:cNvSpPr txBox="1"/>
          <p:nvPr/>
        </p:nvSpPr>
        <p:spPr>
          <a:xfrm>
            <a:off x="4317274"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3</a:t>
            </a:r>
            <a:endParaRPr lang="en-US" sz="1300" dirty="0"/>
          </a:p>
        </p:txBody>
      </p:sp>
      <p:sp>
        <p:nvSpPr>
          <p:cNvPr id="20" name="web step title 3"/>
          <p:cNvSpPr txBox="1"/>
          <p:nvPr/>
        </p:nvSpPr>
        <p:spPr>
          <a:xfrm>
            <a:off x="3755571"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Take-off</a:t>
            </a:r>
            <a:endParaRPr lang="en-US" sz="1700" dirty="0"/>
          </a:p>
        </p:txBody>
      </p:sp>
      <p:sp>
        <p:nvSpPr>
          <p:cNvPr id="21" name="web step text 3"/>
          <p:cNvSpPr txBox="1"/>
          <p:nvPr/>
        </p:nvSpPr>
        <p:spPr>
          <a:xfrm>
            <a:off x="3801291"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live progress, then the drawing set &amp; gaps</a:t>
            </a:r>
            <a:endParaRPr lang="en-US" sz="1250" dirty="0"/>
          </a:p>
        </p:txBody>
      </p:sp>
      <p:sp>
        <p:nvSpPr>
          <p:cNvPr id="22" name="web step 4 circle"/>
          <p:cNvSpPr/>
          <p:nvPr/>
        </p:nvSpPr>
        <p:spPr>
          <a:xfrm>
            <a:off x="5623560" y="1828800"/>
            <a:ext cx="914400" cy="914400"/>
          </a:xfrm>
          <a:prstGeom prst="ellipse">
            <a:avLst/>
          </a:prstGeom>
          <a:solidFill>
            <a:srgbClr val="2E5BE8"/>
          </a:solidFill>
          <a:ln w="12700">
            <a:solidFill>
              <a:srgbClr val="2E5BE8"/>
            </a:solidFill>
            <a:prstDash val="solid"/>
          </a:ln>
        </p:spPr>
      </p:sp>
      <p:pic>
        <p:nvPicPr>
          <p:cNvPr id="23" name="web step 4 icon" descr="preencoded.png">    </p:cNvPr>
          <p:cNvPicPr>
            <a:picLocks noChangeAspect="1"/>
          </p:cNvPicPr>
          <p:nvPr/>
        </p:nvPicPr>
        <p:blipFill>
          <a:blip r:embed="rId4"/>
          <a:stretch>
            <a:fillRect/>
          </a:stretch>
        </p:blipFill>
        <p:spPr>
          <a:xfrm>
            <a:off x="5861304" y="2066544"/>
            <a:ext cx="438912" cy="438912"/>
          </a:xfrm>
          <a:prstGeom prst="rect">
            <a:avLst/>
          </a:prstGeom>
        </p:spPr>
      </p:pic>
      <p:sp>
        <p:nvSpPr>
          <p:cNvPr id="24" name="Shape 17"/>
          <p:cNvSpPr/>
          <p:nvPr/>
        </p:nvSpPr>
        <p:spPr>
          <a:xfrm>
            <a:off x="6611112" y="2286000"/>
            <a:ext cx="519902" cy="0"/>
          </a:xfrm>
          <a:prstGeom prst="line">
            <a:avLst/>
          </a:prstGeom>
          <a:noFill/>
          <a:ln w="25400">
            <a:solidFill>
              <a:srgbClr val="8A93AB"/>
            </a:solidFill>
            <a:prstDash val="solid"/>
            <a:tailEnd type="triangle"/>
          </a:ln>
        </p:spPr>
      </p:sp>
      <p:sp>
        <p:nvSpPr>
          <p:cNvPr id="25" name="web step number 4"/>
          <p:cNvSpPr txBox="1"/>
          <p:nvPr/>
        </p:nvSpPr>
        <p:spPr>
          <a:xfrm>
            <a:off x="5897880"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4</a:t>
            </a:r>
            <a:endParaRPr lang="en-US" sz="1300" dirty="0"/>
          </a:p>
        </p:txBody>
      </p:sp>
      <p:sp>
        <p:nvSpPr>
          <p:cNvPr id="26" name="web step title 4"/>
          <p:cNvSpPr txBox="1"/>
          <p:nvPr/>
        </p:nvSpPr>
        <p:spPr>
          <a:xfrm>
            <a:off x="5336177"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BoQ</a:t>
            </a:r>
            <a:endParaRPr lang="en-US" sz="1700" dirty="0"/>
          </a:p>
        </p:txBody>
      </p:sp>
      <p:sp>
        <p:nvSpPr>
          <p:cNvPr id="27" name="web step text 4"/>
          <p:cNvSpPr txBox="1"/>
          <p:nvPr/>
        </p:nvSpPr>
        <p:spPr>
          <a:xfrm>
            <a:off x="5381897"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every line with its evidence</a:t>
            </a:r>
            <a:endParaRPr lang="en-US" sz="1250" dirty="0"/>
          </a:p>
        </p:txBody>
      </p:sp>
      <p:sp>
        <p:nvSpPr>
          <p:cNvPr id="28" name="web step 5 circle"/>
          <p:cNvSpPr/>
          <p:nvPr/>
        </p:nvSpPr>
        <p:spPr>
          <a:xfrm>
            <a:off x="7204166" y="1828800"/>
            <a:ext cx="914400" cy="914400"/>
          </a:xfrm>
          <a:prstGeom prst="ellipse">
            <a:avLst/>
          </a:prstGeom>
          <a:solidFill>
            <a:srgbClr val="2E5BE8"/>
          </a:solidFill>
          <a:ln w="12700">
            <a:solidFill>
              <a:srgbClr val="2E5BE8"/>
            </a:solidFill>
            <a:prstDash val="solid"/>
          </a:ln>
        </p:spPr>
      </p:sp>
      <p:pic>
        <p:nvPicPr>
          <p:cNvPr id="29" name="web step 5 icon" descr="preencoded.png">    </p:cNvPr>
          <p:cNvPicPr>
            <a:picLocks noChangeAspect="1"/>
          </p:cNvPicPr>
          <p:nvPr/>
        </p:nvPicPr>
        <p:blipFill>
          <a:blip r:embed="rId5"/>
          <a:stretch>
            <a:fillRect/>
          </a:stretch>
        </p:blipFill>
        <p:spPr>
          <a:xfrm>
            <a:off x="7441910" y="2066544"/>
            <a:ext cx="438912" cy="438912"/>
          </a:xfrm>
          <a:prstGeom prst="rect">
            <a:avLst/>
          </a:prstGeom>
        </p:spPr>
      </p:pic>
      <p:sp>
        <p:nvSpPr>
          <p:cNvPr id="30" name="Shape 22"/>
          <p:cNvSpPr/>
          <p:nvPr/>
        </p:nvSpPr>
        <p:spPr>
          <a:xfrm>
            <a:off x="8191718" y="2286000"/>
            <a:ext cx="519902" cy="0"/>
          </a:xfrm>
          <a:prstGeom prst="line">
            <a:avLst/>
          </a:prstGeom>
          <a:noFill/>
          <a:ln w="25400">
            <a:solidFill>
              <a:srgbClr val="8A93AB"/>
            </a:solidFill>
            <a:prstDash val="solid"/>
            <a:tailEnd type="triangle"/>
          </a:ln>
        </p:spPr>
      </p:sp>
      <p:sp>
        <p:nvSpPr>
          <p:cNvPr id="31" name="web step number 5"/>
          <p:cNvSpPr txBox="1"/>
          <p:nvPr/>
        </p:nvSpPr>
        <p:spPr>
          <a:xfrm>
            <a:off x="7478486"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5</a:t>
            </a:r>
            <a:endParaRPr lang="en-US" sz="1300" dirty="0"/>
          </a:p>
        </p:txBody>
      </p:sp>
      <p:sp>
        <p:nvSpPr>
          <p:cNvPr id="32" name="web step title 5"/>
          <p:cNvSpPr txBox="1"/>
          <p:nvPr/>
        </p:nvSpPr>
        <p:spPr>
          <a:xfrm>
            <a:off x="6916783"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Pricing</a:t>
            </a:r>
            <a:endParaRPr lang="en-US" sz="1700" dirty="0"/>
          </a:p>
        </p:txBody>
      </p:sp>
      <p:sp>
        <p:nvSpPr>
          <p:cNvPr id="33" name="web step text 5"/>
          <p:cNvSpPr txBox="1"/>
          <p:nvPr/>
        </p:nvSpPr>
        <p:spPr>
          <a:xfrm>
            <a:off x="6962503"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supplier quotes, apply one</a:t>
            </a:r>
            <a:endParaRPr lang="en-US" sz="1250" dirty="0"/>
          </a:p>
        </p:txBody>
      </p:sp>
      <p:sp>
        <p:nvSpPr>
          <p:cNvPr id="34" name="web step 6 circle"/>
          <p:cNvSpPr/>
          <p:nvPr/>
        </p:nvSpPr>
        <p:spPr>
          <a:xfrm>
            <a:off x="8784771" y="1828800"/>
            <a:ext cx="914400" cy="914400"/>
          </a:xfrm>
          <a:prstGeom prst="ellipse">
            <a:avLst/>
          </a:prstGeom>
          <a:solidFill>
            <a:srgbClr val="2E5BE8"/>
          </a:solidFill>
          <a:ln w="12700">
            <a:solidFill>
              <a:srgbClr val="2E5BE8"/>
            </a:solidFill>
            <a:prstDash val="solid"/>
          </a:ln>
        </p:spPr>
      </p:sp>
      <p:pic>
        <p:nvPicPr>
          <p:cNvPr id="35" name="web step 6 icon" descr="preencoded.png">    </p:cNvPr>
          <p:cNvPicPr>
            <a:picLocks noChangeAspect="1"/>
          </p:cNvPicPr>
          <p:nvPr/>
        </p:nvPicPr>
        <p:blipFill>
          <a:blip r:embed="rId6"/>
          <a:stretch>
            <a:fillRect/>
          </a:stretch>
        </p:blipFill>
        <p:spPr>
          <a:xfrm>
            <a:off x="9022515" y="2066544"/>
            <a:ext cx="438912" cy="438912"/>
          </a:xfrm>
          <a:prstGeom prst="rect">
            <a:avLst/>
          </a:prstGeom>
        </p:spPr>
      </p:pic>
      <p:sp>
        <p:nvSpPr>
          <p:cNvPr id="36" name="Shape 27"/>
          <p:cNvSpPr/>
          <p:nvPr/>
        </p:nvSpPr>
        <p:spPr>
          <a:xfrm>
            <a:off x="9772323" y="2286000"/>
            <a:ext cx="519902" cy="0"/>
          </a:xfrm>
          <a:prstGeom prst="line">
            <a:avLst/>
          </a:prstGeom>
          <a:noFill/>
          <a:ln w="25400">
            <a:solidFill>
              <a:srgbClr val="8A93AB"/>
            </a:solidFill>
            <a:prstDash val="solid"/>
            <a:tailEnd type="triangle"/>
          </a:ln>
        </p:spPr>
      </p:sp>
      <p:sp>
        <p:nvSpPr>
          <p:cNvPr id="37" name="web step number 6"/>
          <p:cNvSpPr txBox="1"/>
          <p:nvPr/>
        </p:nvSpPr>
        <p:spPr>
          <a:xfrm>
            <a:off x="9059091"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6</a:t>
            </a:r>
            <a:endParaRPr lang="en-US" sz="1300" dirty="0"/>
          </a:p>
        </p:txBody>
      </p:sp>
      <p:sp>
        <p:nvSpPr>
          <p:cNvPr id="38" name="web step title 6"/>
          <p:cNvSpPr txBox="1"/>
          <p:nvPr/>
        </p:nvSpPr>
        <p:spPr>
          <a:xfrm>
            <a:off x="8497389"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Export</a:t>
            </a:r>
            <a:endParaRPr lang="en-US" sz="1700" dirty="0"/>
          </a:p>
        </p:txBody>
      </p:sp>
      <p:sp>
        <p:nvSpPr>
          <p:cNvPr id="39" name="web step text 6"/>
          <p:cNvSpPr txBox="1"/>
          <p:nvPr/>
        </p:nvSpPr>
        <p:spPr>
          <a:xfrm>
            <a:off x="8543109"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Excel &amp; PDF, email</a:t>
            </a:r>
            <a:endParaRPr lang="en-US" sz="1250" dirty="0"/>
          </a:p>
        </p:txBody>
      </p:sp>
      <p:sp>
        <p:nvSpPr>
          <p:cNvPr id="40" name="web step 7 circle"/>
          <p:cNvSpPr/>
          <p:nvPr/>
        </p:nvSpPr>
        <p:spPr>
          <a:xfrm>
            <a:off x="10365377" y="1828800"/>
            <a:ext cx="914400" cy="914400"/>
          </a:xfrm>
          <a:prstGeom prst="ellipse">
            <a:avLst/>
          </a:prstGeom>
          <a:solidFill>
            <a:srgbClr val="2E5BE8"/>
          </a:solidFill>
          <a:ln w="12700">
            <a:solidFill>
              <a:srgbClr val="2E5BE8"/>
            </a:solidFill>
            <a:prstDash val="solid"/>
          </a:ln>
        </p:spPr>
      </p:sp>
      <p:pic>
        <p:nvPicPr>
          <p:cNvPr id="41" name="web step 7 icon" descr="preencoded.png">    </p:cNvPr>
          <p:cNvPicPr>
            <a:picLocks noChangeAspect="1"/>
          </p:cNvPicPr>
          <p:nvPr/>
        </p:nvPicPr>
        <p:blipFill>
          <a:blip r:embed="rId7"/>
          <a:stretch>
            <a:fillRect/>
          </a:stretch>
        </p:blipFill>
        <p:spPr>
          <a:xfrm>
            <a:off x="10603121" y="2066544"/>
            <a:ext cx="438912" cy="438912"/>
          </a:xfrm>
          <a:prstGeom prst="rect">
            <a:avLst/>
          </a:prstGeom>
        </p:spPr>
      </p:pic>
      <p:sp>
        <p:nvSpPr>
          <p:cNvPr id="42" name="web step number 7"/>
          <p:cNvSpPr txBox="1"/>
          <p:nvPr/>
        </p:nvSpPr>
        <p:spPr>
          <a:xfrm>
            <a:off x="10639697"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7</a:t>
            </a:r>
            <a:endParaRPr lang="en-US" sz="1300" dirty="0"/>
          </a:p>
        </p:txBody>
      </p:sp>
      <p:sp>
        <p:nvSpPr>
          <p:cNvPr id="43" name="web step title 7"/>
          <p:cNvSpPr txBox="1"/>
          <p:nvPr/>
        </p:nvSpPr>
        <p:spPr>
          <a:xfrm>
            <a:off x="10077994"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Audit</a:t>
            </a:r>
            <a:endParaRPr lang="en-US" sz="1700" dirty="0"/>
          </a:p>
        </p:txBody>
      </p:sp>
      <p:sp>
        <p:nvSpPr>
          <p:cNvPr id="44" name="web step text 7"/>
          <p:cNvSpPr txBox="1"/>
          <p:nvPr/>
        </p:nvSpPr>
        <p:spPr>
          <a:xfrm>
            <a:off x="10123714"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check any BoQ</a:t>
            </a:r>
            <a:endParaRPr lang="en-US" sz="1250" dirty="0"/>
          </a:p>
        </p:txBody>
      </p:sp>
      <p:sp>
        <p:nvSpPr>
          <p:cNvPr id="45" name="start card"/>
          <p:cNvSpPr/>
          <p:nvPr/>
        </p:nvSpPr>
        <p:spPr>
          <a:xfrm>
            <a:off x="548640" y="4709160"/>
            <a:ext cx="11064240" cy="1097280"/>
          </a:xfrm>
          <a:prstGeom prst="roundRect">
            <a:avLst>
              <a:gd name="adj" fmla="val 100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6" name="start circle"/>
          <p:cNvSpPr/>
          <p:nvPr/>
        </p:nvSpPr>
        <p:spPr>
          <a:xfrm>
            <a:off x="777240" y="4892040"/>
            <a:ext cx="731520" cy="731520"/>
          </a:xfrm>
          <a:prstGeom prst="ellipse">
            <a:avLst/>
          </a:prstGeom>
          <a:solidFill>
            <a:srgbClr val="101A33"/>
          </a:solidFill>
          <a:ln w="12700">
            <a:solidFill>
              <a:srgbClr val="101A33"/>
            </a:solidFill>
            <a:prstDash val="solid"/>
          </a:ln>
        </p:spPr>
      </p:sp>
      <p:pic>
        <p:nvPicPr>
          <p:cNvPr id="47" name="start icon" descr="preencoded.png">    </p:cNvPr>
          <p:cNvPicPr>
            <a:picLocks noChangeAspect="1"/>
          </p:cNvPicPr>
          <p:nvPr/>
        </p:nvPicPr>
        <p:blipFill>
          <a:blip r:embed="rId8"/>
          <a:stretch>
            <a:fillRect/>
          </a:stretch>
        </p:blipFill>
        <p:spPr>
          <a:xfrm>
            <a:off x="967435" y="5082235"/>
            <a:ext cx="351130" cy="351130"/>
          </a:xfrm>
          <a:prstGeom prst="rect">
            <a:avLst/>
          </a:prstGeom>
        </p:spPr>
      </p:pic>
      <p:sp>
        <p:nvSpPr>
          <p:cNvPr id="48" name="start text"/>
          <p:cNvSpPr txBox="1"/>
          <p:nvPr/>
        </p:nvSpPr>
        <p:spPr>
          <a:xfrm>
            <a:off x="1737360" y="4983480"/>
            <a:ext cx="9692640" cy="548640"/>
          </a:xfrm>
          <a:prstGeom prst="rect">
            <a:avLst/>
          </a:prstGeom>
          <a:noFill/>
          <a:ln/>
        </p:spPr>
        <p:txBody>
          <a:bodyPr wrap="square" lIns="0" tIns="0" rIns="0" bIns="0" rtlCol="0" anchor="ctr"/>
          <a:lstStyle/>
          <a:p>
            <a:pPr indent="0" marL="0">
              <a:buNone/>
            </a:pPr>
            <a:r>
              <a:rPr lang="en-US" sz="1500" b="1" dirty="0">
                <a:solidFill>
                  <a:schemeClr val="tx1"/>
                </a:solidFill>
              </a:rPr>
              <a:t>Start it: </a:t>
            </a:r>
            <a:pPr indent="0" marL="0">
              <a:buNone/>
            </a:pPr>
            <a:r>
              <a:rPr lang="en-US" sz="1500" b="1" dirty="0">
                <a:solidFill>
                  <a:schemeClr val="accent1"/>
                </a:solidFill>
                <a:latin typeface="Courier New" pitchFamily="34" charset="0"/>
                <a:ea typeface="Courier New" pitchFamily="34" charset="-122"/>
                <a:cs typeface="Courier New" pitchFamily="34" charset="-120"/>
              </a:rPr>
              <a:t>python scripts/dev.py start</a:t>
            </a:r>
            <a:pPr indent="0" marL="0">
              <a:buNone/>
            </a:pPr>
            <a:r>
              <a:rPr lang="en-US" sz="1500" dirty="0">
                <a:solidFill>
                  <a:schemeClr val="tx1"/>
                </a:solidFill>
              </a:rPr>
              <a:t>   then open http://127.0.0.1:5180  (macOS: python3)</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Upload: choose the engine that fits your drawings</a:t>
            </a:r>
            <a:endParaRPr lang="en-US" sz="3000" dirty="0"/>
          </a:p>
        </p:txBody>
      </p:sp>
      <p:sp>
        <p:nvSpPr>
          <p:cNvPr id="4" name="engine card 1"/>
          <p:cNvSpPr/>
          <p:nvPr/>
        </p:nvSpPr>
        <p:spPr>
          <a:xfrm>
            <a:off x="548640" y="1417320"/>
            <a:ext cx="3520440" cy="4343400"/>
          </a:xfrm>
          <a:prstGeom prst="roundRect">
            <a:avLst>
              <a:gd name="adj" fmla="val 3117"/>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engine 1 circle"/>
          <p:cNvSpPr/>
          <p:nvPr/>
        </p:nvSpPr>
        <p:spPr>
          <a:xfrm>
            <a:off x="822960" y="1645920"/>
            <a:ext cx="777240" cy="777240"/>
          </a:xfrm>
          <a:prstGeom prst="ellipse">
            <a:avLst/>
          </a:prstGeom>
          <a:solidFill>
            <a:srgbClr val="2E5BE8"/>
          </a:solidFill>
          <a:ln w="12700">
            <a:solidFill>
              <a:srgbClr val="2E5BE8"/>
            </a:solidFill>
            <a:prstDash val="solid"/>
          </a:ln>
        </p:spPr>
      </p:sp>
      <p:pic>
        <p:nvPicPr>
          <p:cNvPr id="6" name="engine 1 icon" descr="preencoded.png">    </p:cNvPr>
          <p:cNvPicPr>
            <a:picLocks noChangeAspect="1"/>
          </p:cNvPicPr>
          <p:nvPr/>
        </p:nvPicPr>
        <p:blipFill>
          <a:blip r:embed="rId1"/>
          <a:stretch>
            <a:fillRect/>
          </a:stretch>
        </p:blipFill>
        <p:spPr>
          <a:xfrm>
            <a:off x="1025042" y="1848002"/>
            <a:ext cx="373075" cy="373075"/>
          </a:xfrm>
          <a:prstGeom prst="rect">
            <a:avLst/>
          </a:prstGeom>
        </p:spPr>
      </p:pic>
      <p:sp>
        <p:nvSpPr>
          <p:cNvPr id="7" name="engine title 1"/>
          <p:cNvSpPr txBox="1"/>
          <p:nvPr/>
        </p:nvSpPr>
        <p:spPr>
          <a:xfrm>
            <a:off x="173736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DXF / DWG</a:t>
            </a:r>
            <a:endParaRPr lang="en-US" sz="2100" dirty="0"/>
          </a:p>
        </p:txBody>
      </p:sp>
      <p:sp>
        <p:nvSpPr>
          <p:cNvPr id="8" name="engine tag 1"/>
          <p:cNvSpPr txBox="1"/>
          <p:nvPr/>
        </p:nvSpPr>
        <p:spPr>
          <a:xfrm>
            <a:off x="173736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Free · exact · 1–2 min</a:t>
            </a:r>
            <a:endParaRPr lang="en-US" sz="1300" dirty="0"/>
          </a:p>
        </p:txBody>
      </p:sp>
      <p:sp>
        <p:nvSpPr>
          <p:cNvPr id="9" name="engine points 1"/>
          <p:cNvSpPr txBox="1"/>
          <p:nvPr/>
        </p:nvSpPr>
        <p:spPr>
          <a:xfrm>
            <a:off x="82296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Select the whole set: SLDs, layouts and the electrical site plan</a:t>
            </a:r>
            <a:endParaRPr lang="en-US" sz="1400" dirty="0"/>
          </a:p>
          <a:p>
            <a:pPr marL="342900" indent="-342900">
              <a:spcAft>
                <a:spcPts val="800"/>
              </a:spcAft>
              <a:buSzPct val="100000"/>
              <a:buChar char="•"/>
            </a:pPr>
            <a:r>
              <a:rPr lang="en-US" sz="1400" dirty="0">
                <a:solidFill>
                  <a:schemeClr val="tx1"/>
                </a:solidFill>
              </a:rPr>
              <a:t>Feeder lengths measured on the site plan</a:t>
            </a:r>
            <a:endParaRPr lang="en-US" sz="1400" dirty="0"/>
          </a:p>
          <a:p>
            <a:pPr marL="342900" indent="-342900">
              <a:spcAft>
                <a:spcPts val="800"/>
              </a:spcAft>
              <a:buSzPct val="100000"/>
              <a:buChar char="•"/>
            </a:pPr>
            <a:r>
              <a:rPr lang="en-US" sz="1400" dirty="0">
                <a:solidFill>
                  <a:schemeClr val="tx1"/>
                </a:solidFill>
              </a:rPr>
              <a:t>Older revisions skipped automatically</a:t>
            </a:r>
            <a:endParaRPr lang="en-US" sz="1400" dirty="0"/>
          </a:p>
          <a:p>
            <a:pPr marL="342900" indent="-342900">
              <a:spcAft>
                <a:spcPts val="800"/>
              </a:spcAft>
              <a:buSzPct val="100000"/>
              <a:buChar char="•"/>
            </a:pPr>
            <a:r>
              <a:rPr lang="en-US" sz="1400" dirty="0">
                <a:solidFill>
                  <a:schemeClr val="tx1"/>
                </a:solidFill>
              </a:rPr>
              <a:t>Optional: AI names unnamed symbols (≈ R1–2)</a:t>
            </a:r>
            <a:endParaRPr lang="en-US" sz="1400" dirty="0"/>
          </a:p>
        </p:txBody>
      </p:sp>
      <p:sp>
        <p:nvSpPr>
          <p:cNvPr id="10" name="engine card 2"/>
          <p:cNvSpPr/>
          <p:nvPr/>
        </p:nvSpPr>
        <p:spPr>
          <a:xfrm>
            <a:off x="4297680" y="1417320"/>
            <a:ext cx="3520440" cy="4343400"/>
          </a:xfrm>
          <a:prstGeom prst="roundRect">
            <a:avLst>
              <a:gd name="adj" fmla="val 3117"/>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engine 2 circle"/>
          <p:cNvSpPr/>
          <p:nvPr/>
        </p:nvSpPr>
        <p:spPr>
          <a:xfrm>
            <a:off x="4572000" y="1645920"/>
            <a:ext cx="777240" cy="777240"/>
          </a:xfrm>
          <a:prstGeom prst="ellipse">
            <a:avLst/>
          </a:prstGeom>
          <a:solidFill>
            <a:srgbClr val="2E5BE8"/>
          </a:solidFill>
          <a:ln w="12700">
            <a:solidFill>
              <a:srgbClr val="2E5BE8"/>
            </a:solidFill>
            <a:prstDash val="solid"/>
          </a:ln>
        </p:spPr>
      </p:sp>
      <p:pic>
        <p:nvPicPr>
          <p:cNvPr id="12" name="engine 2 icon" descr="preencoded.png">    </p:cNvPr>
          <p:cNvPicPr>
            <a:picLocks noChangeAspect="1"/>
          </p:cNvPicPr>
          <p:nvPr/>
        </p:nvPicPr>
        <p:blipFill>
          <a:blip r:embed="rId2"/>
          <a:stretch>
            <a:fillRect/>
          </a:stretch>
        </p:blipFill>
        <p:spPr>
          <a:xfrm>
            <a:off x="4774082" y="1848002"/>
            <a:ext cx="373075" cy="373075"/>
          </a:xfrm>
          <a:prstGeom prst="rect">
            <a:avLst/>
          </a:prstGeom>
        </p:spPr>
      </p:pic>
      <p:sp>
        <p:nvSpPr>
          <p:cNvPr id="13" name="engine title 2"/>
          <p:cNvSpPr txBox="1"/>
          <p:nvPr/>
        </p:nvSpPr>
        <p:spPr>
          <a:xfrm>
            <a:off x="548640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PDF</a:t>
            </a:r>
            <a:endParaRPr lang="en-US" sz="2100" dirty="0"/>
          </a:p>
        </p:txBody>
      </p:sp>
      <p:sp>
        <p:nvSpPr>
          <p:cNvPr id="14" name="engine tag 2"/>
          <p:cNvSpPr txBox="1"/>
          <p:nvPr/>
        </p:nvSpPr>
        <p:spPr>
          <a:xfrm>
            <a:off x="548640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AI reads every page</a:t>
            </a:r>
            <a:endParaRPr lang="en-US" sz="1300" dirty="0"/>
          </a:p>
        </p:txBody>
      </p:sp>
      <p:sp>
        <p:nvSpPr>
          <p:cNvPr id="15" name="engine points 2"/>
          <p:cNvSpPr txBox="1"/>
          <p:nvPr/>
        </p:nvSpPr>
        <p:spPr>
          <a:xfrm>
            <a:off x="457200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Claude API: ≈ R2.50 a page, ≈ 5 min for 18 pages</a:t>
            </a:r>
            <a:endParaRPr lang="en-US" sz="1400" dirty="0"/>
          </a:p>
          <a:p>
            <a:pPr marL="342900" indent="-342900">
              <a:spcAft>
                <a:spcPts val="800"/>
              </a:spcAft>
              <a:buSzPct val="100000"/>
              <a:buChar char="•"/>
            </a:pPr>
            <a:r>
              <a:rPr lang="en-US" sz="1400" dirty="0">
                <a:solidFill>
                  <a:schemeClr val="tx1"/>
                </a:solidFill>
              </a:rPr>
              <a:t>Gemini: free, slower; stops at Google's daily limit</a:t>
            </a:r>
            <a:endParaRPr lang="en-US" sz="1400" dirty="0"/>
          </a:p>
          <a:p>
            <a:pPr marL="342900" indent="-342900">
              <a:spcAft>
                <a:spcPts val="800"/>
              </a:spcAft>
              <a:buSzPct val="100000"/>
              <a:buChar char="•"/>
            </a:pPr>
            <a:r>
              <a:rPr lang="en-US" sz="1400" dirty="0">
                <a:solidFill>
                  <a:schemeClr val="tx1"/>
                </a:solidFill>
              </a:rPr>
              <a:t>Live progress: page X of Y, AI waits shown</a:t>
            </a:r>
            <a:endParaRPr lang="en-US" sz="1400" dirty="0"/>
          </a:p>
          <a:p>
            <a:pPr marL="342900" indent="-342900">
              <a:spcAft>
                <a:spcPts val="800"/>
              </a:spcAft>
              <a:buSzPct val="100000"/>
              <a:buChar char="•"/>
            </a:pPr>
            <a:r>
              <a:rPr lang="en-US" sz="1400" dirty="0">
                <a:solidFill>
                  <a:schemeClr val="tx1"/>
                </a:solidFill>
              </a:rPr>
              <a:t>A vector site plan PDF is measured too</a:t>
            </a:r>
            <a:endParaRPr lang="en-US" sz="1400" dirty="0"/>
          </a:p>
        </p:txBody>
      </p:sp>
      <p:sp>
        <p:nvSpPr>
          <p:cNvPr id="16" name="engine card 3"/>
          <p:cNvSpPr/>
          <p:nvPr/>
        </p:nvSpPr>
        <p:spPr>
          <a:xfrm>
            <a:off x="8046720" y="1417320"/>
            <a:ext cx="3520440" cy="4343400"/>
          </a:xfrm>
          <a:prstGeom prst="roundRect">
            <a:avLst>
              <a:gd name="adj" fmla="val 3117"/>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engine 3 circle"/>
          <p:cNvSpPr/>
          <p:nvPr/>
        </p:nvSpPr>
        <p:spPr>
          <a:xfrm>
            <a:off x="8321040" y="1645920"/>
            <a:ext cx="777240" cy="777240"/>
          </a:xfrm>
          <a:prstGeom prst="ellipse">
            <a:avLst/>
          </a:prstGeom>
          <a:solidFill>
            <a:srgbClr val="2E5BE8"/>
          </a:solidFill>
          <a:ln w="12700">
            <a:solidFill>
              <a:srgbClr val="2E5BE8"/>
            </a:solidFill>
            <a:prstDash val="solid"/>
          </a:ln>
        </p:spPr>
      </p:sp>
      <p:pic>
        <p:nvPicPr>
          <p:cNvPr id="18" name="engine 3 icon" descr="preencoded.png">    </p:cNvPr>
          <p:cNvPicPr>
            <a:picLocks noChangeAspect="1"/>
          </p:cNvPicPr>
          <p:nvPr/>
        </p:nvPicPr>
        <p:blipFill>
          <a:blip r:embed="rId3"/>
          <a:stretch>
            <a:fillRect/>
          </a:stretch>
        </p:blipFill>
        <p:spPr>
          <a:xfrm>
            <a:off x="8523122" y="1848002"/>
            <a:ext cx="373075" cy="373075"/>
          </a:xfrm>
          <a:prstGeom prst="rect">
            <a:avLst/>
          </a:prstGeom>
        </p:spPr>
      </p:pic>
      <p:sp>
        <p:nvSpPr>
          <p:cNvPr id="19" name="engine title 3"/>
          <p:cNvSpPr txBox="1"/>
          <p:nvPr/>
        </p:nvSpPr>
        <p:spPr>
          <a:xfrm>
            <a:off x="923544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Both</a:t>
            </a:r>
            <a:endParaRPr lang="en-US" sz="2100" dirty="0"/>
          </a:p>
        </p:txBody>
      </p:sp>
      <p:sp>
        <p:nvSpPr>
          <p:cNvPr id="20" name="engine tag 3"/>
          <p:cNvSpPr txBox="1"/>
          <p:nvPr/>
        </p:nvSpPr>
        <p:spPr>
          <a:xfrm>
            <a:off x="923544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run both, then compare</a:t>
            </a:r>
            <a:endParaRPr lang="en-US" sz="1300" dirty="0"/>
          </a:p>
        </p:txBody>
      </p:sp>
      <p:sp>
        <p:nvSpPr>
          <p:cNvPr id="21" name="engine points 3"/>
          <p:cNvSpPr txBox="1"/>
          <p:nvPr/>
        </p:nvSpPr>
        <p:spPr>
          <a:xfrm>
            <a:off x="832104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Runs the CAD and PDF engines side by side</a:t>
            </a:r>
            <a:endParaRPr lang="en-US" sz="1400" dirty="0"/>
          </a:p>
          <a:p>
            <a:pPr marL="342900" indent="-342900">
              <a:spcAft>
                <a:spcPts val="800"/>
              </a:spcAft>
              <a:buSzPct val="100000"/>
              <a:buChar char="•"/>
            </a:pPr>
            <a:r>
              <a:rPr lang="en-US" sz="1400" dirty="0">
                <a:solidFill>
                  <a:schemeClr val="tx1"/>
                </a:solidFill>
              </a:rPr>
              <a:t>Shows where they agree and disagree</a:t>
            </a:r>
            <a:endParaRPr lang="en-US" sz="1400" dirty="0"/>
          </a:p>
          <a:p>
            <a:pPr marL="342900" indent="-342900">
              <a:spcAft>
                <a:spcPts val="800"/>
              </a:spcAft>
              <a:buSzPct val="100000"/>
              <a:buChar char="•"/>
            </a:pPr>
            <a:r>
              <a:rPr lang="en-US" sz="1400" dirty="0">
                <a:solidFill>
                  <a:schemeClr val="tx1"/>
                </a:solidFill>
              </a:rPr>
              <a:t>Comparison report as PDF</a:t>
            </a:r>
            <a:endParaRPr lang="en-US" sz="1400" dirty="0"/>
          </a:p>
          <a:p>
            <a:pPr marL="342900" indent="-342900">
              <a:spcAft>
                <a:spcPts val="800"/>
              </a:spcAft>
              <a:buSzPct val="100000"/>
              <a:buChar char="•"/>
            </a:pPr>
            <a:r>
              <a:rPr lang="en-US" sz="1400" dirty="0">
                <a:solidFill>
                  <a:schemeClr val="tx1"/>
                </a:solidFill>
              </a:rPr>
              <a:t>Best when some sheets exist only as PDF</a:t>
            </a:r>
            <a:endParaRPr lang="en-US" sz="1400" dirty="0"/>
          </a:p>
        </p:txBody>
      </p:sp>
      <p:sp>
        <p:nvSpPr>
          <p:cNvPr id="22"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Tip: without an API key, DWG/DXF estimating, audit and exports still work. Keys go in api/.env (never committed).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Take-off: watch the progress, then read the gaps</a:t>
            </a:r>
            <a:endParaRPr lang="en-US" sz="3000" dirty="0"/>
          </a:p>
        </p:txBody>
      </p:sp>
      <p:pic>
        <p:nvPicPr>
          <p:cNvPr id="4" name="progress screenshot" descr="C:\Users\BIBINBUSINESS\AppData\Local\Temp\claude\c--Users-BIBINBUSINESS-OneDrive-Desktop-afriplan-web\160cb13b-69be-45a9-b0fa-6d0d5fe06738\scratchpad\deck\run-progress.png">    </p:cNvPr>
          <p:cNvPicPr>
            <a:picLocks noChangeAspect="1"/>
          </p:cNvPicPr>
          <p:nvPr/>
        </p:nvPicPr>
        <p:blipFill>
          <a:blip r:embed="rId1"/>
          <a:stretch>
            <a:fillRect/>
          </a:stretch>
        </p:blipFill>
        <p:spPr>
          <a:xfrm>
            <a:off x="548640" y="1417320"/>
            <a:ext cx="6583680" cy="3703320"/>
          </a:xfrm>
          <a:prstGeom prst="rect">
            <a:avLst/>
          </a:prstGeom>
        </p:spPr>
      </p:pic>
      <p:sp>
        <p:nvSpPr>
          <p:cNvPr id="5" name="screenshot frame"/>
          <p:cNvSpPr/>
          <p:nvPr/>
        </p:nvSpPr>
        <p:spPr>
          <a:xfrm>
            <a:off x="548640" y="1417320"/>
            <a:ext cx="6583680" cy="3703320"/>
          </a:xfrm>
          <a:prstGeom prst="rect">
            <a:avLst/>
          </a:prstGeom>
          <a:ln w="12700">
            <a:solidFill>
              <a:srgbClr val="D9DEE9"/>
            </a:solidFill>
            <a:prstDash val="solid"/>
          </a:ln>
        </p:spPr>
      </p:sp>
      <p:sp>
        <p:nvSpPr>
          <p:cNvPr id="6" name="screenshot caption"/>
          <p:cNvSpPr txBox="1"/>
          <p:nvPr/>
        </p:nvSpPr>
        <p:spPr>
          <a:xfrm>
            <a:off x="548640" y="5212080"/>
            <a:ext cx="6583680" cy="274320"/>
          </a:xfrm>
          <a:prstGeom prst="rect">
            <a:avLst/>
          </a:prstGeom>
          <a:noFill/>
          <a:ln/>
        </p:spPr>
        <p:txBody>
          <a:bodyPr wrap="square" lIns="0" tIns="0" rIns="0" bIns="0" rtlCol="0" anchor="t"/>
          <a:lstStyle/>
          <a:p>
            <a:pPr indent="0" marL="0">
              <a:buNone/>
            </a:pPr>
            <a:r>
              <a:rPr lang="en-US" sz="1100" i="1" dirty="0">
                <a:solidFill>
                  <a:schemeClr val="accent6"/>
                </a:solidFill>
              </a:rPr>
              <a:t>The Take-off page during a PDF run on the free Gemini tier</a:t>
            </a:r>
            <a:endParaRPr lang="en-US" sz="1100" dirty="0"/>
          </a:p>
        </p:txBody>
      </p:sp>
      <p:sp>
        <p:nvSpPr>
          <p:cNvPr id="7" name="takeoff point 1 circle"/>
          <p:cNvSpPr/>
          <p:nvPr/>
        </p:nvSpPr>
        <p:spPr>
          <a:xfrm>
            <a:off x="7543800" y="1463040"/>
            <a:ext cx="640080" cy="640080"/>
          </a:xfrm>
          <a:prstGeom prst="ellipse">
            <a:avLst/>
          </a:prstGeom>
          <a:solidFill>
            <a:srgbClr val="2E5BE8"/>
          </a:solidFill>
          <a:ln w="12700">
            <a:solidFill>
              <a:srgbClr val="2E5BE8"/>
            </a:solidFill>
            <a:prstDash val="solid"/>
          </a:ln>
        </p:spPr>
      </p:sp>
      <p:pic>
        <p:nvPicPr>
          <p:cNvPr id="8" name="takeoff point 1 icon" descr="preencoded.png">    </p:cNvPr>
          <p:cNvPicPr>
            <a:picLocks noChangeAspect="1"/>
          </p:cNvPicPr>
          <p:nvPr/>
        </p:nvPicPr>
        <p:blipFill>
          <a:blip r:embed="rId2"/>
          <a:stretch>
            <a:fillRect/>
          </a:stretch>
        </p:blipFill>
        <p:spPr>
          <a:xfrm>
            <a:off x="7710221" y="1629461"/>
            <a:ext cx="307238" cy="307238"/>
          </a:xfrm>
          <a:prstGeom prst="rect">
            <a:avLst/>
          </a:prstGeom>
        </p:spPr>
      </p:pic>
      <p:sp>
        <p:nvSpPr>
          <p:cNvPr id="9" name="takeoff point title 1"/>
          <p:cNvSpPr txBox="1"/>
          <p:nvPr/>
        </p:nvSpPr>
        <p:spPr>
          <a:xfrm>
            <a:off x="8366760" y="1463040"/>
            <a:ext cx="3291840" cy="365760"/>
          </a:xfrm>
          <a:prstGeom prst="rect">
            <a:avLst/>
          </a:prstGeom>
          <a:noFill/>
          <a:ln/>
        </p:spPr>
        <p:txBody>
          <a:bodyPr wrap="square" lIns="0" tIns="0" rIns="0" bIns="0" rtlCol="0" anchor="t"/>
          <a:lstStyle/>
          <a:p>
            <a:pPr indent="0" marL="0">
              <a:buNone/>
            </a:pPr>
            <a:r>
              <a:rPr lang="en-US" sz="1700" b="1" dirty="0">
                <a:solidFill>
                  <a:schemeClr val="tx1"/>
                </a:solidFill>
              </a:rPr>
              <a:t>Live progress</a:t>
            </a:r>
            <a:endParaRPr lang="en-US" sz="1700" dirty="0"/>
          </a:p>
        </p:txBody>
      </p:sp>
      <p:sp>
        <p:nvSpPr>
          <p:cNvPr id="10" name="takeoff point text 1"/>
          <p:cNvSpPr txBox="1"/>
          <p:nvPr/>
        </p:nvSpPr>
        <p:spPr>
          <a:xfrm>
            <a:off x="8366760" y="1847088"/>
            <a:ext cx="3291840" cy="777240"/>
          </a:xfrm>
          <a:prstGeom prst="rect">
            <a:avLst/>
          </a:prstGeom>
          <a:noFill/>
          <a:ln/>
        </p:spPr>
        <p:txBody>
          <a:bodyPr wrap="square" lIns="0" tIns="0" rIns="0" bIns="0" rtlCol="0" anchor="t"/>
          <a:lstStyle/>
          <a:p>
            <a:pPr indent="0" marL="0">
              <a:buNone/>
            </a:pPr>
            <a:r>
              <a:rPr lang="en-US" sz="1350" dirty="0">
                <a:solidFill>
                  <a:schemeClr val="tx2"/>
                </a:solidFill>
              </a:rPr>
              <a:t>step, pages done, time so far and the AI's “busy, waiting” note</a:t>
            </a:r>
            <a:endParaRPr lang="en-US" sz="1350" dirty="0"/>
          </a:p>
        </p:txBody>
      </p:sp>
      <p:sp>
        <p:nvSpPr>
          <p:cNvPr id="11" name="takeoff point 2 circle"/>
          <p:cNvSpPr/>
          <p:nvPr/>
        </p:nvSpPr>
        <p:spPr>
          <a:xfrm>
            <a:off x="7543800" y="2788920"/>
            <a:ext cx="640080" cy="640080"/>
          </a:xfrm>
          <a:prstGeom prst="ellipse">
            <a:avLst/>
          </a:prstGeom>
          <a:solidFill>
            <a:srgbClr val="F2A900"/>
          </a:solidFill>
          <a:ln w="12700">
            <a:solidFill>
              <a:srgbClr val="F2A900"/>
            </a:solidFill>
            <a:prstDash val="solid"/>
          </a:ln>
        </p:spPr>
      </p:sp>
      <p:pic>
        <p:nvPicPr>
          <p:cNvPr id="12" name="takeoff point 2 icon" descr="preencoded.png">    </p:cNvPr>
          <p:cNvPicPr>
            <a:picLocks noChangeAspect="1"/>
          </p:cNvPicPr>
          <p:nvPr/>
        </p:nvPicPr>
        <p:blipFill>
          <a:blip r:embed="rId3"/>
          <a:stretch>
            <a:fillRect/>
          </a:stretch>
        </p:blipFill>
        <p:spPr>
          <a:xfrm>
            <a:off x="7710221" y="2955341"/>
            <a:ext cx="307238" cy="307238"/>
          </a:xfrm>
          <a:prstGeom prst="rect">
            <a:avLst/>
          </a:prstGeom>
        </p:spPr>
      </p:pic>
      <p:sp>
        <p:nvSpPr>
          <p:cNvPr id="13" name="takeoff point title 2"/>
          <p:cNvSpPr txBox="1"/>
          <p:nvPr/>
        </p:nvSpPr>
        <p:spPr>
          <a:xfrm>
            <a:off x="8366760" y="2788920"/>
            <a:ext cx="3291840" cy="365760"/>
          </a:xfrm>
          <a:prstGeom prst="rect">
            <a:avLst/>
          </a:prstGeom>
          <a:noFill/>
          <a:ln/>
        </p:spPr>
        <p:txBody>
          <a:bodyPr wrap="square" lIns="0" tIns="0" rIns="0" bIns="0" rtlCol="0" anchor="t"/>
          <a:lstStyle/>
          <a:p>
            <a:pPr indent="0" marL="0">
              <a:buNone/>
            </a:pPr>
            <a:r>
              <a:rPr lang="en-US" sz="1700" b="1" dirty="0">
                <a:solidFill>
                  <a:schemeClr val="tx1"/>
                </a:solidFill>
              </a:rPr>
              <a:t>Failures say why</a:t>
            </a:r>
            <a:endParaRPr lang="en-US" sz="1700" dirty="0"/>
          </a:p>
        </p:txBody>
      </p:sp>
      <p:sp>
        <p:nvSpPr>
          <p:cNvPr id="14" name="takeoff point text 2"/>
          <p:cNvSpPr txBox="1"/>
          <p:nvPr/>
        </p:nvSpPr>
        <p:spPr>
          <a:xfrm>
            <a:off x="8366760" y="3172968"/>
            <a:ext cx="3291840" cy="777240"/>
          </a:xfrm>
          <a:prstGeom prst="rect">
            <a:avLst/>
          </a:prstGeom>
          <a:noFill/>
          <a:ln/>
        </p:spPr>
        <p:txBody>
          <a:bodyPr wrap="square" lIns="0" tIns="0" rIns="0" bIns="0" rtlCol="0" anchor="t"/>
          <a:lstStyle/>
          <a:p>
            <a:pPr indent="0" marL="0">
              <a:buNone/>
            </a:pPr>
            <a:r>
              <a:rPr lang="en-US" sz="1350" dirty="0">
                <a:solidFill>
                  <a:schemeClr val="tx2"/>
                </a:solidFill>
              </a:rPr>
              <a:t>e.g. Gemini's free daily limit is used up — and what to do instead</a:t>
            </a:r>
            <a:endParaRPr lang="en-US" sz="1350" dirty="0"/>
          </a:p>
        </p:txBody>
      </p:sp>
      <p:sp>
        <p:nvSpPr>
          <p:cNvPr id="15" name="takeoff point 3 circle"/>
          <p:cNvSpPr/>
          <p:nvPr/>
        </p:nvSpPr>
        <p:spPr>
          <a:xfrm>
            <a:off x="7543800" y="4114800"/>
            <a:ext cx="640080" cy="640080"/>
          </a:xfrm>
          <a:prstGeom prst="ellipse">
            <a:avLst/>
          </a:prstGeom>
          <a:solidFill>
            <a:srgbClr val="2E5BE8"/>
          </a:solidFill>
          <a:ln w="12700">
            <a:solidFill>
              <a:srgbClr val="2E5BE8"/>
            </a:solidFill>
            <a:prstDash val="solid"/>
          </a:ln>
        </p:spPr>
      </p:sp>
      <p:pic>
        <p:nvPicPr>
          <p:cNvPr id="16" name="takeoff point 3 icon" descr="preencoded.png">    </p:cNvPr>
          <p:cNvPicPr>
            <a:picLocks noChangeAspect="1"/>
          </p:cNvPicPr>
          <p:nvPr/>
        </p:nvPicPr>
        <p:blipFill>
          <a:blip r:embed="rId4"/>
          <a:stretch>
            <a:fillRect/>
          </a:stretch>
        </p:blipFill>
        <p:spPr>
          <a:xfrm>
            <a:off x="7710221" y="4281221"/>
            <a:ext cx="307238" cy="307238"/>
          </a:xfrm>
          <a:prstGeom prst="rect">
            <a:avLst/>
          </a:prstGeom>
        </p:spPr>
      </p:pic>
      <p:sp>
        <p:nvSpPr>
          <p:cNvPr id="17" name="takeoff point title 3"/>
          <p:cNvSpPr txBox="1"/>
          <p:nvPr/>
        </p:nvSpPr>
        <p:spPr>
          <a:xfrm>
            <a:off x="8366760" y="4114800"/>
            <a:ext cx="3291840" cy="365760"/>
          </a:xfrm>
          <a:prstGeom prst="rect">
            <a:avLst/>
          </a:prstGeom>
          <a:noFill/>
          <a:ln/>
        </p:spPr>
        <p:txBody>
          <a:bodyPr wrap="square" lIns="0" tIns="0" rIns="0" bIns="0" rtlCol="0" anchor="t"/>
          <a:lstStyle/>
          <a:p>
            <a:pPr indent="0" marL="0">
              <a:buNone/>
            </a:pPr>
            <a:r>
              <a:rPr lang="en-US" sz="1700" b="1" dirty="0">
                <a:solidFill>
                  <a:schemeClr val="tx1"/>
                </a:solidFill>
              </a:rPr>
              <a:t>Then the results</a:t>
            </a:r>
            <a:endParaRPr lang="en-US" sz="1700" dirty="0"/>
          </a:p>
        </p:txBody>
      </p:sp>
      <p:sp>
        <p:nvSpPr>
          <p:cNvPr id="18" name="takeoff point text 3"/>
          <p:cNvSpPr txBox="1"/>
          <p:nvPr/>
        </p:nvSpPr>
        <p:spPr>
          <a:xfrm>
            <a:off x="8366760" y="4498848"/>
            <a:ext cx="3291840" cy="777240"/>
          </a:xfrm>
          <a:prstGeom prst="rect">
            <a:avLst/>
          </a:prstGeom>
          <a:noFill/>
          <a:ln/>
        </p:spPr>
        <p:txBody>
          <a:bodyPr wrap="square" lIns="0" tIns="0" rIns="0" bIns="0" rtlCol="0" anchor="t"/>
          <a:lstStyle/>
          <a:p>
            <a:pPr indent="0" marL="0">
              <a:buNone/>
            </a:pPr>
            <a:r>
              <a:rPr lang="en-US" sz="1350" dirty="0">
                <a:solidFill>
                  <a:schemeClr val="tx2"/>
                </a:solidFill>
              </a:rPr>
              <a:t>drawing set, legend, coverage and the gap report</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BoQ, pricing and export: the tender document</a:t>
            </a:r>
            <a:endParaRPr lang="en-US" sz="3000" dirty="0"/>
          </a:p>
        </p:txBody>
      </p:sp>
      <p:sp>
        <p:nvSpPr>
          <p:cNvPr id="4" name="boq point 1 circle"/>
          <p:cNvSpPr/>
          <p:nvPr/>
        </p:nvSpPr>
        <p:spPr>
          <a:xfrm>
            <a:off x="548640" y="1463040"/>
            <a:ext cx="640080" cy="640080"/>
          </a:xfrm>
          <a:prstGeom prst="ellipse">
            <a:avLst/>
          </a:prstGeom>
          <a:solidFill>
            <a:srgbClr val="2E5BE8"/>
          </a:solidFill>
          <a:ln w="12700">
            <a:solidFill>
              <a:srgbClr val="2E5BE8"/>
            </a:solidFill>
            <a:prstDash val="solid"/>
          </a:ln>
        </p:spPr>
      </p:sp>
      <p:pic>
        <p:nvPicPr>
          <p:cNvPr id="5" name="boq point 1 icon" descr="preencoded.png">    </p:cNvPr>
          <p:cNvPicPr>
            <a:picLocks noChangeAspect="1"/>
          </p:cNvPicPr>
          <p:nvPr/>
        </p:nvPicPr>
        <p:blipFill>
          <a:blip r:embed="rId1"/>
          <a:stretch>
            <a:fillRect/>
          </a:stretch>
        </p:blipFill>
        <p:spPr>
          <a:xfrm>
            <a:off x="715061" y="1629461"/>
            <a:ext cx="307238" cy="307238"/>
          </a:xfrm>
          <a:prstGeom prst="rect">
            <a:avLst/>
          </a:prstGeom>
        </p:spPr>
      </p:pic>
      <p:sp>
        <p:nvSpPr>
          <p:cNvPr id="6" name="boq point title 1"/>
          <p:cNvSpPr txBox="1"/>
          <p:nvPr/>
        </p:nvSpPr>
        <p:spPr>
          <a:xfrm>
            <a:off x="1371600" y="1444752"/>
            <a:ext cx="4572000" cy="347472"/>
          </a:xfrm>
          <a:prstGeom prst="rect">
            <a:avLst/>
          </a:prstGeom>
          <a:noFill/>
          <a:ln/>
        </p:spPr>
        <p:txBody>
          <a:bodyPr wrap="square" lIns="0" tIns="0" rIns="0" bIns="0" rtlCol="0" anchor="t"/>
          <a:lstStyle/>
          <a:p>
            <a:pPr indent="0" marL="0">
              <a:buNone/>
            </a:pPr>
            <a:r>
              <a:rPr lang="en-US" sz="1600" b="1" dirty="0">
                <a:solidFill>
                  <a:schemeClr val="tx1"/>
                </a:solidFill>
              </a:rPr>
              <a:t>Bill of Quantities</a:t>
            </a:r>
            <a:endParaRPr lang="en-US" sz="1600" dirty="0"/>
          </a:p>
        </p:txBody>
      </p:sp>
      <p:sp>
        <p:nvSpPr>
          <p:cNvPr id="7" name="boq point text 1"/>
          <p:cNvSpPr txBox="1"/>
          <p:nvPr/>
        </p:nvSpPr>
        <p:spPr>
          <a:xfrm>
            <a:off x="1371600" y="1792224"/>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line with quantity, rate and its evidence tag; measured lines show their route</a:t>
            </a:r>
            <a:endParaRPr lang="en-US" sz="1300" dirty="0"/>
          </a:p>
        </p:txBody>
      </p:sp>
      <p:sp>
        <p:nvSpPr>
          <p:cNvPr id="8" name="boq point 2 circle"/>
          <p:cNvSpPr/>
          <p:nvPr/>
        </p:nvSpPr>
        <p:spPr>
          <a:xfrm>
            <a:off x="548640" y="2542032"/>
            <a:ext cx="640080" cy="640080"/>
          </a:xfrm>
          <a:prstGeom prst="ellipse">
            <a:avLst/>
          </a:prstGeom>
          <a:solidFill>
            <a:srgbClr val="2E5BE8"/>
          </a:solidFill>
          <a:ln w="12700">
            <a:solidFill>
              <a:srgbClr val="2E5BE8"/>
            </a:solidFill>
            <a:prstDash val="solid"/>
          </a:ln>
        </p:spPr>
      </p:sp>
      <p:pic>
        <p:nvPicPr>
          <p:cNvPr id="9" name="boq point 2 icon" descr="preencoded.png">    </p:cNvPr>
          <p:cNvPicPr>
            <a:picLocks noChangeAspect="1"/>
          </p:cNvPicPr>
          <p:nvPr/>
        </p:nvPicPr>
        <p:blipFill>
          <a:blip r:embed="rId2"/>
          <a:stretch>
            <a:fillRect/>
          </a:stretch>
        </p:blipFill>
        <p:spPr>
          <a:xfrm>
            <a:off x="715061" y="2708453"/>
            <a:ext cx="307238" cy="307238"/>
          </a:xfrm>
          <a:prstGeom prst="rect">
            <a:avLst/>
          </a:prstGeom>
        </p:spPr>
      </p:pic>
      <p:sp>
        <p:nvSpPr>
          <p:cNvPr id="10" name="boq point title 2"/>
          <p:cNvSpPr txBox="1"/>
          <p:nvPr/>
        </p:nvSpPr>
        <p:spPr>
          <a:xfrm>
            <a:off x="1371600" y="2523744"/>
            <a:ext cx="4572000" cy="347472"/>
          </a:xfrm>
          <a:prstGeom prst="rect">
            <a:avLst/>
          </a:prstGeom>
          <a:noFill/>
          <a:ln/>
        </p:spPr>
        <p:txBody>
          <a:bodyPr wrap="square" lIns="0" tIns="0" rIns="0" bIns="0" rtlCol="0" anchor="t"/>
          <a:lstStyle/>
          <a:p>
            <a:pPr indent="0" marL="0">
              <a:buNone/>
            </a:pPr>
            <a:r>
              <a:rPr lang="en-US" sz="1600" b="1" dirty="0">
                <a:solidFill>
                  <a:schemeClr val="tx1"/>
                </a:solidFill>
              </a:rPr>
              <a:t>Things to check</a:t>
            </a:r>
            <a:endParaRPr lang="en-US" sz="1600" dirty="0"/>
          </a:p>
        </p:txBody>
      </p:sp>
      <p:sp>
        <p:nvSpPr>
          <p:cNvPr id="11" name="boq point text 2"/>
          <p:cNvSpPr txBox="1"/>
          <p:nvPr/>
        </p:nvSpPr>
        <p:spPr>
          <a:xfrm>
            <a:off x="1371600" y="2871216"/>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assumption, most serious first — start the review here</a:t>
            </a:r>
            <a:endParaRPr lang="en-US" sz="1300" dirty="0"/>
          </a:p>
        </p:txBody>
      </p:sp>
      <p:sp>
        <p:nvSpPr>
          <p:cNvPr id="12" name="boq point 3 circle"/>
          <p:cNvSpPr/>
          <p:nvPr/>
        </p:nvSpPr>
        <p:spPr>
          <a:xfrm>
            <a:off x="548640" y="3621024"/>
            <a:ext cx="640080" cy="640080"/>
          </a:xfrm>
          <a:prstGeom prst="ellipse">
            <a:avLst/>
          </a:prstGeom>
          <a:solidFill>
            <a:srgbClr val="2E5BE8"/>
          </a:solidFill>
          <a:ln w="12700">
            <a:solidFill>
              <a:srgbClr val="2E5BE8"/>
            </a:solidFill>
            <a:prstDash val="solid"/>
          </a:ln>
        </p:spPr>
      </p:sp>
      <p:pic>
        <p:nvPicPr>
          <p:cNvPr id="13" name="boq point 3 icon" descr="preencoded.png">    </p:cNvPr>
          <p:cNvPicPr>
            <a:picLocks noChangeAspect="1"/>
          </p:cNvPicPr>
          <p:nvPr/>
        </p:nvPicPr>
        <p:blipFill>
          <a:blip r:embed="rId3"/>
          <a:stretch>
            <a:fillRect/>
          </a:stretch>
        </p:blipFill>
        <p:spPr>
          <a:xfrm>
            <a:off x="715061" y="3787445"/>
            <a:ext cx="307238" cy="307238"/>
          </a:xfrm>
          <a:prstGeom prst="rect">
            <a:avLst/>
          </a:prstGeom>
        </p:spPr>
      </p:pic>
      <p:sp>
        <p:nvSpPr>
          <p:cNvPr id="14" name="boq point title 3"/>
          <p:cNvSpPr txBox="1"/>
          <p:nvPr/>
        </p:nvSpPr>
        <p:spPr>
          <a:xfrm>
            <a:off x="1371600" y="3602736"/>
            <a:ext cx="4572000" cy="347472"/>
          </a:xfrm>
          <a:prstGeom prst="rect">
            <a:avLst/>
          </a:prstGeom>
          <a:noFill/>
          <a:ln/>
        </p:spPr>
        <p:txBody>
          <a:bodyPr wrap="square" lIns="0" tIns="0" rIns="0" bIns="0" rtlCol="0" anchor="t"/>
          <a:lstStyle/>
          <a:p>
            <a:pPr indent="0" marL="0">
              <a:buNone/>
            </a:pPr>
            <a:r>
              <a:rPr lang="en-US" sz="1600" b="1" dirty="0">
                <a:solidFill>
                  <a:schemeClr val="tx1"/>
                </a:solidFill>
              </a:rPr>
              <a:t>Live pricing</a:t>
            </a:r>
            <a:endParaRPr lang="en-US" sz="1600" dirty="0"/>
          </a:p>
        </p:txBody>
      </p:sp>
      <p:sp>
        <p:nvSpPr>
          <p:cNvPr id="15" name="boq point text 3"/>
          <p:cNvSpPr txBox="1"/>
          <p:nvPr/>
        </p:nvSpPr>
        <p:spPr>
          <a:xfrm>
            <a:off x="1371600" y="3950208"/>
            <a:ext cx="4572000" cy="594360"/>
          </a:xfrm>
          <a:prstGeom prst="rect">
            <a:avLst/>
          </a:prstGeom>
          <a:noFill/>
          <a:ln/>
        </p:spPr>
        <p:txBody>
          <a:bodyPr wrap="square" lIns="0" tIns="0" rIns="0" bIns="0" rtlCol="0" anchor="t"/>
          <a:lstStyle/>
          <a:p>
            <a:pPr indent="0" marL="0">
              <a:buNone/>
            </a:pPr>
            <a:r>
              <a:rPr lang="en-US" sz="1300" dirty="0">
                <a:solidFill>
                  <a:schemeClr val="tx2"/>
                </a:solidFill>
              </a:rPr>
              <a:t>request supplier quotes and apply the one you choose</a:t>
            </a:r>
            <a:endParaRPr lang="en-US" sz="1300" dirty="0"/>
          </a:p>
        </p:txBody>
      </p:sp>
      <p:sp>
        <p:nvSpPr>
          <p:cNvPr id="16" name="boq point 4 circle"/>
          <p:cNvSpPr/>
          <p:nvPr/>
        </p:nvSpPr>
        <p:spPr>
          <a:xfrm>
            <a:off x="548640" y="4700016"/>
            <a:ext cx="640080" cy="640080"/>
          </a:xfrm>
          <a:prstGeom prst="ellipse">
            <a:avLst/>
          </a:prstGeom>
          <a:solidFill>
            <a:srgbClr val="2E5BE8"/>
          </a:solidFill>
          <a:ln w="12700">
            <a:solidFill>
              <a:srgbClr val="2E5BE8"/>
            </a:solidFill>
            <a:prstDash val="solid"/>
          </a:ln>
        </p:spPr>
      </p:sp>
      <p:pic>
        <p:nvPicPr>
          <p:cNvPr id="17" name="boq point 4 icon" descr="preencoded.png">    </p:cNvPr>
          <p:cNvPicPr>
            <a:picLocks noChangeAspect="1"/>
          </p:cNvPicPr>
          <p:nvPr/>
        </p:nvPicPr>
        <p:blipFill>
          <a:blip r:embed="rId4"/>
          <a:stretch>
            <a:fillRect/>
          </a:stretch>
        </p:blipFill>
        <p:spPr>
          <a:xfrm>
            <a:off x="715061" y="4866437"/>
            <a:ext cx="307238" cy="307238"/>
          </a:xfrm>
          <a:prstGeom prst="rect">
            <a:avLst/>
          </a:prstGeom>
        </p:spPr>
      </p:pic>
      <p:sp>
        <p:nvSpPr>
          <p:cNvPr id="18" name="boq point title 4"/>
          <p:cNvSpPr txBox="1"/>
          <p:nvPr/>
        </p:nvSpPr>
        <p:spPr>
          <a:xfrm>
            <a:off x="1371600" y="4681728"/>
            <a:ext cx="4572000" cy="347472"/>
          </a:xfrm>
          <a:prstGeom prst="rect">
            <a:avLst/>
          </a:prstGeom>
          <a:noFill/>
          <a:ln/>
        </p:spPr>
        <p:txBody>
          <a:bodyPr wrap="square" lIns="0" tIns="0" rIns="0" bIns="0" rtlCol="0" anchor="t"/>
          <a:lstStyle/>
          <a:p>
            <a:pPr indent="0" marL="0">
              <a:buNone/>
            </a:pPr>
            <a:r>
              <a:rPr lang="en-US" sz="1600" b="1" dirty="0">
                <a:solidFill>
                  <a:schemeClr val="tx1"/>
                </a:solidFill>
              </a:rPr>
              <a:t>Export &amp; email</a:t>
            </a:r>
            <a:endParaRPr lang="en-US" sz="1600" dirty="0"/>
          </a:p>
        </p:txBody>
      </p:sp>
      <p:sp>
        <p:nvSpPr>
          <p:cNvPr id="19" name="boq point text 4"/>
          <p:cNvSpPr txBox="1"/>
          <p:nvPr/>
        </p:nvSpPr>
        <p:spPr>
          <a:xfrm>
            <a:off x="1371600" y="5029200"/>
            <a:ext cx="4572000" cy="594360"/>
          </a:xfrm>
          <a:prstGeom prst="rect">
            <a:avLst/>
          </a:prstGeom>
          <a:noFill/>
          <a:ln/>
        </p:spPr>
        <p:txBody>
          <a:bodyPr wrap="square" lIns="0" tIns="0" rIns="0" bIns="0" rtlCol="0" anchor="t"/>
          <a:lstStyle/>
          <a:p>
            <a:pPr indent="0" marL="0">
              <a:buNone/>
            </a:pPr>
            <a:r>
              <a:rPr lang="en-US" sz="1300" dirty="0">
                <a:solidFill>
                  <a:schemeClr val="tx2"/>
                </a:solidFill>
              </a:rPr>
              <a:t>tender Excel and PDF, made on the server, ready to submit</a:t>
            </a:r>
            <a:endParaRPr lang="en-US" sz="1300" dirty="0"/>
          </a:p>
        </p:txBody>
      </p:sp>
      <p:sp>
        <p:nvSpPr>
          <p:cNvPr id="20" name="audit card"/>
          <p:cNvSpPr/>
          <p:nvPr/>
        </p:nvSpPr>
        <p:spPr>
          <a:xfrm>
            <a:off x="6309360" y="1417320"/>
            <a:ext cx="5303520" cy="4343400"/>
          </a:xfrm>
          <a:prstGeom prst="roundRect">
            <a:avLst>
              <a:gd name="adj" fmla="val 2526"/>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1" name="audit circle"/>
          <p:cNvSpPr/>
          <p:nvPr/>
        </p:nvSpPr>
        <p:spPr>
          <a:xfrm>
            <a:off x="6583680" y="1645920"/>
            <a:ext cx="777240" cy="777240"/>
          </a:xfrm>
          <a:prstGeom prst="ellipse">
            <a:avLst/>
          </a:prstGeom>
          <a:solidFill>
            <a:srgbClr val="F2A900"/>
          </a:solidFill>
          <a:ln w="12700">
            <a:solidFill>
              <a:srgbClr val="F2A900"/>
            </a:solidFill>
            <a:prstDash val="solid"/>
          </a:ln>
        </p:spPr>
      </p:sp>
      <p:pic>
        <p:nvPicPr>
          <p:cNvPr id="22" name="audit icon" descr="preencoded.png">    </p:cNvPr>
          <p:cNvPicPr>
            <a:picLocks noChangeAspect="1"/>
          </p:cNvPicPr>
          <p:nvPr/>
        </p:nvPicPr>
        <p:blipFill>
          <a:blip r:embed="rId5"/>
          <a:stretch>
            <a:fillRect/>
          </a:stretch>
        </p:blipFill>
        <p:spPr>
          <a:xfrm>
            <a:off x="6785762" y="1848002"/>
            <a:ext cx="373075" cy="373075"/>
          </a:xfrm>
          <a:prstGeom prst="rect">
            <a:avLst/>
          </a:prstGeom>
        </p:spPr>
      </p:pic>
      <p:sp>
        <p:nvSpPr>
          <p:cNvPr id="23" name="audit title"/>
          <p:cNvSpPr txBox="1"/>
          <p:nvPr/>
        </p:nvSpPr>
        <p:spPr>
          <a:xfrm>
            <a:off x="7543800" y="1691640"/>
            <a:ext cx="3840480" cy="411480"/>
          </a:xfrm>
          <a:prstGeom prst="rect">
            <a:avLst/>
          </a:prstGeom>
          <a:noFill/>
          <a:ln/>
        </p:spPr>
        <p:txBody>
          <a:bodyPr wrap="square" lIns="0" tIns="0" rIns="0" bIns="0" rtlCol="0" anchor="t"/>
          <a:lstStyle/>
          <a:p>
            <a:pPr indent="0" marL="0">
              <a:buNone/>
            </a:pPr>
            <a:r>
              <a:rPr lang="en-US" sz="2100" b="1" dirty="0">
                <a:solidFill>
                  <a:schemeClr val="tx1"/>
                </a:solidFill>
              </a:rPr>
              <a:t>Audit a BoQ</a:t>
            </a:r>
            <a:endParaRPr lang="en-US" sz="2100" dirty="0"/>
          </a:p>
        </p:txBody>
      </p:sp>
      <p:sp>
        <p:nvSpPr>
          <p:cNvPr id="24" name="audit subtitle"/>
          <p:cNvSpPr txBox="1"/>
          <p:nvPr/>
        </p:nvSpPr>
        <p:spPr>
          <a:xfrm>
            <a:off x="7543800" y="2103120"/>
            <a:ext cx="3931920" cy="320040"/>
          </a:xfrm>
          <a:prstGeom prst="rect">
            <a:avLst/>
          </a:prstGeom>
          <a:noFill/>
          <a:ln/>
        </p:spPr>
        <p:txBody>
          <a:bodyPr wrap="square" lIns="0" tIns="0" rIns="0" bIns="0" rtlCol="0" anchor="t"/>
          <a:lstStyle/>
          <a:p>
            <a:pPr indent="0" marL="0">
              <a:buNone/>
            </a:pPr>
            <a:r>
              <a:rPr lang="en-US" sz="1300" dirty="0">
                <a:solidFill>
                  <a:schemeClr val="tx2"/>
                </a:solidFill>
              </a:rPr>
              <a:t>any bill — yours, the QS's or the engineer's</a:t>
            </a:r>
            <a:endParaRPr lang="en-US" sz="1300" dirty="0"/>
          </a:p>
        </p:txBody>
      </p:sp>
      <p:sp>
        <p:nvSpPr>
          <p:cNvPr id="25" name="audit checks"/>
          <p:cNvSpPr txBox="1"/>
          <p:nvPr/>
        </p:nvSpPr>
        <p:spPr>
          <a:xfrm>
            <a:off x="6629400" y="2697480"/>
            <a:ext cx="4754880" cy="29260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Arithmetic errors</a:t>
            </a:r>
            <a:endParaRPr lang="en-US" sz="1450" dirty="0"/>
          </a:p>
          <a:p>
            <a:pPr marL="342900" indent="-342900">
              <a:spcAft>
                <a:spcPts val="600"/>
              </a:spcAft>
              <a:buSzPct val="100000"/>
              <a:buChar char="•"/>
            </a:pPr>
            <a:r>
              <a:rPr lang="en-US" sz="1450" dirty="0">
                <a:solidFill>
                  <a:schemeClr val="tx1"/>
                </a:solidFill>
              </a:rPr>
              <a:t>Unpriced or untotalled lines</a:t>
            </a:r>
            <a:endParaRPr lang="en-US" sz="1450" dirty="0"/>
          </a:p>
          <a:p>
            <a:pPr marL="342900" indent="-342900">
              <a:spcAft>
                <a:spcPts val="600"/>
              </a:spcAft>
              <a:buSzPct val="100000"/>
              <a:buChar char="•"/>
            </a:pPr>
            <a:r>
              <a:rPr lang="en-US" sz="1450" dirty="0">
                <a:solidFill>
                  <a:schemeClr val="tx1"/>
                </a:solidFill>
              </a:rPr>
              <a:t>Duplicated lines</a:t>
            </a:r>
            <a:endParaRPr lang="en-US" sz="1450" dirty="0"/>
          </a:p>
          <a:p>
            <a:pPr marL="342900" indent="-342900">
              <a:spcAft>
                <a:spcPts val="600"/>
              </a:spcAft>
              <a:buSzPct val="100000"/>
              <a:buChar char="•"/>
            </a:pPr>
            <a:r>
              <a:rPr lang="en-US" sz="1450" dirty="0">
                <a:solidFill>
                  <a:schemeClr val="tx1"/>
                </a:solidFill>
              </a:rPr>
              <a:t>Roll-up and contingency errors</a:t>
            </a:r>
            <a:endParaRPr lang="en-US" sz="1450" dirty="0"/>
          </a:p>
          <a:p>
            <a:pPr marL="342900" indent="-342900">
              <a:spcAft>
                <a:spcPts val="600"/>
              </a:spcAft>
              <a:buSzPct val="100000"/>
              <a:buChar char="•"/>
            </a:pPr>
            <a:r>
              <a:rPr lang="en-US" sz="1450" dirty="0">
                <a:solidFill>
                  <a:schemeClr val="tx1"/>
                </a:solidFill>
              </a:rPr>
              <a:t>Sheets missing from the summary</a:t>
            </a:r>
            <a:endParaRPr lang="en-US" sz="1450" dirty="0"/>
          </a:p>
          <a:p>
            <a:pPr marL="342900" indent="-342900">
              <a:spcAft>
                <a:spcPts val="600"/>
              </a:spcAft>
              <a:buSzPct val="100000"/>
              <a:buChar char="•"/>
            </a:pPr>
            <a:r>
              <a:rPr lang="en-US" sz="1450" dirty="0">
                <a:solidFill>
                  <a:schemeClr val="tx1"/>
                </a:solidFill>
              </a:rPr>
              <a:t>Missing companion items</a:t>
            </a:r>
            <a:endParaRPr lang="en-US" sz="1450" dirty="0"/>
          </a:p>
          <a:p>
            <a:pPr marL="342900" indent="-342900">
              <a:spcAft>
                <a:spcPts val="600"/>
              </a:spcAft>
              <a:buSzPct val="100000"/>
              <a:buChar char="•"/>
            </a:pPr>
            <a:r>
              <a:rPr lang="en-US" sz="1450" dirty="0">
                <a:solidFill>
                  <a:schemeClr val="tx1"/>
                </a:solidFill>
              </a:rPr>
              <a:t>Which drawings a complete BoQ still needs</a:t>
            </a:r>
            <a:endParaRPr lang="en-US" sz="14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DOE workflow: any project folder in, a priced BoQ out</a:t>
            </a:r>
            <a:endParaRPr lang="en-US" sz="3000" dirty="0"/>
          </a:p>
        </p:txBody>
      </p:sp>
      <p:sp>
        <p:nvSpPr>
          <p:cNvPr id="4" name="doe step 1"/>
          <p:cNvSpPr/>
          <p:nvPr/>
        </p:nvSpPr>
        <p:spPr>
          <a:xfrm>
            <a:off x="548640" y="1417320"/>
            <a:ext cx="2560320" cy="3154680"/>
          </a:xfrm>
          <a:prstGeom prst="roundRect">
            <a:avLst>
              <a:gd name="adj" fmla="val 4286"/>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doe step 1 circle"/>
          <p:cNvSpPr/>
          <p:nvPr/>
        </p:nvSpPr>
        <p:spPr>
          <a:xfrm>
            <a:off x="777240" y="1645920"/>
            <a:ext cx="731520" cy="731520"/>
          </a:xfrm>
          <a:prstGeom prst="ellipse">
            <a:avLst/>
          </a:prstGeom>
          <a:solidFill>
            <a:srgbClr val="2E5BE8"/>
          </a:solidFill>
          <a:ln w="12700">
            <a:solidFill>
              <a:srgbClr val="2E5BE8"/>
            </a:solidFill>
            <a:prstDash val="solid"/>
          </a:ln>
        </p:spPr>
      </p:sp>
      <p:pic>
        <p:nvPicPr>
          <p:cNvPr id="6" name="doe step 1 icon" descr="preencoded.png">    </p:cNvPr>
          <p:cNvPicPr>
            <a:picLocks noChangeAspect="1"/>
          </p:cNvPicPr>
          <p:nvPr/>
        </p:nvPicPr>
        <p:blipFill>
          <a:blip r:embed="rId1"/>
          <a:stretch>
            <a:fillRect/>
          </a:stretch>
        </p:blipFill>
        <p:spPr>
          <a:xfrm>
            <a:off x="967435" y="1836115"/>
            <a:ext cx="351130" cy="351130"/>
          </a:xfrm>
          <a:prstGeom prst="rect">
            <a:avLst/>
          </a:prstGeom>
        </p:spPr>
      </p:pic>
      <p:sp>
        <p:nvSpPr>
          <p:cNvPr id="7" name="doe step title 1"/>
          <p:cNvSpPr txBox="1"/>
          <p:nvPr/>
        </p:nvSpPr>
        <p:spPr>
          <a:xfrm>
            <a:off x="77724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1 · Prepare</a:t>
            </a:r>
            <a:endParaRPr lang="en-US" sz="1800" dirty="0"/>
          </a:p>
        </p:txBody>
      </p:sp>
      <p:sp>
        <p:nvSpPr>
          <p:cNvPr id="8" name="doe step who 1"/>
          <p:cNvSpPr txBox="1"/>
          <p:nvPr/>
        </p:nvSpPr>
        <p:spPr>
          <a:xfrm>
            <a:off x="777240" y="2880360"/>
            <a:ext cx="2194560" cy="292608"/>
          </a:xfrm>
          <a:prstGeom prst="rect">
            <a:avLst/>
          </a:prstGeom>
          <a:noFill/>
          <a:ln/>
        </p:spPr>
        <p:txBody>
          <a:bodyPr wrap="square" lIns="0" tIns="0" rIns="0" bIns="0" rtlCol="0" anchor="t"/>
          <a:lstStyle/>
          <a:p>
            <a:pPr indent="0" marL="0">
              <a:buNone/>
            </a:pPr>
            <a:r>
              <a:rPr lang="en-US" sz="1200" b="1" dirty="0">
                <a:solidFill>
                  <a:schemeClr val="accent1"/>
                </a:solidFill>
              </a:rPr>
              <a:t>Python</a:t>
            </a:r>
            <a:endParaRPr lang="en-US" sz="1200" dirty="0"/>
          </a:p>
        </p:txBody>
      </p:sp>
      <p:sp>
        <p:nvSpPr>
          <p:cNvPr id="9" name="doe step text 1"/>
          <p:cNvSpPr txBox="1"/>
          <p:nvPr/>
        </p:nvSpPr>
        <p:spPr>
          <a:xfrm>
            <a:off x="77724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finds every PDF and DWG/DXF, sets old revisions aside, renders each page (whole, zoomed, legend, text)</a:t>
            </a:r>
            <a:endParaRPr lang="en-US" sz="1300" dirty="0"/>
          </a:p>
        </p:txBody>
      </p:sp>
      <p:sp>
        <p:nvSpPr>
          <p:cNvPr id="10" name="Shape 6"/>
          <p:cNvSpPr/>
          <p:nvPr/>
        </p:nvSpPr>
        <p:spPr>
          <a:xfrm>
            <a:off x="3127248" y="2971800"/>
            <a:ext cx="237744" cy="0"/>
          </a:xfrm>
          <a:prstGeom prst="line">
            <a:avLst/>
          </a:prstGeom>
          <a:noFill/>
          <a:ln w="25400">
            <a:solidFill>
              <a:srgbClr val="8A93AB"/>
            </a:solidFill>
            <a:prstDash val="solid"/>
            <a:tailEnd type="triangle"/>
          </a:ln>
        </p:spPr>
      </p:sp>
      <p:sp>
        <p:nvSpPr>
          <p:cNvPr id="11" name="doe step 2"/>
          <p:cNvSpPr/>
          <p:nvPr/>
        </p:nvSpPr>
        <p:spPr>
          <a:xfrm>
            <a:off x="3383280" y="1417320"/>
            <a:ext cx="2560320" cy="3154680"/>
          </a:xfrm>
          <a:prstGeom prst="roundRect">
            <a:avLst>
              <a:gd name="adj" fmla="val 4286"/>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doe step 2 circle"/>
          <p:cNvSpPr/>
          <p:nvPr/>
        </p:nvSpPr>
        <p:spPr>
          <a:xfrm>
            <a:off x="3611880" y="1645920"/>
            <a:ext cx="731520" cy="731520"/>
          </a:xfrm>
          <a:prstGeom prst="ellipse">
            <a:avLst/>
          </a:prstGeom>
          <a:solidFill>
            <a:srgbClr val="F2A900"/>
          </a:solidFill>
          <a:ln w="12700">
            <a:solidFill>
              <a:srgbClr val="F2A900"/>
            </a:solidFill>
            <a:prstDash val="solid"/>
          </a:ln>
        </p:spPr>
      </p:sp>
      <p:pic>
        <p:nvPicPr>
          <p:cNvPr id="13" name="doe step 2 icon" descr="preencoded.png">    </p:cNvPr>
          <p:cNvPicPr>
            <a:picLocks noChangeAspect="1"/>
          </p:cNvPicPr>
          <p:nvPr/>
        </p:nvPicPr>
        <p:blipFill>
          <a:blip r:embed="rId2"/>
          <a:stretch>
            <a:fillRect/>
          </a:stretch>
        </p:blipFill>
        <p:spPr>
          <a:xfrm>
            <a:off x="3802075" y="1836115"/>
            <a:ext cx="351130" cy="351130"/>
          </a:xfrm>
          <a:prstGeom prst="rect">
            <a:avLst/>
          </a:prstGeom>
        </p:spPr>
      </p:pic>
      <p:sp>
        <p:nvSpPr>
          <p:cNvPr id="14" name="doe step title 2"/>
          <p:cNvSpPr txBox="1"/>
          <p:nvPr/>
        </p:nvSpPr>
        <p:spPr>
          <a:xfrm>
            <a:off x="361188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2 · Read</a:t>
            </a:r>
            <a:endParaRPr lang="en-US" sz="1800" dirty="0"/>
          </a:p>
        </p:txBody>
      </p:sp>
      <p:sp>
        <p:nvSpPr>
          <p:cNvPr id="15" name="doe step who 2"/>
          <p:cNvSpPr txBox="1"/>
          <p:nvPr/>
        </p:nvSpPr>
        <p:spPr>
          <a:xfrm>
            <a:off x="3611880" y="2880360"/>
            <a:ext cx="2194560" cy="292608"/>
          </a:xfrm>
          <a:prstGeom prst="rect">
            <a:avLst/>
          </a:prstGeom>
          <a:noFill/>
          <a:ln/>
        </p:spPr>
        <p:txBody>
          <a:bodyPr wrap="square" lIns="0" tIns="0" rIns="0" bIns="0" rtlCol="0" anchor="t"/>
          <a:lstStyle/>
          <a:p>
            <a:pPr indent="0" marL="0">
              <a:buNone/>
            </a:pPr>
            <a:r>
              <a:rPr lang="en-US" sz="1200" b="1" dirty="0">
                <a:solidFill>
                  <a:schemeClr val="accent1"/>
                </a:solidFill>
              </a:rPr>
              <a:t>Claude Code · subscription</a:t>
            </a:r>
            <a:endParaRPr lang="en-US" sz="1200" dirty="0"/>
          </a:p>
        </p:txBody>
      </p:sp>
      <p:sp>
        <p:nvSpPr>
          <p:cNvPr id="16" name="doe step text 2"/>
          <p:cNvSpPr txBox="1"/>
          <p:nvPr/>
        </p:nvSpPr>
        <p:spPr>
          <a:xfrm>
            <a:off x="361188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reads every page and fills one strict form per page — only what is drawn</a:t>
            </a:r>
            <a:endParaRPr lang="en-US" sz="1300" dirty="0"/>
          </a:p>
        </p:txBody>
      </p:sp>
      <p:sp>
        <p:nvSpPr>
          <p:cNvPr id="17" name="Shape 12"/>
          <p:cNvSpPr/>
          <p:nvPr/>
        </p:nvSpPr>
        <p:spPr>
          <a:xfrm>
            <a:off x="5961888" y="2971800"/>
            <a:ext cx="237744" cy="0"/>
          </a:xfrm>
          <a:prstGeom prst="line">
            <a:avLst/>
          </a:prstGeom>
          <a:noFill/>
          <a:ln w="25400">
            <a:solidFill>
              <a:srgbClr val="8A93AB"/>
            </a:solidFill>
            <a:prstDash val="solid"/>
            <a:tailEnd type="triangle"/>
          </a:ln>
        </p:spPr>
      </p:sp>
      <p:sp>
        <p:nvSpPr>
          <p:cNvPr id="18" name="doe step 3"/>
          <p:cNvSpPr/>
          <p:nvPr/>
        </p:nvSpPr>
        <p:spPr>
          <a:xfrm>
            <a:off x="6217920" y="1417320"/>
            <a:ext cx="2560320" cy="3154680"/>
          </a:xfrm>
          <a:prstGeom prst="roundRect">
            <a:avLst>
              <a:gd name="adj" fmla="val 4286"/>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9" name="doe step 3 circle"/>
          <p:cNvSpPr/>
          <p:nvPr/>
        </p:nvSpPr>
        <p:spPr>
          <a:xfrm>
            <a:off x="6446520" y="1645920"/>
            <a:ext cx="731520" cy="731520"/>
          </a:xfrm>
          <a:prstGeom prst="ellipse">
            <a:avLst/>
          </a:prstGeom>
          <a:solidFill>
            <a:srgbClr val="2E5BE8"/>
          </a:solidFill>
          <a:ln w="12700">
            <a:solidFill>
              <a:srgbClr val="2E5BE8"/>
            </a:solidFill>
            <a:prstDash val="solid"/>
          </a:ln>
        </p:spPr>
      </p:sp>
      <p:pic>
        <p:nvPicPr>
          <p:cNvPr id="20" name="doe step 3 icon" descr="preencoded.png">    </p:cNvPr>
          <p:cNvPicPr>
            <a:picLocks noChangeAspect="1"/>
          </p:cNvPicPr>
          <p:nvPr/>
        </p:nvPicPr>
        <p:blipFill>
          <a:blip r:embed="rId3"/>
          <a:stretch>
            <a:fillRect/>
          </a:stretch>
        </p:blipFill>
        <p:spPr>
          <a:xfrm>
            <a:off x="6636715" y="1836115"/>
            <a:ext cx="351130" cy="351130"/>
          </a:xfrm>
          <a:prstGeom prst="rect">
            <a:avLst/>
          </a:prstGeom>
        </p:spPr>
      </p:pic>
      <p:sp>
        <p:nvSpPr>
          <p:cNvPr id="21" name="doe step title 3"/>
          <p:cNvSpPr txBox="1"/>
          <p:nvPr/>
        </p:nvSpPr>
        <p:spPr>
          <a:xfrm>
            <a:off x="644652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3 · Finish</a:t>
            </a:r>
            <a:endParaRPr lang="en-US" sz="1800" dirty="0"/>
          </a:p>
        </p:txBody>
      </p:sp>
      <p:sp>
        <p:nvSpPr>
          <p:cNvPr id="22" name="doe step who 3"/>
          <p:cNvSpPr txBox="1"/>
          <p:nvPr/>
        </p:nvSpPr>
        <p:spPr>
          <a:xfrm>
            <a:off x="6446520" y="2880360"/>
            <a:ext cx="2194560" cy="292608"/>
          </a:xfrm>
          <a:prstGeom prst="rect">
            <a:avLst/>
          </a:prstGeom>
          <a:noFill/>
          <a:ln/>
        </p:spPr>
        <p:txBody>
          <a:bodyPr wrap="square" lIns="0" tIns="0" rIns="0" bIns="0" rtlCol="0" anchor="t"/>
          <a:lstStyle/>
          <a:p>
            <a:pPr indent="0" marL="0">
              <a:buNone/>
            </a:pPr>
            <a:r>
              <a:rPr lang="en-US" sz="1200" b="1" dirty="0">
                <a:solidFill>
                  <a:schemeClr val="accent1"/>
                </a:solidFill>
              </a:rPr>
              <a:t>Python</a:t>
            </a:r>
            <a:endParaRPr lang="en-US" sz="1200" dirty="0"/>
          </a:p>
        </p:txBody>
      </p:sp>
      <p:sp>
        <p:nvSpPr>
          <p:cNvPr id="23" name="doe step text 3"/>
          <p:cNvSpPr txBox="1"/>
          <p:nvPr/>
        </p:nvSpPr>
        <p:spPr>
          <a:xfrm>
            <a:off x="644652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checks every form, reads the CAD set, combines both readers, prices once</a:t>
            </a:r>
            <a:endParaRPr lang="en-US" sz="1300" dirty="0"/>
          </a:p>
        </p:txBody>
      </p:sp>
      <p:sp>
        <p:nvSpPr>
          <p:cNvPr id="24" name="Shape 18"/>
          <p:cNvSpPr/>
          <p:nvPr/>
        </p:nvSpPr>
        <p:spPr>
          <a:xfrm>
            <a:off x="8796528" y="2971800"/>
            <a:ext cx="237744" cy="0"/>
          </a:xfrm>
          <a:prstGeom prst="line">
            <a:avLst/>
          </a:prstGeom>
          <a:noFill/>
          <a:ln w="25400">
            <a:solidFill>
              <a:srgbClr val="8A93AB"/>
            </a:solidFill>
            <a:prstDash val="solid"/>
            <a:tailEnd type="triangle"/>
          </a:ln>
        </p:spPr>
      </p:sp>
      <p:sp>
        <p:nvSpPr>
          <p:cNvPr id="25" name="doe step 4"/>
          <p:cNvSpPr/>
          <p:nvPr/>
        </p:nvSpPr>
        <p:spPr>
          <a:xfrm>
            <a:off x="9052560" y="1417320"/>
            <a:ext cx="2560320" cy="3154680"/>
          </a:xfrm>
          <a:prstGeom prst="roundRect">
            <a:avLst>
              <a:gd name="adj" fmla="val 4286"/>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6" name="doe step 4 circle"/>
          <p:cNvSpPr/>
          <p:nvPr/>
        </p:nvSpPr>
        <p:spPr>
          <a:xfrm>
            <a:off x="9281160" y="1645920"/>
            <a:ext cx="731520" cy="731520"/>
          </a:xfrm>
          <a:prstGeom prst="ellipse">
            <a:avLst/>
          </a:prstGeom>
          <a:solidFill>
            <a:srgbClr val="2E5BE8"/>
          </a:solidFill>
          <a:ln w="12700">
            <a:solidFill>
              <a:srgbClr val="2E5BE8"/>
            </a:solidFill>
            <a:prstDash val="solid"/>
          </a:ln>
        </p:spPr>
      </p:sp>
      <p:pic>
        <p:nvPicPr>
          <p:cNvPr id="27" name="doe step 4 icon" descr="preencoded.png">    </p:cNvPr>
          <p:cNvPicPr>
            <a:picLocks noChangeAspect="1"/>
          </p:cNvPicPr>
          <p:nvPr/>
        </p:nvPicPr>
        <p:blipFill>
          <a:blip r:embed="rId4"/>
          <a:stretch>
            <a:fillRect/>
          </a:stretch>
        </p:blipFill>
        <p:spPr>
          <a:xfrm>
            <a:off x="9471355" y="1836115"/>
            <a:ext cx="351130" cy="351130"/>
          </a:xfrm>
          <a:prstGeom prst="rect">
            <a:avLst/>
          </a:prstGeom>
        </p:spPr>
      </p:pic>
      <p:sp>
        <p:nvSpPr>
          <p:cNvPr id="28" name="doe step title 4"/>
          <p:cNvSpPr txBox="1"/>
          <p:nvPr/>
        </p:nvSpPr>
        <p:spPr>
          <a:xfrm>
            <a:off x="928116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AfriPlan_Output</a:t>
            </a:r>
            <a:endParaRPr lang="en-US" sz="1800" dirty="0"/>
          </a:p>
        </p:txBody>
      </p:sp>
      <p:sp>
        <p:nvSpPr>
          <p:cNvPr id="29" name="doe step who 4"/>
          <p:cNvSpPr txBox="1"/>
          <p:nvPr/>
        </p:nvSpPr>
        <p:spPr>
          <a:xfrm>
            <a:off x="9281160" y="2880360"/>
            <a:ext cx="2194560" cy="292608"/>
          </a:xfrm>
          <a:prstGeom prst="rect">
            <a:avLst/>
          </a:prstGeom>
          <a:noFill/>
          <a:ln/>
        </p:spPr>
        <p:txBody>
          <a:bodyPr wrap="square" lIns="0" tIns="0" rIns="0" bIns="0" rtlCol="0" anchor="t"/>
          <a:lstStyle/>
          <a:p>
            <a:pPr indent="0" marL="0">
              <a:buNone/>
            </a:pPr>
            <a:r>
              <a:rPr lang="en-US" sz="1200" b="1" dirty="0">
                <a:solidFill>
                  <a:schemeClr val="accent1"/>
                </a:solidFill>
              </a:rPr>
              <a:t>in the project folder</a:t>
            </a:r>
            <a:endParaRPr lang="en-US" sz="1200" dirty="0"/>
          </a:p>
        </p:txBody>
      </p:sp>
      <p:sp>
        <p:nvSpPr>
          <p:cNvPr id="30" name="doe step text 4"/>
          <p:cNvSpPr txBox="1"/>
          <p:nvPr/>
        </p:nvSpPr>
        <p:spPr>
          <a:xfrm>
            <a:off x="928116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Excel + PDF BoQ, things to check, summary — and an accuracy report when scored</a:t>
            </a:r>
            <a:endParaRPr lang="en-US" sz="1300" dirty="0"/>
          </a:p>
        </p:txBody>
      </p:sp>
      <p:sp>
        <p:nvSpPr>
          <p:cNvPr id="31" name="command box"/>
          <p:cNvSpPr/>
          <p:nvPr/>
        </p:nvSpPr>
        <p:spPr>
          <a:xfrm>
            <a:off x="548640" y="4800600"/>
            <a:ext cx="11064240" cy="1051560"/>
          </a:xfrm>
          <a:prstGeom prst="roundRect">
            <a:avLst>
              <a:gd name="adj" fmla="val 8696"/>
            </a:avLst>
          </a:prstGeom>
          <a:solidFill>
            <a:schemeClr val="tx1"/>
          </a:solidFill>
          <a:ln w="12700">
            <a:solidFill>
              <a:srgbClr val="101A33"/>
            </a:solidFill>
            <a:prstDash val="solid"/>
          </a:ln>
        </p:spPr>
      </p:sp>
      <p:sp>
        <p:nvSpPr>
          <p:cNvPr id="32" name="command text"/>
          <p:cNvSpPr txBox="1"/>
          <p:nvPr/>
        </p:nvSpPr>
        <p:spPr>
          <a:xfrm>
            <a:off x="822960" y="4919472"/>
            <a:ext cx="10607040" cy="822960"/>
          </a:xfrm>
          <a:prstGeom prst="rect">
            <a:avLst/>
          </a:prstGeom>
          <a:noFill/>
          <a:ln/>
        </p:spPr>
        <p:txBody>
          <a:bodyPr wrap="square" lIns="0" tIns="0" rIns="0" bIns="0" rtlCol="0" anchor="ctr"/>
          <a:lstStyle/>
          <a:p>
            <a:pPr indent="0" marL="0">
              <a:buNone/>
            </a:pPr>
            <a:r>
              <a:rPr lang="en-US" sz="1400" b="1" dirty="0">
                <a:solidFill>
                  <a:schemeClr val="accent2"/>
                </a:solidFill>
              </a:rPr>
              <a:t>Say to Claude Code:  </a:t>
            </a:r>
            <a:pPr indent="0" marL="0">
              <a:buNone/>
            </a:pPr>
            <a:r>
              <a:rPr lang="en-US" sz="1400" dirty="0">
                <a:solidFill>
                  <a:schemeClr val="bg1"/>
                </a:solidFill>
              </a:rPr>
              <a:t>estimate the project in C:\Projects\My Job</a:t>
            </a:r>
            <a:endParaRPr lang="en-US" sz="1400" dirty="0"/>
          </a:p>
          <a:p>
            <a:pPr indent="0" marL="0">
              <a:buNone/>
            </a:pPr>
            <a:r>
              <a:rPr lang="en-US" sz="1400" b="1" dirty="0">
                <a:solidFill>
                  <a:schemeClr val="accent2"/>
                </a:solidFill>
              </a:rPr>
              <a:t>It runs:  </a:t>
            </a:r>
            <a:pPr indent="0" marL="0">
              <a:buNone/>
            </a:pPr>
            <a:r>
              <a:rPr lang="en-US" sz="1400" dirty="0">
                <a:solidFill>
                  <a:schemeClr val="bg1"/>
                </a:solidFill>
                <a:latin typeface="Courier New" pitchFamily="34" charset="0"/>
                <a:ea typeface="Courier New" pitchFamily="34" charset="-122"/>
                <a:cs typeface="Courier New" pitchFamily="34" charset="-120"/>
              </a:rPr>
              <a:t>$PY doe/execution/project.py prepare "&lt;folder&gt;"   …   finish "&lt;folder&gt;"</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Set up on Windows or Mac in two commands</a:t>
            </a:r>
            <a:endParaRPr lang="en-US" sz="3000" dirty="0"/>
          </a:p>
        </p:txBody>
      </p:sp>
      <p:graphicFrame>
        <p:nvGraphicFramePr>
          <p:cNvPr id="16" name="prerequisites table"/>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1828800"/>
                <a:gridCol w="822960"/>
                <a:gridCol w="1691640"/>
                <a:gridCol w="1691640"/>
              </a:tblGrid>
              <a:tr h="457200">
                <a:tc>
                  <a:txBody>
                    <a:bodyPr/>
                    <a:lstStyle/>
                    <a:p>
                      <a:pPr indent="0" marL="0">
                        <a:buNone/>
                      </a:pPr>
                      <a:r>
                        <a:rPr lang="en-US" sz="1250" b="1" dirty="0">
                          <a:solidFill>
                            <a:schemeClr val="bg1"/>
                          </a:solidFill>
                        </a:rPr>
                        <a:t>Tool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Version</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Windows</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macOS</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457200">
                <a:tc>
                  <a:txBody>
                    <a:bodyPr/>
                    <a:lstStyle/>
                    <a:p>
                      <a:pPr indent="0" marL="0">
                        <a:buNone/>
                      </a:pPr>
                      <a:r>
                        <a:rPr lang="en-US" sz="1250" dirty="0">
                          <a:solidFill>
                            <a:schemeClr val="tx1"/>
                          </a:solidFill>
                        </a:rPr>
                        <a:t>Git</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any</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git-scm.com</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xcode-select --install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Python</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3.12+</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python.org</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brew install python@3.12</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Node.js</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20+</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nodejs.org</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brew install node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LibreDWG (optional)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0.14</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releases → dwg2dxf.exe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brew install libredwg</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Claude Code (optional)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latest</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claude.com/claude-code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same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setup box"/>
          <p:cNvSpPr/>
          <p:nvPr/>
        </p:nvSpPr>
        <p:spPr>
          <a:xfrm>
            <a:off x="6903720" y="1417320"/>
            <a:ext cx="4709160" cy="2240280"/>
          </a:xfrm>
          <a:prstGeom prst="roundRect">
            <a:avLst>
              <a:gd name="adj" fmla="val 4082"/>
            </a:avLst>
          </a:prstGeom>
          <a:solidFill>
            <a:schemeClr val="tx1"/>
          </a:solidFill>
          <a:ln w="12700">
            <a:solidFill>
              <a:srgbClr val="101A33"/>
            </a:solidFill>
            <a:prstDash val="solid"/>
          </a:ln>
        </p:spPr>
      </p:sp>
      <p:sp>
        <p:nvSpPr>
          <p:cNvPr id="6" name="setup commands"/>
          <p:cNvSpPr txBox="1"/>
          <p:nvPr/>
        </p:nvSpPr>
        <p:spPr>
          <a:xfrm>
            <a:off x="7132320" y="1600200"/>
            <a:ext cx="4343400" cy="2423160"/>
          </a:xfrm>
          <a:prstGeom prst="rect">
            <a:avLst/>
          </a:prstGeom>
          <a:noFill/>
          <a:ln/>
        </p:spPr>
        <p:txBody>
          <a:bodyPr wrap="square" lIns="0" tIns="0" rIns="0" bIns="0" rtlCol="0" anchor="t"/>
          <a:lstStyle/>
          <a:p>
            <a:pPr indent="0" marL="0">
              <a:buNone/>
            </a:pPr>
            <a:r>
              <a:rPr lang="en-US" sz="1350" dirty="0">
                <a:solidFill>
                  <a:schemeClr val="accent2"/>
                </a:solidFill>
              </a:rPr>
              <a:t># once per computer</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git clone https://github.com/</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    Jonathan-Lukwichi/afriplan-ai.git</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cd afriplan-ai</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python scripts/dev.py setup</a:t>
            </a:r>
            <a:endParaRPr lang="en-US" sz="1350" dirty="0"/>
          </a:p>
          <a:p>
            <a:pPr indent="0" marL="0">
              <a:buNone/>
            </a:pPr>
            <a:r>
              <a:rPr lang="en-US" sz="1350" dirty="0">
                <a:solidFill>
                  <a:schemeClr val="accent2"/>
                </a:solidFill>
              </a:rPr>
              <a:t># every time</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python scripts/dev.py start</a:t>
            </a:r>
            <a:endParaRPr lang="en-US" sz="1350" dirty="0"/>
          </a:p>
        </p:txBody>
      </p:sp>
      <p:sp>
        <p:nvSpPr>
          <p:cNvPr id="7" name="setup tip 1 circle"/>
          <p:cNvSpPr/>
          <p:nvPr/>
        </p:nvSpPr>
        <p:spPr>
          <a:xfrm>
            <a:off x="6903720" y="3931920"/>
            <a:ext cx="384048" cy="384048"/>
          </a:xfrm>
          <a:prstGeom prst="ellipse">
            <a:avLst/>
          </a:prstGeom>
          <a:solidFill>
            <a:srgbClr val="F2F4F9"/>
          </a:solidFill>
          <a:ln w="12700">
            <a:solidFill>
              <a:srgbClr val="F2F4F9"/>
            </a:solidFill>
            <a:prstDash val="solid"/>
          </a:ln>
        </p:spPr>
      </p:sp>
      <p:pic>
        <p:nvPicPr>
          <p:cNvPr id="8" name="setup tip 1 icon" descr="preencoded.png">    </p:cNvPr>
          <p:cNvPicPr>
            <a:picLocks noChangeAspect="1"/>
          </p:cNvPicPr>
          <p:nvPr/>
        </p:nvPicPr>
        <p:blipFill>
          <a:blip r:embed="rId1"/>
          <a:stretch>
            <a:fillRect/>
          </a:stretch>
        </p:blipFill>
        <p:spPr>
          <a:xfrm>
            <a:off x="7003572" y="4031772"/>
            <a:ext cx="184343" cy="184343"/>
          </a:xfrm>
          <a:prstGeom prst="rect">
            <a:avLst/>
          </a:prstGeom>
        </p:spPr>
      </p:pic>
      <p:sp>
        <p:nvSpPr>
          <p:cNvPr id="9" name="setup tip text 1"/>
          <p:cNvSpPr txBox="1"/>
          <p:nvPr/>
        </p:nvSpPr>
        <p:spPr>
          <a:xfrm>
            <a:off x="7406640" y="3986784"/>
            <a:ext cx="4206240" cy="384048"/>
          </a:xfrm>
          <a:prstGeom prst="rect">
            <a:avLst/>
          </a:prstGeom>
          <a:noFill/>
          <a:ln/>
        </p:spPr>
        <p:txBody>
          <a:bodyPr wrap="square" lIns="0" tIns="0" rIns="0" bIns="0" rtlCol="0" anchor="t"/>
          <a:lstStyle/>
          <a:p>
            <a:pPr indent="0" marL="0">
              <a:buNone/>
            </a:pPr>
            <a:r>
              <a:rPr lang="en-US" sz="1250" dirty="0">
                <a:solidFill>
                  <a:schemeClr val="tx1"/>
                </a:solidFill>
              </a:rPr>
              <a:t>On a Mac, type python3 instead of python.</a:t>
            </a:r>
            <a:endParaRPr lang="en-US" sz="1250" dirty="0"/>
          </a:p>
        </p:txBody>
      </p:sp>
      <p:sp>
        <p:nvSpPr>
          <p:cNvPr id="10" name="setup tip 2 circle"/>
          <p:cNvSpPr/>
          <p:nvPr/>
        </p:nvSpPr>
        <p:spPr>
          <a:xfrm>
            <a:off x="6903720" y="4480560"/>
            <a:ext cx="384048" cy="384048"/>
          </a:xfrm>
          <a:prstGeom prst="ellipse">
            <a:avLst/>
          </a:prstGeom>
          <a:solidFill>
            <a:srgbClr val="F2F4F9"/>
          </a:solidFill>
          <a:ln w="12700">
            <a:solidFill>
              <a:srgbClr val="F2F4F9"/>
            </a:solidFill>
            <a:prstDash val="solid"/>
          </a:ln>
        </p:spPr>
      </p:sp>
      <p:pic>
        <p:nvPicPr>
          <p:cNvPr id="11" name="setup tip 2 icon" descr="preencoded.png">    </p:cNvPr>
          <p:cNvPicPr>
            <a:picLocks noChangeAspect="1"/>
          </p:cNvPicPr>
          <p:nvPr/>
        </p:nvPicPr>
        <p:blipFill>
          <a:blip r:embed="rId2"/>
          <a:stretch>
            <a:fillRect/>
          </a:stretch>
        </p:blipFill>
        <p:spPr>
          <a:xfrm>
            <a:off x="7003572" y="4580412"/>
            <a:ext cx="184343" cy="184343"/>
          </a:xfrm>
          <a:prstGeom prst="rect">
            <a:avLst/>
          </a:prstGeom>
        </p:spPr>
      </p:pic>
      <p:sp>
        <p:nvSpPr>
          <p:cNvPr id="12" name="setup tip text 2"/>
          <p:cNvSpPr txBox="1"/>
          <p:nvPr/>
        </p:nvSpPr>
        <p:spPr>
          <a:xfrm>
            <a:off x="7406640" y="4535424"/>
            <a:ext cx="4206240" cy="384048"/>
          </a:xfrm>
          <a:prstGeom prst="rect">
            <a:avLst/>
          </a:prstGeom>
          <a:noFill/>
          <a:ln/>
        </p:spPr>
        <p:txBody>
          <a:bodyPr wrap="square" lIns="0" tIns="0" rIns="0" bIns="0" rtlCol="0" anchor="t"/>
          <a:lstStyle/>
          <a:p>
            <a:pPr indent="0" marL="0">
              <a:buNone/>
            </a:pPr>
            <a:r>
              <a:rPr lang="en-US" sz="1250" dirty="0">
                <a:solidFill>
                  <a:schemeClr val="tx1"/>
                </a:solidFill>
              </a:rPr>
              <a:t>On Windows, clone into a short path (e.g. C:\dev) — very deep folders can break installs.</a:t>
            </a:r>
            <a:endParaRPr lang="en-US" sz="1250" dirty="0"/>
          </a:p>
        </p:txBody>
      </p:sp>
      <p:sp>
        <p:nvSpPr>
          <p:cNvPr id="13" name="setup tip 3 circle"/>
          <p:cNvSpPr/>
          <p:nvPr/>
        </p:nvSpPr>
        <p:spPr>
          <a:xfrm>
            <a:off x="6903720" y="5029200"/>
            <a:ext cx="384048" cy="384048"/>
          </a:xfrm>
          <a:prstGeom prst="ellipse">
            <a:avLst/>
          </a:prstGeom>
          <a:solidFill>
            <a:srgbClr val="F2F4F9"/>
          </a:solidFill>
          <a:ln w="12700">
            <a:solidFill>
              <a:srgbClr val="F2F4F9"/>
            </a:solidFill>
            <a:prstDash val="solid"/>
          </a:ln>
        </p:spPr>
      </p:sp>
      <p:pic>
        <p:nvPicPr>
          <p:cNvPr id="14" name="setup tip 3 icon" descr="preencoded.png">    </p:cNvPr>
          <p:cNvPicPr>
            <a:picLocks noChangeAspect="1"/>
          </p:cNvPicPr>
          <p:nvPr/>
        </p:nvPicPr>
        <p:blipFill>
          <a:blip r:embed="rId3"/>
          <a:stretch>
            <a:fillRect/>
          </a:stretch>
        </p:blipFill>
        <p:spPr>
          <a:xfrm>
            <a:off x="7003572" y="5129052"/>
            <a:ext cx="184343" cy="184343"/>
          </a:xfrm>
          <a:prstGeom prst="rect">
            <a:avLst/>
          </a:prstGeom>
        </p:spPr>
      </p:pic>
      <p:sp>
        <p:nvSpPr>
          <p:cNvPr id="15" name="setup tip text 3"/>
          <p:cNvSpPr txBox="1"/>
          <p:nvPr/>
        </p:nvSpPr>
        <p:spPr>
          <a:xfrm>
            <a:off x="7406640" y="5084064"/>
            <a:ext cx="4206240" cy="384048"/>
          </a:xfrm>
          <a:prstGeom prst="rect">
            <a:avLst/>
          </a:prstGeom>
          <a:noFill/>
          <a:ln/>
        </p:spPr>
        <p:txBody>
          <a:bodyPr wrap="square" lIns="0" tIns="0" rIns="0" bIns="0" rtlCol="0" anchor="t"/>
          <a:lstStyle/>
          <a:p>
            <a:pPr indent="0" marL="0">
              <a:buNone/>
            </a:pPr>
            <a:r>
              <a:rPr lang="en-US" sz="1250" dirty="0">
                <a:solidFill>
                  <a:schemeClr val="tx1"/>
                </a:solidFill>
              </a:rPr>
              <a:t>Keys (optional) go in api/.env: ANTHROPIC_API_KEY or GEMINI_API_KEY.</a:t>
            </a:r>
            <a:endParaRPr lang="en-US" sz="12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We measure accuracy against a real, human-priced bill</a:t>
            </a:r>
            <a:endParaRPr lang="en-US" sz="3000" dirty="0"/>
          </a:p>
        </p:txBody>
      </p:sp>
      <p:sp>
        <p:nvSpPr>
          <p:cNvPr id="4" name="rs card"/>
          <p:cNvSpPr/>
          <p:nvPr/>
        </p:nvSpPr>
        <p:spPr>
          <a:xfrm>
            <a:off x="548640" y="1417320"/>
            <a:ext cx="5760720" cy="4389120"/>
          </a:xfrm>
          <a:prstGeom prst="roundRect">
            <a:avLst>
              <a:gd name="adj" fmla="val 25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rs title"/>
          <p:cNvSpPr txBox="1"/>
          <p:nvPr/>
        </p:nvSpPr>
        <p:spPr>
          <a:xfrm>
            <a:off x="822960" y="1645920"/>
            <a:ext cx="5303520" cy="411480"/>
          </a:xfrm>
          <a:prstGeom prst="rect">
            <a:avLst/>
          </a:prstGeom>
          <a:noFill/>
          <a:ln/>
        </p:spPr>
        <p:txBody>
          <a:bodyPr wrap="square" lIns="0" tIns="0" rIns="0" bIns="0" rtlCol="0" anchor="t"/>
          <a:lstStyle/>
          <a:p>
            <a:pPr indent="0" marL="0">
              <a:buNone/>
            </a:pPr>
            <a:r>
              <a:rPr lang="en-US" sz="1900" b="1" dirty="0">
                <a:solidFill>
                  <a:schemeClr val="tx1"/>
                </a:solidFill>
              </a:rPr>
              <a:t>Reproduction Score (RS) — the headline</a:t>
            </a:r>
            <a:endParaRPr lang="en-US" sz="1900" dirty="0"/>
          </a:p>
        </p:txBody>
      </p:sp>
      <p:sp>
        <p:nvSpPr>
          <p:cNvPr id="6" name="formula box"/>
          <p:cNvSpPr/>
          <p:nvPr/>
        </p:nvSpPr>
        <p:spPr>
          <a:xfrm>
            <a:off x="822960" y="2240280"/>
            <a:ext cx="5212080" cy="960120"/>
          </a:xfrm>
          <a:prstGeom prst="roundRect">
            <a:avLst>
              <a:gd name="adj" fmla="val 7619"/>
            </a:avLst>
          </a:prstGeom>
          <a:solidFill>
            <a:schemeClr val="bg1"/>
          </a:solidFill>
          <a:ln w="12700">
            <a:solidFill>
              <a:srgbClr val="D9DEE9"/>
            </a:solidFill>
            <a:prstDash val="solid"/>
          </a:ln>
        </p:spPr>
      </p:sp>
      <p:sp>
        <p:nvSpPr>
          <p:cNvPr id="7" name="formula"/>
          <p:cNvSpPr txBox="1"/>
          <p:nvPr/>
        </p:nvSpPr>
        <p:spPr>
          <a:xfrm>
            <a:off x="1005840" y="2331720"/>
            <a:ext cx="4846320" cy="777240"/>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Σ value × found × quantity accuracy</a:t>
            </a:r>
            <a:endParaRPr lang="en-US" sz="1800" dirty="0"/>
          </a:p>
          <a:p>
            <a:pPr algn="ctr" indent="0" marL="0">
              <a:buNone/>
            </a:pPr>
            <a:r>
              <a:rPr lang="en-US" sz="1800" b="1" dirty="0">
                <a:solidFill>
                  <a:schemeClr val="accent1"/>
                </a:solidFill>
                <a:latin typeface="Cambria" pitchFamily="34" charset="0"/>
                <a:ea typeface="Cambria" pitchFamily="34" charset="-122"/>
                <a:cs typeface="Cambria" pitchFamily="34" charset="-120"/>
              </a:rPr>
              <a:t>÷  Σ value of the real bill</a:t>
            </a:r>
            <a:endParaRPr lang="en-US" sz="1800" dirty="0"/>
          </a:p>
        </p:txBody>
      </p:sp>
      <p:sp>
        <p:nvSpPr>
          <p:cNvPr id="8" name="rs example"/>
          <p:cNvSpPr txBox="1"/>
          <p:nvPr/>
        </p:nvSpPr>
        <p:spPr>
          <a:xfrm>
            <a:off x="822960" y="3429000"/>
            <a:ext cx="5303520" cy="1188720"/>
          </a:xfrm>
          <a:prstGeom prst="rect">
            <a:avLst/>
          </a:prstGeom>
          <a:noFill/>
          <a:ln/>
        </p:spPr>
        <p:txBody>
          <a:bodyPr wrap="square" lIns="0" tIns="0" rIns="0" bIns="0" rtlCol="0" anchor="t"/>
          <a:lstStyle/>
          <a:p>
            <a:pPr indent="0" marL="0">
              <a:buNone/>
            </a:pPr>
            <a:r>
              <a:rPr lang="en-US" sz="1400" b="1" dirty="0">
                <a:solidFill>
                  <a:schemeClr val="tx1"/>
                </a:solidFill>
              </a:rPr>
              <a:t>Example: </a:t>
            </a:r>
            <a:pPr indent="0" marL="0">
              <a:buNone/>
            </a:pPr>
            <a:r>
              <a:rPr lang="en-US" sz="1400" dirty="0">
                <a:solidFill>
                  <a:schemeClr val="tx1"/>
                </a:solidFill>
              </a:rPr>
              <a:t>a feeder worth R100 000 in the real bill, found with 90 % of the right length, adds R90 000 of the R100 000. An item never produced adds nothing. 100 % = every item, exact quantities.</a:t>
            </a:r>
            <a:endParaRPr lang="en-US" sz="1400" dirty="0"/>
          </a:p>
        </p:txBody>
      </p:sp>
      <p:sp>
        <p:nvSpPr>
          <p:cNvPr id="9" name="rs weighting"/>
          <p:cNvSpPr txBox="1"/>
          <p:nvPr/>
        </p:nvSpPr>
        <p:spPr>
          <a:xfrm>
            <a:off x="822960" y="4526280"/>
            <a:ext cx="5303520" cy="822960"/>
          </a:xfrm>
          <a:prstGeom prst="rect">
            <a:avLst/>
          </a:prstGeom>
          <a:noFill/>
          <a:ln/>
        </p:spPr>
        <p:txBody>
          <a:bodyPr wrap="square" lIns="0" tIns="0" rIns="0" bIns="0" rtlCol="0" anchor="t"/>
          <a:lstStyle/>
          <a:p>
            <a:pPr indent="0" marL="0">
              <a:buNone/>
            </a:pPr>
            <a:r>
              <a:rPr lang="en-US" sz="1300" i="1" dirty="0">
                <a:solidFill>
                  <a:schemeClr val="tx2"/>
                </a:solidFill>
              </a:rPr>
              <a:t>Weighted by rand value: a big feeder counts far more than a socket — that is how a tender is won or lost.</a:t>
            </a:r>
            <a:endParaRPr lang="en-US" sz="1300" dirty="0"/>
          </a:p>
        </p:txBody>
      </p:sp>
      <p:sp>
        <p:nvSpPr>
          <p:cNvPr id="10" name="metric 1 circle"/>
          <p:cNvSpPr/>
          <p:nvPr/>
        </p:nvSpPr>
        <p:spPr>
          <a:xfrm>
            <a:off x="6629400" y="1463040"/>
            <a:ext cx="548640" cy="548640"/>
          </a:xfrm>
          <a:prstGeom prst="ellipse">
            <a:avLst/>
          </a:prstGeom>
          <a:solidFill>
            <a:srgbClr val="F2F4F9"/>
          </a:solidFill>
          <a:ln w="12700">
            <a:solidFill>
              <a:srgbClr val="F2F4F9"/>
            </a:solidFill>
            <a:prstDash val="solid"/>
          </a:ln>
        </p:spPr>
      </p:sp>
      <p:pic>
        <p:nvPicPr>
          <p:cNvPr id="11" name="metric 1 icon" descr="preencoded.png">    </p:cNvPr>
          <p:cNvPicPr>
            <a:picLocks noChangeAspect="1"/>
          </p:cNvPicPr>
          <p:nvPr/>
        </p:nvPicPr>
        <p:blipFill>
          <a:blip r:embed="rId1"/>
          <a:stretch>
            <a:fillRect/>
          </a:stretch>
        </p:blipFill>
        <p:spPr>
          <a:xfrm>
            <a:off x="6772046" y="1605686"/>
            <a:ext cx="263347" cy="263347"/>
          </a:xfrm>
          <a:prstGeom prst="rect">
            <a:avLst/>
          </a:prstGeom>
        </p:spPr>
      </p:pic>
      <p:sp>
        <p:nvSpPr>
          <p:cNvPr id="12" name="metric title 1"/>
          <p:cNvSpPr txBox="1"/>
          <p:nvPr/>
        </p:nvSpPr>
        <p:spPr>
          <a:xfrm>
            <a:off x="7360920" y="1444752"/>
            <a:ext cx="4206240" cy="320040"/>
          </a:xfrm>
          <a:prstGeom prst="rect">
            <a:avLst/>
          </a:prstGeom>
          <a:noFill/>
          <a:ln/>
        </p:spPr>
        <p:txBody>
          <a:bodyPr wrap="square" lIns="0" tIns="0" rIns="0" bIns="0" rtlCol="0" anchor="t"/>
          <a:lstStyle/>
          <a:p>
            <a:pPr indent="0" marL="0">
              <a:buNone/>
            </a:pPr>
            <a:r>
              <a:rPr lang="en-US" sz="1600" b="1" dirty="0">
                <a:solidFill>
                  <a:schemeClr val="tx1"/>
                </a:solidFill>
              </a:rPr>
              <a:t>Coverage</a:t>
            </a:r>
            <a:endParaRPr lang="en-US" sz="1600" dirty="0"/>
          </a:p>
        </p:txBody>
      </p:sp>
      <p:sp>
        <p:nvSpPr>
          <p:cNvPr id="13" name="metric text 1"/>
          <p:cNvSpPr txBox="1"/>
          <p:nvPr/>
        </p:nvSpPr>
        <p:spPr>
          <a:xfrm>
            <a:off x="7360920" y="1764792"/>
            <a:ext cx="4206240" cy="457200"/>
          </a:xfrm>
          <a:prstGeom prst="rect">
            <a:avLst/>
          </a:prstGeom>
          <a:noFill/>
          <a:ln/>
        </p:spPr>
        <p:txBody>
          <a:bodyPr wrap="square" lIns="0" tIns="0" rIns="0" bIns="0" rtlCol="0" anchor="t"/>
          <a:lstStyle/>
          <a:p>
            <a:pPr indent="0" marL="0">
              <a:buNone/>
            </a:pPr>
            <a:r>
              <a:rPr lang="en-US" sz="1300" dirty="0">
                <a:solidFill>
                  <a:schemeClr val="tx2"/>
                </a:solidFill>
              </a:rPr>
              <a:t>share of the real bill's value we produced at all</a:t>
            </a:r>
            <a:endParaRPr lang="en-US" sz="1300" dirty="0"/>
          </a:p>
        </p:txBody>
      </p:sp>
      <p:sp>
        <p:nvSpPr>
          <p:cNvPr id="14" name="metric 2 circle"/>
          <p:cNvSpPr/>
          <p:nvPr/>
        </p:nvSpPr>
        <p:spPr>
          <a:xfrm>
            <a:off x="6629400" y="2331720"/>
            <a:ext cx="548640" cy="548640"/>
          </a:xfrm>
          <a:prstGeom prst="ellipse">
            <a:avLst/>
          </a:prstGeom>
          <a:solidFill>
            <a:srgbClr val="F2F4F9"/>
          </a:solidFill>
          <a:ln w="12700">
            <a:solidFill>
              <a:srgbClr val="F2F4F9"/>
            </a:solidFill>
            <a:prstDash val="solid"/>
          </a:ln>
        </p:spPr>
      </p:sp>
      <p:pic>
        <p:nvPicPr>
          <p:cNvPr id="15" name="metric 2 icon" descr="preencoded.png">    </p:cNvPr>
          <p:cNvPicPr>
            <a:picLocks noChangeAspect="1"/>
          </p:cNvPicPr>
          <p:nvPr/>
        </p:nvPicPr>
        <p:blipFill>
          <a:blip r:embed="rId2"/>
          <a:stretch>
            <a:fillRect/>
          </a:stretch>
        </p:blipFill>
        <p:spPr>
          <a:xfrm>
            <a:off x="6772046" y="2474366"/>
            <a:ext cx="263347" cy="263347"/>
          </a:xfrm>
          <a:prstGeom prst="rect">
            <a:avLst/>
          </a:prstGeom>
        </p:spPr>
      </p:pic>
      <p:sp>
        <p:nvSpPr>
          <p:cNvPr id="16" name="metric title 2"/>
          <p:cNvSpPr txBox="1"/>
          <p:nvPr/>
        </p:nvSpPr>
        <p:spPr>
          <a:xfrm>
            <a:off x="7360920" y="2313432"/>
            <a:ext cx="4206240" cy="320040"/>
          </a:xfrm>
          <a:prstGeom prst="rect">
            <a:avLst/>
          </a:prstGeom>
          <a:noFill/>
          <a:ln/>
        </p:spPr>
        <p:txBody>
          <a:bodyPr wrap="square" lIns="0" tIns="0" rIns="0" bIns="0" rtlCol="0" anchor="t"/>
          <a:lstStyle/>
          <a:p>
            <a:pPr indent="0" marL="0">
              <a:buNone/>
            </a:pPr>
            <a:r>
              <a:rPr lang="en-US" sz="1600" b="1" dirty="0">
                <a:solidFill>
                  <a:schemeClr val="tx1"/>
                </a:solidFill>
              </a:rPr>
              <a:t>Precision</a:t>
            </a:r>
            <a:endParaRPr lang="en-US" sz="1600" dirty="0"/>
          </a:p>
        </p:txBody>
      </p:sp>
      <p:sp>
        <p:nvSpPr>
          <p:cNvPr id="17" name="metric text 2"/>
          <p:cNvSpPr txBox="1"/>
          <p:nvPr/>
        </p:nvSpPr>
        <p:spPr>
          <a:xfrm>
            <a:off x="7360920" y="2633472"/>
            <a:ext cx="4206240" cy="457200"/>
          </a:xfrm>
          <a:prstGeom prst="rect">
            <a:avLst/>
          </a:prstGeom>
          <a:noFill/>
          <a:ln/>
        </p:spPr>
        <p:txBody>
          <a:bodyPr wrap="square" lIns="0" tIns="0" rIns="0" bIns="0" rtlCol="0" anchor="t"/>
          <a:lstStyle/>
          <a:p>
            <a:pPr indent="0" marL="0">
              <a:buNone/>
            </a:pPr>
            <a:r>
              <a:rPr lang="en-US" sz="1300" dirty="0">
                <a:solidFill>
                  <a:schemeClr val="tx2"/>
                </a:solidFill>
              </a:rPr>
              <a:t>share of what we priced that belongs in the bill</a:t>
            </a:r>
            <a:endParaRPr lang="en-US" sz="1300" dirty="0"/>
          </a:p>
        </p:txBody>
      </p:sp>
      <p:sp>
        <p:nvSpPr>
          <p:cNvPr id="18" name="metric 3 circle"/>
          <p:cNvSpPr/>
          <p:nvPr/>
        </p:nvSpPr>
        <p:spPr>
          <a:xfrm>
            <a:off x="6629400" y="3200400"/>
            <a:ext cx="548640" cy="548640"/>
          </a:xfrm>
          <a:prstGeom prst="ellipse">
            <a:avLst/>
          </a:prstGeom>
          <a:solidFill>
            <a:srgbClr val="F2F4F9"/>
          </a:solidFill>
          <a:ln w="12700">
            <a:solidFill>
              <a:srgbClr val="F2F4F9"/>
            </a:solidFill>
            <a:prstDash val="solid"/>
          </a:ln>
        </p:spPr>
      </p:sp>
      <p:pic>
        <p:nvPicPr>
          <p:cNvPr id="19" name="metric 3 icon" descr="preencoded.png">    </p:cNvPr>
          <p:cNvPicPr>
            <a:picLocks noChangeAspect="1"/>
          </p:cNvPicPr>
          <p:nvPr/>
        </p:nvPicPr>
        <p:blipFill>
          <a:blip r:embed="rId3"/>
          <a:stretch>
            <a:fillRect/>
          </a:stretch>
        </p:blipFill>
        <p:spPr>
          <a:xfrm>
            <a:off x="6772046" y="3343046"/>
            <a:ext cx="263347" cy="263347"/>
          </a:xfrm>
          <a:prstGeom prst="rect">
            <a:avLst/>
          </a:prstGeom>
        </p:spPr>
      </p:pic>
      <p:sp>
        <p:nvSpPr>
          <p:cNvPr id="20" name="metric title 3"/>
          <p:cNvSpPr txBox="1"/>
          <p:nvPr/>
        </p:nvSpPr>
        <p:spPr>
          <a:xfrm>
            <a:off x="7360920" y="3182112"/>
            <a:ext cx="4206240" cy="320040"/>
          </a:xfrm>
          <a:prstGeom prst="rect">
            <a:avLst/>
          </a:prstGeom>
          <a:noFill/>
          <a:ln/>
        </p:spPr>
        <p:txBody>
          <a:bodyPr wrap="square" lIns="0" tIns="0" rIns="0" bIns="0" rtlCol="0" anchor="t"/>
          <a:lstStyle/>
          <a:p>
            <a:pPr indent="0" marL="0">
              <a:buNone/>
            </a:pPr>
            <a:r>
              <a:rPr lang="en-US" sz="1600" b="1" dirty="0">
                <a:solidFill>
                  <a:schemeClr val="tx1"/>
                </a:solidFill>
              </a:rPr>
              <a:t>Quantity accuracy</a:t>
            </a:r>
            <a:endParaRPr lang="en-US" sz="1600" dirty="0"/>
          </a:p>
        </p:txBody>
      </p:sp>
      <p:sp>
        <p:nvSpPr>
          <p:cNvPr id="21" name="metric text 3"/>
          <p:cNvSpPr txBox="1"/>
          <p:nvPr/>
        </p:nvSpPr>
        <p:spPr>
          <a:xfrm>
            <a:off x="7360920" y="3502152"/>
            <a:ext cx="4206240" cy="457200"/>
          </a:xfrm>
          <a:prstGeom prst="rect">
            <a:avLst/>
          </a:prstGeom>
          <a:noFill/>
          <a:ln/>
        </p:spPr>
        <p:txBody>
          <a:bodyPr wrap="square" lIns="0" tIns="0" rIns="0" bIns="0" rtlCol="0" anchor="t"/>
          <a:lstStyle/>
          <a:p>
            <a:pPr indent="0" marL="0">
              <a:buNone/>
            </a:pPr>
            <a:r>
              <a:rPr lang="en-US" sz="1300" dirty="0">
                <a:solidFill>
                  <a:schemeClr val="tx2"/>
                </a:solidFill>
              </a:rPr>
              <a:t>how close our quantities are, where we have the item</a:t>
            </a:r>
            <a:endParaRPr lang="en-US" sz="1300" dirty="0"/>
          </a:p>
        </p:txBody>
      </p:sp>
      <p:sp>
        <p:nvSpPr>
          <p:cNvPr id="22" name="metric 4 circle"/>
          <p:cNvSpPr/>
          <p:nvPr/>
        </p:nvSpPr>
        <p:spPr>
          <a:xfrm>
            <a:off x="6629400" y="4069080"/>
            <a:ext cx="548640" cy="548640"/>
          </a:xfrm>
          <a:prstGeom prst="ellipse">
            <a:avLst/>
          </a:prstGeom>
          <a:solidFill>
            <a:srgbClr val="F2F4F9"/>
          </a:solidFill>
          <a:ln w="12700">
            <a:solidFill>
              <a:srgbClr val="F2F4F9"/>
            </a:solidFill>
            <a:prstDash val="solid"/>
          </a:ln>
        </p:spPr>
      </p:sp>
      <p:pic>
        <p:nvPicPr>
          <p:cNvPr id="23" name="metric 4 icon" descr="preencoded.png">    </p:cNvPr>
          <p:cNvPicPr>
            <a:picLocks noChangeAspect="1"/>
          </p:cNvPicPr>
          <p:nvPr/>
        </p:nvPicPr>
        <p:blipFill>
          <a:blip r:embed="rId4"/>
          <a:stretch>
            <a:fillRect/>
          </a:stretch>
        </p:blipFill>
        <p:spPr>
          <a:xfrm>
            <a:off x="6772046" y="4211726"/>
            <a:ext cx="263347" cy="263347"/>
          </a:xfrm>
          <a:prstGeom prst="rect">
            <a:avLst/>
          </a:prstGeom>
        </p:spPr>
      </p:pic>
      <p:sp>
        <p:nvSpPr>
          <p:cNvPr id="24" name="metric title 4"/>
          <p:cNvSpPr txBox="1"/>
          <p:nvPr/>
        </p:nvSpPr>
        <p:spPr>
          <a:xfrm>
            <a:off x="7360920" y="4050792"/>
            <a:ext cx="4206240" cy="320040"/>
          </a:xfrm>
          <a:prstGeom prst="rect">
            <a:avLst/>
          </a:prstGeom>
          <a:noFill/>
          <a:ln/>
        </p:spPr>
        <p:txBody>
          <a:bodyPr wrap="square" lIns="0" tIns="0" rIns="0" bIns="0" rtlCol="0" anchor="t"/>
          <a:lstStyle/>
          <a:p>
            <a:pPr indent="0" marL="0">
              <a:buNone/>
            </a:pPr>
            <a:r>
              <a:rPr lang="en-US" sz="1600" b="1" dirty="0">
                <a:solidFill>
                  <a:schemeClr val="tx1"/>
                </a:solidFill>
              </a:rPr>
              <a:t>Rate accuracy</a:t>
            </a:r>
            <a:endParaRPr lang="en-US" sz="1600" dirty="0"/>
          </a:p>
        </p:txBody>
      </p:sp>
      <p:sp>
        <p:nvSpPr>
          <p:cNvPr id="25" name="metric text 4"/>
          <p:cNvSpPr txBox="1"/>
          <p:nvPr/>
        </p:nvSpPr>
        <p:spPr>
          <a:xfrm>
            <a:off x="7360920" y="4370832"/>
            <a:ext cx="4206240" cy="457200"/>
          </a:xfrm>
          <a:prstGeom prst="rect">
            <a:avLst/>
          </a:prstGeom>
          <a:noFill/>
          <a:ln/>
        </p:spPr>
        <p:txBody>
          <a:bodyPr wrap="square" lIns="0" tIns="0" rIns="0" bIns="0" rtlCol="0" anchor="t"/>
          <a:lstStyle/>
          <a:p>
            <a:pPr indent="0" marL="0">
              <a:buNone/>
            </a:pPr>
            <a:r>
              <a:rPr lang="en-US" sz="1300" dirty="0">
                <a:solidFill>
                  <a:schemeClr val="tx2"/>
                </a:solidFill>
              </a:rPr>
              <a:t>how close our rates are — not in RS; moves the total</a:t>
            </a:r>
            <a:endParaRPr lang="en-US" sz="1300" dirty="0"/>
          </a:p>
        </p:txBody>
      </p:sp>
      <p:sp>
        <p:nvSpPr>
          <p:cNvPr id="26" name="metric 5 circle"/>
          <p:cNvSpPr/>
          <p:nvPr/>
        </p:nvSpPr>
        <p:spPr>
          <a:xfrm>
            <a:off x="6629400" y="4937760"/>
            <a:ext cx="548640" cy="548640"/>
          </a:xfrm>
          <a:prstGeom prst="ellipse">
            <a:avLst/>
          </a:prstGeom>
          <a:solidFill>
            <a:srgbClr val="F2F4F9"/>
          </a:solidFill>
          <a:ln w="12700">
            <a:solidFill>
              <a:srgbClr val="F2F4F9"/>
            </a:solidFill>
            <a:prstDash val="solid"/>
          </a:ln>
        </p:spPr>
      </p:sp>
      <p:pic>
        <p:nvPicPr>
          <p:cNvPr id="27" name="metric 5 icon" descr="preencoded.png">    </p:cNvPr>
          <p:cNvPicPr>
            <a:picLocks noChangeAspect="1"/>
          </p:cNvPicPr>
          <p:nvPr/>
        </p:nvPicPr>
        <p:blipFill>
          <a:blip r:embed="rId5"/>
          <a:stretch>
            <a:fillRect/>
          </a:stretch>
        </p:blipFill>
        <p:spPr>
          <a:xfrm>
            <a:off x="6772046" y="5080406"/>
            <a:ext cx="263347" cy="263347"/>
          </a:xfrm>
          <a:prstGeom prst="rect">
            <a:avLst/>
          </a:prstGeom>
        </p:spPr>
      </p:pic>
      <p:sp>
        <p:nvSpPr>
          <p:cNvPr id="28" name="metric title 5"/>
          <p:cNvSpPr txBox="1"/>
          <p:nvPr/>
        </p:nvSpPr>
        <p:spPr>
          <a:xfrm>
            <a:off x="7360920" y="4919472"/>
            <a:ext cx="4206240" cy="320040"/>
          </a:xfrm>
          <a:prstGeom prst="rect">
            <a:avLst/>
          </a:prstGeom>
          <a:noFill/>
          <a:ln/>
        </p:spPr>
        <p:txBody>
          <a:bodyPr wrap="square" lIns="0" tIns="0" rIns="0" bIns="0" rtlCol="0" anchor="t"/>
          <a:lstStyle/>
          <a:p>
            <a:pPr indent="0" marL="0">
              <a:buNone/>
            </a:pPr>
            <a:r>
              <a:rPr lang="en-US" sz="1600" b="1" dirty="0">
                <a:solidFill>
                  <a:schemeClr val="tx1"/>
                </a:solidFill>
              </a:rPr>
              <a:t>Total accuracy</a:t>
            </a:r>
            <a:endParaRPr lang="en-US" sz="1600" dirty="0"/>
          </a:p>
        </p:txBody>
      </p:sp>
      <p:sp>
        <p:nvSpPr>
          <p:cNvPr id="29" name="metric text 5"/>
          <p:cNvSpPr txBox="1"/>
          <p:nvPr/>
        </p:nvSpPr>
        <p:spPr>
          <a:xfrm>
            <a:off x="7360920" y="5239512"/>
            <a:ext cx="4206240" cy="457200"/>
          </a:xfrm>
          <a:prstGeom prst="rect">
            <a:avLst/>
          </a:prstGeom>
          <a:noFill/>
          <a:ln/>
        </p:spPr>
        <p:txBody>
          <a:bodyPr wrap="square" lIns="0" tIns="0" rIns="0" bIns="0" rtlCol="0" anchor="t"/>
          <a:lstStyle/>
          <a:p>
            <a:pPr indent="0" marL="0">
              <a:buNone/>
            </a:pPr>
            <a:r>
              <a:rPr lang="en-US" sz="1300" dirty="0">
                <a:solidFill>
                  <a:schemeClr val="tx2"/>
                </a:solidFill>
              </a:rPr>
              <a:t>bill total vs real total — can be right by luck</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Accuracy rose from 17 % to 58.5 % in two weeks</a:t>
            </a:r>
            <a:endParaRPr lang="en-US" sz="3000" dirty="0"/>
          </a:p>
        </p:txBody>
      </p:sp>
      <p:graphicFrame>
        <p:nvGraphicFramePr>
          <p:cNvPr id="4" name="Chart 0" descr=""/>
          <p:cNvGraphicFramePr/>
          <p:nvPr/>
        </p:nvGraphicFramePr>
        <p:xfrm>
          <a:off x="548640" y="1417320"/>
          <a:ext cx="53949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217920" y="1417320"/>
          <a:ext cx="5394960" cy="4343400"/>
        </p:xfrm>
        <a:graphic xmlns:a="http://schemas.openxmlformats.org/drawingml/2006/main">
          <a:graphicData uri="http://schemas.openxmlformats.org/drawingml/2006/chart">
            <c:chart xmlns:c="http://schemas.openxmlformats.org/drawingml/2006/chart" r:id="rId2"/>
          </a:graphicData>
        </a:graphic>
      </p:graphicFrame>
      <p:sp>
        <p:nvSpPr>
          <p:cNvPr id="6"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Frozen scorer (ADR-0003) on one real 7-building reference project. One project is not proof of general accuracy — a second reference project is the next step.</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Where the missing 41.5 points are lost</a:t>
            </a:r>
            <a:endParaRPr lang="en-US" sz="3000" dirty="0"/>
          </a:p>
        </p:txBody>
      </p:sp>
      <p:graphicFrame>
        <p:nvGraphicFramePr>
          <p:cNvPr id="4" name="Chart 0" descr=""/>
          <p:cNvGraphicFramePr/>
          <p:nvPr/>
        </p:nvGraphicFramePr>
        <p:xfrm>
          <a:off x="548640" y="1417320"/>
          <a:ext cx="7223760" cy="4434840"/>
        </p:xfrm>
        <a:graphic xmlns:a="http://schemas.openxmlformats.org/drawingml/2006/main">
          <a:graphicData uri="http://schemas.openxmlformats.org/drawingml/2006/chart">
            <c:chart xmlns:c="http://schemas.openxmlformats.org/drawingml/2006/chart" r:id="rId1"/>
          </a:graphicData>
        </a:graphic>
      </p:graphicFrame>
      <p:sp>
        <p:nvSpPr>
          <p:cNvPr id="5" name="cause card 1"/>
          <p:cNvSpPr/>
          <p:nvPr/>
        </p:nvSpPr>
        <p:spPr>
          <a:xfrm>
            <a:off x="8092440" y="1463040"/>
            <a:ext cx="3520440" cy="1280160"/>
          </a:xfrm>
          <a:prstGeom prst="roundRect">
            <a:avLst>
              <a:gd name="adj" fmla="val 8571"/>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cause dot 1"/>
          <p:cNvSpPr/>
          <p:nvPr/>
        </p:nvSpPr>
        <p:spPr>
          <a:xfrm>
            <a:off x="8321040" y="1874520"/>
            <a:ext cx="457200" cy="457200"/>
          </a:xfrm>
          <a:prstGeom prst="ellipse">
            <a:avLst/>
          </a:prstGeom>
          <a:solidFill>
            <a:srgbClr val="C6423C"/>
          </a:solidFill>
          <a:ln w="12700">
            <a:solidFill>
              <a:srgbClr val="C6423C"/>
            </a:solidFill>
            <a:prstDash val="solid"/>
          </a:ln>
        </p:spPr>
      </p:sp>
      <p:sp>
        <p:nvSpPr>
          <p:cNvPr id="7" name="cause value 1"/>
          <p:cNvSpPr txBox="1"/>
          <p:nvPr/>
        </p:nvSpPr>
        <p:spPr>
          <a:xfrm>
            <a:off x="8961120" y="1645920"/>
            <a:ext cx="246888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17.0 pts</a:t>
            </a:r>
            <a:endParaRPr lang="en-US" sz="2400" dirty="0"/>
          </a:p>
        </p:txBody>
      </p:sp>
      <p:sp>
        <p:nvSpPr>
          <p:cNvPr id="8" name="cause text 1"/>
          <p:cNvSpPr txBox="1"/>
          <p:nvPr/>
        </p:nvSpPr>
        <p:spPr>
          <a:xfrm>
            <a:off x="8961120" y="2121408"/>
            <a:ext cx="2514600" cy="548640"/>
          </a:xfrm>
          <a:prstGeom prst="rect">
            <a:avLst/>
          </a:prstGeom>
          <a:noFill/>
          <a:ln/>
        </p:spPr>
        <p:txBody>
          <a:bodyPr wrap="square" lIns="0" tIns="0" rIns="0" bIns="0" rtlCol="0" anchor="t"/>
          <a:lstStyle/>
          <a:p>
            <a:pPr indent="0" marL="0">
              <a:buNone/>
            </a:pPr>
            <a:r>
              <a:rPr lang="en-US" sz="1200" dirty="0">
                <a:solidFill>
                  <a:schemeClr val="tx2"/>
                </a:solidFill>
              </a:rPr>
              <a:t>never produced — item in the real bill, absent from ours</a:t>
            </a:r>
            <a:endParaRPr lang="en-US" sz="1200" dirty="0"/>
          </a:p>
        </p:txBody>
      </p:sp>
      <p:sp>
        <p:nvSpPr>
          <p:cNvPr id="9" name="cause card 2"/>
          <p:cNvSpPr/>
          <p:nvPr/>
        </p:nvSpPr>
        <p:spPr>
          <a:xfrm>
            <a:off x="8092440" y="2926080"/>
            <a:ext cx="3520440" cy="1280160"/>
          </a:xfrm>
          <a:prstGeom prst="roundRect">
            <a:avLst>
              <a:gd name="adj" fmla="val 8571"/>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cause dot 2"/>
          <p:cNvSpPr/>
          <p:nvPr/>
        </p:nvSpPr>
        <p:spPr>
          <a:xfrm>
            <a:off x="8321040" y="3337560"/>
            <a:ext cx="457200" cy="457200"/>
          </a:xfrm>
          <a:prstGeom prst="ellipse">
            <a:avLst/>
          </a:prstGeom>
          <a:solidFill>
            <a:srgbClr val="F2A900"/>
          </a:solidFill>
          <a:ln w="12700">
            <a:solidFill>
              <a:srgbClr val="F2A900"/>
            </a:solidFill>
            <a:prstDash val="solid"/>
          </a:ln>
        </p:spPr>
      </p:sp>
      <p:sp>
        <p:nvSpPr>
          <p:cNvPr id="11" name="cause value 2"/>
          <p:cNvSpPr txBox="1"/>
          <p:nvPr/>
        </p:nvSpPr>
        <p:spPr>
          <a:xfrm>
            <a:off x="8961120" y="3108960"/>
            <a:ext cx="246888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12.1 pts</a:t>
            </a:r>
            <a:endParaRPr lang="en-US" sz="2400" dirty="0"/>
          </a:p>
        </p:txBody>
      </p:sp>
      <p:sp>
        <p:nvSpPr>
          <p:cNvPr id="12" name="cause text 2"/>
          <p:cNvSpPr txBox="1"/>
          <p:nvPr/>
        </p:nvSpPr>
        <p:spPr>
          <a:xfrm>
            <a:off x="8961120" y="3584448"/>
            <a:ext cx="2514600" cy="548640"/>
          </a:xfrm>
          <a:prstGeom prst="rect">
            <a:avLst/>
          </a:prstGeom>
          <a:noFill/>
          <a:ln/>
        </p:spPr>
        <p:txBody>
          <a:bodyPr wrap="square" lIns="0" tIns="0" rIns="0" bIns="0" rtlCol="0" anchor="t"/>
          <a:lstStyle/>
          <a:p>
            <a:pPr indent="0" marL="0">
              <a:buNone/>
            </a:pPr>
            <a:r>
              <a:rPr lang="en-US" sz="1200" dirty="0">
                <a:solidFill>
                  <a:schemeClr val="tx2"/>
                </a:solidFill>
              </a:rPr>
              <a:t>quantity too low — item present, too little of it</a:t>
            </a:r>
            <a:endParaRPr lang="en-US" sz="1200" dirty="0"/>
          </a:p>
        </p:txBody>
      </p:sp>
      <p:sp>
        <p:nvSpPr>
          <p:cNvPr id="13" name="cause card 3"/>
          <p:cNvSpPr/>
          <p:nvPr/>
        </p:nvSpPr>
        <p:spPr>
          <a:xfrm>
            <a:off x="8092440" y="4389120"/>
            <a:ext cx="3520440" cy="1280160"/>
          </a:xfrm>
          <a:prstGeom prst="roundRect">
            <a:avLst>
              <a:gd name="adj" fmla="val 8571"/>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4" name="cause dot 3"/>
          <p:cNvSpPr/>
          <p:nvPr/>
        </p:nvSpPr>
        <p:spPr>
          <a:xfrm>
            <a:off x="8321040" y="4800600"/>
            <a:ext cx="457200" cy="457200"/>
          </a:xfrm>
          <a:prstGeom prst="ellipse">
            <a:avLst/>
          </a:prstGeom>
          <a:solidFill>
            <a:srgbClr val="2E5BE8"/>
          </a:solidFill>
          <a:ln w="12700">
            <a:solidFill>
              <a:srgbClr val="2E5BE8"/>
            </a:solidFill>
            <a:prstDash val="solid"/>
          </a:ln>
        </p:spPr>
      </p:sp>
      <p:sp>
        <p:nvSpPr>
          <p:cNvPr id="15" name="cause value 3"/>
          <p:cNvSpPr txBox="1"/>
          <p:nvPr/>
        </p:nvSpPr>
        <p:spPr>
          <a:xfrm>
            <a:off x="8961120" y="4572000"/>
            <a:ext cx="246888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12.4 pts</a:t>
            </a:r>
            <a:endParaRPr lang="en-US" sz="2400" dirty="0"/>
          </a:p>
        </p:txBody>
      </p:sp>
      <p:sp>
        <p:nvSpPr>
          <p:cNvPr id="16" name="cause text 3"/>
          <p:cNvSpPr txBox="1"/>
          <p:nvPr/>
        </p:nvSpPr>
        <p:spPr>
          <a:xfrm>
            <a:off x="8961120" y="5047488"/>
            <a:ext cx="2514600" cy="548640"/>
          </a:xfrm>
          <a:prstGeom prst="rect">
            <a:avLst/>
          </a:prstGeom>
          <a:noFill/>
          <a:ln/>
        </p:spPr>
        <p:txBody>
          <a:bodyPr wrap="square" lIns="0" tIns="0" rIns="0" bIns="0" rtlCol="0" anchor="t"/>
          <a:lstStyle/>
          <a:p>
            <a:pPr indent="0" marL="0">
              <a:buNone/>
            </a:pPr>
            <a:r>
              <a:rPr lang="en-US" sz="1200" dirty="0">
                <a:solidFill>
                  <a:schemeClr val="tx2"/>
                </a:solidFill>
              </a:rPr>
              <a:t>quantity too high — item present, too much of it</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Where the pipeline still misses — and the fix for each gap</a:t>
            </a:r>
            <a:endParaRPr lang="en-US" sz="3000" dirty="0"/>
          </a:p>
        </p:txBody>
      </p:sp>
      <p:graphicFrame>
        <p:nvGraphicFramePr>
          <p:cNvPr id="20" name="gap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11480"/>
                <a:gridCol w="2788920"/>
                <a:gridCol w="868680"/>
                <a:gridCol w="3291840"/>
                <a:gridCol w="3703320"/>
              </a:tblGrid>
              <a:tr h="384048">
                <a:tc>
                  <a:txBody>
                    <a:bodyPr/>
                    <a:lstStyle/>
                    <a:p>
                      <a:pPr indent="0" marL="0">
                        <a:buNone/>
                      </a:pPr>
                      <a:r>
                        <a:rPr lang="en-US" sz="1250" b="1" dirty="0">
                          <a:solidFill>
                            <a:schemeClr val="bg1"/>
                          </a:solidFill>
                        </a:rPr>
                        <a:t>#</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What is missed</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Points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Why</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Approach</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777240">
                <a:tc>
                  <a:txBody>
                    <a:bodyPr/>
                    <a:lstStyle/>
                    <a:p>
                      <a:pPr indent="0" marL="0">
                        <a:buNone/>
                      </a:pPr>
                      <a:r>
                        <a:rPr lang="en-US" sz="1250" dirty="0">
                          <a:solidFill>
                            <a:schemeClr val="tx1"/>
                          </a:solidFill>
                        </a:rPr>
                        <a:t>1</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Feeder network: cable sizes, earth, trench, sleeves, manholes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algn="ctr" indent="0" marL="0">
                        <a:buNone/>
                      </a:pPr>
                      <a:r>
                        <a:rPr lang="en-US" sz="1250" b="1" dirty="0">
                          <a:solidFill>
                            <a:schemeClr val="accent1"/>
                          </a:solidFill>
                        </a:rPr>
                        <a:t>≈ 19</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Sizes per feeder differ from the bill; trench measured per feeder; crossings never counted</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Per-feeder size check (volt-drop sizing); trench as the union of routes; sleeves &amp; manholes from the site plan</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640080">
                <a:tc>
                  <a:txBody>
                    <a:bodyPr/>
                    <a:lstStyle/>
                    <a:p>
                      <a:pPr indent="0" marL="0">
                        <a:buNone/>
                      </a:pPr>
                      <a:r>
                        <a:rPr lang="en-US" sz="1250" dirty="0">
                          <a:solidFill>
                            <a:schemeClr val="tx1"/>
                          </a:solidFill>
                        </a:rPr>
                        <a:t>2</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Installation material: trunking, conduit, wire</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algn="ctr" indent="0" marL="0">
                        <a:buNone/>
                      </a:pPr>
                      <a:r>
                        <a:rPr lang="en-US" sz="1250" b="1" dirty="0">
                          <a:solidFill>
                            <a:schemeClr val="accent1"/>
                          </a:solidFill>
                        </a:rPr>
                        <a:t>≈ 9</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Not drawn as symbols, so never produced</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Run the completer on the delivered bill now (+2–3 pts); later measure trunking runs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48640">
                <a:tc>
                  <a:txBody>
                    <a:bodyPr/>
                    <a:lstStyle/>
                    <a:p>
                      <a:pPr indent="0" marL="0">
                        <a:buNone/>
                      </a:pPr>
                      <a:r>
                        <a:rPr lang="en-US" sz="1250" dirty="0">
                          <a:solidFill>
                            <a:schemeClr val="tx1"/>
                          </a:solidFill>
                        </a:rPr>
                        <a:t>3</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Distribution boards counted twice</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algn="ctr" indent="0" marL="0">
                        <a:buNone/>
                      </a:pPr>
                      <a:r>
                        <a:rPr lang="en-US" sz="1250" b="1" dirty="0">
                          <a:solidFill>
                            <a:schemeClr val="accent1"/>
                          </a:solidFill>
                        </a:rPr>
                        <a:t>6.2</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The same board under two names in CAD and PDF</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Better name pairing when the two readers are combined</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48640">
                <a:tc>
                  <a:txBody>
                    <a:bodyPr/>
                    <a:lstStyle/>
                    <a:p>
                      <a:pPr indent="0" marL="0">
                        <a:buNone/>
                      </a:pPr>
                      <a:r>
                        <a:rPr lang="en-US" sz="1250" dirty="0">
                          <a:solidFill>
                            <a:schemeClr val="tx1"/>
                          </a:solidFill>
                        </a:rPr>
                        <a:t>4</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Connection fee</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algn="ctr" indent="0" marL="0">
                        <a:buNone/>
                      </a:pPr>
                      <a:r>
                        <a:rPr lang="en-US" sz="1250" b="1" dirty="0">
                          <a:solidFill>
                            <a:schemeClr val="accent1"/>
                          </a:solidFill>
                        </a:rPr>
                        <a:t>1.5</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Never on any drawing</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Rule: new supply on the SLD → provisional sum + gap item</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48640">
                <a:tc>
                  <a:txBody>
                    <a:bodyPr/>
                    <a:lstStyle/>
                    <a:p>
                      <a:pPr indent="0" marL="0">
                        <a:buNone/>
                      </a:pPr>
                      <a:r>
                        <a:rPr lang="en-US" sz="1250" dirty="0">
                          <a:solidFill>
                            <a:schemeClr val="tx1"/>
                          </a:solidFill>
                        </a:rPr>
                        <a:t>5</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Fittings slightly over-counted</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algn="ctr" indent="0" marL="0">
                        <a:buNone/>
                      </a:pPr>
                      <a:r>
                        <a:rPr lang="en-US" sz="1250" b="1" dirty="0">
                          <a:solidFill>
                            <a:schemeClr val="accent1"/>
                          </a:solidFill>
                        </a:rPr>
                        <a:t>≈ 1.4</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The same fitting read on two sheets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Check the sheet pairing for lighting and plug sheets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rates card"/>
          <p:cNvSpPr/>
          <p:nvPr/>
        </p:nvSpPr>
        <p:spPr>
          <a:xfrm>
            <a:off x="548640" y="5074920"/>
            <a:ext cx="11064240" cy="868680"/>
          </a:xfrm>
          <a:prstGeom prst="roundRect">
            <a:avLst>
              <a:gd name="adj" fmla="val 1263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rates circle"/>
          <p:cNvSpPr/>
          <p:nvPr/>
        </p:nvSpPr>
        <p:spPr>
          <a:xfrm>
            <a:off x="731520" y="5212080"/>
            <a:ext cx="594360" cy="594360"/>
          </a:xfrm>
          <a:prstGeom prst="ellipse">
            <a:avLst/>
          </a:prstGeom>
          <a:solidFill>
            <a:srgbClr val="F2A900"/>
          </a:solidFill>
          <a:ln w="12700">
            <a:solidFill>
              <a:srgbClr val="F2A900"/>
            </a:solidFill>
            <a:prstDash val="solid"/>
          </a:ln>
        </p:spPr>
      </p:sp>
      <p:pic>
        <p:nvPicPr>
          <p:cNvPr id="7" name="rates icon" descr="preencoded.png">    </p:cNvPr>
          <p:cNvPicPr>
            <a:picLocks noChangeAspect="1"/>
          </p:cNvPicPr>
          <p:nvPr/>
        </p:nvPicPr>
        <p:blipFill>
          <a:blip r:embed="rId1"/>
          <a:stretch>
            <a:fillRect/>
          </a:stretch>
        </p:blipFill>
        <p:spPr>
          <a:xfrm>
            <a:off x="886054" y="5366614"/>
            <a:ext cx="285293" cy="285293"/>
          </a:xfrm>
          <a:prstGeom prst="rect">
            <a:avLst/>
          </a:prstGeom>
        </p:spPr>
      </p:pic>
      <p:sp>
        <p:nvSpPr>
          <p:cNvPr id="8" name="rates text"/>
          <p:cNvSpPr txBox="1"/>
          <p:nvPr/>
        </p:nvSpPr>
        <p:spPr>
          <a:xfrm>
            <a:off x="1508760" y="5230368"/>
            <a:ext cx="9921240" cy="594360"/>
          </a:xfrm>
          <a:prstGeom prst="rect">
            <a:avLst/>
          </a:prstGeom>
          <a:noFill/>
          <a:ln/>
        </p:spPr>
        <p:txBody>
          <a:bodyPr wrap="square" lIns="0" tIns="0" rIns="0" bIns="0" rtlCol="0" anchor="ctr"/>
          <a:lstStyle/>
          <a:p>
            <a:pPr indent="0" marL="0">
              <a:buNone/>
            </a:pPr>
            <a:r>
              <a:rPr lang="en-US" sz="1350" b="1" dirty="0">
                <a:solidFill>
                  <a:schemeClr val="tx1"/>
                </a:solidFill>
              </a:rPr>
              <a:t>Rates move the total, not the score: </a:t>
            </a:r>
            <a:pPr indent="0" marL="0">
              <a:buNone/>
            </a:pPr>
            <a:r>
              <a:rPr lang="en-US" sz="1350" dirty="0">
                <a:solidFill>
                  <a:schemeClr val="tx1"/>
                </a:solidFill>
              </a:rPr>
              <a:t>board, trench and kiosk rates differ from the reference by 20–50 %. Refit them only after a second reference project — one bill is not enough.</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bg1"/>
                </a:solidFill>
              </a:rPr>
              <a:t>Conclusion: what to remember</a:t>
            </a:r>
            <a:endParaRPr lang="en-US" sz="3200" dirty="0"/>
          </a:p>
        </p:txBody>
      </p:sp>
      <p:sp>
        <p:nvSpPr>
          <p:cNvPr id="4" name="takeaway card 1"/>
          <p:cNvSpPr/>
          <p:nvPr/>
        </p:nvSpPr>
        <p:spPr>
          <a:xfrm>
            <a:off x="548640" y="1600200"/>
            <a:ext cx="5440680" cy="1828800"/>
          </a:xfrm>
          <a:prstGeom prst="roundRect">
            <a:avLst>
              <a:gd name="adj" fmla="val 6000"/>
            </a:avLst>
          </a:prstGeom>
          <a:solidFill>
            <a:schemeClr val="tx2"/>
          </a:solidFill>
          <a:ln w="12700">
            <a:solidFill>
              <a:srgbClr val="1E2B4F"/>
            </a:solidFill>
            <a:prstDash val="solid"/>
          </a:ln>
        </p:spPr>
      </p:sp>
      <p:sp>
        <p:nvSpPr>
          <p:cNvPr id="5" name="takeaway 1 circle"/>
          <p:cNvSpPr/>
          <p:nvPr/>
        </p:nvSpPr>
        <p:spPr>
          <a:xfrm>
            <a:off x="822960" y="1920240"/>
            <a:ext cx="777240" cy="777240"/>
          </a:xfrm>
          <a:prstGeom prst="ellipse">
            <a:avLst/>
          </a:prstGeom>
          <a:solidFill>
            <a:srgbClr val="F2A900"/>
          </a:solidFill>
          <a:ln w="12700">
            <a:solidFill>
              <a:srgbClr val="F2A900"/>
            </a:solidFill>
            <a:prstDash val="solid"/>
          </a:ln>
        </p:spPr>
      </p:sp>
      <p:pic>
        <p:nvPicPr>
          <p:cNvPr id="6" name="takeaway 1 icon" descr="preencoded.png">    </p:cNvPr>
          <p:cNvPicPr>
            <a:picLocks noChangeAspect="1"/>
          </p:cNvPicPr>
          <p:nvPr/>
        </p:nvPicPr>
        <p:blipFill>
          <a:blip r:embed="rId1"/>
          <a:stretch>
            <a:fillRect/>
          </a:stretch>
        </p:blipFill>
        <p:spPr>
          <a:xfrm>
            <a:off x="1025042" y="2122322"/>
            <a:ext cx="373075" cy="373075"/>
          </a:xfrm>
          <a:prstGeom prst="rect">
            <a:avLst/>
          </a:prstGeom>
        </p:spPr>
      </p:pic>
      <p:sp>
        <p:nvSpPr>
          <p:cNvPr id="7" name="takeaway title 1"/>
          <p:cNvSpPr txBox="1"/>
          <p:nvPr/>
        </p:nvSpPr>
        <p:spPr>
          <a:xfrm>
            <a:off x="182880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58.5 % of the real bill</a:t>
            </a:r>
            <a:endParaRPr lang="en-US" sz="1900" dirty="0"/>
          </a:p>
        </p:txBody>
      </p:sp>
      <p:sp>
        <p:nvSpPr>
          <p:cNvPr id="8" name="takeaway text 1"/>
          <p:cNvSpPr txBox="1"/>
          <p:nvPr/>
        </p:nvSpPr>
        <p:spPr>
          <a:xfrm>
            <a:off x="1828800" y="2423160"/>
            <a:ext cx="3977640" cy="1097280"/>
          </a:xfrm>
          <a:prstGeom prst="rect">
            <a:avLst/>
          </a:prstGeom>
          <a:noFill/>
          <a:ln/>
        </p:spPr>
        <p:txBody>
          <a:bodyPr wrap="square" lIns="0" tIns="0" rIns="0" bIns="0" rtlCol="0" anchor="t"/>
          <a:lstStyle/>
          <a:p>
            <a:pPr indent="0" marL="0">
              <a:buNone/>
            </a:pPr>
            <a:r>
              <a:rPr lang="en-US" sz="1400" dirty="0">
                <a:solidFill>
                  <a:srgbClr val="CADCFC"/>
                </a:solidFill>
              </a:rPr>
              <a:t>reproduced from the drawings alone today — 83 % of its value found, 89 % of what we price belongs</a:t>
            </a:r>
            <a:endParaRPr lang="en-US" sz="1400" dirty="0"/>
          </a:p>
        </p:txBody>
      </p:sp>
      <p:sp>
        <p:nvSpPr>
          <p:cNvPr id="9" name="takeaway card 2"/>
          <p:cNvSpPr/>
          <p:nvPr/>
        </p:nvSpPr>
        <p:spPr>
          <a:xfrm>
            <a:off x="6172200" y="1600200"/>
            <a:ext cx="5440680" cy="1828800"/>
          </a:xfrm>
          <a:prstGeom prst="roundRect">
            <a:avLst>
              <a:gd name="adj" fmla="val 6000"/>
            </a:avLst>
          </a:prstGeom>
          <a:solidFill>
            <a:schemeClr val="tx2"/>
          </a:solidFill>
          <a:ln w="12700">
            <a:solidFill>
              <a:srgbClr val="1E2B4F"/>
            </a:solidFill>
            <a:prstDash val="solid"/>
          </a:ln>
        </p:spPr>
      </p:sp>
      <p:sp>
        <p:nvSpPr>
          <p:cNvPr id="10" name="takeaway 2 circle"/>
          <p:cNvSpPr/>
          <p:nvPr/>
        </p:nvSpPr>
        <p:spPr>
          <a:xfrm>
            <a:off x="6446520" y="1920240"/>
            <a:ext cx="777240" cy="777240"/>
          </a:xfrm>
          <a:prstGeom prst="ellipse">
            <a:avLst/>
          </a:prstGeom>
          <a:solidFill>
            <a:srgbClr val="F2A900"/>
          </a:solidFill>
          <a:ln w="12700">
            <a:solidFill>
              <a:srgbClr val="F2A900"/>
            </a:solidFill>
            <a:prstDash val="solid"/>
          </a:ln>
        </p:spPr>
      </p:sp>
      <p:pic>
        <p:nvPicPr>
          <p:cNvPr id="11" name="takeaway 2 icon" descr="preencoded.png">    </p:cNvPr>
          <p:cNvPicPr>
            <a:picLocks noChangeAspect="1"/>
          </p:cNvPicPr>
          <p:nvPr/>
        </p:nvPicPr>
        <p:blipFill>
          <a:blip r:embed="rId2"/>
          <a:stretch>
            <a:fillRect/>
          </a:stretch>
        </p:blipFill>
        <p:spPr>
          <a:xfrm>
            <a:off x="6648602" y="2122322"/>
            <a:ext cx="373075" cy="373075"/>
          </a:xfrm>
          <a:prstGeom prst="rect">
            <a:avLst/>
          </a:prstGeom>
        </p:spPr>
      </p:pic>
      <p:sp>
        <p:nvSpPr>
          <p:cNvPr id="12" name="takeaway title 2"/>
          <p:cNvSpPr txBox="1"/>
          <p:nvPr/>
        </p:nvSpPr>
        <p:spPr>
          <a:xfrm>
            <a:off x="745236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A first draft, reviewed</a:t>
            </a:r>
            <a:endParaRPr lang="en-US" sz="1900" dirty="0"/>
          </a:p>
        </p:txBody>
      </p:sp>
      <p:sp>
        <p:nvSpPr>
          <p:cNvPr id="13" name="takeaway text 2"/>
          <p:cNvSpPr txBox="1"/>
          <p:nvPr/>
        </p:nvSpPr>
        <p:spPr>
          <a:xfrm>
            <a:off x="7452360" y="2423160"/>
            <a:ext cx="3977640" cy="1097280"/>
          </a:xfrm>
          <a:prstGeom prst="rect">
            <a:avLst/>
          </a:prstGeom>
          <a:noFill/>
          <a:ln/>
        </p:spPr>
        <p:txBody>
          <a:bodyPr wrap="square" lIns="0" tIns="0" rIns="0" bIns="0" rtlCol="0" anchor="t"/>
          <a:lstStyle/>
          <a:p>
            <a:pPr indent="0" marL="0">
              <a:buNone/>
            </a:pPr>
            <a:r>
              <a:rPr lang="en-US" sz="1400" dirty="0">
                <a:solidFill>
                  <a:srgbClr val="CADCFC"/>
                </a:solidFill>
              </a:rPr>
              <a:t>read “things to check” before you submit — every assumption is listed, most serious first</a:t>
            </a:r>
            <a:endParaRPr lang="en-US" sz="1400" dirty="0"/>
          </a:p>
        </p:txBody>
      </p:sp>
      <p:sp>
        <p:nvSpPr>
          <p:cNvPr id="14" name="takeaway card 3"/>
          <p:cNvSpPr/>
          <p:nvPr/>
        </p:nvSpPr>
        <p:spPr>
          <a:xfrm>
            <a:off x="548640" y="3703320"/>
            <a:ext cx="5440680" cy="1828800"/>
          </a:xfrm>
          <a:prstGeom prst="roundRect">
            <a:avLst>
              <a:gd name="adj" fmla="val 6000"/>
            </a:avLst>
          </a:prstGeom>
          <a:solidFill>
            <a:schemeClr val="tx2"/>
          </a:solidFill>
          <a:ln w="12700">
            <a:solidFill>
              <a:srgbClr val="1E2B4F"/>
            </a:solidFill>
            <a:prstDash val="solid"/>
          </a:ln>
        </p:spPr>
      </p:sp>
      <p:sp>
        <p:nvSpPr>
          <p:cNvPr id="15" name="takeaway 3 circle"/>
          <p:cNvSpPr/>
          <p:nvPr/>
        </p:nvSpPr>
        <p:spPr>
          <a:xfrm>
            <a:off x="822960" y="4023360"/>
            <a:ext cx="777240" cy="777240"/>
          </a:xfrm>
          <a:prstGeom prst="ellipse">
            <a:avLst/>
          </a:prstGeom>
          <a:solidFill>
            <a:srgbClr val="F2A900"/>
          </a:solidFill>
          <a:ln w="12700">
            <a:solidFill>
              <a:srgbClr val="F2A900"/>
            </a:solidFill>
            <a:prstDash val="solid"/>
          </a:ln>
        </p:spPr>
      </p:sp>
      <p:pic>
        <p:nvPicPr>
          <p:cNvPr id="16" name="takeaway 3 icon" descr="preencoded.png">    </p:cNvPr>
          <p:cNvPicPr>
            <a:picLocks noChangeAspect="1"/>
          </p:cNvPicPr>
          <p:nvPr/>
        </p:nvPicPr>
        <p:blipFill>
          <a:blip r:embed="rId3"/>
          <a:stretch>
            <a:fillRect/>
          </a:stretch>
        </p:blipFill>
        <p:spPr>
          <a:xfrm>
            <a:off x="1025042" y="4225442"/>
            <a:ext cx="373075" cy="373075"/>
          </a:xfrm>
          <a:prstGeom prst="rect">
            <a:avLst/>
          </a:prstGeom>
        </p:spPr>
      </p:pic>
      <p:sp>
        <p:nvSpPr>
          <p:cNvPr id="17" name="takeaway title 3"/>
          <p:cNvSpPr txBox="1"/>
          <p:nvPr/>
        </p:nvSpPr>
        <p:spPr>
          <a:xfrm>
            <a:off x="182880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Use the right workflow</a:t>
            </a:r>
            <a:endParaRPr lang="en-US" sz="1900" dirty="0"/>
          </a:p>
        </p:txBody>
      </p:sp>
      <p:sp>
        <p:nvSpPr>
          <p:cNvPr id="18" name="takeaway text 3"/>
          <p:cNvSpPr txBox="1"/>
          <p:nvPr/>
        </p:nvSpPr>
        <p:spPr>
          <a:xfrm>
            <a:off x="1828800" y="4526280"/>
            <a:ext cx="3977640" cy="1097280"/>
          </a:xfrm>
          <a:prstGeom prst="rect">
            <a:avLst/>
          </a:prstGeom>
          <a:noFill/>
          <a:ln/>
        </p:spPr>
        <p:txBody>
          <a:bodyPr wrap="square" lIns="0" tIns="0" rIns="0" bIns="0" rtlCol="0" anchor="t"/>
          <a:lstStyle/>
          <a:p>
            <a:pPr indent="0" marL="0">
              <a:buNone/>
            </a:pPr>
            <a:r>
              <a:rPr lang="en-US" sz="1400" dirty="0">
                <a:solidFill>
                  <a:srgbClr val="CADCFC"/>
                </a:solidFill>
              </a:rPr>
              <a:t>DOE in Claude Code for your own estimates (best score, no API bill); the web app for DWG/DXF jobs and demos</a:t>
            </a:r>
            <a:endParaRPr lang="en-US" sz="1400" dirty="0"/>
          </a:p>
        </p:txBody>
      </p:sp>
      <p:sp>
        <p:nvSpPr>
          <p:cNvPr id="19" name="takeaway card 4"/>
          <p:cNvSpPr/>
          <p:nvPr/>
        </p:nvSpPr>
        <p:spPr>
          <a:xfrm>
            <a:off x="6172200" y="3703320"/>
            <a:ext cx="5440680" cy="1828800"/>
          </a:xfrm>
          <a:prstGeom prst="roundRect">
            <a:avLst>
              <a:gd name="adj" fmla="val 6000"/>
            </a:avLst>
          </a:prstGeom>
          <a:solidFill>
            <a:schemeClr val="tx2"/>
          </a:solidFill>
          <a:ln w="12700">
            <a:solidFill>
              <a:srgbClr val="1E2B4F"/>
            </a:solidFill>
            <a:prstDash val="solid"/>
          </a:ln>
        </p:spPr>
      </p:sp>
      <p:sp>
        <p:nvSpPr>
          <p:cNvPr id="20" name="takeaway 4 circle"/>
          <p:cNvSpPr/>
          <p:nvPr/>
        </p:nvSpPr>
        <p:spPr>
          <a:xfrm>
            <a:off x="6446520" y="4023360"/>
            <a:ext cx="777240" cy="777240"/>
          </a:xfrm>
          <a:prstGeom prst="ellipse">
            <a:avLst/>
          </a:prstGeom>
          <a:solidFill>
            <a:srgbClr val="F2A900"/>
          </a:solidFill>
          <a:ln w="12700">
            <a:solidFill>
              <a:srgbClr val="F2A900"/>
            </a:solidFill>
            <a:prstDash val="solid"/>
          </a:ln>
        </p:spPr>
      </p:sp>
      <p:pic>
        <p:nvPicPr>
          <p:cNvPr id="21" name="takeaway 4 icon" descr="preencoded.png">    </p:cNvPr>
          <p:cNvPicPr>
            <a:picLocks noChangeAspect="1"/>
          </p:cNvPicPr>
          <p:nvPr/>
        </p:nvPicPr>
        <p:blipFill>
          <a:blip r:embed="rId4"/>
          <a:stretch>
            <a:fillRect/>
          </a:stretch>
        </p:blipFill>
        <p:spPr>
          <a:xfrm>
            <a:off x="6648602" y="4225442"/>
            <a:ext cx="373075" cy="373075"/>
          </a:xfrm>
          <a:prstGeom prst="rect">
            <a:avLst/>
          </a:prstGeom>
        </p:spPr>
      </p:pic>
      <p:sp>
        <p:nvSpPr>
          <p:cNvPr id="22" name="takeaway title 4"/>
          <p:cNvSpPr txBox="1"/>
          <p:nvPr/>
        </p:nvSpPr>
        <p:spPr>
          <a:xfrm>
            <a:off x="745236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Next: feeders, material, a 2nd project</a:t>
            </a:r>
            <a:endParaRPr lang="en-US" sz="1900" dirty="0"/>
          </a:p>
        </p:txBody>
      </p:sp>
      <p:sp>
        <p:nvSpPr>
          <p:cNvPr id="23" name="takeaway text 4"/>
          <p:cNvSpPr txBox="1"/>
          <p:nvPr/>
        </p:nvSpPr>
        <p:spPr>
          <a:xfrm>
            <a:off x="7452360" y="4526280"/>
            <a:ext cx="3977640" cy="1097280"/>
          </a:xfrm>
          <a:prstGeom prst="rect">
            <a:avLst/>
          </a:prstGeom>
          <a:noFill/>
          <a:ln/>
        </p:spPr>
        <p:txBody>
          <a:bodyPr wrap="square" lIns="0" tIns="0" rIns="0" bIns="0" rtlCol="0" anchor="t"/>
          <a:lstStyle/>
          <a:p>
            <a:pPr indent="0" marL="0">
              <a:buNone/>
            </a:pPr>
            <a:r>
              <a:rPr lang="en-US" sz="1400" dirty="0">
                <a:solidFill>
                  <a:srgbClr val="CADCFC"/>
                </a:solidFill>
              </a:rPr>
              <a:t>close the ≈ 19-point feeder gap, add installation material, then prove it on a second real project</a:t>
            </a:r>
            <a:endParaRPr lang="en-US" sz="1400" dirty="0"/>
          </a:p>
        </p:txBody>
      </p:sp>
      <p:sp>
        <p:nvSpPr>
          <p:cNvPr id="24" name="closing pointers"/>
          <p:cNvSpPr txBox="1"/>
          <p:nvPr/>
        </p:nvSpPr>
        <p:spPr>
          <a:xfrm>
            <a:off x="548640" y="6263640"/>
            <a:ext cx="11064240" cy="320040"/>
          </a:xfrm>
          <a:prstGeom prst="rect">
            <a:avLst/>
          </a:prstGeom>
          <a:noFill/>
          <a:ln/>
        </p:spPr>
        <p:txBody>
          <a:bodyPr wrap="square" lIns="0" tIns="0" rIns="0" bIns="0" rtlCol="0" anchor="t"/>
          <a:lstStyle/>
          <a:p>
            <a:pPr indent="0" marL="0">
              <a:buNone/>
            </a:pPr>
            <a:r>
              <a:rPr lang="en-US" sz="1100" dirty="0">
                <a:solidFill>
                  <a:schemeClr val="accent6"/>
                </a:solidFill>
              </a:rPr>
              <a:t>Metric details: docs/accuracy-metrics.md  ·  evidence: docs/research/evidence-register.md</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References</a:t>
            </a:r>
            <a:endParaRPr lang="en-US" sz="3000" dirty="0"/>
          </a:p>
        </p:txBody>
      </p:sp>
      <p:sp>
        <p:nvSpPr>
          <p:cNvPr id="4" name="references left"/>
          <p:cNvSpPr txBox="1"/>
          <p:nvPr/>
        </p:nvSpPr>
        <p:spPr>
          <a:xfrm>
            <a:off x="54864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Akampurira, E., &amp; Windapo, A. (2019). Key quality attributes of design documentation: South African perspective. Journal of Engineering, Design and Technology, 17(2), 362–382. https://doi.org/10.1108/jedt-08-2018-0137</a:t>
            </a:r>
            <a:endParaRPr lang="en-US" sz="1000" dirty="0"/>
          </a:p>
          <a:p>
            <a:pPr indent="0" marL="0">
              <a:spcAft>
                <a:spcPts val="500"/>
              </a:spcAft>
              <a:buNone/>
            </a:pPr>
            <a:r>
              <a:rPr lang="en-US" sz="1000" dirty="0">
                <a:solidFill>
                  <a:schemeClr val="tx2"/>
                </a:solidFill>
              </a:rPr>
              <a:t>Alkhateeb, A. M., Hyari, K. H., &amp; Hiyassat, M. (2020). Analyzing bidding competitiveness and success rate of contractors competing for public construction projects. Construction Innovation, 21(4), 576–591. https://doi.org/10.1108/ci-04-2020-0060</a:t>
            </a:r>
            <a:endParaRPr lang="en-US" sz="1000" dirty="0"/>
          </a:p>
          <a:p>
            <a:pPr indent="0" marL="0">
              <a:spcAft>
                <a:spcPts val="500"/>
              </a:spcAft>
              <a:buNone/>
            </a:pPr>
            <a:r>
              <a:rPr lang="en-US" sz="1000" dirty="0">
                <a:solidFill>
                  <a:schemeClr val="tx2"/>
                </a:solidFill>
              </a:rPr>
              <a:t>Ameyaw, C., Abaitey, B. A., &amp; Mensah, S. (2021). Assessing the cost of competitive tendering in Ghana using transaction cost theory. Built Environment Project and Asset Management, 11(5), 835–850. https://doi.org/10.1108/bepam-05-2020-0095</a:t>
            </a:r>
            <a:endParaRPr lang="en-US" sz="1000" dirty="0"/>
          </a:p>
          <a:p>
            <a:pPr indent="0" marL="0">
              <a:spcAft>
                <a:spcPts val="500"/>
              </a:spcAft>
              <a:buNone/>
            </a:pPr>
            <a:r>
              <a:rPr lang="en-US" sz="1000" dirty="0">
                <a:solidFill>
                  <a:schemeClr val="tx2"/>
                </a:solidFill>
              </a:rPr>
              <a:t>Elyan, E., Jamieson, L., &amp; Ali-Gombe, A. (2020). Deep learning for symbols detection and classification in engineering drawings. Neural Networks, 129, 91–102. https://doi.org/10.1016/j.neunet.2020.05.025</a:t>
            </a:r>
            <a:endParaRPr lang="en-US" sz="1000" dirty="0"/>
          </a:p>
          <a:p>
            <a:pPr indent="0" marL="0">
              <a:spcAft>
                <a:spcPts val="500"/>
              </a:spcAft>
              <a:buNone/>
            </a:pPr>
            <a:r>
              <a:rPr lang="en-US" sz="1000" dirty="0">
                <a:solidFill>
                  <a:schemeClr val="tx2"/>
                </a:solidFill>
              </a:rPr>
              <a:t>Govender, N., Laryea, S., &amp; Watermeyer, R. (2022). A framework for assessing quality of tender documents. Built Environment Project and Asset Management, 12(4), 573–589. https://doi.org/10.1108/bepam-07-2021-0094</a:t>
            </a:r>
            <a:endParaRPr lang="en-US" sz="1000" dirty="0"/>
          </a:p>
          <a:p>
            <a:pPr indent="0" marL="0">
              <a:spcAft>
                <a:spcPts val="500"/>
              </a:spcAft>
              <a:buNone/>
            </a:pPr>
            <a:r>
              <a:rPr lang="en-US" sz="1000" dirty="0">
                <a:solidFill>
                  <a:schemeClr val="tx2"/>
                </a:solidFill>
              </a:rPr>
              <a:t>Jamieson, L., Moreno-García, C. F., &amp; Elyan, E. (2024). A review of deep learning methods for digitisation of complex documents and engineering diagrams. Artificial Intelligence Review, 57(6). https://doi.org/10.1007/s10462-024-10779-2</a:t>
            </a:r>
            <a:endParaRPr lang="en-US" sz="1000" dirty="0"/>
          </a:p>
          <a:p>
            <a:pPr indent="0" marL="0">
              <a:spcAft>
                <a:spcPts val="500"/>
              </a:spcAft>
              <a:buNone/>
            </a:pPr>
            <a:r>
              <a:rPr lang="en-US" sz="1000" dirty="0">
                <a:solidFill>
                  <a:schemeClr val="tx2"/>
                </a:solidFill>
              </a:rPr>
              <a:t>Morena, M., &amp; Amoah, C. (2021). Assessment of the mitigating measures for cost overruns in the South African construction industry. IOP Conference Series: Earth and Environmental Science, 654, 012003. https://doi.org/10.1088/1755-1315/654/1/012003</a:t>
            </a:r>
            <a:endParaRPr lang="en-US" sz="1000" dirty="0"/>
          </a:p>
        </p:txBody>
      </p:sp>
      <p:sp>
        <p:nvSpPr>
          <p:cNvPr id="5" name="references right"/>
          <p:cNvSpPr txBox="1"/>
          <p:nvPr/>
        </p:nvSpPr>
        <p:spPr>
          <a:xfrm>
            <a:off x="617220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Murwira, D., &amp; Bekker, M. C. (2017). Building an infrastructure project performance in the North-West Province Department of Public Works and Roads. Acta Structilia, 24(2), 128–145. https://doi.org/10.18820/24150487/as24i2.5</a:t>
            </a:r>
            <a:endParaRPr lang="en-US" sz="1000" dirty="0"/>
          </a:p>
          <a:p>
            <a:pPr indent="0" marL="0">
              <a:spcAft>
                <a:spcPts val="500"/>
              </a:spcAft>
              <a:buNone/>
            </a:pPr>
            <a:r>
              <a:rPr lang="en-US" sz="1000" dirty="0">
                <a:solidFill>
                  <a:schemeClr val="tx2"/>
                </a:solidFill>
              </a:rPr>
              <a:t>Construction Industry Development Board. (2025). Strategic and annual performance plan (presented to Parliament, 25 June 2025). https://pmg.org.za/files/250625_DPWI_CIDB__Strategic_and_Annual_Performance_Plan.pdf</a:t>
            </a:r>
            <a:endParaRPr lang="en-US" sz="1000" dirty="0"/>
          </a:p>
          <a:p>
            <a:pPr indent="0" marL="0">
              <a:spcAft>
                <a:spcPts val="500"/>
              </a:spcAft>
              <a:buNone/>
            </a:pPr>
            <a:r>
              <a:rPr lang="en-US" sz="1000" dirty="0">
                <a:solidFill>
                  <a:schemeClr val="tx2"/>
                </a:solidFill>
              </a:rPr>
              <a:t>National Treasury. (2026). Budget review 2026, Annexure D: Public-sector infrastructure. https://www.treasury.gov.za/documents/National%20Budget/2026/review/Annexure%20D.pdf</a:t>
            </a:r>
            <a:endParaRPr lang="en-US" sz="1000" dirty="0"/>
          </a:p>
          <a:p>
            <a:pPr indent="0" marL="0">
              <a:spcAft>
                <a:spcPts val="500"/>
              </a:spcAft>
              <a:buNone/>
            </a:pPr>
            <a:r>
              <a:rPr lang="en-US" sz="1000" dirty="0">
                <a:solidFill>
                  <a:schemeClr val="tx2"/>
                </a:solidFill>
              </a:rPr>
              <a:t>Statistics South Africa. (2026). Construction industry, 2024 (Report 50-02-01). https://www.statssa.gov.za/publications/Report-50-02-01/Report-50-02-012024.pdf</a:t>
            </a:r>
            <a:endParaRPr lang="en-US" sz="1000" dirty="0"/>
          </a:p>
          <a:p>
            <a:pPr indent="0" marL="0">
              <a:spcAft>
                <a:spcPts val="500"/>
              </a:spcAft>
              <a:buNone/>
            </a:pPr>
            <a:r>
              <a:rPr lang="en-US" sz="1000" dirty="0">
                <a:solidFill>
                  <a:schemeClr val="tx2"/>
                </a:solidFill>
              </a:rPr>
              <a:t>Statistics South Africa. (2026). Key shifts in the construction industry. https://www.statssa.gov.za/?p=19701</a:t>
            </a:r>
            <a:endParaRPr lang="en-US" sz="1000" dirty="0"/>
          </a:p>
          <a:p>
            <a:pPr indent="0" marL="0">
              <a:spcAft>
                <a:spcPts val="500"/>
              </a:spcAft>
              <a:buNone/>
            </a:pPr>
            <a:r>
              <a:rPr lang="en-US" sz="1000" dirty="0">
                <a:solidFill>
                  <a:schemeClr val="tx2"/>
                </a:solidFill>
              </a:rPr>
              <a:t>GreenCape. (n.d.). Understanding the municipal procurement process (Municipal SCM Regulations, reg. 22). https://greencape.co.za/assets/municipalprocurementguideREPRO.pdf</a:t>
            </a:r>
            <a:endParaRPr lang="en-US" sz="1000" dirty="0"/>
          </a:p>
          <a:p>
            <a:pPr indent="0" marL="0">
              <a:spcAft>
                <a:spcPts val="500"/>
              </a:spcAft>
              <a:buNone/>
            </a:pPr>
            <a:r>
              <a:rPr lang="en-US" sz="1000" dirty="0">
                <a:solidFill>
                  <a:schemeClr val="tx2"/>
                </a:solidFill>
              </a:rPr>
              <a:t>Engineering News. (2026, June 19). Capacity of rooftop solar installed in South Africa has passed 8 GW mark. Vendor pages read 5 Oct 2026: bluebeam.com/pricing · togal.ai/pricing · civils.ai/blog/ai-for-electrical-takeoffs</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friPlan Electrical">
  <a:themeElements>
    <a:clrScheme name="AfriPlan Electrical">
      <a:dk1>
        <a:srgbClr val="101A33"/>
      </a:dk1>
      <a:lt1>
        <a:srgbClr val="FFFFFF"/>
      </a:lt1>
      <a:dk2>
        <a:srgbClr val="1E2B4F"/>
      </a:dk2>
      <a:lt2>
        <a:srgbClr val="F2F4F9"/>
      </a:lt2>
      <a:accent1>
        <a:srgbClr val="2E5BE8"/>
      </a:accent1>
      <a:accent2>
        <a:srgbClr val="F2A900"/>
      </a:accent2>
      <a:accent3>
        <a:srgbClr val="0F8A5F"/>
      </a:accent3>
      <a:accent4>
        <a:srgbClr val="C6423C"/>
      </a:accent4>
      <a:accent5>
        <a:srgbClr val="0E9BB8"/>
      </a:accent5>
      <a:accent6>
        <a:srgbClr val="8A93AB"/>
      </a:accent6>
      <a:hlink>
        <a:srgbClr val="2E5BE8"/>
      </a:hlink>
      <a:folHlink>
        <a:srgbClr val="1B3FB8"/>
      </a:folHlink>
    </a:clrScheme>
    <a:fontScheme name="AfriPlan Electric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AfriPlan Electrical — user guide</dc:title>
  <dc:subject>PptxGenJS Presentation</dc:subject>
  <dc:creator>JLWanalytics</dc:creator>
  <cp:lastModifiedBy>JLWanalytics</cp:lastModifiedBy>
  <cp:revision>1</cp:revision>
  <dcterms:created xsi:type="dcterms:W3CDTF">2026-10-05T18:08:02Z</dcterms:created>
  <dcterms:modified xsi:type="dcterms:W3CDTF">2026-10-05T18:08:02Z</dcterms:modified>
</cp:coreProperties>
</file>