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3.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af6df248-dd52-f6b2-c7d5-287b302742ea}">
          <p14:sldIdLst>
            <p14:sldId id="256"/>
          </p14:sldIdLst>
        </p14:section>
        <p14:section name="The problem" id="{cd985806-26e0-ee27-f83d-ac712d47db96}">
          <p14:sldIdLst>
            <p14:sldId id="257"/>
            <p14:sldId id="258"/>
            <p14:sldId id="259"/>
            <p14:sldId id="260"/>
            <p14:sldId id="261"/>
          </p14:sldIdLst>
        </p14:section>
        <p14:section name="How AfriPlan works" id="{2a51b6b5-d746-cb16-a91b-350449fa889a}">
          <p14:sldIdLst>
            <p14:sldId id="262"/>
            <p14:sldId id="263"/>
            <p14:sldId id="264"/>
            <p14:sldId id="265"/>
            <p14:sldId id="266"/>
            <p14:sldId id="267"/>
          </p14:sldIdLst>
        </p14:section>
        <p14:section name="Using the web app" id="{ff36dff6-294a-3fed-c80e-296798189196}">
          <p14:sldIdLst>
            <p14:sldId id="268"/>
            <p14:sldId id="269"/>
            <p14:sldId id="270"/>
            <p14:sldId id="271"/>
            <p14:sldId id="272"/>
          </p14:sldIdLst>
        </p14:section>
        <p14:section name="The AI Operating System" id="{007e5df6-60d2-db29-14e9-c5c615f83e4d}">
          <p14:sldIdLst>
            <p14:sldId id="273"/>
            <p14:sldId id="274"/>
            <p14:sldId id="275"/>
            <p14:sldId id="276"/>
            <p14:sldId id="277"/>
          </p14:sldIdLst>
        </p14:section>
        <p14:section name="How accurate is it" id="{8d5beefc-bbe8-58ef-03b3-e8ce64842c24}">
          <p14:sldIdLst>
            <p14:sldId id="278"/>
            <p14:sldId id="279"/>
            <p14:sldId id="280"/>
            <p14:sldId id="281"/>
            <p14:sldId id="282"/>
            <p14:sldId id="283"/>
            <p14:sldId id="284"/>
            <p14:sldId id="285"/>
            <p14:sldId id="286"/>
          </p14:sldIdLst>
        </p14:section>
        <p14:section name="Value for consulting engineers" id="{1a3ed8cf-8d1c-a71f-18e5-d0b065d69de4}">
          <p14:sldIdLst>
            <p14:sldId id="287"/>
            <p14:sldId id="288"/>
          </p14:sldIdLst>
        </p14:section>
        <p14:section name="Conclusion" id="{cd4b2c73-d1fa-3e43-c30a-9e7bbc2179da}">
          <p14:sldIdLst>
            <p14:sldId id="289"/>
          </p14:sldIdLst>
        </p14:section>
        <p14:section name="References" id="{2bbb9364-0233-4f61-f271-c1dc0c832fd2}">
          <p14:sldIdLst>
            <p14:sldId id="290"/>
            <p14:sldId id="29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01A33"/>
                </a:solidFill>
                <a:latin typeface="+mn-lt"/>
              </a:defRPr>
            </a:pPr>
            <a:r>
              <a:rPr sz="1400" b="0" i="0" u="none" strike="noStrike">
                <a:solidFill>
                  <a:srgbClr val="101A33"/>
                </a:solidFill>
                <a:latin typeface="+mn-lt"/>
              </a:rPr>
              <a:t>CIDB register, 2024 Q4 — active contractors</a:t>
            </a:r>
          </a:p>
        </c:rich>
      </c:tx>
      <c:layout/>
      <c:overlay val="0"/>
    </c:title>
    <c:autoTitleDeleted val="0"/>
    <c:plotArea>
      <c:layout/>
      <c:barChart>
        <c:barDir val="bar"/>
        <c:grouping val="clustered"/>
        <c:varyColors val="0"/>
        <c:ser>
          <c:idx val="0"/>
          <c:order val="0"/>
          <c:tx>
            <c:strRef>
              <c:f>Sheet1!$B$1</c:f>
              <c:strCache>
                <c:ptCount val="1"/>
                <c:pt idx="0">
                  <c:v>Active contractors</c:v>
                </c:pt>
              </c:strCache>
            </c:strRef>
          </c:tx>
          <c:spPr>
            <a:solidFill>
              <a:srgbClr val="2E5BE8"/>
            </a:solidFill>
            <a:effectLst/>
          </c:spPr>
          <c:invertIfNegative val="0"/>
          <c:dLbls>
            <c:numFmt formatCode="#,##0" sourceLinked="0"/>
            <c:txPr>
              <a:bodyPr/>
              <a:lstStyle/>
              <a:p>
                <a:pPr>
                  <a:defRPr b="0" i="0" strike="noStrike" sz="1300" u="none">
                    <a:solidFill>
                      <a:srgbClr val="101A33"/>
                    </a:solidFill>
                    <a:latin typeface="+mn-lt"/>
                  </a:defRPr>
                </a:pPr>
              </a:p>
            </c:txPr>
            <c:showLegendKey val="0"/>
            <c:showVal val="1"/>
            <c:showCatName val="0"/>
            <c:showSerName val="0"/>
            <c:showPercent val="0"/>
            <c:showBubbleSize val="0"/>
            <c:showLeaderLines val="0"/>
          </c:dLbls>
          <c:dPt>
            <c:idx val="0"/>
            <c:invertIfNegative val="0"/>
            <c:bubble3D val="0"/>
            <c:spPr>
              <a:solidFill>
                <a:srgbClr val="2E5BE8"/>
              </a:solidFill>
              <a:effectLst/>
            </c:spPr>
          </c:dPt>
          <c:dPt>
            <c:idx val="1"/>
            <c:invertIfNegative val="0"/>
            <c:bubble3D val="0"/>
            <c:spPr>
              <a:solidFill>
                <a:srgbClr val="8A93AB"/>
              </a:solidFill>
              <a:effectLst/>
            </c:spPr>
          </c:dPt>
          <c:cat>
            <c:multiLvlStrRef>
              <c:f>Sheet1!$A$2:$A$3</c:f>
              <c:multiLvlStrCache>
                <c:ptCount val="2"/>
                <c:lvl>
                  <c:pt idx="0">
                    <c:v>Grade 1</c:v>
                  </c:pt>
                  <c:pt idx="1">
                    <c:v>Grades 2–9</c:v>
                  </c:pt>
                </c:lvl>
              </c:multiLvlStrCache>
            </c:multiLvlStrRef>
          </c:cat>
          <c:val>
            <c:numRef>
              <c:f>Sheet1!$B$2:$B$3</c:f>
              <c:numCache>
                <c:formatCode>General</c:formatCode>
                <c:ptCount val="2"/>
                <c:pt idx="0">
                  <c:v>108224</c:v>
                </c:pt>
                <c:pt idx="1">
                  <c:v>21331</c:v>
                </c:pt>
              </c:numCache>
            </c:numRef>
          </c:val>
        </c:ser>
        <c:dLbls>
          <c:numFmt formatCode="#,##0" sourceLinked="0"/>
          <c:txPr>
            <a:bodyPr/>
            <a:lstStyle/>
            <a:p>
              <a:pPr>
                <a:defRPr b="0" i="0" strike="noStrike" sz="1300" u="none">
                  <a:solidFill>
                    <a:srgbClr val="101A33"/>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01A33"/>
                </a:solidFill>
                <a:latin typeface="+mn-lt"/>
              </a:defRPr>
            </a:pPr>
            <a:endParaRPr lang="en-US"/>
          </a:p>
        </c:txPr>
        <c:crossAx val="2094734552"/>
        <c:crosses val="autoZero"/>
        <c:auto val="1"/>
        <c:lblAlgn val="ctr"/>
        <c:noMultiLvlLbl val="1"/>
      </c:catAx>
      <c:valAx>
        <c:axId val="2094734552"/>
        <c:scaling>
          <c:orientation val="minMax"/>
          <c:max val="1300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Share of bill value</c:v>
                </c:pt>
              </c:strCache>
            </c:strRef>
          </c:tx>
          <c:spPr>
            <a:solidFill>
              <a:schemeClr val="accent1"/>
            </a:solidFill>
            <a:ln w="9525" cap="flat">
              <a:solidFill>
                <a:srgbClr val="F9F9F9"/>
              </a:solidFill>
              <a:prstDash val="solid"/>
              <a:round/>
            </a:ln>
            <a:effectLst/>
          </c:spPr>
          <c:dPt>
            <c:idx val="0"/>
            <c:bubble3D val="0"/>
            <c:spPr>
              <a:solidFill>
                <a:srgbClr val="2E5BE8"/>
              </a:solidFill>
              <a:effectLst/>
            </c:spPr>
          </c:dPt>
          <c:dPt>
            <c:idx val="1"/>
            <c:bubble3D val="0"/>
            <c:spPr>
              <a:solidFill>
                <a:srgbClr val="F2A900"/>
              </a:solidFill>
              <a:effectLst/>
            </c:spPr>
          </c:dPt>
          <c:dPt>
            <c:idx val="2"/>
            <c:bubble3D val="0"/>
            <c:spPr>
              <a:solidFill>
                <a:srgbClr val="0E9BB8"/>
              </a:solidFill>
              <a:effectLst/>
            </c:spPr>
          </c:dPt>
          <c:dPt>
            <c:idx val="3"/>
            <c:bubble3D val="0"/>
            <c:spPr>
              <a:solidFill>
                <a:srgbClr val="0F8A5F"/>
              </a:solidFill>
              <a:effectLst/>
            </c:spPr>
          </c:dPt>
          <c:dPt>
            <c:idx val="4"/>
            <c:bubble3D val="0"/>
            <c:spPr>
              <a:solidFill>
                <a:srgbClr val="8A93AB"/>
              </a:solidFill>
              <a:effectLst/>
            </c:spPr>
          </c:dPt>
          <c:dLbls>
            <c:dLbl>
              <c:idx val="0"/>
              <c:numFmt formatCode="0%" sourceLinked="0"/>
              <c:spPr/>
              <c:txPr>
                <a:bodyPr/>
                <a:lstStyle/>
                <a:p>
                  <a:pPr>
                    <a:defRPr sz="1200" b="0"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1200" b="0" i="0" u="none" strike="noStrike">
                      <a:solidFill>
                        <a:srgbClr val="FFFFFF"/>
                      </a:solidFill>
                      <a:latin typeface="+mn-lt"/>
                    </a:defRPr>
                  </a:pPr>
                </a:p>
              </c:txPr>
              <c:showLegendKey val="0"/>
              <c:showVal val="0"/>
              <c:showCatName val="0"/>
              <c:showSerName val="0"/>
              <c:showPercent val="1"/>
              <c:showBubbleSize val="0"/>
            </c:dLbl>
            <c:dLbl>
              <c:idx val="2"/>
              <c:numFmt formatCode="0%" sourceLinked="0"/>
              <c:spPr/>
              <c:txPr>
                <a:bodyPr/>
                <a:lstStyle/>
                <a:p>
                  <a:pPr>
                    <a:defRPr sz="1200" b="0" i="0" u="none" strike="noStrike">
                      <a:solidFill>
                        <a:srgbClr val="FFFFFF"/>
                      </a:solidFill>
                      <a:latin typeface="+mn-lt"/>
                    </a:defRPr>
                  </a:pPr>
                </a:p>
              </c:txPr>
              <c:showLegendKey val="0"/>
              <c:showVal val="0"/>
              <c:showCatName val="0"/>
              <c:showSerName val="0"/>
              <c:showPercent val="1"/>
              <c:showBubbleSize val="0"/>
            </c:dLbl>
            <c:dLbl>
              <c:idx val="3"/>
              <c:numFmt formatCode="0%" sourceLinked="0"/>
              <c:spPr/>
              <c:txPr>
                <a:bodyPr/>
                <a:lstStyle/>
                <a:p>
                  <a:pPr>
                    <a:defRPr sz="1200" b="0" i="0" u="none" strike="noStrike">
                      <a:solidFill>
                        <a:srgbClr val="FFFFFF"/>
                      </a:solidFill>
                      <a:latin typeface="+mn-lt"/>
                    </a:defRPr>
                  </a:pPr>
                </a:p>
              </c:txPr>
              <c:showLegendKey val="0"/>
              <c:showVal val="0"/>
              <c:showCatName val="0"/>
              <c:showSerName val="0"/>
              <c:showPercent val="1"/>
              <c:showBubbleSize val="0"/>
            </c:dLbl>
            <c:dLbl>
              <c:idx val="4"/>
              <c:numFmt formatCode="0%" sourceLinked="0"/>
              <c:spPr/>
              <c:txPr>
                <a:bodyPr/>
                <a:lstStyle/>
                <a:p>
                  <a:pPr>
                    <a:defRPr sz="1200" b="0"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A · Boards, feeders, trenches</c:v>
                </c:pt>
                <c:pt idx="1">
                  <c:v>D · Lighting</c:v>
                </c:pt>
                <c:pt idx="2">
                  <c:v>B · Wiring &amp; trunking</c:v>
                </c:pt>
                <c:pt idx="3">
                  <c:v>C · Outlets</c:v>
                </c:pt>
                <c:pt idx="4">
                  <c:v>F · Bulk supply (kiosk)</c:v>
                </c:pt>
              </c:strCache>
            </c:strRef>
          </c:cat>
          <c:val>
            <c:numRef>
              <c:f>Sheet1!$B$2:$B$6</c:f>
              <c:numCache>
                <c:ptCount val="5"/>
                <c:pt idx="0">
                  <c:v>60.5</c:v>
                </c:pt>
                <c:pt idx="1">
                  <c:v>21.3</c:v>
                </c:pt>
                <c:pt idx="2">
                  <c:v>10.1</c:v>
                </c:pt>
                <c:pt idx="3">
                  <c:v>4.1</c:v>
                </c:pt>
                <c:pt idx="4">
                  <c:v>4</c:v>
                </c:pt>
              </c:numCache>
            </c:numRef>
          </c:val>
        </c:ser>
        <c:firstSliceAng val="0"/>
        <c:holeSize val="55"/>
      </c:doughnutChart>
      <c:spPr>
        <a:noFill/>
        <a:ln>
          <a:noFill/>
        </a:ln>
        <a:effectLst/>
      </c:spPr>
    </c:plotArea>
    <c:legend>
      <c:legendPos val="r"/>
      <c:overlay val="0"/>
      <c:txPr>
        <a:bodyPr/>
        <a:lstStyle/>
        <a:p>
          <a:pPr>
            <a:defRPr sz="1200">
              <a:solidFill>
                <a:srgbClr val="101A3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01A33"/>
                </a:solidFill>
                <a:latin typeface="+mn-lt"/>
              </a:defRPr>
            </a:pPr>
            <a:r>
              <a:rPr sz="1400" b="0" i="0" u="none" strike="noStrike">
                <a:solidFill>
                  <a:srgbClr val="101A33"/>
                </a:solidFill>
                <a:latin typeface="+mn-lt"/>
              </a:rPr>
              <a:t>Reading accuracy by reader (%)</a:t>
            </a:r>
          </a:p>
        </c:rich>
      </c:tx>
      <c:layout/>
      <c:overlay val="0"/>
    </c:title>
    <c:autoTitleDeleted val="0"/>
    <c:plotArea>
      <c:layout/>
      <c:barChart>
        <c:barDir val="col"/>
        <c:grouping val="clustered"/>
        <c:varyColors val="0"/>
        <c:ser>
          <c:idx val="0"/>
          <c:order val="0"/>
          <c:tx>
            <c:strRef>
              <c:f>Sheet1!$B$1</c:f>
              <c:strCache>
                <c:ptCount val="1"/>
                <c:pt idx="0">
                  <c:v>Reading score</c:v>
                </c:pt>
              </c:strCache>
            </c:strRef>
          </c:tx>
          <c:spPr>
            <a:solidFill>
              <a:srgbClr val="F2A900"/>
            </a:solidFill>
            <a:effectLst/>
          </c:spPr>
          <c:invertIfNegative val="0"/>
          <c:dLbls>
            <c:numFmt formatCode="0.0" sourceLinked="0"/>
            <c:txPr>
              <a:bodyPr/>
              <a:lstStyle/>
              <a:p>
                <a:pPr>
                  <a:defRPr b="0" i="0" strike="noStrike" sz="1000" u="none">
                    <a:solidFill>
                      <a:srgbClr val="101A33"/>
                    </a:solidFill>
                    <a:latin typeface="+mn-lt"/>
                  </a:defRPr>
                </a:pPr>
              </a:p>
            </c:txPr>
            <c:showLegendKey val="0"/>
            <c:showVal val="1"/>
            <c:showCatName val="0"/>
            <c:showSerName val="0"/>
            <c:showPercent val="0"/>
            <c:showBubbleSize val="0"/>
            <c:showLeaderLines val="0"/>
          </c:dLbls>
          <c:cat>
            <c:multiLvlStrRef>
              <c:f>Sheet1!$A$2:$A$4</c:f>
              <c:multiLvlStrCache>
                <c:ptCount val="3"/>
                <c:lvl>
                  <c:pt idx="0">
                    <c:v>CAD reader</c:v>
                  </c:pt>
                  <c:pt idx="1">
                    <c:v>PDF reader</c:v>
                  </c:pt>
                  <c:pt idx="2">
                    <c:v>Combined (delivered)</c:v>
                  </c:pt>
                </c:lvl>
              </c:multiLvlStrCache>
            </c:multiLvlStrRef>
          </c:cat>
          <c:val>
            <c:numRef>
              <c:f>Sheet1!$B$2:$B$4</c:f>
              <c:numCache>
                <c:formatCode>General</c:formatCode>
                <c:ptCount val="3"/>
                <c:pt idx="0">
                  <c:v>53.2</c:v>
                </c:pt>
                <c:pt idx="1">
                  <c:v>59.7</c:v>
                </c:pt>
                <c:pt idx="2">
                  <c:v>67.5</c:v>
                </c:pt>
              </c:numCache>
            </c:numRef>
          </c:val>
        </c:ser>
        <c:ser>
          <c:idx val="1"/>
          <c:order val="1"/>
          <c:tx>
            <c:strRef>
              <c:f>Sheet1!$C$1</c:f>
              <c:strCache>
                <c:ptCount val="1"/>
                <c:pt idx="0">
                  <c:v>Coverage</c:v>
                </c:pt>
              </c:strCache>
            </c:strRef>
          </c:tx>
          <c:spPr>
            <a:solidFill>
              <a:srgbClr val="2E5BE8"/>
            </a:solidFill>
            <a:effectLst/>
          </c:spPr>
          <c:invertIfNegative val="0"/>
          <c:dLbls>
            <c:numFmt formatCode="0.0" sourceLinked="0"/>
            <c:txPr>
              <a:bodyPr/>
              <a:lstStyle/>
              <a:p>
                <a:pPr>
                  <a:defRPr b="0" i="0" strike="noStrike" sz="1000" u="none">
                    <a:solidFill>
                      <a:srgbClr val="101A33"/>
                    </a:solidFill>
                    <a:latin typeface="+mn-lt"/>
                  </a:defRPr>
                </a:pPr>
              </a:p>
            </c:txPr>
            <c:showLegendKey val="0"/>
            <c:showVal val="1"/>
            <c:showCatName val="0"/>
            <c:showSerName val="0"/>
            <c:showPercent val="0"/>
            <c:showBubbleSize val="0"/>
            <c:showLeaderLines val="0"/>
          </c:dLbls>
          <c:cat>
            <c:multiLvlStrRef>
              <c:f>Sheet1!$A$2:$A$4</c:f>
              <c:multiLvlStrCache>
                <c:ptCount val="3"/>
                <c:lvl>
                  <c:pt idx="0">
                    <c:v>CAD reader</c:v>
                  </c:pt>
                  <c:pt idx="1">
                    <c:v>PDF reader</c:v>
                  </c:pt>
                  <c:pt idx="2">
                    <c:v>Combined (delivered)</c:v>
                  </c:pt>
                </c:lvl>
              </c:multiLvlStrCache>
            </c:multiLvlStrRef>
          </c:cat>
          <c:val>
            <c:numRef>
              <c:f>Sheet1!$C$2:$C$4</c:f>
              <c:numCache>
                <c:formatCode>General</c:formatCode>
                <c:ptCount val="3"/>
                <c:pt idx="0">
                  <c:v>68.8</c:v>
                </c:pt>
                <c:pt idx="1">
                  <c:v>97.6</c:v>
                </c:pt>
                <c:pt idx="2">
                  <c:v>93.2</c:v>
                </c:pt>
              </c:numCache>
            </c:numRef>
          </c:val>
        </c:ser>
        <c:ser>
          <c:idx val="2"/>
          <c:order val="2"/>
          <c:tx>
            <c:strRef>
              <c:f>Sheet1!$D$1</c:f>
              <c:strCache>
                <c:ptCount val="1"/>
                <c:pt idx="0">
                  <c:v>Quantity accuracy</c:v>
                </c:pt>
              </c:strCache>
            </c:strRef>
          </c:tx>
          <c:spPr>
            <a:solidFill>
              <a:srgbClr val="0E9BB8"/>
            </a:solidFill>
            <a:effectLst/>
          </c:spPr>
          <c:invertIfNegative val="0"/>
          <c:dLbls>
            <c:numFmt formatCode="0.0" sourceLinked="0"/>
            <c:txPr>
              <a:bodyPr/>
              <a:lstStyle/>
              <a:p>
                <a:pPr>
                  <a:defRPr b="0" i="0" strike="noStrike" sz="1000" u="none">
                    <a:solidFill>
                      <a:srgbClr val="101A33"/>
                    </a:solidFill>
                    <a:latin typeface="+mn-lt"/>
                  </a:defRPr>
                </a:pPr>
              </a:p>
            </c:txPr>
            <c:showLegendKey val="0"/>
            <c:showVal val="1"/>
            <c:showCatName val="0"/>
            <c:showSerName val="0"/>
            <c:showPercent val="0"/>
            <c:showBubbleSize val="0"/>
            <c:showLeaderLines val="0"/>
          </c:dLbls>
          <c:cat>
            <c:multiLvlStrRef>
              <c:f>Sheet1!$A$2:$A$4</c:f>
              <c:multiLvlStrCache>
                <c:ptCount val="3"/>
                <c:lvl>
                  <c:pt idx="0">
                    <c:v>CAD reader</c:v>
                  </c:pt>
                  <c:pt idx="1">
                    <c:v>PDF reader</c:v>
                  </c:pt>
                  <c:pt idx="2">
                    <c:v>Combined (delivered)</c:v>
                  </c:pt>
                </c:lvl>
              </c:multiLvlStrCache>
            </c:multiLvlStrRef>
          </c:cat>
          <c:val>
            <c:numRef>
              <c:f>Sheet1!$D$2:$D$4</c:f>
              <c:numCache>
                <c:formatCode>General</c:formatCode>
                <c:ptCount val="3"/>
                <c:pt idx="0">
                  <c:v>77.4</c:v>
                </c:pt>
                <c:pt idx="1">
                  <c:v>61.2</c:v>
                </c:pt>
                <c:pt idx="2">
                  <c:v>72.4</c:v>
                </c:pt>
              </c:numCache>
            </c:numRef>
          </c:val>
        </c:ser>
        <c:ser>
          <c:idx val="3"/>
          <c:order val="3"/>
          <c:tx>
            <c:strRef>
              <c:f>Sheet1!$E$1</c:f>
              <c:strCache>
                <c:ptCount val="1"/>
                <c:pt idx="0">
                  <c:v>Item precision</c:v>
                </c:pt>
              </c:strCache>
            </c:strRef>
          </c:tx>
          <c:spPr>
            <a:solidFill>
              <a:srgbClr val="8A93AB"/>
            </a:solidFill>
            <a:effectLst/>
          </c:spPr>
          <c:invertIfNegative val="0"/>
          <c:dLbls>
            <c:numFmt formatCode="0.0" sourceLinked="0"/>
            <c:txPr>
              <a:bodyPr/>
              <a:lstStyle/>
              <a:p>
                <a:pPr>
                  <a:defRPr b="0" i="0" strike="noStrike" sz="1000" u="none">
                    <a:solidFill>
                      <a:srgbClr val="101A33"/>
                    </a:solidFill>
                    <a:latin typeface="+mn-lt"/>
                  </a:defRPr>
                </a:pPr>
              </a:p>
            </c:txPr>
            <c:showLegendKey val="0"/>
            <c:showVal val="1"/>
            <c:showCatName val="0"/>
            <c:showSerName val="0"/>
            <c:showPercent val="0"/>
            <c:showBubbleSize val="0"/>
            <c:showLeaderLines val="0"/>
          </c:dLbls>
          <c:cat>
            <c:multiLvlStrRef>
              <c:f>Sheet1!$A$2:$A$4</c:f>
              <c:multiLvlStrCache>
                <c:ptCount val="3"/>
                <c:lvl>
                  <c:pt idx="0">
                    <c:v>CAD reader</c:v>
                  </c:pt>
                  <c:pt idx="1">
                    <c:v>PDF reader</c:v>
                  </c:pt>
                  <c:pt idx="2">
                    <c:v>Combined (delivered)</c:v>
                  </c:pt>
                </c:lvl>
              </c:multiLvlStrCache>
            </c:multiLvlStrRef>
          </c:cat>
          <c:val>
            <c:numRef>
              <c:f>Sheet1!$E$2:$E$4</c:f>
              <c:numCache>
                <c:formatCode>General</c:formatCode>
                <c:ptCount val="3"/>
                <c:pt idx="0">
                  <c:v>71.4</c:v>
                </c:pt>
                <c:pt idx="1">
                  <c:v>79.2</c:v>
                </c:pt>
                <c:pt idx="2">
                  <c:v>70.4</c:v>
                </c:pt>
              </c:numCache>
            </c:numRef>
          </c:val>
        </c:ser>
        <c:dLbls>
          <c:numFmt formatCode="0.0" sourceLinked="0"/>
          <c:txPr>
            <a:bodyPr/>
            <a:lstStyle/>
            <a:p>
              <a:pPr>
                <a:defRPr b="0" i="0" strike="noStrike" sz="1000" u="none">
                  <a:solidFill>
                    <a:srgbClr val="101A33"/>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01A33"/>
                </a:solidFill>
                <a:latin typeface="+mn-lt"/>
              </a:defRPr>
            </a:pPr>
            <a:endParaRPr lang="en-US"/>
          </a:p>
        </c:txPr>
        <c:crossAx val="2094734552"/>
        <c:crosses val="autoZero"/>
        <c:auto val="1"/>
        <c:lblAlgn val="ctr"/>
        <c:noMultiLvlLbl val="1"/>
      </c:catAx>
      <c:valAx>
        <c:axId val="2094734552"/>
        <c:scaling>
          <c:orientation val="minMax"/>
          <c:max val="10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01A33"/>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AfriPlan turns a set of electrical drawings — PDF, DWG/DXF or both — into a priced, SANS-style Bill of Quantities. This deck covers the problem it solves, how it works, how to use the web app and the AI Operating System (VS Code + Claude Code + Claude skills), and how accurate it is today, measured against a real human-priced bill.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figures are verified at a primary or peer-reviewed source (docs/research/evidence-register.md). Municipal bids must be advertised for at least 14 days up to R10 million and 30 days above (Municipal SCM Regulations, reg. 22). Stats SA's Construction industry 2024 report: 'Between 2014 and 2024, the construction industry recorded its highest profit margin of 4,8% in 2024.' Peer-reviewed public-procurement studies abroad: contractors won 13.3% of 2,296 bids for 289 public tenders in Jordan (Alkhateeb et al., 2020); preparing a tender cost 0.05–0.65% of its value, average 0.33%, across 14 public tenders in Ghana (Ameyaw et al., 2021 — small sample, authors advise caution). No study measures South African electrical take-off hours or win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CIDB Annual Performance Plan (PMG, 2024 Q4): 108,224 active Grade 1 contractors and 21,331 in Grades 2 to 9, so 84% of the 129,555 active contractors are Grade 1, the smallest grade. Stats SA: small and micro enterprises earned 25.0% of construction income in 2014 and 32.2% in 2024, and gave 55.3% of construction jobs in 2024. Demand: National Treasury's 2026 Budget Review plans R1.07 trillion of public infrastructure over the medium term; Eskom's National Transmission Company puts rooftop solar above 8.3 GW (Engineering News, 19 June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South African peer-reviewed studies, verified through Scite. Murwira and Bekker (2017, Acta Structilia): the most significant causes of poor project performance in the North-West Department of Public Works and Roads include underestimation of project cost. Akampurira and Windapo (2019, Journal of Engineering, Design and Technology; 120 respondents): poor design documentation is a significant contributor to delays, rework and cost overruns, and documents are inadequate on accuracy and certainty. Govender, Laryea and Watermeyer (2022, BEPAM): researchers report that tender-document quality is declining, with no standard instrument to assess it. Morena and Amoah (2021, IOP Conference Series; 74 respondents): cost overruns reduce contractor profit, and an accurate estimate is one of the remedies.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Verified at the vendors' own pages (5 Oct 2026): Bluebeam costs $260 to $590 per user per year; Togal.AI Growth costs $299 per user per month billed yearly and describes itself as detecting and measuring spaces and features on architectural drawings; Civils.ai, an AI electrical take-off vendor, states 'No inference of circuiting, conduit routes, tray fill or cable sizing'. Peer-reviewed research: deep learning recognised more than 94% of symbols on industrial engineering drawings (Elyan et al., 2020, Neural Networks), but a 2024 review concludes improved methods are still needed for symbols, text and connectors (Jamieson et al., 2024, Artificial Intelligence Review). Rand values are conversions at R17.9 per US dollar.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of the real bill's value by bill section on the 7-building reference project. Section A — distribution boards, main feeder cables, trenching and earthing — is about 60% of the value. Lighting is about 21%. The fittings, outlets and switches that symbol counters handle well are a small part: a perfect symbol counter alone would score below 10%. That is why AfriPlan reads single-line diagrams and measures feeder routes on the site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give AfriPlan the drawings you already have: a PDF set, the CAD set (DWG or DXF), or both — and, if you want, an existing bill of quantities to audit. AfriPlan reads the drawings, checks what it read, and prices it once at South African rates. You get a priced bill as a tender-ready Excel and PDF, a list of things to check sorted by how serious they are, and — when you upload both kinds of drawing — a comparison of the two readers. In the AI Operating System, when a real priced bill exists for the project, you also get an accuracy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readers state findings with their evidence — measured beats counted beats written beats seen beats assumed. The PDF reader uses an AI as its eyes (Claude API, Gemini, or Claude Code on your subscription); the CAD reader is pure geometry: it counts symbols, reads single-line diagram text and measures feeder routes on the electrical site plan. Combining pairs PDF pages with their CAD sheet by the words both print; the stronger evidence wins and nothing is counted twice. One pricer turns findings into lines with the SA rate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rules are enforced in code and tests, not just in documentation. Every estimated quantity carries a tag and an assumption and appears in the gap report, so an estimator always knows what to check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line carries one of six labels, the same words in the app, the Excel and the PDF. From the drawing: counted or read off the drawings. Worked out: calculated from the drawings, for example a cable route measured on the site plan plus allowances. Guessed – check: not on the drawings, so a standard value was used — check these first. Allowance: a provisional sum. Rough estimate – check: estimated from other items. Price you chose: a price you changed, for example a supplier's quote. The 'things to check' list is sorted MUST FIX, MUST CHECK, SHOULD CHECK, FOR INFO.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drawing sets are not perfectly consistent. AfriPlan uses the newest issue of a sheet and notes the older one it skipped; pairs a PDF page with its CAD sheet by the words both print, so the stronger evidence wins and nothing is billed twice; and marks any length or quantity the drawings do not give as Guessed – check. One known limit today: when a drawing set gives the same board two different names on different sheets, it can be billed twice — check the board list in the bill.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web app is for contractors and demos: upload in the browser, see the take-off, price, export. The AI Operating System runs inside VS Code with Claude Code: point it at a project folder and Claude reads the PDF pages on your subscription, so there is no API bill — and it gives the best scores so far.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AfriPlan runs online at https://afriplan.onrender.com — nothing to install, any browser. Click Sign in: the demo login is pre-filled. Upload a DWG/DXF set (free, about one to two minutes) or PDF drawings (choose Claude, paid and most accurate, or Gemini, free with a daily limit). Read the gaps on the Take-off page, then open the BoQ and export the Excel and PDF tender document. Everyone shares one demo account, so use sample or non-confidential drawings; send client drawings to the AfriPlan team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https://afriplan.onrender.com, or run it on your own computer. Sign in (demo login, pre-filled). Upload the drawings and choose the engine. The Take-off page shows progress and then the drawing set, legend, coverage and gaps. The BoQ page lists every line with its evidence. Pricing requests supplier quotes. Export produces the tender Excel and PDF and can email them. Audit a BoQ checks any bill, including one you did not make with AfriPlan.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DXF/DWG: select the whole set at once — single-line diagrams, lighting and plug layouts and the electrical site plan — so feeders are measured on the site plan; an older revision of a sheet is skipped automatically. Optional AI symbol names cost about R1–2 per set. PDF: an AI reads every page; Claude API costs about R2.50 a page and about 5 minutes for 18 pages; Gemini is free but limited per minute and per day. Both: runs the two engines and shows where they agree and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a PDF run works, the Take-off page shows the step (sort pages, read drawings, measure and price), pages done of total, the time so far and the AI provider's wait notes — so a slow free-tier run no longer looks dead. If it fails, the page says why, for example that Gemini's free daily limit is used up and what to do. When it passes: the drawing set panel, the legend, coverage and the gap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BoQ lists every line with its quantity, rate and evidence tag. The gap report lists what to check, most serious first. Live Pricing requests quotes from suppliers and applies the one you pick. Export produces the tender Excel and PDF, with an email option. Audit a BoQ checks any bill — arithmetic, unpriced or untotalled lines, duplicates, roll-ups and contingencies, orphan sheets, missing companion items — and says which drawings a complete BoQ still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 Operating System is the second way to produce a bill. It runs in VS Code with the Claude Code extension. Claude Code is the AI agent: it explores the project, reads and writes files and runs commands, always with your permission [4]. Before it starts it reads the project's memory — CLAUDE.md, the project instructions loaded every session, and its own auto-memory notes [2]. For a job it picks the right Claude skill — a folder with a SKILL.md file that Claude discovers and uses automatically [1] — and it follows a playbook of rules and lessons. Python does every count, length and price. It runs on your Claude Pro or Max subscription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Claude skills live in the project folder .claude/skills. estimate-project turns any project folder into a priced bill. evaluate-boq scores a bill against a real, human-priced bill — the reading accuracy. audit-boq audits any bill for arithmetic errors, unpriced lines, duplicates and missing items, and says which drawings a complete bill still needs. add-reference-project adds a new real project with its priced bill as an answer key. tdd makes every code change test-first. karpathy-coding-discipline keeps code changes small and careful. Each skill is a SKILL.md file that Claude loads when the task matches its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AfriPlan folder in VS Code with Claude Code and say: estimate the project in your folder. Claude Code loads the estimate-project skill. Step 1 and step 3 are deterministic Python; only step 2 uses the AI, on your subscription. Python renders every PDF page (whole page, zoomed quarters, the legend table, the text layer) and writes the form instructions; Claude reads each page and fills one strict form per page; Python checks every form — a missing or invalid form stops the run — reads the CAD set, combines both readers and prices once. The forms are saved, so every result can be reproduced; with a reference bill, the accuracy report is written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 app: nothing to install, runs in the browser; the PDF reader is your choice of Claude (paid per use) or Gemini (free tier with a small daily limit); live progress and clear failure reasons; the same single pricer and checks as the AI Operating System. AI Operating System: covered by a Claude Pro or Max subscription, including in VS Code, so no API bill as long as no API key is set; persistent project context through CLAUDE.md and auto-memory; reusable Claude skills that load when the task fits; an agent that works through the whole project folder with your permission; saved page forms so every result can be reproduced; and the best measured reading accuracy so far. It needs VS Code, Claude Code and a subscription.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Install Git, Python 3.12 or newer and Node.js 20 or newer. LibreDWG is optional and only needed for .dwg uploads (macOS: brew install libredwg). Claude Code is needed only for the AI Operating System. Then clone the repository and run setup once; start runs the backend and the app together. API keys are optional and go in api/.env, which is never committed.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Accuracy has two separate questions. Reading: did AfriPlan read what is drawn — the right items, the right counts and lengths? That is what we measure now, and prices play no part in it. Pricing: are the rates right, so that the tender total is right? That comes next. For a tender total the expert yardstick is AACE International recommended practice 56R-08: a Class 1 estimate (detailed take-off, pre-tender) is expected within -3 to -5 percent low and +3 to +10 percent high, at about 80 percent confidence.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reading score compares what AfriPlan read with the real, human-priced bill for the same drawings. It only judges items that are counted or measured on the uploaded drawings. Items that follow from an estimating rule (wire, conduit, trunking, boxes, trench) and allowances that are never drawn (connection fees, certificates) are left out and named. Each judged item weighs what it is worth in the real bill, because a large feeder matters more than a socket; our own prices never enter. Coverage says whether we read the item at all; quantity accuracy how close the count or length is; item precision, by count, how many of the items we read really belong in the bill.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score on the reference project, judged on the 69 percent of the bill's value that is counted or measured on the drawings: the CAD reader alone 53.2 percent, the PDF reader alone 59.7 percent, and the delivered bill, which combines both, 67.5 percent. The combined bill read 93 percent of that value at all; its quantities are 72 percent accurate where read; 70 percent of the items it read are in the real bill. Left out as not reading: 29 percent of the bill is derived material and 1.6 percent allowances.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score against the quantity surveyor's real bill, but it does not match the drawings everywhere, so a correct reading can still lose points. The bill was priced about six months after the latest drawings, as a revision, possibly from an updated design. Several feeder cable sizes in the bill differ from the sizes written on both the PDF and the CAD single-line diagrams. One board appears on three priced rows with the same item number. Two sheets carry quantities at a rate of zero. Even the drawings' own quantity tables are off by one switch on two sheets. So every reading loss is checked against the drawing and labelled our error, bill differs from drawing, or to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test whether the AI can read, Claude went through all 18 PDF pages and the 17 electrical CAD files itself, page by page. The single-line diagrams in PDF and CAD agree on every feeder size, and AfriPlan read every board and every feeder size on them correctly. All ten printed quantity tables were read and spot-checked symbol by symbol; switches were resolved by their labels on the plans. The site plan gives written route lengths that AfriPlan's measurement can be checked against. A person then checked a 20-item sample of Claude's reading against the drawings: 19 correct, none wrong, one left blank — a switch count where the drawing and its own schedule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Confirmed reading errors, checked against the drawings. One: a board named differently on a layout and on the single-line diagram is billed twice — match board names across drawings and flag it. Two: road-crossing sleeves and manholes on the site plan are not read yet. Three: some outlets and switches are counted on two sheets — pair the lighting and plug sheets and use the printed quantity tables. Four: a measured cable route came out about 24 percent longer than the length written on the site plan — use the written length when the drawing gives one. Five: in CAD files lights and sockets are loose lines, not symbols — recognise the shapes or use the printed tables. Derived material and pricing are judged after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conclusion of the accuracy work so far. Proven: AfriPlan reads single-line diagrams correctly — all 13 boards and all 13 feeder sizes, identical in the PDF and CAD versions — and a person checked a 20-item sample of the drawing reading: 19 correct, none wrong, one left blank. Every bill line carries its source. Not proven yet: counting symbols on layout sheets (sockets and switches came out 1.6 to 4 times too many), cable lengths and site-plan items such as sleeves and manholes, and any project other than Wedela. Not judged yet: derived material, about 29 percent of the bill's value, and pricing. Verdict: a traceable first draft that an estimator reviews — ready for pilots, not yet for an unchecked tender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Companies differ, but not everything differs. Symbols are chosen by the consulting engineer who draws the set, and every set carries its own legend, so AfriPlan reads the legend on each project instead of memorising one company's symbols. The electrical rules come from SANS 10142-1 and common estimating practice, the same for everyone — built once, shared by all. Only the bill layout, rates and markup belong to each contractor, and those are settings in a company profile, not new code. So the product is one shared reader that improves with every project, plus a small profile per company.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Recommendation. Every real project with its drawings and its priced bill improves AfriPlan in four ways: it becomes a test that every future fix is re-checked against; it shows new symbol variants, which are learned once and shared; it calibrates the rules for derived material such as wire per point and trench per metre; and it shows whether the reader generalises beyond one project. Target: five real projects from at least three consulting firms, each with the PDF and DWG drawings, the priced bill and a 20-item check by a person. Pilot partners can provide them in exchange for a reduced price. In pilots, every correction an estimator makes is saved — drawing facts for everyone, preferences for that company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the Wedela reference project: 7 buildings, 18 PDF pages and 17 electrical CAD files. A DWG/DXF set becomes a draft BoQ in about one to two minutes; Claude reads the 18 PDF pages in about five minutes at roughly R2.50 a page, and the DWG reader and Gemini are free. On this one drawing set AfriPlan flagged seven inconsistencies a consultant would want fixed before issue: two boards named differently on layouts and single-line diagrams, two places where the printed quantity table and the drawn switches disagree, a board fed from different boards on the site plan and the single-line diagram, reused labels, and light symbols missing from the legend. As a bill audit it found seven places where the priced bill differs from the drawings. Every bill line carries its source. Three uses for a consulting engineer: check your own drawing set before issue, produce the tender BoQ from your drawings, and audit contractors' priced bills at tender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worked example, not a measurement. Peer-reviewed research on 14 public tenders found that preparing a tender costs between 0.05 and 0.65 percent of its value, 0.33 percent on average — a small sample from Ghana, so treat it as an order of magnitude. On a R10 million electrical package that is about R33,000 of preparation. Every 10 percent of that effort AfriPlan saves is worth about R3,300 per tender, or about R13,200 a month for a firm pricing four such tenders a month. AfriPlan's own cost on the same tender is about R45 to read 18 PDF pages with Claude, nothing for DWG. For comparison, general take-off software costs about R4,650 to R10,560 per user per year (Bluebeam) or about R5,350 per user per month (Togal.AI). Replace the tender value, the number of tenders and the share of time saved with your own figures: no study measures South African electrical take-off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AfriPlan reads the core of an electrical bill reliably: every board and every feeder size on the single-line diagrams of the reference project was read correctly, and the PDF and CAD versions agree. Its reading score today is 67.5 percent against a real bill that itself differs from the drawings in places. Every line says where it comes from, so it is a fast, honest first draft that an estimator reviews. A person confirmed 19 of 19 checked items of the drawing reading. Next: fix the known reader gaps with an electrical engineer, collect five real projects from at least three consulting firms, then check pricing against the AACE Class 1 range. Try it at https://afriplan.onrender.com.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source behind the problem slides, in APA style. Each claim, its exact wording at the source and how it was verified are in docs/research/evidence-register.md. AfriPlan's accuracy figures are first-party measurements with the frozen scorer, documented in docs/accuracy-metrics.md.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Numbered sources behind the AI Operating System slides and the accuracy standard, read on 5 October 2026. [1] to [4], [6] and [8] are Anthropic's own documentation and help pages; [9] is Google's Gemini documentation; [5], [7], [10] and [11] are AfriPlan's own design records and measurements in the project repository; [12] is the AACE International recommended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6949440" cy="146304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640080" y="3429000"/>
            <a:ext cx="6766560" cy="1188720"/>
          </a:xfrm>
          <a:prstGeom prst="rect">
            <a:avLst/>
          </a:prstGeom>
          <a:noFill/>
          <a:ln/>
        </p:spPr>
        <p:txBody>
          <a:bodyPr wrap="square" rtlCol="0"/>
          <a:lstStyle>
            <a:lvl1pPr indent="0" marL="0">
              <a:buNone/>
              <a:defRPr lang="en-US" sz="2000" dirty="0">
                <a:solidFill>
                  <a:schemeClr val="accent2"/>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3"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AfriPlan Electrical  ·  user guide</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afriplan.onrender.com" TargetMode="Externa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slideLayout" Target="../slideLayouts/slideLayout3.xml"/><Relationship Id="rId1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slideLayout" Target="../slideLayouts/slideLayout3.xml"/><Relationship Id="rId1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afriplan.onrender.com" TargetMode="External"/><Relationship Id="rId1" Type="http://schemas.openxmlformats.org/officeDocument/2006/relationships/image" Target="../media/image-13-1.png"/><Relationship Id="rId3"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image" Target="../media/image-13-4.png"/><Relationship Id="rId6" Type="http://schemas.openxmlformats.org/officeDocument/2006/relationships/image" Target="../media/image-13-5.png"/><Relationship Id="rId7" Type="http://schemas.openxmlformats.org/officeDocument/2006/relationships/image" Target="../media/image-13-6.png"/><Relationship Id="rId8" Type="http://schemas.openxmlformats.org/officeDocument/2006/relationships/slideLayout" Target="../slideLayouts/slideLayout3.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9" Type="http://schemas.openxmlformats.org/officeDocument/2006/relationships/hyperlink" Target="https://afriplan.onrender.com" TargetMode="External"/><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10" Type="http://schemas.openxmlformats.org/officeDocument/2006/relationships/slideLayout" Target="../slideLayouts/slideLayout3.xml"/><Relationship Id="rId11"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3.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3.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3.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3.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3.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3.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3.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3.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3.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3.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3.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3.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3.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3.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slideLayout" Target="../slideLayouts/slideLayout3.xm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3.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slideLayout" Target="../slideLayouts/slideLayout4.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6949440" cy="1463040"/>
          </a:xfrm>
          <a:prstGeom prst="rect">
            <a:avLst/>
          </a:prstGeom>
          <a:noFill/>
          <a:ln/>
        </p:spPr>
        <p:txBody>
          <a:bodyPr wrap="square" lIns="0" tIns="0" rIns="0" bIns="0" rtlCol="0" anchor="b"/>
          <a:lstStyle/>
          <a:p>
            <a:pPr algn="l" indent="0" marL="0">
              <a:buNone/>
            </a:pPr>
            <a:r>
              <a:rPr lang="en-US" sz="4400" b="1" dirty="0">
                <a:solidFill>
                  <a:schemeClr val="bg1"/>
                </a:solidFill>
              </a:rPr>
              <a:t>AfriPlan Electrical</a:t>
            </a:r>
            <a:endParaRPr lang="en-US" sz="4400" dirty="0"/>
          </a:p>
        </p:txBody>
      </p:sp>
      <p:sp>
        <p:nvSpPr>
          <p:cNvPr id="3" name="Text 0"/>
          <p:cNvSpPr/>
          <p:nvPr>
            <p:ph idx="101" type="body" hasCustomPrompt="1"/>
          </p:nvPr>
        </p:nvSpPr>
        <p:spPr>
          <a:xfrm>
            <a:off x="640080" y="3429000"/>
            <a:ext cx="6766560" cy="1188720"/>
          </a:xfrm>
          <a:prstGeom prst="rect">
            <a:avLst/>
          </a:prstGeom>
          <a:noFill/>
          <a:ln/>
        </p:spPr>
        <p:txBody>
          <a:bodyPr wrap="square" lIns="0" tIns="0" rIns="0" bIns="0" rtlCol="0" anchor="t"/>
          <a:lstStyle/>
          <a:p>
            <a:pPr indent="0" marL="0">
              <a:buNone/>
            </a:pPr>
            <a:r>
              <a:rPr lang="en-US" sz="2000" dirty="0">
                <a:solidFill>
                  <a:schemeClr val="accent2"/>
                </a:solidFill>
              </a:rPr>
              <a:t>Drawings in, priced Bill of Quantities out — a user guide</a:t>
            </a:r>
            <a:endParaRPr lang="en-US" sz="2000" dirty="0"/>
          </a:p>
        </p:txBody>
      </p:sp>
      <p:sp>
        <p:nvSpPr>
          <p:cNvPr id="4" name="audience"/>
          <p:cNvSpPr txBox="1"/>
          <p:nvPr/>
        </p:nvSpPr>
        <p:spPr>
          <a:xfrm>
            <a:off x="640080" y="4892040"/>
            <a:ext cx="6766560" cy="365760"/>
          </a:xfrm>
          <a:prstGeom prst="rect">
            <a:avLst/>
          </a:prstGeom>
          <a:noFill/>
          <a:ln/>
        </p:spPr>
        <p:txBody>
          <a:bodyPr wrap="square" lIns="0" tIns="0" rIns="0" bIns="0" rtlCol="0" anchor="t"/>
          <a:lstStyle/>
          <a:p>
            <a:pPr indent="0" marL="0">
              <a:buNone/>
            </a:pPr>
            <a:r>
              <a:rPr lang="en-US" sz="1400" dirty="0">
                <a:solidFill>
                  <a:schemeClr val="accent6"/>
                </a:solidFill>
              </a:rPr>
              <a:t>For South African electrical contractors, estimators and engineers  ·  October 2026</a:t>
            </a:r>
            <a:endParaRPr lang="en-US" sz="1400" dirty="0"/>
          </a:p>
        </p:txBody>
      </p:sp>
      <p:sp>
        <p:nvSpPr>
          <p:cNvPr id="5" name="web app link"/>
          <p:cNvSpPr txBox="1"/>
          <p:nvPr/>
        </p:nvSpPr>
        <p:spPr>
          <a:xfrm>
            <a:off x="640080" y="5349240"/>
            <a:ext cx="6766560" cy="411480"/>
          </a:xfrm>
          <a:prstGeom prst="rect">
            <a:avLst/>
          </a:prstGeom>
          <a:noFill/>
          <a:ln/>
        </p:spPr>
        <p:txBody>
          <a:bodyPr wrap="square" lIns="0" tIns="0" rIns="0" bIns="0" rtlCol="0" anchor="t"/>
          <a:lstStyle/>
          <a:p>
            <a:pPr indent="0" marL="0">
              <a:buNone/>
            </a:pPr>
            <a:r>
              <a:rPr lang="en-US" sz="1800" b="1" dirty="0">
                <a:solidFill>
                  <a:schemeClr val="accent2"/>
                </a:solidFill>
              </a:rPr>
              <a:t>Try it: </a:t>
            </a:r>
            <a:pPr indent="0" marL="0">
              <a:buNone/>
            </a:pPr>
            <a:r>
              <a:rPr lang="en-US" sz="1800" b="1" u="sng" dirty="0">
                <a:solidFill>
                  <a:schemeClr val="accent2"/>
                </a:solidFill>
                <a:hlinkClick r:id="rId1" invalidUrl="" action="" tgtFrame="" tooltip="" history="1" highlightClick="0" endSnd="0">
                  <a:extLst>
                    <a:ext uri="{A12FA001-AC4F-418D-AE19-62706E023703}">
                      <ahyp:hlinkClr xmlns:ahyp="http://schemas.microsoft.com/office/drawing/2018/hyperlinkcolor" val="tx"/>
                    </a:ext>
                  </a:extLst>
                </a:hlinkClick>
              </a:rPr>
              <a:t>https://afriplan.onrender.com</a:t>
            </a:r>
            <a:endParaRPr lang="en-US" sz="1800" dirty="0"/>
          </a:p>
        </p:txBody>
      </p:sp>
      <p:sp>
        <p:nvSpPr>
          <p:cNvPr id="6" name="title step 1 circle"/>
          <p:cNvSpPr/>
          <p:nvPr/>
        </p:nvSpPr>
        <p:spPr>
          <a:xfrm>
            <a:off x="8503920" y="1234440"/>
            <a:ext cx="822960" cy="822960"/>
          </a:xfrm>
          <a:prstGeom prst="ellipse">
            <a:avLst/>
          </a:prstGeom>
          <a:solidFill>
            <a:srgbClr val="1E2B4F"/>
          </a:solidFill>
          <a:ln w="12700">
            <a:solidFill>
              <a:srgbClr val="1E2B4F"/>
            </a:solidFill>
            <a:prstDash val="solid"/>
          </a:ln>
        </p:spPr>
      </p:sp>
      <p:pic>
        <p:nvPicPr>
          <p:cNvPr id="7" name="title step 1 icon" descr="preencoded.png">    </p:cNvPr>
          <p:cNvPicPr>
            <a:picLocks noChangeAspect="1"/>
          </p:cNvPicPr>
          <p:nvPr/>
        </p:nvPicPr>
        <p:blipFill>
          <a:blip r:embed="rId2"/>
          <a:stretch>
            <a:fillRect/>
          </a:stretch>
        </p:blipFill>
        <p:spPr>
          <a:xfrm>
            <a:off x="8717890" y="1448410"/>
            <a:ext cx="395021" cy="395021"/>
          </a:xfrm>
          <a:prstGeom prst="rect">
            <a:avLst/>
          </a:prstGeom>
        </p:spPr>
      </p:pic>
      <p:sp>
        <p:nvSpPr>
          <p:cNvPr id="8" name="title step label 1"/>
          <p:cNvSpPr txBox="1"/>
          <p:nvPr/>
        </p:nvSpPr>
        <p:spPr>
          <a:xfrm>
            <a:off x="9509760" y="1481328"/>
            <a:ext cx="2377440" cy="365760"/>
          </a:xfrm>
          <a:prstGeom prst="rect">
            <a:avLst/>
          </a:prstGeom>
          <a:noFill/>
          <a:ln/>
        </p:spPr>
        <p:txBody>
          <a:bodyPr wrap="square" lIns="0" tIns="0" rIns="0" bIns="0" rtlCol="0" anchor="t"/>
          <a:lstStyle/>
          <a:p>
            <a:pPr indent="0" marL="0">
              <a:buNone/>
            </a:pPr>
            <a:r>
              <a:rPr lang="en-US" sz="1600" dirty="0">
                <a:solidFill>
                  <a:schemeClr val="bg1"/>
                </a:solidFill>
              </a:rPr>
              <a:t>PDF &amp; DWG drawings</a:t>
            </a:r>
            <a:endParaRPr lang="en-US" sz="1600" dirty="0"/>
          </a:p>
        </p:txBody>
      </p:sp>
      <p:sp>
        <p:nvSpPr>
          <p:cNvPr id="9" name="Shape 6"/>
          <p:cNvSpPr/>
          <p:nvPr/>
        </p:nvSpPr>
        <p:spPr>
          <a:xfrm>
            <a:off x="8915400" y="2103120"/>
            <a:ext cx="0" cy="274320"/>
          </a:xfrm>
          <a:prstGeom prst="line">
            <a:avLst/>
          </a:prstGeom>
          <a:noFill/>
          <a:ln w="25400">
            <a:solidFill>
              <a:srgbClr val="F2A900"/>
            </a:solidFill>
            <a:prstDash val="solid"/>
            <a:tailEnd type="triangle"/>
          </a:ln>
        </p:spPr>
      </p:sp>
      <p:sp>
        <p:nvSpPr>
          <p:cNvPr id="10" name="title step 2 circle"/>
          <p:cNvSpPr/>
          <p:nvPr/>
        </p:nvSpPr>
        <p:spPr>
          <a:xfrm>
            <a:off x="8503920" y="2423160"/>
            <a:ext cx="822960" cy="822960"/>
          </a:xfrm>
          <a:prstGeom prst="ellipse">
            <a:avLst/>
          </a:prstGeom>
          <a:solidFill>
            <a:srgbClr val="1E2B4F"/>
          </a:solidFill>
          <a:ln w="12700">
            <a:solidFill>
              <a:srgbClr val="1E2B4F"/>
            </a:solidFill>
            <a:prstDash val="solid"/>
          </a:ln>
        </p:spPr>
      </p:sp>
      <p:pic>
        <p:nvPicPr>
          <p:cNvPr id="11" name="title step 2 icon" descr="preencoded.png">    </p:cNvPr>
          <p:cNvPicPr>
            <a:picLocks noChangeAspect="1"/>
          </p:cNvPicPr>
          <p:nvPr/>
        </p:nvPicPr>
        <p:blipFill>
          <a:blip r:embed="rId3"/>
          <a:stretch>
            <a:fillRect/>
          </a:stretch>
        </p:blipFill>
        <p:spPr>
          <a:xfrm>
            <a:off x="8717890" y="2637130"/>
            <a:ext cx="395021" cy="395021"/>
          </a:xfrm>
          <a:prstGeom prst="rect">
            <a:avLst/>
          </a:prstGeom>
        </p:spPr>
      </p:pic>
      <p:sp>
        <p:nvSpPr>
          <p:cNvPr id="12" name="title step label 2"/>
          <p:cNvSpPr txBox="1"/>
          <p:nvPr/>
        </p:nvSpPr>
        <p:spPr>
          <a:xfrm>
            <a:off x="9509760" y="2670048"/>
            <a:ext cx="2377440" cy="365760"/>
          </a:xfrm>
          <a:prstGeom prst="rect">
            <a:avLst/>
          </a:prstGeom>
          <a:noFill/>
          <a:ln/>
        </p:spPr>
        <p:txBody>
          <a:bodyPr wrap="square" lIns="0" tIns="0" rIns="0" bIns="0" rtlCol="0" anchor="t"/>
          <a:lstStyle/>
          <a:p>
            <a:pPr indent="0" marL="0">
              <a:buNone/>
            </a:pPr>
            <a:r>
              <a:rPr lang="en-US" sz="1600" dirty="0">
                <a:solidFill>
                  <a:schemeClr val="bg1"/>
                </a:solidFill>
              </a:rPr>
              <a:t>Read &amp; measure</a:t>
            </a:r>
            <a:endParaRPr lang="en-US" sz="1600" dirty="0"/>
          </a:p>
        </p:txBody>
      </p:sp>
      <p:sp>
        <p:nvSpPr>
          <p:cNvPr id="13" name="Shape 9"/>
          <p:cNvSpPr/>
          <p:nvPr/>
        </p:nvSpPr>
        <p:spPr>
          <a:xfrm>
            <a:off x="8915400" y="3291840"/>
            <a:ext cx="0" cy="274320"/>
          </a:xfrm>
          <a:prstGeom prst="line">
            <a:avLst/>
          </a:prstGeom>
          <a:noFill/>
          <a:ln w="25400">
            <a:solidFill>
              <a:srgbClr val="F2A900"/>
            </a:solidFill>
            <a:prstDash val="solid"/>
            <a:tailEnd type="triangle"/>
          </a:ln>
        </p:spPr>
      </p:sp>
      <p:sp>
        <p:nvSpPr>
          <p:cNvPr id="14" name="title step 3 circle"/>
          <p:cNvSpPr/>
          <p:nvPr/>
        </p:nvSpPr>
        <p:spPr>
          <a:xfrm>
            <a:off x="8503920" y="3611880"/>
            <a:ext cx="822960" cy="822960"/>
          </a:xfrm>
          <a:prstGeom prst="ellipse">
            <a:avLst/>
          </a:prstGeom>
          <a:solidFill>
            <a:srgbClr val="1E2B4F"/>
          </a:solidFill>
          <a:ln w="12700">
            <a:solidFill>
              <a:srgbClr val="1E2B4F"/>
            </a:solidFill>
            <a:prstDash val="solid"/>
          </a:ln>
        </p:spPr>
      </p:sp>
      <p:pic>
        <p:nvPicPr>
          <p:cNvPr id="15" name="title step 3 icon" descr="preencoded.png">    </p:cNvPr>
          <p:cNvPicPr>
            <a:picLocks noChangeAspect="1"/>
          </p:cNvPicPr>
          <p:nvPr/>
        </p:nvPicPr>
        <p:blipFill>
          <a:blip r:embed="rId4"/>
          <a:stretch>
            <a:fillRect/>
          </a:stretch>
        </p:blipFill>
        <p:spPr>
          <a:xfrm>
            <a:off x="8717890" y="3825850"/>
            <a:ext cx="395021" cy="395021"/>
          </a:xfrm>
          <a:prstGeom prst="rect">
            <a:avLst/>
          </a:prstGeom>
        </p:spPr>
      </p:pic>
      <p:sp>
        <p:nvSpPr>
          <p:cNvPr id="16" name="title step label 3"/>
          <p:cNvSpPr txBox="1"/>
          <p:nvPr/>
        </p:nvSpPr>
        <p:spPr>
          <a:xfrm>
            <a:off x="9509760" y="3858768"/>
            <a:ext cx="2377440" cy="365760"/>
          </a:xfrm>
          <a:prstGeom prst="rect">
            <a:avLst/>
          </a:prstGeom>
          <a:noFill/>
          <a:ln/>
        </p:spPr>
        <p:txBody>
          <a:bodyPr wrap="square" lIns="0" tIns="0" rIns="0" bIns="0" rtlCol="0" anchor="t"/>
          <a:lstStyle/>
          <a:p>
            <a:pPr indent="0" marL="0">
              <a:buNone/>
            </a:pPr>
            <a:r>
              <a:rPr lang="en-US" sz="1600" dirty="0">
                <a:solidFill>
                  <a:schemeClr val="bg1"/>
                </a:solidFill>
              </a:rPr>
              <a:t>Price at SA rates</a:t>
            </a:r>
            <a:endParaRPr lang="en-US" sz="1600" dirty="0"/>
          </a:p>
        </p:txBody>
      </p:sp>
      <p:sp>
        <p:nvSpPr>
          <p:cNvPr id="17" name="Shape 12"/>
          <p:cNvSpPr/>
          <p:nvPr/>
        </p:nvSpPr>
        <p:spPr>
          <a:xfrm>
            <a:off x="8915400" y="4480560"/>
            <a:ext cx="0" cy="274320"/>
          </a:xfrm>
          <a:prstGeom prst="line">
            <a:avLst/>
          </a:prstGeom>
          <a:noFill/>
          <a:ln w="25400">
            <a:solidFill>
              <a:srgbClr val="F2A900"/>
            </a:solidFill>
            <a:prstDash val="solid"/>
            <a:tailEnd type="triangle"/>
          </a:ln>
        </p:spPr>
      </p:sp>
      <p:sp>
        <p:nvSpPr>
          <p:cNvPr id="18" name="title step 4 circle"/>
          <p:cNvSpPr/>
          <p:nvPr/>
        </p:nvSpPr>
        <p:spPr>
          <a:xfrm>
            <a:off x="8503920" y="4800600"/>
            <a:ext cx="822960" cy="822960"/>
          </a:xfrm>
          <a:prstGeom prst="ellipse">
            <a:avLst/>
          </a:prstGeom>
          <a:solidFill>
            <a:srgbClr val="F2A900"/>
          </a:solidFill>
          <a:ln w="12700">
            <a:solidFill>
              <a:srgbClr val="F2A900"/>
            </a:solidFill>
            <a:prstDash val="solid"/>
          </a:ln>
        </p:spPr>
      </p:sp>
      <p:pic>
        <p:nvPicPr>
          <p:cNvPr id="19" name="title step 4 icon" descr="preencoded.png">    </p:cNvPr>
          <p:cNvPicPr>
            <a:picLocks noChangeAspect="1"/>
          </p:cNvPicPr>
          <p:nvPr/>
        </p:nvPicPr>
        <p:blipFill>
          <a:blip r:embed="rId5"/>
          <a:stretch>
            <a:fillRect/>
          </a:stretch>
        </p:blipFill>
        <p:spPr>
          <a:xfrm>
            <a:off x="8717890" y="5014570"/>
            <a:ext cx="395021" cy="395021"/>
          </a:xfrm>
          <a:prstGeom prst="rect">
            <a:avLst/>
          </a:prstGeom>
        </p:spPr>
      </p:pic>
      <p:sp>
        <p:nvSpPr>
          <p:cNvPr id="20" name="title step label 4"/>
          <p:cNvSpPr txBox="1"/>
          <p:nvPr/>
        </p:nvSpPr>
        <p:spPr>
          <a:xfrm>
            <a:off x="9509760" y="5047488"/>
            <a:ext cx="2377440" cy="365760"/>
          </a:xfrm>
          <a:prstGeom prst="rect">
            <a:avLst/>
          </a:prstGeom>
          <a:noFill/>
          <a:ln/>
        </p:spPr>
        <p:txBody>
          <a:bodyPr wrap="square" lIns="0" tIns="0" rIns="0" bIns="0" rtlCol="0" anchor="t"/>
          <a:lstStyle/>
          <a:p>
            <a:pPr indent="0" marL="0">
              <a:buNone/>
            </a:pPr>
            <a:r>
              <a:rPr lang="en-US" sz="1600" dirty="0">
                <a:solidFill>
                  <a:schemeClr val="bg1"/>
                </a:solidFill>
              </a:rPr>
              <a:t>Tender BoQ</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Every tender is priced against the clock, on a thin margin</a:t>
            </a:r>
            <a:endParaRPr lang="en-US" sz="3000" dirty="0"/>
          </a:p>
        </p:txBody>
      </p:sp>
      <p:sp>
        <p:nvSpPr>
          <p:cNvPr id="4" name="stat card 1"/>
          <p:cNvSpPr/>
          <p:nvPr/>
        </p:nvSpPr>
        <p:spPr>
          <a:xfrm>
            <a:off x="548640" y="1508760"/>
            <a:ext cx="2587752" cy="4206240"/>
          </a:xfrm>
          <a:prstGeom prst="roundRect">
            <a:avLst>
              <a:gd name="adj" fmla="val 4240"/>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5" name="stat 1 circle"/>
          <p:cNvSpPr/>
          <p:nvPr/>
        </p:nvSpPr>
        <p:spPr>
          <a:xfrm>
            <a:off x="822960" y="1783080"/>
            <a:ext cx="685800" cy="685800"/>
          </a:xfrm>
          <a:prstGeom prst="ellipse">
            <a:avLst/>
          </a:prstGeom>
          <a:solidFill>
            <a:srgbClr val="F2F4F9"/>
          </a:solidFill>
          <a:ln w="12700">
            <a:solidFill>
              <a:srgbClr val="F2F4F9"/>
            </a:solidFill>
            <a:prstDash val="solid"/>
          </a:ln>
        </p:spPr>
      </p:sp>
      <p:pic>
        <p:nvPicPr>
          <p:cNvPr id="6" name="stat 1 icon" descr="preencoded.png">    </p:cNvPr>
          <p:cNvPicPr>
            <a:picLocks noChangeAspect="1"/>
          </p:cNvPicPr>
          <p:nvPr/>
        </p:nvPicPr>
        <p:blipFill>
          <a:blip r:embed="rId1"/>
          <a:stretch>
            <a:fillRect/>
          </a:stretch>
        </p:blipFill>
        <p:spPr>
          <a:xfrm>
            <a:off x="1001268" y="1961388"/>
            <a:ext cx="329184" cy="329184"/>
          </a:xfrm>
          <a:prstGeom prst="rect">
            <a:avLst/>
          </a:prstGeom>
        </p:spPr>
      </p:pic>
      <p:sp>
        <p:nvSpPr>
          <p:cNvPr id="7" name="stat value 1"/>
          <p:cNvSpPr txBox="1"/>
          <p:nvPr/>
        </p:nvSpPr>
        <p:spPr>
          <a:xfrm>
            <a:off x="822960" y="2697480"/>
            <a:ext cx="2194560" cy="868680"/>
          </a:xfrm>
          <a:prstGeom prst="rect">
            <a:avLst/>
          </a:prstGeom>
          <a:noFill/>
          <a:ln/>
        </p:spPr>
        <p:txBody>
          <a:bodyPr wrap="square" lIns="0" tIns="0" rIns="0" bIns="0" rtlCol="0" anchor="b"/>
          <a:lstStyle/>
          <a:p>
            <a:pPr indent="0" marL="0">
              <a:buNone/>
            </a:pPr>
            <a:r>
              <a:rPr lang="en-US" sz="4800" b="1" dirty="0">
                <a:solidFill>
                  <a:schemeClr val="accent1"/>
                </a:solidFill>
                <a:latin typeface="Cambria" pitchFamily="34" charset="0"/>
                <a:ea typeface="Cambria" pitchFamily="34" charset="-122"/>
                <a:cs typeface="Cambria" pitchFamily="34" charset="-120"/>
              </a:rPr>
              <a:t>14–30</a:t>
            </a:r>
            <a:endParaRPr lang="en-US" sz="4800" dirty="0"/>
          </a:p>
        </p:txBody>
      </p:sp>
      <p:sp>
        <p:nvSpPr>
          <p:cNvPr id="8" name="stat unit 1"/>
          <p:cNvSpPr txBox="1"/>
          <p:nvPr/>
        </p:nvSpPr>
        <p:spPr>
          <a:xfrm>
            <a:off x="822960" y="3611880"/>
            <a:ext cx="2103120" cy="320040"/>
          </a:xfrm>
          <a:prstGeom prst="rect">
            <a:avLst/>
          </a:prstGeom>
          <a:noFill/>
          <a:ln/>
        </p:spPr>
        <p:txBody>
          <a:bodyPr wrap="square" lIns="0" tIns="0" rIns="0" bIns="0" rtlCol="0" anchor="t"/>
          <a:lstStyle/>
          <a:p>
            <a:pPr indent="0" marL="0">
              <a:buNone/>
            </a:pPr>
            <a:r>
              <a:rPr lang="en-US" sz="1600" b="1" dirty="0">
                <a:solidFill>
                  <a:schemeClr val="tx1"/>
                </a:solidFill>
              </a:rPr>
              <a:t>days</a:t>
            </a:r>
            <a:endParaRPr lang="en-US" sz="1600" dirty="0"/>
          </a:p>
        </p:txBody>
      </p:sp>
      <p:sp>
        <p:nvSpPr>
          <p:cNvPr id="9" name="stat text 1"/>
          <p:cNvSpPr txBox="1"/>
          <p:nvPr/>
        </p:nvSpPr>
        <p:spPr>
          <a:xfrm>
            <a:off x="822960" y="4005072"/>
            <a:ext cx="2103120" cy="1005840"/>
          </a:xfrm>
          <a:prstGeom prst="rect">
            <a:avLst/>
          </a:prstGeom>
          <a:noFill/>
          <a:ln/>
        </p:spPr>
        <p:txBody>
          <a:bodyPr wrap="square" lIns="0" tIns="0" rIns="0" bIns="0" rtlCol="0" anchor="t"/>
          <a:lstStyle/>
          <a:p>
            <a:pPr indent="0" marL="0">
              <a:buNone/>
            </a:pPr>
            <a:r>
              <a:rPr lang="en-US" sz="1400" dirty="0">
                <a:solidFill>
                  <a:schemeClr val="tx2"/>
                </a:solidFill>
              </a:rPr>
              <a:t>minimum a municipal tender is advertised — 14 days up to R10 m, 30 days above</a:t>
            </a:r>
            <a:endParaRPr lang="en-US" sz="1400" dirty="0"/>
          </a:p>
        </p:txBody>
      </p:sp>
      <p:sp>
        <p:nvSpPr>
          <p:cNvPr id="10" name="stat source 1"/>
          <p:cNvSpPr txBox="1"/>
          <p:nvPr/>
        </p:nvSpPr>
        <p:spPr>
          <a:xfrm>
            <a:off x="822960" y="5120640"/>
            <a:ext cx="2148840" cy="457200"/>
          </a:xfrm>
          <a:prstGeom prst="rect">
            <a:avLst/>
          </a:prstGeom>
          <a:noFill/>
          <a:ln/>
        </p:spPr>
        <p:txBody>
          <a:bodyPr wrap="square" lIns="0" tIns="0" rIns="0" bIns="0" rtlCol="0" anchor="t"/>
          <a:lstStyle/>
          <a:p>
            <a:pPr indent="0" marL="0">
              <a:buNone/>
            </a:pPr>
            <a:r>
              <a:rPr lang="en-US" sz="1000" i="1" dirty="0">
                <a:solidFill>
                  <a:schemeClr val="accent6"/>
                </a:solidFill>
              </a:rPr>
              <a:t>Official rule · Municipal SCM Regulations, reg. 22</a:t>
            </a:r>
            <a:endParaRPr lang="en-US" sz="1000" dirty="0"/>
          </a:p>
        </p:txBody>
      </p:sp>
      <p:sp>
        <p:nvSpPr>
          <p:cNvPr id="11" name="stat card 2"/>
          <p:cNvSpPr/>
          <p:nvPr/>
        </p:nvSpPr>
        <p:spPr>
          <a:xfrm>
            <a:off x="3364992" y="1508760"/>
            <a:ext cx="2587752" cy="4206240"/>
          </a:xfrm>
          <a:prstGeom prst="roundRect">
            <a:avLst>
              <a:gd name="adj" fmla="val 4240"/>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2" name="stat 2 circle"/>
          <p:cNvSpPr/>
          <p:nvPr/>
        </p:nvSpPr>
        <p:spPr>
          <a:xfrm>
            <a:off x="3639312" y="1783080"/>
            <a:ext cx="685800" cy="685800"/>
          </a:xfrm>
          <a:prstGeom prst="ellipse">
            <a:avLst/>
          </a:prstGeom>
          <a:solidFill>
            <a:srgbClr val="F2F4F9"/>
          </a:solidFill>
          <a:ln w="12700">
            <a:solidFill>
              <a:srgbClr val="F2F4F9"/>
            </a:solidFill>
            <a:prstDash val="solid"/>
          </a:ln>
        </p:spPr>
      </p:sp>
      <p:pic>
        <p:nvPicPr>
          <p:cNvPr id="13" name="stat 2 icon" descr="preencoded.png">    </p:cNvPr>
          <p:cNvPicPr>
            <a:picLocks noChangeAspect="1"/>
          </p:cNvPicPr>
          <p:nvPr/>
        </p:nvPicPr>
        <p:blipFill>
          <a:blip r:embed="rId2"/>
          <a:stretch>
            <a:fillRect/>
          </a:stretch>
        </p:blipFill>
        <p:spPr>
          <a:xfrm>
            <a:off x="3817620" y="1961388"/>
            <a:ext cx="329184" cy="329184"/>
          </a:xfrm>
          <a:prstGeom prst="rect">
            <a:avLst/>
          </a:prstGeom>
        </p:spPr>
      </p:pic>
      <p:sp>
        <p:nvSpPr>
          <p:cNvPr id="14" name="stat value 2"/>
          <p:cNvSpPr txBox="1"/>
          <p:nvPr/>
        </p:nvSpPr>
        <p:spPr>
          <a:xfrm>
            <a:off x="3639312" y="2697480"/>
            <a:ext cx="2194560" cy="868680"/>
          </a:xfrm>
          <a:prstGeom prst="rect">
            <a:avLst/>
          </a:prstGeom>
          <a:noFill/>
          <a:ln/>
        </p:spPr>
        <p:txBody>
          <a:bodyPr wrap="square" lIns="0" tIns="0" rIns="0" bIns="0" rtlCol="0" anchor="b"/>
          <a:lstStyle/>
          <a:p>
            <a:pPr indent="0" marL="0">
              <a:buNone/>
            </a:pPr>
            <a:r>
              <a:rPr lang="en-US" sz="4800" b="1" dirty="0">
                <a:solidFill>
                  <a:schemeClr val="accent1"/>
                </a:solidFill>
                <a:latin typeface="Cambria" pitchFamily="34" charset="0"/>
                <a:ea typeface="Cambria" pitchFamily="34" charset="-122"/>
                <a:cs typeface="Cambria" pitchFamily="34" charset="-120"/>
              </a:rPr>
              <a:t>4.8%</a:t>
            </a:r>
            <a:endParaRPr lang="en-US" sz="4800" dirty="0"/>
          </a:p>
        </p:txBody>
      </p:sp>
      <p:sp>
        <p:nvSpPr>
          <p:cNvPr id="15" name="stat unit 2"/>
          <p:cNvSpPr txBox="1"/>
          <p:nvPr/>
        </p:nvSpPr>
        <p:spPr>
          <a:xfrm>
            <a:off x="3639312" y="3611880"/>
            <a:ext cx="2103120" cy="320040"/>
          </a:xfrm>
          <a:prstGeom prst="rect">
            <a:avLst/>
          </a:prstGeom>
          <a:noFill/>
          <a:ln/>
        </p:spPr>
        <p:txBody>
          <a:bodyPr wrap="square" lIns="0" tIns="0" rIns="0" bIns="0" rtlCol="0" anchor="t"/>
          <a:lstStyle/>
          <a:p>
            <a:pPr indent="0" marL="0">
              <a:buNone/>
            </a:pPr>
            <a:r>
              <a:rPr lang="en-US" sz="1600" b="1" dirty="0">
                <a:solidFill>
                  <a:schemeClr val="tx1"/>
                </a:solidFill>
              </a:rPr>
              <a:t>profit margin</a:t>
            </a:r>
            <a:endParaRPr lang="en-US" sz="1600" dirty="0"/>
          </a:p>
        </p:txBody>
      </p:sp>
      <p:sp>
        <p:nvSpPr>
          <p:cNvPr id="16" name="stat text 2"/>
          <p:cNvSpPr txBox="1"/>
          <p:nvPr/>
        </p:nvSpPr>
        <p:spPr>
          <a:xfrm>
            <a:off x="3639312" y="4005072"/>
            <a:ext cx="2103120" cy="1005840"/>
          </a:xfrm>
          <a:prstGeom prst="rect">
            <a:avLst/>
          </a:prstGeom>
          <a:noFill/>
          <a:ln/>
        </p:spPr>
        <p:txBody>
          <a:bodyPr wrap="square" lIns="0" tIns="0" rIns="0" bIns="0" rtlCol="0" anchor="t"/>
          <a:lstStyle/>
          <a:p>
            <a:pPr indent="0" marL="0">
              <a:buNone/>
            </a:pPr>
            <a:r>
              <a:rPr lang="en-US" sz="1400" dirty="0">
                <a:solidFill>
                  <a:schemeClr val="tx2"/>
                </a:solidFill>
              </a:rPr>
              <a:t>SA construction in 2024 — the highest since 2014; one missed item can erase it</a:t>
            </a:r>
            <a:endParaRPr lang="en-US" sz="1400" dirty="0"/>
          </a:p>
        </p:txBody>
      </p:sp>
      <p:sp>
        <p:nvSpPr>
          <p:cNvPr id="17" name="stat source 2"/>
          <p:cNvSpPr txBox="1"/>
          <p:nvPr/>
        </p:nvSpPr>
        <p:spPr>
          <a:xfrm>
            <a:off x="3639312" y="5120640"/>
            <a:ext cx="2148840" cy="457200"/>
          </a:xfrm>
          <a:prstGeom prst="rect">
            <a:avLst/>
          </a:prstGeom>
          <a:noFill/>
          <a:ln/>
        </p:spPr>
        <p:txBody>
          <a:bodyPr wrap="square" lIns="0" tIns="0" rIns="0" bIns="0" rtlCol="0" anchor="t"/>
          <a:lstStyle/>
          <a:p>
            <a:pPr indent="0" marL="0">
              <a:buNone/>
            </a:pPr>
            <a:r>
              <a:rPr lang="en-US" sz="1000" i="1" dirty="0">
                <a:solidFill>
                  <a:schemeClr val="accent6"/>
                </a:solidFill>
              </a:rPr>
              <a:t>Official · Stats SA, Construction industry 2024</a:t>
            </a:r>
            <a:endParaRPr lang="en-US" sz="1000" dirty="0"/>
          </a:p>
        </p:txBody>
      </p:sp>
      <p:sp>
        <p:nvSpPr>
          <p:cNvPr id="18" name="stat card 3"/>
          <p:cNvSpPr/>
          <p:nvPr/>
        </p:nvSpPr>
        <p:spPr>
          <a:xfrm>
            <a:off x="6181344" y="1508760"/>
            <a:ext cx="2587752" cy="4206240"/>
          </a:xfrm>
          <a:prstGeom prst="roundRect">
            <a:avLst>
              <a:gd name="adj" fmla="val 4240"/>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9" name="stat 3 circle"/>
          <p:cNvSpPr/>
          <p:nvPr/>
        </p:nvSpPr>
        <p:spPr>
          <a:xfrm>
            <a:off x="6455664" y="1783080"/>
            <a:ext cx="685800" cy="685800"/>
          </a:xfrm>
          <a:prstGeom prst="ellipse">
            <a:avLst/>
          </a:prstGeom>
          <a:solidFill>
            <a:srgbClr val="F2F4F9"/>
          </a:solidFill>
          <a:ln w="12700">
            <a:solidFill>
              <a:srgbClr val="F2F4F9"/>
            </a:solidFill>
            <a:prstDash val="solid"/>
          </a:ln>
        </p:spPr>
      </p:sp>
      <p:pic>
        <p:nvPicPr>
          <p:cNvPr id="20" name="stat 3 icon" descr="preencoded.png">    </p:cNvPr>
          <p:cNvPicPr>
            <a:picLocks noChangeAspect="1"/>
          </p:cNvPicPr>
          <p:nvPr/>
        </p:nvPicPr>
        <p:blipFill>
          <a:blip r:embed="rId3"/>
          <a:stretch>
            <a:fillRect/>
          </a:stretch>
        </p:blipFill>
        <p:spPr>
          <a:xfrm>
            <a:off x="6633972" y="1961388"/>
            <a:ext cx="329184" cy="329184"/>
          </a:xfrm>
          <a:prstGeom prst="rect">
            <a:avLst/>
          </a:prstGeom>
        </p:spPr>
      </p:pic>
      <p:sp>
        <p:nvSpPr>
          <p:cNvPr id="21" name="stat value 3"/>
          <p:cNvSpPr txBox="1"/>
          <p:nvPr/>
        </p:nvSpPr>
        <p:spPr>
          <a:xfrm>
            <a:off x="6455664" y="2697480"/>
            <a:ext cx="2194560" cy="868680"/>
          </a:xfrm>
          <a:prstGeom prst="rect">
            <a:avLst/>
          </a:prstGeom>
          <a:noFill/>
          <a:ln/>
        </p:spPr>
        <p:txBody>
          <a:bodyPr wrap="square" lIns="0" tIns="0" rIns="0" bIns="0" rtlCol="0" anchor="b"/>
          <a:lstStyle/>
          <a:p>
            <a:pPr indent="0" marL="0">
              <a:buNone/>
            </a:pPr>
            <a:r>
              <a:rPr lang="en-US" sz="4800" b="1" dirty="0">
                <a:solidFill>
                  <a:schemeClr val="accent1"/>
                </a:solidFill>
                <a:latin typeface="Cambria" pitchFamily="34" charset="0"/>
                <a:ea typeface="Cambria" pitchFamily="34" charset="-122"/>
                <a:cs typeface="Cambria" pitchFamily="34" charset="-120"/>
              </a:rPr>
              <a:t>13.3%</a:t>
            </a:r>
            <a:endParaRPr lang="en-US" sz="4800" dirty="0"/>
          </a:p>
        </p:txBody>
      </p:sp>
      <p:sp>
        <p:nvSpPr>
          <p:cNvPr id="22" name="stat unit 3"/>
          <p:cNvSpPr txBox="1"/>
          <p:nvPr/>
        </p:nvSpPr>
        <p:spPr>
          <a:xfrm>
            <a:off x="6455664" y="3611880"/>
            <a:ext cx="2103120" cy="320040"/>
          </a:xfrm>
          <a:prstGeom prst="rect">
            <a:avLst/>
          </a:prstGeom>
          <a:noFill/>
          <a:ln/>
        </p:spPr>
        <p:txBody>
          <a:bodyPr wrap="square" lIns="0" tIns="0" rIns="0" bIns="0" rtlCol="0" anchor="t"/>
          <a:lstStyle/>
          <a:p>
            <a:pPr indent="0" marL="0">
              <a:buNone/>
            </a:pPr>
            <a:r>
              <a:rPr lang="en-US" sz="1600" b="1" dirty="0">
                <a:solidFill>
                  <a:schemeClr val="tx1"/>
                </a:solidFill>
              </a:rPr>
              <a:t>of bids won</a:t>
            </a:r>
            <a:endParaRPr lang="en-US" sz="1600" dirty="0"/>
          </a:p>
        </p:txBody>
      </p:sp>
      <p:sp>
        <p:nvSpPr>
          <p:cNvPr id="23" name="stat text 3"/>
          <p:cNvSpPr txBox="1"/>
          <p:nvPr/>
        </p:nvSpPr>
        <p:spPr>
          <a:xfrm>
            <a:off x="6455664" y="4005072"/>
            <a:ext cx="2103120" cy="1005840"/>
          </a:xfrm>
          <a:prstGeom prst="rect">
            <a:avLst/>
          </a:prstGeom>
          <a:noFill/>
          <a:ln/>
        </p:spPr>
        <p:txBody>
          <a:bodyPr wrap="square" lIns="0" tIns="0" rIns="0" bIns="0" rtlCol="0" anchor="t"/>
          <a:lstStyle/>
          <a:p>
            <a:pPr indent="0" marL="0">
              <a:buNone/>
            </a:pPr>
            <a:r>
              <a:rPr lang="en-US" sz="1400" dirty="0">
                <a:solidFill>
                  <a:schemeClr val="tx2"/>
                </a:solidFill>
              </a:rPr>
              <a:t>2,296 bids for 289 public tenders — most estimates earn nothing</a:t>
            </a:r>
            <a:endParaRPr lang="en-US" sz="1400" dirty="0"/>
          </a:p>
        </p:txBody>
      </p:sp>
      <p:sp>
        <p:nvSpPr>
          <p:cNvPr id="24" name="stat source 3"/>
          <p:cNvSpPr txBox="1"/>
          <p:nvPr/>
        </p:nvSpPr>
        <p:spPr>
          <a:xfrm>
            <a:off x="6455664" y="5120640"/>
            <a:ext cx="2148840" cy="457200"/>
          </a:xfrm>
          <a:prstGeom prst="rect">
            <a:avLst/>
          </a:prstGeom>
          <a:noFill/>
          <a:ln/>
        </p:spPr>
        <p:txBody>
          <a:bodyPr wrap="square" lIns="0" tIns="0" rIns="0" bIns="0" rtlCol="0" anchor="t"/>
          <a:lstStyle/>
          <a:p>
            <a:pPr indent="0" marL="0">
              <a:buNone/>
            </a:pPr>
            <a:r>
              <a:rPr lang="en-US" sz="1000" i="1" dirty="0">
                <a:solidFill>
                  <a:schemeClr val="accent6"/>
                </a:solidFill>
              </a:rPr>
              <a:t>Peer-reviewed · Alkhateeb et al., 2020 (Jordan)</a:t>
            </a:r>
            <a:endParaRPr lang="en-US" sz="1000" dirty="0"/>
          </a:p>
        </p:txBody>
      </p:sp>
      <p:sp>
        <p:nvSpPr>
          <p:cNvPr id="25" name="stat card 4"/>
          <p:cNvSpPr/>
          <p:nvPr/>
        </p:nvSpPr>
        <p:spPr>
          <a:xfrm>
            <a:off x="8997696" y="1508760"/>
            <a:ext cx="2587752" cy="4206240"/>
          </a:xfrm>
          <a:prstGeom prst="roundRect">
            <a:avLst>
              <a:gd name="adj" fmla="val 4240"/>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6" name="stat 4 circle"/>
          <p:cNvSpPr/>
          <p:nvPr/>
        </p:nvSpPr>
        <p:spPr>
          <a:xfrm>
            <a:off x="9272016" y="1783080"/>
            <a:ext cx="685800" cy="685800"/>
          </a:xfrm>
          <a:prstGeom prst="ellipse">
            <a:avLst/>
          </a:prstGeom>
          <a:solidFill>
            <a:srgbClr val="F2F4F9"/>
          </a:solidFill>
          <a:ln w="12700">
            <a:solidFill>
              <a:srgbClr val="F2F4F9"/>
            </a:solidFill>
            <a:prstDash val="solid"/>
          </a:ln>
        </p:spPr>
      </p:sp>
      <p:pic>
        <p:nvPicPr>
          <p:cNvPr id="27" name="stat 4 icon" descr="preencoded.png">    </p:cNvPr>
          <p:cNvPicPr>
            <a:picLocks noChangeAspect="1"/>
          </p:cNvPicPr>
          <p:nvPr/>
        </p:nvPicPr>
        <p:blipFill>
          <a:blip r:embed="rId4"/>
          <a:stretch>
            <a:fillRect/>
          </a:stretch>
        </p:blipFill>
        <p:spPr>
          <a:xfrm>
            <a:off x="9450324" y="1961388"/>
            <a:ext cx="329184" cy="329184"/>
          </a:xfrm>
          <a:prstGeom prst="rect">
            <a:avLst/>
          </a:prstGeom>
        </p:spPr>
      </p:pic>
      <p:sp>
        <p:nvSpPr>
          <p:cNvPr id="28" name="stat value 4"/>
          <p:cNvSpPr txBox="1"/>
          <p:nvPr/>
        </p:nvSpPr>
        <p:spPr>
          <a:xfrm>
            <a:off x="9272016" y="2697480"/>
            <a:ext cx="2194560" cy="868680"/>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0.05–0.65%</a:t>
            </a:r>
            <a:endParaRPr lang="en-US" sz="3000" dirty="0"/>
          </a:p>
        </p:txBody>
      </p:sp>
      <p:sp>
        <p:nvSpPr>
          <p:cNvPr id="29" name="stat unit 4"/>
          <p:cNvSpPr txBox="1"/>
          <p:nvPr/>
        </p:nvSpPr>
        <p:spPr>
          <a:xfrm>
            <a:off x="9272016" y="3611880"/>
            <a:ext cx="2103120" cy="320040"/>
          </a:xfrm>
          <a:prstGeom prst="rect">
            <a:avLst/>
          </a:prstGeom>
          <a:noFill/>
          <a:ln/>
        </p:spPr>
        <p:txBody>
          <a:bodyPr wrap="square" lIns="0" tIns="0" rIns="0" bIns="0" rtlCol="0" anchor="t"/>
          <a:lstStyle/>
          <a:p>
            <a:pPr indent="0" marL="0">
              <a:buNone/>
            </a:pPr>
            <a:r>
              <a:rPr lang="en-US" sz="1600" b="1" dirty="0">
                <a:solidFill>
                  <a:schemeClr val="tx1"/>
                </a:solidFill>
              </a:rPr>
              <a:t>of the tender value</a:t>
            </a:r>
            <a:endParaRPr lang="en-US" sz="1600" dirty="0"/>
          </a:p>
        </p:txBody>
      </p:sp>
      <p:sp>
        <p:nvSpPr>
          <p:cNvPr id="30" name="stat text 4"/>
          <p:cNvSpPr txBox="1"/>
          <p:nvPr/>
        </p:nvSpPr>
        <p:spPr>
          <a:xfrm>
            <a:off x="9272016" y="4005072"/>
            <a:ext cx="2103120" cy="1005840"/>
          </a:xfrm>
          <a:prstGeom prst="rect">
            <a:avLst/>
          </a:prstGeom>
          <a:noFill/>
          <a:ln/>
        </p:spPr>
        <p:txBody>
          <a:bodyPr wrap="square" lIns="0" tIns="0" rIns="0" bIns="0" rtlCol="0" anchor="t"/>
          <a:lstStyle/>
          <a:p>
            <a:pPr indent="0" marL="0">
              <a:buNone/>
            </a:pPr>
            <a:r>
              <a:rPr lang="en-US" sz="1400" dirty="0">
                <a:solidFill>
                  <a:schemeClr val="tx2"/>
                </a:solidFill>
              </a:rPr>
              <a:t>spent preparing each tender — paid again on every bid that is lost</a:t>
            </a:r>
            <a:endParaRPr lang="en-US" sz="1400" dirty="0"/>
          </a:p>
        </p:txBody>
      </p:sp>
      <p:sp>
        <p:nvSpPr>
          <p:cNvPr id="31" name="stat source 4"/>
          <p:cNvSpPr txBox="1"/>
          <p:nvPr/>
        </p:nvSpPr>
        <p:spPr>
          <a:xfrm>
            <a:off x="9272016" y="5120640"/>
            <a:ext cx="2148840" cy="457200"/>
          </a:xfrm>
          <a:prstGeom prst="rect">
            <a:avLst/>
          </a:prstGeom>
          <a:noFill/>
          <a:ln/>
        </p:spPr>
        <p:txBody>
          <a:bodyPr wrap="square" lIns="0" tIns="0" rIns="0" bIns="0" rtlCol="0" anchor="t"/>
          <a:lstStyle/>
          <a:p>
            <a:pPr indent="0" marL="0">
              <a:buNone/>
            </a:pPr>
            <a:r>
              <a:rPr lang="en-US" sz="1000" i="1" dirty="0">
                <a:solidFill>
                  <a:schemeClr val="accent6"/>
                </a:solidFill>
              </a:rPr>
              <a:t>Peer-reviewed · Ameyaw et al., 2021 (Ghana)</a:t>
            </a:r>
            <a:endParaRPr lang="en-US" sz="1000" dirty="0"/>
          </a:p>
        </p:txBody>
      </p:sp>
      <p:sp>
        <p:nvSpPr>
          <p:cNvPr id="32" name="source"/>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000" i="1" dirty="0">
                <a:solidFill>
                  <a:schemeClr val="accent6"/>
                </a:solidFill>
              </a:rPr>
              <a:t>No study measures South African electrical take-off hours, SA tender win rates or manual take-off error rates — win rate and tender cost come from comparable public-procurement studies abroad.</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Most contractors are small firms — and their share is growing</a:t>
            </a:r>
            <a:endParaRPr lang="en-US" sz="3000" dirty="0"/>
          </a:p>
        </p:txBody>
      </p:sp>
      <p:graphicFrame>
        <p:nvGraphicFramePr>
          <p:cNvPr id="4" name="Chart 0" descr=""/>
          <p:cNvGraphicFramePr/>
          <p:nvPr/>
        </p:nvGraphicFramePr>
        <p:xfrm>
          <a:off x="548640" y="1417320"/>
          <a:ext cx="5669280" cy="4206240"/>
        </p:xfrm>
        <a:graphic xmlns:a="http://schemas.openxmlformats.org/drawingml/2006/main">
          <a:graphicData uri="http://schemas.openxmlformats.org/drawingml/2006/chart">
            <c:chart xmlns:c="http://schemas.openxmlformats.org/drawingml/2006/chart" r:id="rId1"/>
          </a:graphicData>
        </a:graphic>
      </p:graphicFrame>
      <p:sp>
        <p:nvSpPr>
          <p:cNvPr id="5" name="market card 1"/>
          <p:cNvSpPr/>
          <p:nvPr/>
        </p:nvSpPr>
        <p:spPr>
          <a:xfrm>
            <a:off x="6583680" y="1417320"/>
            <a:ext cx="2377440" cy="1920240"/>
          </a:xfrm>
          <a:prstGeom prst="roundRect">
            <a:avLst>
              <a:gd name="adj" fmla="val 5714"/>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6" name="market 1 circle"/>
          <p:cNvSpPr/>
          <p:nvPr/>
        </p:nvSpPr>
        <p:spPr>
          <a:xfrm>
            <a:off x="6784848" y="1618488"/>
            <a:ext cx="502920" cy="502920"/>
          </a:xfrm>
          <a:prstGeom prst="ellipse">
            <a:avLst/>
          </a:prstGeom>
          <a:solidFill>
            <a:srgbClr val="F2F4F9"/>
          </a:solidFill>
          <a:ln w="12700">
            <a:solidFill>
              <a:srgbClr val="F2F4F9"/>
            </a:solidFill>
            <a:prstDash val="solid"/>
          </a:ln>
        </p:spPr>
      </p:sp>
      <p:pic>
        <p:nvPicPr>
          <p:cNvPr id="7" name="market 1 icon" descr="preencoded.png">    </p:cNvPr>
          <p:cNvPicPr>
            <a:picLocks noChangeAspect="1"/>
          </p:cNvPicPr>
          <p:nvPr/>
        </p:nvPicPr>
        <p:blipFill>
          <a:blip r:embed="rId2"/>
          <a:stretch>
            <a:fillRect/>
          </a:stretch>
        </p:blipFill>
        <p:spPr>
          <a:xfrm>
            <a:off x="6915607" y="1749247"/>
            <a:ext cx="241402" cy="241402"/>
          </a:xfrm>
          <a:prstGeom prst="rect">
            <a:avLst/>
          </a:prstGeom>
        </p:spPr>
      </p:pic>
      <p:sp>
        <p:nvSpPr>
          <p:cNvPr id="8" name="market value 1"/>
          <p:cNvSpPr txBox="1"/>
          <p:nvPr/>
        </p:nvSpPr>
        <p:spPr>
          <a:xfrm>
            <a:off x="6784848" y="2167128"/>
            <a:ext cx="201168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84%</a:t>
            </a:r>
            <a:endParaRPr lang="en-US" sz="2600" dirty="0"/>
          </a:p>
        </p:txBody>
      </p:sp>
      <p:sp>
        <p:nvSpPr>
          <p:cNvPr id="9" name="market text 1"/>
          <p:cNvSpPr txBox="1"/>
          <p:nvPr/>
        </p:nvSpPr>
        <p:spPr>
          <a:xfrm>
            <a:off x="6784848" y="2624328"/>
            <a:ext cx="2011680" cy="594360"/>
          </a:xfrm>
          <a:prstGeom prst="rect">
            <a:avLst/>
          </a:prstGeom>
          <a:noFill/>
          <a:ln/>
        </p:spPr>
        <p:txBody>
          <a:bodyPr wrap="square" lIns="0" tIns="0" rIns="0" bIns="0" rtlCol="0" anchor="t"/>
          <a:lstStyle/>
          <a:p>
            <a:pPr indent="0" marL="0">
              <a:buNone/>
            </a:pPr>
            <a:r>
              <a:rPr lang="en-US" sz="1150" dirty="0">
                <a:solidFill>
                  <a:schemeClr val="tx2"/>
                </a:solidFill>
              </a:rPr>
              <a:t>of 129,555 active CIDB contractors are Grade 1, the smallest grade</a:t>
            </a:r>
            <a:endParaRPr lang="en-US" sz="1150" dirty="0"/>
          </a:p>
        </p:txBody>
      </p:sp>
      <p:sp>
        <p:nvSpPr>
          <p:cNvPr id="10" name="market card 2"/>
          <p:cNvSpPr/>
          <p:nvPr/>
        </p:nvSpPr>
        <p:spPr>
          <a:xfrm>
            <a:off x="9189720" y="1417320"/>
            <a:ext cx="2377440" cy="1920240"/>
          </a:xfrm>
          <a:prstGeom prst="roundRect">
            <a:avLst>
              <a:gd name="adj" fmla="val 5714"/>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1" name="market 2 circle"/>
          <p:cNvSpPr/>
          <p:nvPr/>
        </p:nvSpPr>
        <p:spPr>
          <a:xfrm>
            <a:off x="9390888" y="1618488"/>
            <a:ext cx="502920" cy="502920"/>
          </a:xfrm>
          <a:prstGeom prst="ellipse">
            <a:avLst/>
          </a:prstGeom>
          <a:solidFill>
            <a:srgbClr val="F2F4F9"/>
          </a:solidFill>
          <a:ln w="12700">
            <a:solidFill>
              <a:srgbClr val="F2F4F9"/>
            </a:solidFill>
            <a:prstDash val="solid"/>
          </a:ln>
        </p:spPr>
      </p:sp>
      <p:pic>
        <p:nvPicPr>
          <p:cNvPr id="12" name="market 2 icon" descr="preencoded.png">    </p:cNvPr>
          <p:cNvPicPr>
            <a:picLocks noChangeAspect="1"/>
          </p:cNvPicPr>
          <p:nvPr/>
        </p:nvPicPr>
        <p:blipFill>
          <a:blip r:embed="rId3"/>
          <a:stretch>
            <a:fillRect/>
          </a:stretch>
        </p:blipFill>
        <p:spPr>
          <a:xfrm>
            <a:off x="9521647" y="1749247"/>
            <a:ext cx="241402" cy="241402"/>
          </a:xfrm>
          <a:prstGeom prst="rect">
            <a:avLst/>
          </a:prstGeom>
        </p:spPr>
      </p:pic>
      <p:sp>
        <p:nvSpPr>
          <p:cNvPr id="13" name="market value 2"/>
          <p:cNvSpPr txBox="1"/>
          <p:nvPr/>
        </p:nvSpPr>
        <p:spPr>
          <a:xfrm>
            <a:off x="9390888" y="2167128"/>
            <a:ext cx="201168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32.2%</a:t>
            </a:r>
            <a:endParaRPr lang="en-US" sz="2600" dirty="0"/>
          </a:p>
        </p:txBody>
      </p:sp>
      <p:sp>
        <p:nvSpPr>
          <p:cNvPr id="14" name="market text 2"/>
          <p:cNvSpPr txBox="1"/>
          <p:nvPr/>
        </p:nvSpPr>
        <p:spPr>
          <a:xfrm>
            <a:off x="9390888" y="2624328"/>
            <a:ext cx="2011680" cy="594360"/>
          </a:xfrm>
          <a:prstGeom prst="rect">
            <a:avLst/>
          </a:prstGeom>
          <a:noFill/>
          <a:ln/>
        </p:spPr>
        <p:txBody>
          <a:bodyPr wrap="square" lIns="0" tIns="0" rIns="0" bIns="0" rtlCol="0" anchor="t"/>
          <a:lstStyle/>
          <a:p>
            <a:pPr indent="0" marL="0">
              <a:buNone/>
            </a:pPr>
            <a:r>
              <a:rPr lang="en-US" sz="1150" dirty="0">
                <a:solidFill>
                  <a:schemeClr val="tx2"/>
                </a:solidFill>
              </a:rPr>
              <a:t>of construction income earned by small &amp; micro firms in 2024 (25.0% in 2014)</a:t>
            </a:r>
            <a:endParaRPr lang="en-US" sz="1150" dirty="0"/>
          </a:p>
        </p:txBody>
      </p:sp>
      <p:sp>
        <p:nvSpPr>
          <p:cNvPr id="15" name="market card 3"/>
          <p:cNvSpPr/>
          <p:nvPr/>
        </p:nvSpPr>
        <p:spPr>
          <a:xfrm>
            <a:off x="6583680" y="3566160"/>
            <a:ext cx="2377440" cy="1920240"/>
          </a:xfrm>
          <a:prstGeom prst="roundRect">
            <a:avLst>
              <a:gd name="adj" fmla="val 5714"/>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6" name="market 3 circle"/>
          <p:cNvSpPr/>
          <p:nvPr/>
        </p:nvSpPr>
        <p:spPr>
          <a:xfrm>
            <a:off x="6784848" y="3767328"/>
            <a:ext cx="502920" cy="502920"/>
          </a:xfrm>
          <a:prstGeom prst="ellipse">
            <a:avLst/>
          </a:prstGeom>
          <a:solidFill>
            <a:srgbClr val="F2F4F9"/>
          </a:solidFill>
          <a:ln w="12700">
            <a:solidFill>
              <a:srgbClr val="F2F4F9"/>
            </a:solidFill>
            <a:prstDash val="solid"/>
          </a:ln>
        </p:spPr>
      </p:sp>
      <p:pic>
        <p:nvPicPr>
          <p:cNvPr id="17" name="market 3 icon" descr="preencoded.png">    </p:cNvPr>
          <p:cNvPicPr>
            <a:picLocks noChangeAspect="1"/>
          </p:cNvPicPr>
          <p:nvPr/>
        </p:nvPicPr>
        <p:blipFill>
          <a:blip r:embed="rId4"/>
          <a:stretch>
            <a:fillRect/>
          </a:stretch>
        </p:blipFill>
        <p:spPr>
          <a:xfrm>
            <a:off x="6915607" y="3898087"/>
            <a:ext cx="241402" cy="241402"/>
          </a:xfrm>
          <a:prstGeom prst="rect">
            <a:avLst/>
          </a:prstGeom>
        </p:spPr>
      </p:pic>
      <p:sp>
        <p:nvSpPr>
          <p:cNvPr id="18" name="market value 3"/>
          <p:cNvSpPr txBox="1"/>
          <p:nvPr/>
        </p:nvSpPr>
        <p:spPr>
          <a:xfrm>
            <a:off x="6784848" y="4315968"/>
            <a:ext cx="201168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R1.07 tn</a:t>
            </a:r>
            <a:endParaRPr lang="en-US" sz="2600" dirty="0"/>
          </a:p>
        </p:txBody>
      </p:sp>
      <p:sp>
        <p:nvSpPr>
          <p:cNvPr id="19" name="market text 3"/>
          <p:cNvSpPr txBox="1"/>
          <p:nvPr/>
        </p:nvSpPr>
        <p:spPr>
          <a:xfrm>
            <a:off x="6784848" y="4773168"/>
            <a:ext cx="2011680" cy="594360"/>
          </a:xfrm>
          <a:prstGeom prst="rect">
            <a:avLst/>
          </a:prstGeom>
          <a:noFill/>
          <a:ln/>
        </p:spPr>
        <p:txBody>
          <a:bodyPr wrap="square" lIns="0" tIns="0" rIns="0" bIns="0" rtlCol="0" anchor="t"/>
          <a:lstStyle/>
          <a:p>
            <a:pPr indent="0" marL="0">
              <a:buNone/>
            </a:pPr>
            <a:r>
              <a:rPr lang="en-US" sz="1150" dirty="0">
                <a:solidFill>
                  <a:schemeClr val="tx2"/>
                </a:solidFill>
              </a:rPr>
              <a:t>public infrastructure planned over the medium term</a:t>
            </a:r>
            <a:endParaRPr lang="en-US" sz="1150" dirty="0"/>
          </a:p>
        </p:txBody>
      </p:sp>
      <p:sp>
        <p:nvSpPr>
          <p:cNvPr id="20" name="market card 4"/>
          <p:cNvSpPr/>
          <p:nvPr/>
        </p:nvSpPr>
        <p:spPr>
          <a:xfrm>
            <a:off x="9189720" y="3566160"/>
            <a:ext cx="2377440" cy="1920240"/>
          </a:xfrm>
          <a:prstGeom prst="roundRect">
            <a:avLst>
              <a:gd name="adj" fmla="val 5714"/>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1" name="market 4 circle"/>
          <p:cNvSpPr/>
          <p:nvPr/>
        </p:nvSpPr>
        <p:spPr>
          <a:xfrm>
            <a:off x="9390888" y="3767328"/>
            <a:ext cx="502920" cy="502920"/>
          </a:xfrm>
          <a:prstGeom prst="ellipse">
            <a:avLst/>
          </a:prstGeom>
          <a:solidFill>
            <a:srgbClr val="F2F4F9"/>
          </a:solidFill>
          <a:ln w="12700">
            <a:solidFill>
              <a:srgbClr val="F2F4F9"/>
            </a:solidFill>
            <a:prstDash val="solid"/>
          </a:ln>
        </p:spPr>
      </p:sp>
      <p:pic>
        <p:nvPicPr>
          <p:cNvPr id="22" name="market 4 icon" descr="preencoded.png">    </p:cNvPr>
          <p:cNvPicPr>
            <a:picLocks noChangeAspect="1"/>
          </p:cNvPicPr>
          <p:nvPr/>
        </p:nvPicPr>
        <p:blipFill>
          <a:blip r:embed="rId5"/>
          <a:stretch>
            <a:fillRect/>
          </a:stretch>
        </p:blipFill>
        <p:spPr>
          <a:xfrm>
            <a:off x="9521647" y="3898087"/>
            <a:ext cx="241402" cy="241402"/>
          </a:xfrm>
          <a:prstGeom prst="rect">
            <a:avLst/>
          </a:prstGeom>
        </p:spPr>
      </p:pic>
      <p:sp>
        <p:nvSpPr>
          <p:cNvPr id="23" name="market value 4"/>
          <p:cNvSpPr txBox="1"/>
          <p:nvPr/>
        </p:nvSpPr>
        <p:spPr>
          <a:xfrm>
            <a:off x="9390888" y="4315968"/>
            <a:ext cx="201168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8.3 GW</a:t>
            </a:r>
            <a:endParaRPr lang="en-US" sz="2600" dirty="0"/>
          </a:p>
        </p:txBody>
      </p:sp>
      <p:sp>
        <p:nvSpPr>
          <p:cNvPr id="24" name="market text 4"/>
          <p:cNvSpPr txBox="1"/>
          <p:nvPr/>
        </p:nvSpPr>
        <p:spPr>
          <a:xfrm>
            <a:off x="9390888" y="4773168"/>
            <a:ext cx="2011680" cy="594360"/>
          </a:xfrm>
          <a:prstGeom prst="rect">
            <a:avLst/>
          </a:prstGeom>
          <a:noFill/>
          <a:ln/>
        </p:spPr>
        <p:txBody>
          <a:bodyPr wrap="square" lIns="0" tIns="0" rIns="0" bIns="0" rtlCol="0" anchor="t"/>
          <a:lstStyle/>
          <a:p>
            <a:pPr indent="0" marL="0">
              <a:buNone/>
            </a:pPr>
            <a:r>
              <a:rPr lang="en-US" sz="1150" dirty="0">
                <a:solidFill>
                  <a:schemeClr val="tx2"/>
                </a:solidFill>
              </a:rPr>
              <a:t>rooftop solar installed — more work for electrical contractors</a:t>
            </a:r>
            <a:endParaRPr lang="en-US" sz="1150" dirty="0"/>
          </a:p>
        </p:txBody>
      </p:sp>
      <p:sp>
        <p:nvSpPr>
          <p:cNvPr id="25" name="source"/>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000" i="1" dirty="0">
                <a:solidFill>
                  <a:schemeClr val="accent6"/>
                </a:solidFill>
              </a:rPr>
              <a:t>Sources: CIDB APP (PMG, 2024 Q4) · Stats SA, Construction industry 2024 and 'Key shifts in the construction industry' · National Treasury, Budget Review 2026, Annexure D · Engineering News, 19 Jun 2026 (Eskom NTCSA).</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SA research ties overruns to estimates and tender documents</a:t>
            </a:r>
            <a:endParaRPr lang="en-US" sz="3000" dirty="0"/>
          </a:p>
        </p:txBody>
      </p:sp>
      <p:sp>
        <p:nvSpPr>
          <p:cNvPr id="4" name="study card 1"/>
          <p:cNvSpPr/>
          <p:nvPr/>
        </p:nvSpPr>
        <p:spPr>
          <a:xfrm>
            <a:off x="548640" y="1417320"/>
            <a:ext cx="5440680" cy="1828800"/>
          </a:xfrm>
          <a:prstGeom prst="roundRect">
            <a:avLst>
              <a:gd name="adj" fmla="val 6000"/>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5" name="study 1 circle"/>
          <p:cNvSpPr/>
          <p:nvPr/>
        </p:nvSpPr>
        <p:spPr>
          <a:xfrm>
            <a:off x="822960" y="1691640"/>
            <a:ext cx="685800" cy="685800"/>
          </a:xfrm>
          <a:prstGeom prst="ellipse">
            <a:avLst/>
          </a:prstGeom>
          <a:solidFill>
            <a:srgbClr val="2E5BE8"/>
          </a:solidFill>
          <a:ln w="12700">
            <a:solidFill>
              <a:srgbClr val="2E5BE8"/>
            </a:solidFill>
            <a:prstDash val="solid"/>
          </a:ln>
        </p:spPr>
      </p:sp>
      <p:pic>
        <p:nvPicPr>
          <p:cNvPr id="6" name="study 1 icon" descr="preencoded.png">    </p:cNvPr>
          <p:cNvPicPr>
            <a:picLocks noChangeAspect="1"/>
          </p:cNvPicPr>
          <p:nvPr/>
        </p:nvPicPr>
        <p:blipFill>
          <a:blip r:embed="rId1"/>
          <a:stretch>
            <a:fillRect/>
          </a:stretch>
        </p:blipFill>
        <p:spPr>
          <a:xfrm>
            <a:off x="1001268" y="1869948"/>
            <a:ext cx="329184" cy="329184"/>
          </a:xfrm>
          <a:prstGeom prst="rect">
            <a:avLst/>
          </a:prstGeom>
        </p:spPr>
      </p:pic>
      <p:sp>
        <p:nvSpPr>
          <p:cNvPr id="7" name="study title 1"/>
          <p:cNvSpPr txBox="1"/>
          <p:nvPr/>
        </p:nvSpPr>
        <p:spPr>
          <a:xfrm>
            <a:off x="1737360" y="1645920"/>
            <a:ext cx="4069080" cy="365760"/>
          </a:xfrm>
          <a:prstGeom prst="rect">
            <a:avLst/>
          </a:prstGeom>
          <a:noFill/>
          <a:ln/>
        </p:spPr>
        <p:txBody>
          <a:bodyPr wrap="square" lIns="0" tIns="0" rIns="0" bIns="0" rtlCol="0" anchor="t"/>
          <a:lstStyle/>
          <a:p>
            <a:pPr indent="0" marL="0">
              <a:buNone/>
            </a:pPr>
            <a:r>
              <a:rPr lang="en-US" sz="1700" b="1" dirty="0">
                <a:solidFill>
                  <a:schemeClr val="tx1"/>
                </a:solidFill>
              </a:rPr>
              <a:t>Under-estimated cost</a:t>
            </a:r>
            <a:endParaRPr lang="en-US" sz="1700" dirty="0"/>
          </a:p>
        </p:txBody>
      </p:sp>
      <p:sp>
        <p:nvSpPr>
          <p:cNvPr id="8" name="study text 1"/>
          <p:cNvSpPr txBox="1"/>
          <p:nvPr/>
        </p:nvSpPr>
        <p:spPr>
          <a:xfrm>
            <a:off x="1737360" y="2039112"/>
            <a:ext cx="4069080" cy="731520"/>
          </a:xfrm>
          <a:prstGeom prst="rect">
            <a:avLst/>
          </a:prstGeom>
          <a:noFill/>
          <a:ln/>
        </p:spPr>
        <p:txBody>
          <a:bodyPr wrap="square" lIns="0" tIns="0" rIns="0" bIns="0" rtlCol="0" anchor="t"/>
          <a:lstStyle/>
          <a:p>
            <a:pPr indent="0" marL="0">
              <a:buNone/>
            </a:pPr>
            <a:r>
              <a:rPr lang="en-US" sz="1300" dirty="0">
                <a:solidFill>
                  <a:schemeClr val="tx2"/>
                </a:solidFill>
              </a:rPr>
              <a:t>“Underestimation of project cost” is among the most significant causes of poor project performance.</a:t>
            </a:r>
            <a:endParaRPr lang="en-US" sz="1300" dirty="0"/>
          </a:p>
        </p:txBody>
      </p:sp>
      <p:sp>
        <p:nvSpPr>
          <p:cNvPr id="9" name="study source 1"/>
          <p:cNvSpPr txBox="1"/>
          <p:nvPr/>
        </p:nvSpPr>
        <p:spPr>
          <a:xfrm>
            <a:off x="1737360" y="2788920"/>
            <a:ext cx="4069080" cy="320040"/>
          </a:xfrm>
          <a:prstGeom prst="rect">
            <a:avLst/>
          </a:prstGeom>
          <a:noFill/>
          <a:ln/>
        </p:spPr>
        <p:txBody>
          <a:bodyPr wrap="square" lIns="0" tIns="0" rIns="0" bIns="0" rtlCol="0" anchor="t"/>
          <a:lstStyle/>
          <a:p>
            <a:pPr indent="0" marL="0">
              <a:buNone/>
            </a:pPr>
            <a:r>
              <a:rPr lang="en-US" sz="1000" i="1" dirty="0">
                <a:solidFill>
                  <a:schemeClr val="accent6"/>
                </a:solidFill>
              </a:rPr>
              <a:t>Murwira &amp; Bekker, 2017 · Acta Structilia · NW Public Works &amp; Roads</a:t>
            </a:r>
            <a:endParaRPr lang="en-US" sz="1000" dirty="0"/>
          </a:p>
        </p:txBody>
      </p:sp>
      <p:sp>
        <p:nvSpPr>
          <p:cNvPr id="10" name="study card 2"/>
          <p:cNvSpPr/>
          <p:nvPr/>
        </p:nvSpPr>
        <p:spPr>
          <a:xfrm>
            <a:off x="6172200" y="1417320"/>
            <a:ext cx="5440680" cy="1828800"/>
          </a:xfrm>
          <a:prstGeom prst="roundRect">
            <a:avLst>
              <a:gd name="adj" fmla="val 6000"/>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1" name="study 2 circle"/>
          <p:cNvSpPr/>
          <p:nvPr/>
        </p:nvSpPr>
        <p:spPr>
          <a:xfrm>
            <a:off x="6446520" y="1691640"/>
            <a:ext cx="685800" cy="685800"/>
          </a:xfrm>
          <a:prstGeom prst="ellipse">
            <a:avLst/>
          </a:prstGeom>
          <a:solidFill>
            <a:srgbClr val="2E5BE8"/>
          </a:solidFill>
          <a:ln w="12700">
            <a:solidFill>
              <a:srgbClr val="2E5BE8"/>
            </a:solidFill>
            <a:prstDash val="solid"/>
          </a:ln>
        </p:spPr>
      </p:sp>
      <p:pic>
        <p:nvPicPr>
          <p:cNvPr id="12" name="study 2 icon" descr="preencoded.png">    </p:cNvPr>
          <p:cNvPicPr>
            <a:picLocks noChangeAspect="1"/>
          </p:cNvPicPr>
          <p:nvPr/>
        </p:nvPicPr>
        <p:blipFill>
          <a:blip r:embed="rId2"/>
          <a:stretch>
            <a:fillRect/>
          </a:stretch>
        </p:blipFill>
        <p:spPr>
          <a:xfrm>
            <a:off x="6624828" y="1869948"/>
            <a:ext cx="329184" cy="329184"/>
          </a:xfrm>
          <a:prstGeom prst="rect">
            <a:avLst/>
          </a:prstGeom>
        </p:spPr>
      </p:pic>
      <p:sp>
        <p:nvSpPr>
          <p:cNvPr id="13" name="study title 2"/>
          <p:cNvSpPr txBox="1"/>
          <p:nvPr/>
        </p:nvSpPr>
        <p:spPr>
          <a:xfrm>
            <a:off x="7360920" y="1645920"/>
            <a:ext cx="4069080" cy="365760"/>
          </a:xfrm>
          <a:prstGeom prst="rect">
            <a:avLst/>
          </a:prstGeom>
          <a:noFill/>
          <a:ln/>
        </p:spPr>
        <p:txBody>
          <a:bodyPr wrap="square" lIns="0" tIns="0" rIns="0" bIns="0" rtlCol="0" anchor="t"/>
          <a:lstStyle/>
          <a:p>
            <a:pPr indent="0" marL="0">
              <a:buNone/>
            </a:pPr>
            <a:r>
              <a:rPr lang="en-US" sz="1700" b="1" dirty="0">
                <a:solidFill>
                  <a:schemeClr val="tx1"/>
                </a:solidFill>
              </a:rPr>
              <a:t>Flawed design documents</a:t>
            </a:r>
            <a:endParaRPr lang="en-US" sz="1700" dirty="0"/>
          </a:p>
        </p:txBody>
      </p:sp>
      <p:sp>
        <p:nvSpPr>
          <p:cNvPr id="14" name="study text 2"/>
          <p:cNvSpPr txBox="1"/>
          <p:nvPr/>
        </p:nvSpPr>
        <p:spPr>
          <a:xfrm>
            <a:off x="7360920" y="2039112"/>
            <a:ext cx="4069080" cy="731520"/>
          </a:xfrm>
          <a:prstGeom prst="rect">
            <a:avLst/>
          </a:prstGeom>
          <a:noFill/>
          <a:ln/>
        </p:spPr>
        <p:txBody>
          <a:bodyPr wrap="square" lIns="0" tIns="0" rIns="0" bIns="0" rtlCol="0" anchor="t"/>
          <a:lstStyle/>
          <a:p>
            <a:pPr indent="0" marL="0">
              <a:buNone/>
            </a:pPr>
            <a:r>
              <a:rPr lang="en-US" sz="1300" dirty="0">
                <a:solidFill>
                  <a:schemeClr val="tx2"/>
                </a:solidFill>
              </a:rPr>
              <a:t>Poor design documentation is a significant contributor to delays, rework and cost overruns; rated inadequate on accuracy.</a:t>
            </a:r>
            <a:endParaRPr lang="en-US" sz="1300" dirty="0"/>
          </a:p>
        </p:txBody>
      </p:sp>
      <p:sp>
        <p:nvSpPr>
          <p:cNvPr id="15" name="study source 2"/>
          <p:cNvSpPr txBox="1"/>
          <p:nvPr/>
        </p:nvSpPr>
        <p:spPr>
          <a:xfrm>
            <a:off x="7360920" y="2788920"/>
            <a:ext cx="4069080" cy="320040"/>
          </a:xfrm>
          <a:prstGeom prst="rect">
            <a:avLst/>
          </a:prstGeom>
          <a:noFill/>
          <a:ln/>
        </p:spPr>
        <p:txBody>
          <a:bodyPr wrap="square" lIns="0" tIns="0" rIns="0" bIns="0" rtlCol="0" anchor="t"/>
          <a:lstStyle/>
          <a:p>
            <a:pPr indent="0" marL="0">
              <a:buNone/>
            </a:pPr>
            <a:r>
              <a:rPr lang="en-US" sz="1000" i="1" dirty="0">
                <a:solidFill>
                  <a:schemeClr val="accent6"/>
                </a:solidFill>
              </a:rPr>
              <a:t>Akampurira &amp; Windapo, 2019 · J. Eng. Design &amp; Technology · 120 respondents</a:t>
            </a:r>
            <a:endParaRPr lang="en-US" sz="1000" dirty="0"/>
          </a:p>
        </p:txBody>
      </p:sp>
      <p:sp>
        <p:nvSpPr>
          <p:cNvPr id="16" name="study card 3"/>
          <p:cNvSpPr/>
          <p:nvPr/>
        </p:nvSpPr>
        <p:spPr>
          <a:xfrm>
            <a:off x="548640" y="3429000"/>
            <a:ext cx="5440680" cy="1828800"/>
          </a:xfrm>
          <a:prstGeom prst="roundRect">
            <a:avLst>
              <a:gd name="adj" fmla="val 6000"/>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7" name="study 3 circle"/>
          <p:cNvSpPr/>
          <p:nvPr/>
        </p:nvSpPr>
        <p:spPr>
          <a:xfrm>
            <a:off x="822960" y="3703320"/>
            <a:ext cx="685800" cy="685800"/>
          </a:xfrm>
          <a:prstGeom prst="ellipse">
            <a:avLst/>
          </a:prstGeom>
          <a:solidFill>
            <a:srgbClr val="2E5BE8"/>
          </a:solidFill>
          <a:ln w="12700">
            <a:solidFill>
              <a:srgbClr val="2E5BE8"/>
            </a:solidFill>
            <a:prstDash val="solid"/>
          </a:ln>
        </p:spPr>
      </p:sp>
      <p:pic>
        <p:nvPicPr>
          <p:cNvPr id="18" name="study 3 icon" descr="preencoded.png">    </p:cNvPr>
          <p:cNvPicPr>
            <a:picLocks noChangeAspect="1"/>
          </p:cNvPicPr>
          <p:nvPr/>
        </p:nvPicPr>
        <p:blipFill>
          <a:blip r:embed="rId3"/>
          <a:stretch>
            <a:fillRect/>
          </a:stretch>
        </p:blipFill>
        <p:spPr>
          <a:xfrm>
            <a:off x="1001268" y="3881628"/>
            <a:ext cx="329184" cy="329184"/>
          </a:xfrm>
          <a:prstGeom prst="rect">
            <a:avLst/>
          </a:prstGeom>
        </p:spPr>
      </p:pic>
      <p:sp>
        <p:nvSpPr>
          <p:cNvPr id="19" name="study title 3"/>
          <p:cNvSpPr txBox="1"/>
          <p:nvPr/>
        </p:nvSpPr>
        <p:spPr>
          <a:xfrm>
            <a:off x="1737360" y="3657600"/>
            <a:ext cx="4069080" cy="365760"/>
          </a:xfrm>
          <a:prstGeom prst="rect">
            <a:avLst/>
          </a:prstGeom>
          <a:noFill/>
          <a:ln/>
        </p:spPr>
        <p:txBody>
          <a:bodyPr wrap="square" lIns="0" tIns="0" rIns="0" bIns="0" rtlCol="0" anchor="t"/>
          <a:lstStyle/>
          <a:p>
            <a:pPr indent="0" marL="0">
              <a:buNone/>
            </a:pPr>
            <a:r>
              <a:rPr lang="en-US" sz="1700" b="1" dirty="0">
                <a:solidFill>
                  <a:schemeClr val="tx1"/>
                </a:solidFill>
              </a:rPr>
              <a:t>Declining tender documents</a:t>
            </a:r>
            <a:endParaRPr lang="en-US" sz="1700" dirty="0"/>
          </a:p>
        </p:txBody>
      </p:sp>
      <p:sp>
        <p:nvSpPr>
          <p:cNvPr id="20" name="study text 3"/>
          <p:cNvSpPr txBox="1"/>
          <p:nvPr/>
        </p:nvSpPr>
        <p:spPr>
          <a:xfrm>
            <a:off x="1737360" y="4050792"/>
            <a:ext cx="4069080" cy="731520"/>
          </a:xfrm>
          <a:prstGeom prst="rect">
            <a:avLst/>
          </a:prstGeom>
          <a:noFill/>
          <a:ln/>
        </p:spPr>
        <p:txBody>
          <a:bodyPr wrap="square" lIns="0" tIns="0" rIns="0" bIns="0" rtlCol="0" anchor="t"/>
          <a:lstStyle/>
          <a:p>
            <a:pPr indent="0" marL="0">
              <a:buNone/>
            </a:pPr>
            <a:r>
              <a:rPr lang="en-US" sz="1300" dirty="0">
                <a:solidFill>
                  <a:schemeClr val="tx2"/>
                </a:solidFill>
              </a:rPr>
              <a:t>Researchers report tender-document quality is declining — and there was no standard way to assess it.</a:t>
            </a:r>
            <a:endParaRPr lang="en-US" sz="1300" dirty="0"/>
          </a:p>
        </p:txBody>
      </p:sp>
      <p:sp>
        <p:nvSpPr>
          <p:cNvPr id="21" name="study source 3"/>
          <p:cNvSpPr txBox="1"/>
          <p:nvPr/>
        </p:nvSpPr>
        <p:spPr>
          <a:xfrm>
            <a:off x="1737360" y="4800600"/>
            <a:ext cx="4069080" cy="320040"/>
          </a:xfrm>
          <a:prstGeom prst="rect">
            <a:avLst/>
          </a:prstGeom>
          <a:noFill/>
          <a:ln/>
        </p:spPr>
        <p:txBody>
          <a:bodyPr wrap="square" lIns="0" tIns="0" rIns="0" bIns="0" rtlCol="0" anchor="t"/>
          <a:lstStyle/>
          <a:p>
            <a:pPr indent="0" marL="0">
              <a:buNone/>
            </a:pPr>
            <a:r>
              <a:rPr lang="en-US" sz="1000" i="1" dirty="0">
                <a:solidFill>
                  <a:schemeClr val="accent6"/>
                </a:solidFill>
              </a:rPr>
              <a:t>Govender, Laryea &amp; Watermeyer, 2022 · BEPAM · SA experts</a:t>
            </a:r>
            <a:endParaRPr lang="en-US" sz="1000" dirty="0"/>
          </a:p>
        </p:txBody>
      </p:sp>
      <p:sp>
        <p:nvSpPr>
          <p:cNvPr id="22" name="study card 4"/>
          <p:cNvSpPr/>
          <p:nvPr/>
        </p:nvSpPr>
        <p:spPr>
          <a:xfrm>
            <a:off x="6172200" y="3429000"/>
            <a:ext cx="5440680" cy="1828800"/>
          </a:xfrm>
          <a:prstGeom prst="roundRect">
            <a:avLst>
              <a:gd name="adj" fmla="val 6000"/>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3" name="study 4 circle"/>
          <p:cNvSpPr/>
          <p:nvPr/>
        </p:nvSpPr>
        <p:spPr>
          <a:xfrm>
            <a:off x="6446520" y="3703320"/>
            <a:ext cx="685800" cy="685800"/>
          </a:xfrm>
          <a:prstGeom prst="ellipse">
            <a:avLst/>
          </a:prstGeom>
          <a:solidFill>
            <a:srgbClr val="2E5BE8"/>
          </a:solidFill>
          <a:ln w="12700">
            <a:solidFill>
              <a:srgbClr val="2E5BE8"/>
            </a:solidFill>
            <a:prstDash val="solid"/>
          </a:ln>
        </p:spPr>
      </p:sp>
      <p:pic>
        <p:nvPicPr>
          <p:cNvPr id="24" name="study 4 icon" descr="preencoded.png">    </p:cNvPr>
          <p:cNvPicPr>
            <a:picLocks noChangeAspect="1"/>
          </p:cNvPicPr>
          <p:nvPr/>
        </p:nvPicPr>
        <p:blipFill>
          <a:blip r:embed="rId4"/>
          <a:stretch>
            <a:fillRect/>
          </a:stretch>
        </p:blipFill>
        <p:spPr>
          <a:xfrm>
            <a:off x="6624828" y="3881628"/>
            <a:ext cx="329184" cy="329184"/>
          </a:xfrm>
          <a:prstGeom prst="rect">
            <a:avLst/>
          </a:prstGeom>
        </p:spPr>
      </p:pic>
      <p:sp>
        <p:nvSpPr>
          <p:cNvPr id="25" name="study title 4"/>
          <p:cNvSpPr txBox="1"/>
          <p:nvPr/>
        </p:nvSpPr>
        <p:spPr>
          <a:xfrm>
            <a:off x="7360920" y="3657600"/>
            <a:ext cx="4069080" cy="365760"/>
          </a:xfrm>
          <a:prstGeom prst="rect">
            <a:avLst/>
          </a:prstGeom>
          <a:noFill/>
          <a:ln/>
        </p:spPr>
        <p:txBody>
          <a:bodyPr wrap="square" lIns="0" tIns="0" rIns="0" bIns="0" rtlCol="0" anchor="t"/>
          <a:lstStyle/>
          <a:p>
            <a:pPr indent="0" marL="0">
              <a:buNone/>
            </a:pPr>
            <a:r>
              <a:rPr lang="en-US" sz="1700" b="1" dirty="0">
                <a:solidFill>
                  <a:schemeClr val="tx1"/>
                </a:solidFill>
              </a:rPr>
              <a:t>Profit is what is lost</a:t>
            </a:r>
            <a:endParaRPr lang="en-US" sz="1700" dirty="0"/>
          </a:p>
        </p:txBody>
      </p:sp>
      <p:sp>
        <p:nvSpPr>
          <p:cNvPr id="26" name="study text 4"/>
          <p:cNvSpPr txBox="1"/>
          <p:nvPr/>
        </p:nvSpPr>
        <p:spPr>
          <a:xfrm>
            <a:off x="7360920" y="4050792"/>
            <a:ext cx="4069080" cy="731520"/>
          </a:xfrm>
          <a:prstGeom prst="rect">
            <a:avLst/>
          </a:prstGeom>
          <a:noFill/>
          <a:ln/>
        </p:spPr>
        <p:txBody>
          <a:bodyPr wrap="square" lIns="0" tIns="0" rIns="0" bIns="0" rtlCol="0" anchor="t"/>
          <a:lstStyle/>
          <a:p>
            <a:pPr indent="0" marL="0">
              <a:buNone/>
            </a:pPr>
            <a:r>
              <a:rPr lang="en-US" sz="1300" dirty="0">
                <a:solidFill>
                  <a:schemeClr val="tx2"/>
                </a:solidFill>
              </a:rPr>
              <a:t>Cost overruns reduce the contractor's profit; an accurate estimate is one of the remedies.</a:t>
            </a:r>
            <a:endParaRPr lang="en-US" sz="1300" dirty="0"/>
          </a:p>
        </p:txBody>
      </p:sp>
      <p:sp>
        <p:nvSpPr>
          <p:cNvPr id="27" name="study source 4"/>
          <p:cNvSpPr txBox="1"/>
          <p:nvPr/>
        </p:nvSpPr>
        <p:spPr>
          <a:xfrm>
            <a:off x="7360920" y="4800600"/>
            <a:ext cx="4069080" cy="320040"/>
          </a:xfrm>
          <a:prstGeom prst="rect">
            <a:avLst/>
          </a:prstGeom>
          <a:noFill/>
          <a:ln/>
        </p:spPr>
        <p:txBody>
          <a:bodyPr wrap="square" lIns="0" tIns="0" rIns="0" bIns="0" rtlCol="0" anchor="t"/>
          <a:lstStyle/>
          <a:p>
            <a:pPr indent="0" marL="0">
              <a:buNone/>
            </a:pPr>
            <a:r>
              <a:rPr lang="en-US" sz="1000" i="1" dirty="0">
                <a:solidFill>
                  <a:schemeClr val="accent6"/>
                </a:solidFill>
              </a:rPr>
              <a:t>Morena &amp; Amoah, 2021 · IOP Conf. Series · 74 SA professionals</a:t>
            </a:r>
            <a:endParaRPr lang="en-US" sz="1000" dirty="0"/>
          </a:p>
        </p:txBody>
      </p:sp>
      <p:sp>
        <p:nvSpPr>
          <p:cNvPr id="28" name="study implication"/>
          <p:cNvSpPr txBox="1"/>
          <p:nvPr/>
        </p:nvSpPr>
        <p:spPr>
          <a:xfrm>
            <a:off x="548640" y="5532120"/>
            <a:ext cx="11064240" cy="411480"/>
          </a:xfrm>
          <a:prstGeom prst="rect">
            <a:avLst/>
          </a:prstGeom>
          <a:noFill/>
          <a:ln/>
        </p:spPr>
        <p:txBody>
          <a:bodyPr wrap="square" lIns="0" tIns="0" rIns="0" bIns="0" rtlCol="0" anchor="t"/>
          <a:lstStyle/>
          <a:p>
            <a:pPr indent="0" marL="0">
              <a:buNone/>
            </a:pPr>
            <a:r>
              <a:rPr lang="en-US" sz="1400" b="1" dirty="0">
                <a:solidFill>
                  <a:schemeClr val="accent1"/>
                </a:solidFill>
              </a:rPr>
              <a:t>What follows for a contractor: </a:t>
            </a:r>
            <a:pPr indent="0" marL="0">
              <a:buNone/>
            </a:pPr>
            <a:r>
              <a:rPr lang="en-US" sz="1400" dirty="0">
                <a:solidFill>
                  <a:schemeClr val="accent1"/>
                </a:solidFill>
              </a:rPr>
              <a:t>a fast, checkable take-off — and an audit of the bill you are handed — act on two causes the research names.</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What tools and AI research can — and cannot — do yet</a:t>
            </a:r>
            <a:endParaRPr lang="en-US" sz="3000" dirty="0"/>
          </a:p>
        </p:txBody>
      </p:sp>
      <p:graphicFrame>
        <p:nvGraphicFramePr>
          <p:cNvPr id="6" name="tools table"/>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914400"/>
        </p:xfrm>
        <a:graphic>
          <a:graphicData uri="http://schemas.openxmlformats.org/drawingml/2006/table">
            <a:tbl>
              <a:tblPr/>
              <a:tblGrid>
                <a:gridCol w="1737360"/>
                <a:gridCol w="2194560"/>
                <a:gridCol w="2834640"/>
              </a:tblGrid>
              <a:tr h="384048">
                <a:tc>
                  <a:txBody>
                    <a:bodyPr/>
                    <a:lstStyle/>
                    <a:p>
                      <a:pPr indent="0" marL="0">
                        <a:buNone/>
                      </a:pPr>
                      <a:r>
                        <a:rPr lang="en-US" sz="1200" b="1" dirty="0">
                          <a:solidFill>
                            <a:schemeClr val="bg1"/>
                          </a:solidFill>
                        </a:rPr>
                        <a:t>Tool</a:t>
                      </a:r>
                      <a:endParaRPr lang="en-US" sz="12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Price (vendor page)</a:t>
                      </a:r>
                      <a:endParaRPr lang="en-US" sz="12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What the vendor itself says</a:t>
                      </a:r>
                      <a:endParaRPr lang="en-US" sz="12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solidFill>
                      <a:schemeClr val="tx1"/>
                    </a:solidFill>
                  </a:tcPr>
                </a:tc>
              </a:tr>
              <a:tr h="685800">
                <a:tc>
                  <a:txBody>
                    <a:bodyPr/>
                    <a:lstStyle/>
                    <a:p>
                      <a:pPr indent="0" marL="0">
                        <a:buNone/>
                      </a:pPr>
                      <a:r>
                        <a:rPr lang="en-US" sz="1200" dirty="0">
                          <a:solidFill>
                            <a:schemeClr val="tx1"/>
                          </a:solidFill>
                        </a:rPr>
                        <a:t>Bluebeam (PDF take-off)</a:t>
                      </a:r>
                      <a:endParaRPr lang="en-US" sz="12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00" dirty="0">
                          <a:solidFill>
                            <a:schemeClr val="tx1"/>
                          </a:solidFill>
                        </a:rPr>
                        <a:t>$260–$590 / user / year (≈ R4.7k–R10.6k)</a:t>
                      </a:r>
                      <a:endParaRPr lang="en-US" sz="12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00" dirty="0">
                          <a:solidFill>
                            <a:schemeClr val="tx1"/>
                          </a:solidFill>
                        </a:rPr>
                        <a:t>General PDF mark-up and measurement, priced in US dollars</a:t>
                      </a:r>
                      <a:endParaRPr lang="en-US" sz="12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r h="685800">
                <a:tc>
                  <a:txBody>
                    <a:bodyPr/>
                    <a:lstStyle/>
                    <a:p>
                      <a:pPr indent="0" marL="0">
                        <a:buNone/>
                      </a:pPr>
                      <a:r>
                        <a:rPr lang="en-US" sz="1200" dirty="0">
                          <a:solidFill>
                            <a:schemeClr val="tx1"/>
                          </a:solidFill>
                        </a:rPr>
                        <a:t>Togal.AI (AI take-off)</a:t>
                      </a:r>
                      <a:endParaRPr lang="en-US" sz="12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00" dirty="0">
                          <a:solidFill>
                            <a:schemeClr val="tx1"/>
                          </a:solidFill>
                        </a:rPr>
                        <a:t>$299 / user / month, billed yearly (≈ R64k / year)</a:t>
                      </a:r>
                      <a:endParaRPr lang="en-US" sz="12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00" dirty="0">
                          <a:solidFill>
                            <a:schemeClr val="tx1"/>
                          </a:solidFill>
                        </a:rPr>
                        <a:t>“detecting, measuring … spaces and features on architectural drawings”</a:t>
                      </a:r>
                      <a:endParaRPr lang="en-US" sz="12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r h="685800">
                <a:tc>
                  <a:txBody>
                    <a:bodyPr/>
                    <a:lstStyle/>
                    <a:p>
                      <a:pPr indent="0" marL="0">
                        <a:buNone/>
                      </a:pPr>
                      <a:r>
                        <a:rPr lang="en-US" sz="1200" dirty="0">
                          <a:solidFill>
                            <a:schemeClr val="tx1"/>
                          </a:solidFill>
                        </a:rPr>
                        <a:t>Civils.ai (AI electrical)</a:t>
                      </a:r>
                      <a:endParaRPr lang="en-US" sz="12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00" dirty="0">
                          <a:solidFill>
                            <a:schemeClr val="tx1"/>
                          </a:solidFill>
                        </a:rPr>
                        <a:t>—</a:t>
                      </a:r>
                      <a:endParaRPr lang="en-US" sz="12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00" dirty="0">
                          <a:solidFill>
                            <a:schemeClr val="tx1"/>
                          </a:solidFill>
                        </a:rPr>
                        <a:t>“No inference of circuiting, conduit routes, tray fill or cable sizing”</a:t>
                      </a:r>
                      <a:endParaRPr lang="en-US" sz="12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bl>
          </a:graphicData>
        </a:graphic>
      </p:graphicFrame>
      <p:sp>
        <p:nvSpPr>
          <p:cNvPr id="5" name="research card 1"/>
          <p:cNvSpPr/>
          <p:nvPr/>
        </p:nvSpPr>
        <p:spPr>
          <a:xfrm>
            <a:off x="7589520" y="1417320"/>
            <a:ext cx="4023360" cy="1143000"/>
          </a:xfrm>
          <a:prstGeom prst="roundRect">
            <a:avLst>
              <a:gd name="adj" fmla="val 9600"/>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6" name="research 1 circle"/>
          <p:cNvSpPr/>
          <p:nvPr/>
        </p:nvSpPr>
        <p:spPr>
          <a:xfrm>
            <a:off x="7772400" y="1645920"/>
            <a:ext cx="640080" cy="640080"/>
          </a:xfrm>
          <a:prstGeom prst="ellipse">
            <a:avLst/>
          </a:prstGeom>
          <a:solidFill>
            <a:srgbClr val="2E5BE8"/>
          </a:solidFill>
          <a:ln w="12700">
            <a:solidFill>
              <a:srgbClr val="2E5BE8"/>
            </a:solidFill>
            <a:prstDash val="solid"/>
          </a:ln>
        </p:spPr>
      </p:sp>
      <p:pic>
        <p:nvPicPr>
          <p:cNvPr id="7" name="research 1 icon" descr="preencoded.png">    </p:cNvPr>
          <p:cNvPicPr>
            <a:picLocks noChangeAspect="1"/>
          </p:cNvPicPr>
          <p:nvPr/>
        </p:nvPicPr>
        <p:blipFill>
          <a:blip r:embed="rId1"/>
          <a:stretch>
            <a:fillRect/>
          </a:stretch>
        </p:blipFill>
        <p:spPr>
          <a:xfrm>
            <a:off x="7938821" y="1812341"/>
            <a:ext cx="307238" cy="307238"/>
          </a:xfrm>
          <a:prstGeom prst="rect">
            <a:avLst/>
          </a:prstGeom>
        </p:spPr>
      </p:pic>
      <p:sp>
        <p:nvSpPr>
          <p:cNvPr id="8" name="research title 1"/>
          <p:cNvSpPr txBox="1"/>
          <p:nvPr/>
        </p:nvSpPr>
        <p:spPr>
          <a:xfrm>
            <a:off x="8549640" y="1527048"/>
            <a:ext cx="2971800" cy="320040"/>
          </a:xfrm>
          <a:prstGeom prst="rect">
            <a:avLst/>
          </a:prstGeom>
          <a:noFill/>
          <a:ln/>
        </p:spPr>
        <p:txBody>
          <a:bodyPr wrap="square" lIns="0" tIns="0" rIns="0" bIns="0" rtlCol="0" anchor="t"/>
          <a:lstStyle/>
          <a:p>
            <a:pPr indent="0" marL="0">
              <a:buNone/>
            </a:pPr>
            <a:r>
              <a:rPr lang="en-US" sz="1600" b="1" dirty="0">
                <a:solidFill>
                  <a:schemeClr val="tx1"/>
                </a:solidFill>
              </a:rPr>
              <a:t>&gt; 94 % of symbols</a:t>
            </a:r>
            <a:endParaRPr lang="en-US" sz="1600" dirty="0"/>
          </a:p>
        </p:txBody>
      </p:sp>
      <p:sp>
        <p:nvSpPr>
          <p:cNvPr id="9" name="research text 1"/>
          <p:cNvSpPr txBox="1"/>
          <p:nvPr/>
        </p:nvSpPr>
        <p:spPr>
          <a:xfrm>
            <a:off x="8549640" y="1847088"/>
            <a:ext cx="2971800" cy="457200"/>
          </a:xfrm>
          <a:prstGeom prst="rect">
            <a:avLst/>
          </a:prstGeom>
          <a:noFill/>
          <a:ln/>
        </p:spPr>
        <p:txBody>
          <a:bodyPr wrap="square" lIns="0" tIns="0" rIns="0" bIns="0" rtlCol="0" anchor="t"/>
          <a:lstStyle/>
          <a:p>
            <a:pPr indent="0" marL="0">
              <a:buNone/>
            </a:pPr>
            <a:r>
              <a:rPr lang="en-US" sz="1150" dirty="0">
                <a:solidFill>
                  <a:schemeClr val="tx2"/>
                </a:solidFill>
              </a:rPr>
              <a:t>recognised by deep learning on industrial engineering drawings</a:t>
            </a:r>
            <a:endParaRPr lang="en-US" sz="1150" dirty="0"/>
          </a:p>
        </p:txBody>
      </p:sp>
      <p:sp>
        <p:nvSpPr>
          <p:cNvPr id="10" name="research source 1"/>
          <p:cNvSpPr txBox="1"/>
          <p:nvPr/>
        </p:nvSpPr>
        <p:spPr>
          <a:xfrm>
            <a:off x="8549640" y="2286000"/>
            <a:ext cx="2971800" cy="228600"/>
          </a:xfrm>
          <a:prstGeom prst="rect">
            <a:avLst/>
          </a:prstGeom>
          <a:noFill/>
          <a:ln/>
        </p:spPr>
        <p:txBody>
          <a:bodyPr wrap="square" lIns="0" tIns="0" rIns="0" bIns="0" rtlCol="0" anchor="t"/>
          <a:lstStyle/>
          <a:p>
            <a:pPr indent="0" marL="0">
              <a:buNone/>
            </a:pPr>
            <a:r>
              <a:rPr lang="en-US" sz="950" i="1" dirty="0">
                <a:solidFill>
                  <a:schemeClr val="accent6"/>
                </a:solidFill>
              </a:rPr>
              <a:t>Elyan et al., 2020 · Neural Networks</a:t>
            </a:r>
            <a:endParaRPr lang="en-US" sz="950" dirty="0"/>
          </a:p>
        </p:txBody>
      </p:sp>
      <p:sp>
        <p:nvSpPr>
          <p:cNvPr id="11" name="research card 2"/>
          <p:cNvSpPr/>
          <p:nvPr/>
        </p:nvSpPr>
        <p:spPr>
          <a:xfrm>
            <a:off x="7589520" y="2697480"/>
            <a:ext cx="4023360" cy="1143000"/>
          </a:xfrm>
          <a:prstGeom prst="roundRect">
            <a:avLst>
              <a:gd name="adj" fmla="val 9600"/>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2" name="research 2 circle"/>
          <p:cNvSpPr/>
          <p:nvPr/>
        </p:nvSpPr>
        <p:spPr>
          <a:xfrm>
            <a:off x="7772400" y="2926080"/>
            <a:ext cx="640080" cy="640080"/>
          </a:xfrm>
          <a:prstGeom prst="ellipse">
            <a:avLst/>
          </a:prstGeom>
          <a:solidFill>
            <a:srgbClr val="2E5BE8"/>
          </a:solidFill>
          <a:ln w="12700">
            <a:solidFill>
              <a:srgbClr val="2E5BE8"/>
            </a:solidFill>
            <a:prstDash val="solid"/>
          </a:ln>
        </p:spPr>
      </p:sp>
      <p:pic>
        <p:nvPicPr>
          <p:cNvPr id="13" name="research 2 icon" descr="preencoded.png">    </p:cNvPr>
          <p:cNvPicPr>
            <a:picLocks noChangeAspect="1"/>
          </p:cNvPicPr>
          <p:nvPr/>
        </p:nvPicPr>
        <p:blipFill>
          <a:blip r:embed="rId2"/>
          <a:stretch>
            <a:fillRect/>
          </a:stretch>
        </p:blipFill>
        <p:spPr>
          <a:xfrm>
            <a:off x="7938821" y="3092501"/>
            <a:ext cx="307238" cy="307238"/>
          </a:xfrm>
          <a:prstGeom prst="rect">
            <a:avLst/>
          </a:prstGeom>
        </p:spPr>
      </p:pic>
      <p:sp>
        <p:nvSpPr>
          <p:cNvPr id="14" name="research title 2"/>
          <p:cNvSpPr txBox="1"/>
          <p:nvPr/>
        </p:nvSpPr>
        <p:spPr>
          <a:xfrm>
            <a:off x="8549640" y="2807208"/>
            <a:ext cx="2971800" cy="320040"/>
          </a:xfrm>
          <a:prstGeom prst="rect">
            <a:avLst/>
          </a:prstGeom>
          <a:noFill/>
          <a:ln/>
        </p:spPr>
        <p:txBody>
          <a:bodyPr wrap="square" lIns="0" tIns="0" rIns="0" bIns="0" rtlCol="0" anchor="t"/>
          <a:lstStyle/>
          <a:p>
            <a:pPr indent="0" marL="0">
              <a:buNone/>
            </a:pPr>
            <a:r>
              <a:rPr lang="en-US" sz="1600" b="1" dirty="0">
                <a:solidFill>
                  <a:schemeClr val="tx1"/>
                </a:solidFill>
              </a:rPr>
              <a:t>Lines still need work</a:t>
            </a:r>
            <a:endParaRPr lang="en-US" sz="1600" dirty="0"/>
          </a:p>
        </p:txBody>
      </p:sp>
      <p:sp>
        <p:nvSpPr>
          <p:cNvPr id="15" name="research text 2"/>
          <p:cNvSpPr txBox="1"/>
          <p:nvPr/>
        </p:nvSpPr>
        <p:spPr>
          <a:xfrm>
            <a:off x="8549640" y="3127248"/>
            <a:ext cx="2971800" cy="457200"/>
          </a:xfrm>
          <a:prstGeom prst="rect">
            <a:avLst/>
          </a:prstGeom>
          <a:noFill/>
          <a:ln/>
        </p:spPr>
        <p:txBody>
          <a:bodyPr wrap="square" lIns="0" tIns="0" rIns="0" bIns="0" rtlCol="0" anchor="t"/>
          <a:lstStyle/>
          <a:p>
            <a:pPr indent="0" marL="0">
              <a:buNone/>
            </a:pPr>
            <a:r>
              <a:rPr lang="en-US" sz="1150" dirty="0">
                <a:solidFill>
                  <a:schemeClr val="tx2"/>
                </a:solidFill>
              </a:rPr>
              <a:t>“improved methods are still needed … symbols, text and connectors”</a:t>
            </a:r>
            <a:endParaRPr lang="en-US" sz="1150" dirty="0"/>
          </a:p>
        </p:txBody>
      </p:sp>
      <p:sp>
        <p:nvSpPr>
          <p:cNvPr id="16" name="research source 2"/>
          <p:cNvSpPr txBox="1"/>
          <p:nvPr/>
        </p:nvSpPr>
        <p:spPr>
          <a:xfrm>
            <a:off x="8549640" y="3566160"/>
            <a:ext cx="2971800" cy="228600"/>
          </a:xfrm>
          <a:prstGeom prst="rect">
            <a:avLst/>
          </a:prstGeom>
          <a:noFill/>
          <a:ln/>
        </p:spPr>
        <p:txBody>
          <a:bodyPr wrap="square" lIns="0" tIns="0" rIns="0" bIns="0" rtlCol="0" anchor="t"/>
          <a:lstStyle/>
          <a:p>
            <a:pPr indent="0" marL="0">
              <a:buNone/>
            </a:pPr>
            <a:r>
              <a:rPr lang="en-US" sz="950" i="1" dirty="0">
                <a:solidFill>
                  <a:schemeClr val="accent6"/>
                </a:solidFill>
              </a:rPr>
              <a:t>Jamieson et al., 2024 · AI Review</a:t>
            </a:r>
            <a:endParaRPr lang="en-US" sz="950" dirty="0"/>
          </a:p>
        </p:txBody>
      </p:sp>
      <p:sp>
        <p:nvSpPr>
          <p:cNvPr id="17" name="afriplan answer card"/>
          <p:cNvSpPr/>
          <p:nvPr/>
        </p:nvSpPr>
        <p:spPr>
          <a:xfrm>
            <a:off x="548640" y="4206240"/>
            <a:ext cx="11064240" cy="1325880"/>
          </a:xfrm>
          <a:prstGeom prst="roundRect">
            <a:avLst>
              <a:gd name="adj" fmla="val 8276"/>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8" name="answer circle"/>
          <p:cNvSpPr/>
          <p:nvPr/>
        </p:nvSpPr>
        <p:spPr>
          <a:xfrm>
            <a:off x="777240" y="4480560"/>
            <a:ext cx="777240" cy="777240"/>
          </a:xfrm>
          <a:prstGeom prst="ellipse">
            <a:avLst/>
          </a:prstGeom>
          <a:solidFill>
            <a:srgbClr val="F2A900"/>
          </a:solidFill>
          <a:ln w="12700">
            <a:solidFill>
              <a:srgbClr val="F2A900"/>
            </a:solidFill>
            <a:prstDash val="solid"/>
          </a:ln>
        </p:spPr>
      </p:sp>
      <p:pic>
        <p:nvPicPr>
          <p:cNvPr id="19" name="answer icon" descr="preencoded.png">    </p:cNvPr>
          <p:cNvPicPr>
            <a:picLocks noChangeAspect="1"/>
          </p:cNvPicPr>
          <p:nvPr/>
        </p:nvPicPr>
        <p:blipFill>
          <a:blip r:embed="rId3"/>
          <a:stretch>
            <a:fillRect/>
          </a:stretch>
        </p:blipFill>
        <p:spPr>
          <a:xfrm>
            <a:off x="979322" y="4682642"/>
            <a:ext cx="373075" cy="373075"/>
          </a:xfrm>
          <a:prstGeom prst="rect">
            <a:avLst/>
          </a:prstGeom>
        </p:spPr>
      </p:pic>
      <p:sp>
        <p:nvSpPr>
          <p:cNvPr id="20" name="answer text"/>
          <p:cNvSpPr txBox="1"/>
          <p:nvPr/>
        </p:nvSpPr>
        <p:spPr>
          <a:xfrm>
            <a:off x="1783080" y="4343400"/>
            <a:ext cx="9601200" cy="1051560"/>
          </a:xfrm>
          <a:prstGeom prst="rect">
            <a:avLst/>
          </a:prstGeom>
          <a:noFill/>
          <a:ln/>
        </p:spPr>
        <p:txBody>
          <a:bodyPr wrap="square" lIns="0" tIns="0" rIns="0" bIns="0" rtlCol="0" anchor="ctr"/>
          <a:lstStyle/>
          <a:p>
            <a:pPr indent="0" marL="0">
              <a:buNone/>
            </a:pPr>
            <a:r>
              <a:rPr lang="en-US" sz="1500" b="1" dirty="0">
                <a:solidFill>
                  <a:schemeClr val="tx1"/>
                </a:solidFill>
              </a:rPr>
              <a:t>So AfriPlan does not guess the lines: </a:t>
            </a:r>
            <a:pPr indent="0" marL="0">
              <a:buNone/>
            </a:pPr>
            <a:r>
              <a:rPr lang="en-US" sz="1500" dirty="0">
                <a:solidFill>
                  <a:schemeClr val="tx1"/>
                </a:solidFill>
              </a:rPr>
              <a:t>it reads cable sizes from the single-line diagram and measures feeder routes from the CAD geometry of the site plan — the parts symbol readers leave open — then prices at SA rates and audits the bill.</a:t>
            </a:r>
            <a:endParaRPr lang="en-US" sz="1500" dirty="0"/>
          </a:p>
        </p:txBody>
      </p:sp>
      <p:sp>
        <p:nvSpPr>
          <p:cNvPr id="21" name="source"/>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000" i="1" dirty="0">
                <a:solidFill>
                  <a:schemeClr val="accent6"/>
                </a:solidFill>
              </a:rPr>
              <a:t>Vendor pages read 5 Oct 2026; rand values converted at R17.9 / USD. Vendor accuracy claims ("98–99 %", "70–90 % faster") are not independently verified and are not used.</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The bill's value sits in boards, feeders and trenches</a:t>
            </a:r>
            <a:endParaRPr lang="en-US" sz="3000" dirty="0"/>
          </a:p>
        </p:txBody>
      </p:sp>
      <p:graphicFrame>
        <p:nvGraphicFramePr>
          <p:cNvPr id="4" name="Chart 0" descr=""/>
          <p:cNvGraphicFramePr/>
          <p:nvPr/>
        </p:nvGraphicFramePr>
        <p:xfrm>
          <a:off x="548640" y="1371600"/>
          <a:ext cx="5852160" cy="4572000"/>
        </p:xfrm>
        <a:graphic xmlns:a="http://schemas.openxmlformats.org/drawingml/2006/main">
          <a:graphicData uri="http://schemas.openxmlformats.org/drawingml/2006/chart">
            <c:chart xmlns:c="http://schemas.openxmlformats.org/drawingml/2006/chart" r:id="rId1"/>
          </a:graphicData>
        </a:graphic>
      </p:graphicFrame>
      <p:sp>
        <p:nvSpPr>
          <p:cNvPr id="5" name="value point 1 circle"/>
          <p:cNvSpPr/>
          <p:nvPr/>
        </p:nvSpPr>
        <p:spPr>
          <a:xfrm>
            <a:off x="6766560" y="1554480"/>
            <a:ext cx="685800" cy="685800"/>
          </a:xfrm>
          <a:prstGeom prst="ellipse">
            <a:avLst/>
          </a:prstGeom>
          <a:solidFill>
            <a:srgbClr val="2E5BE8"/>
          </a:solidFill>
          <a:ln w="12700">
            <a:solidFill>
              <a:srgbClr val="2E5BE8"/>
            </a:solidFill>
            <a:prstDash val="solid"/>
          </a:ln>
        </p:spPr>
      </p:sp>
      <p:pic>
        <p:nvPicPr>
          <p:cNvPr id="6" name="value point 1 icon" descr="preencoded.png">    </p:cNvPr>
          <p:cNvPicPr>
            <a:picLocks noChangeAspect="1"/>
          </p:cNvPicPr>
          <p:nvPr/>
        </p:nvPicPr>
        <p:blipFill>
          <a:blip r:embed="rId2"/>
          <a:stretch>
            <a:fillRect/>
          </a:stretch>
        </p:blipFill>
        <p:spPr>
          <a:xfrm>
            <a:off x="6944868" y="1732788"/>
            <a:ext cx="329184" cy="329184"/>
          </a:xfrm>
          <a:prstGeom prst="rect">
            <a:avLst/>
          </a:prstGeom>
        </p:spPr>
      </p:pic>
      <p:sp>
        <p:nvSpPr>
          <p:cNvPr id="7" name="value point title 1"/>
          <p:cNvSpPr txBox="1"/>
          <p:nvPr/>
        </p:nvSpPr>
        <p:spPr>
          <a:xfrm>
            <a:off x="7680960" y="1554480"/>
            <a:ext cx="3931920" cy="365760"/>
          </a:xfrm>
          <a:prstGeom prst="rect">
            <a:avLst/>
          </a:prstGeom>
          <a:noFill/>
          <a:ln/>
        </p:spPr>
        <p:txBody>
          <a:bodyPr wrap="square" lIns="0" tIns="0" rIns="0" bIns="0" rtlCol="0" anchor="t"/>
          <a:lstStyle/>
          <a:p>
            <a:pPr indent="0" marL="0">
              <a:buNone/>
            </a:pPr>
            <a:r>
              <a:rPr lang="en-US" sz="1700" b="1" dirty="0">
                <a:solidFill>
                  <a:schemeClr val="tx1"/>
                </a:solidFill>
              </a:rPr>
              <a:t>Feeders &amp; trenches</a:t>
            </a:r>
            <a:endParaRPr lang="en-US" sz="1700" dirty="0"/>
          </a:p>
        </p:txBody>
      </p:sp>
      <p:sp>
        <p:nvSpPr>
          <p:cNvPr id="8" name="value point text 1"/>
          <p:cNvSpPr txBox="1"/>
          <p:nvPr/>
        </p:nvSpPr>
        <p:spPr>
          <a:xfrm>
            <a:off x="7680960" y="1938528"/>
            <a:ext cx="3931920" cy="822960"/>
          </a:xfrm>
          <a:prstGeom prst="rect">
            <a:avLst/>
          </a:prstGeom>
          <a:noFill/>
          <a:ln/>
        </p:spPr>
        <p:txBody>
          <a:bodyPr wrap="square" lIns="0" tIns="0" rIns="0" bIns="0" rtlCol="0" anchor="t"/>
          <a:lstStyle/>
          <a:p>
            <a:pPr indent="0" marL="0">
              <a:buNone/>
            </a:pPr>
            <a:r>
              <a:rPr lang="en-US" sz="1400" dirty="0">
                <a:solidFill>
                  <a:schemeClr val="tx2"/>
                </a:solidFill>
              </a:rPr>
              <a:t>Cable size from the single-line diagram, length measured on the electrical site plan.</a:t>
            </a:r>
            <a:endParaRPr lang="en-US" sz="1400" dirty="0"/>
          </a:p>
        </p:txBody>
      </p:sp>
      <p:sp>
        <p:nvSpPr>
          <p:cNvPr id="9" name="value point 2 circle"/>
          <p:cNvSpPr/>
          <p:nvPr/>
        </p:nvSpPr>
        <p:spPr>
          <a:xfrm>
            <a:off x="6766560" y="3017520"/>
            <a:ext cx="685800" cy="685800"/>
          </a:xfrm>
          <a:prstGeom prst="ellipse">
            <a:avLst/>
          </a:prstGeom>
          <a:solidFill>
            <a:srgbClr val="2E5BE8"/>
          </a:solidFill>
          <a:ln w="12700">
            <a:solidFill>
              <a:srgbClr val="2E5BE8"/>
            </a:solidFill>
            <a:prstDash val="solid"/>
          </a:ln>
        </p:spPr>
      </p:sp>
      <p:pic>
        <p:nvPicPr>
          <p:cNvPr id="10" name="value point 2 icon" descr="preencoded.png">    </p:cNvPr>
          <p:cNvPicPr>
            <a:picLocks noChangeAspect="1"/>
          </p:cNvPicPr>
          <p:nvPr/>
        </p:nvPicPr>
        <p:blipFill>
          <a:blip r:embed="rId3"/>
          <a:stretch>
            <a:fillRect/>
          </a:stretch>
        </p:blipFill>
        <p:spPr>
          <a:xfrm>
            <a:off x="6944868" y="3195828"/>
            <a:ext cx="329184" cy="329184"/>
          </a:xfrm>
          <a:prstGeom prst="rect">
            <a:avLst/>
          </a:prstGeom>
        </p:spPr>
      </p:pic>
      <p:sp>
        <p:nvSpPr>
          <p:cNvPr id="11" name="value point title 2"/>
          <p:cNvSpPr txBox="1"/>
          <p:nvPr/>
        </p:nvSpPr>
        <p:spPr>
          <a:xfrm>
            <a:off x="7680960" y="3017520"/>
            <a:ext cx="3931920" cy="365760"/>
          </a:xfrm>
          <a:prstGeom prst="rect">
            <a:avLst/>
          </a:prstGeom>
          <a:noFill/>
          <a:ln/>
        </p:spPr>
        <p:txBody>
          <a:bodyPr wrap="square" lIns="0" tIns="0" rIns="0" bIns="0" rtlCol="0" anchor="t"/>
          <a:lstStyle/>
          <a:p>
            <a:pPr indent="0" marL="0">
              <a:buNone/>
            </a:pPr>
            <a:r>
              <a:rPr lang="en-US" sz="1700" b="1" dirty="0">
                <a:solidFill>
                  <a:schemeClr val="tx1"/>
                </a:solidFill>
              </a:rPr>
              <a:t>Distribution boards</a:t>
            </a:r>
            <a:endParaRPr lang="en-US" sz="1700" dirty="0"/>
          </a:p>
        </p:txBody>
      </p:sp>
      <p:sp>
        <p:nvSpPr>
          <p:cNvPr id="12" name="value point text 2"/>
          <p:cNvSpPr txBox="1"/>
          <p:nvPr/>
        </p:nvSpPr>
        <p:spPr>
          <a:xfrm>
            <a:off x="7680960" y="3401568"/>
            <a:ext cx="3931920" cy="822960"/>
          </a:xfrm>
          <a:prstGeom prst="rect">
            <a:avLst/>
          </a:prstGeom>
          <a:noFill/>
          <a:ln/>
        </p:spPr>
        <p:txBody>
          <a:bodyPr wrap="square" lIns="0" tIns="0" rIns="0" bIns="0" rtlCol="0" anchor="t"/>
          <a:lstStyle/>
          <a:p>
            <a:pPr indent="0" marL="0">
              <a:buNone/>
            </a:pPr>
            <a:r>
              <a:rPr lang="en-US" sz="1400" dirty="0">
                <a:solidFill>
                  <a:schemeClr val="tx2"/>
                </a:solidFill>
              </a:rPr>
              <a:t>One per board, never twice across sheets; priced from its contents.</a:t>
            </a:r>
            <a:endParaRPr lang="en-US" sz="1400" dirty="0"/>
          </a:p>
        </p:txBody>
      </p:sp>
      <p:sp>
        <p:nvSpPr>
          <p:cNvPr id="13" name="value point 3 circle"/>
          <p:cNvSpPr/>
          <p:nvPr/>
        </p:nvSpPr>
        <p:spPr>
          <a:xfrm>
            <a:off x="6766560" y="4480560"/>
            <a:ext cx="685800" cy="685800"/>
          </a:xfrm>
          <a:prstGeom prst="ellipse">
            <a:avLst/>
          </a:prstGeom>
          <a:solidFill>
            <a:srgbClr val="F2F4F9"/>
          </a:solidFill>
          <a:ln w="12700">
            <a:solidFill>
              <a:srgbClr val="F2F4F9"/>
            </a:solidFill>
            <a:prstDash val="solid"/>
          </a:ln>
        </p:spPr>
      </p:sp>
      <p:pic>
        <p:nvPicPr>
          <p:cNvPr id="14" name="value point 3 icon" descr="preencoded.png">    </p:cNvPr>
          <p:cNvPicPr>
            <a:picLocks noChangeAspect="1"/>
          </p:cNvPicPr>
          <p:nvPr/>
        </p:nvPicPr>
        <p:blipFill>
          <a:blip r:embed="rId4"/>
          <a:stretch>
            <a:fillRect/>
          </a:stretch>
        </p:blipFill>
        <p:spPr>
          <a:xfrm>
            <a:off x="6944868" y="4658868"/>
            <a:ext cx="329184" cy="329184"/>
          </a:xfrm>
          <a:prstGeom prst="rect">
            <a:avLst/>
          </a:prstGeom>
        </p:spPr>
      </p:pic>
      <p:sp>
        <p:nvSpPr>
          <p:cNvPr id="15" name="value point title 3"/>
          <p:cNvSpPr txBox="1"/>
          <p:nvPr/>
        </p:nvSpPr>
        <p:spPr>
          <a:xfrm>
            <a:off x="7680960" y="4480560"/>
            <a:ext cx="3931920" cy="365760"/>
          </a:xfrm>
          <a:prstGeom prst="rect">
            <a:avLst/>
          </a:prstGeom>
          <a:noFill/>
          <a:ln/>
        </p:spPr>
        <p:txBody>
          <a:bodyPr wrap="square" lIns="0" tIns="0" rIns="0" bIns="0" rtlCol="0" anchor="t"/>
          <a:lstStyle/>
          <a:p>
            <a:pPr indent="0" marL="0">
              <a:buNone/>
            </a:pPr>
            <a:r>
              <a:rPr lang="en-US" sz="1700" b="1" dirty="0">
                <a:solidFill>
                  <a:schemeClr val="tx1"/>
                </a:solidFill>
              </a:rPr>
              <a:t>Symbols are the small part</a:t>
            </a:r>
            <a:endParaRPr lang="en-US" sz="1700" dirty="0"/>
          </a:p>
        </p:txBody>
      </p:sp>
      <p:sp>
        <p:nvSpPr>
          <p:cNvPr id="16" name="value point text 3"/>
          <p:cNvSpPr txBox="1"/>
          <p:nvPr/>
        </p:nvSpPr>
        <p:spPr>
          <a:xfrm>
            <a:off x="7680960" y="4864608"/>
            <a:ext cx="3931920" cy="822960"/>
          </a:xfrm>
          <a:prstGeom prst="rect">
            <a:avLst/>
          </a:prstGeom>
          <a:noFill/>
          <a:ln/>
        </p:spPr>
        <p:txBody>
          <a:bodyPr wrap="square" lIns="0" tIns="0" rIns="0" bIns="0" rtlCol="0" anchor="t"/>
          <a:lstStyle/>
          <a:p>
            <a:pPr indent="0" marL="0">
              <a:buNone/>
            </a:pPr>
            <a:r>
              <a:rPr lang="en-US" sz="1400" dirty="0">
                <a:solidFill>
                  <a:schemeClr val="tx2"/>
                </a:solidFill>
              </a:rPr>
              <a:t>Fittings, outlets and switches: a perfect symbol counter alone scores below 10%.</a:t>
            </a:r>
            <a:endParaRPr lang="en-US" sz="1400" dirty="0"/>
          </a:p>
        </p:txBody>
      </p:sp>
      <p:sp>
        <p:nvSpPr>
          <p:cNvPr id="17" name="source"/>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000" i="1" dirty="0">
                <a:solidFill>
                  <a:schemeClr val="accent6"/>
                </a:solidFill>
              </a:rPr>
              <a:t>Measured on a real, human-priced 7-building reference bill (priced building lines; contingency, VAT and P&amp;Gs excluded).</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What goes in, what comes out</a:t>
            </a:r>
            <a:endParaRPr lang="en-US" sz="3000" dirty="0"/>
          </a:p>
        </p:txBody>
      </p:sp>
      <p:sp>
        <p:nvSpPr>
          <p:cNvPr id="4" name="in heading"/>
          <p:cNvSpPr txBox="1"/>
          <p:nvPr/>
        </p:nvSpPr>
        <p:spPr>
          <a:xfrm>
            <a:off x="548640" y="1371600"/>
            <a:ext cx="3657600" cy="274320"/>
          </a:xfrm>
          <a:prstGeom prst="rect">
            <a:avLst/>
          </a:prstGeom>
          <a:noFill/>
          <a:ln/>
        </p:spPr>
        <p:txBody>
          <a:bodyPr wrap="square" lIns="0" tIns="0" rIns="0" bIns="0" rtlCol="0" anchor="t"/>
          <a:lstStyle/>
          <a:p>
            <a:pPr indent="0" marL="0">
              <a:buNone/>
            </a:pPr>
            <a:r>
              <a:rPr lang="en-US" sz="1200" b="1" dirty="0">
                <a:solidFill>
                  <a:schemeClr val="accent6"/>
                </a:solidFill>
              </a:rPr>
              <a:t>YOU GIVE IT</a:t>
            </a:r>
            <a:endParaRPr lang="en-US" sz="1200" dirty="0"/>
          </a:p>
        </p:txBody>
      </p:sp>
      <p:sp>
        <p:nvSpPr>
          <p:cNvPr id="5" name="out heading"/>
          <p:cNvSpPr txBox="1"/>
          <p:nvPr/>
        </p:nvSpPr>
        <p:spPr>
          <a:xfrm>
            <a:off x="8001000" y="1371600"/>
            <a:ext cx="3657600" cy="274320"/>
          </a:xfrm>
          <a:prstGeom prst="rect">
            <a:avLst/>
          </a:prstGeom>
          <a:noFill/>
          <a:ln/>
        </p:spPr>
        <p:txBody>
          <a:bodyPr wrap="square" lIns="0" tIns="0" rIns="0" bIns="0" rtlCol="0" anchor="t"/>
          <a:lstStyle/>
          <a:p>
            <a:pPr indent="0" marL="0">
              <a:buNone/>
            </a:pPr>
            <a:r>
              <a:rPr lang="en-US" sz="1200" b="1" dirty="0">
                <a:solidFill>
                  <a:schemeClr val="accent6"/>
                </a:solidFill>
              </a:rPr>
              <a:t>YOU GET</a:t>
            </a:r>
            <a:endParaRPr lang="en-US" sz="1200" dirty="0"/>
          </a:p>
        </p:txBody>
      </p:sp>
      <p:sp>
        <p:nvSpPr>
          <p:cNvPr id="6" name="in card 1"/>
          <p:cNvSpPr/>
          <p:nvPr/>
        </p:nvSpPr>
        <p:spPr>
          <a:xfrm>
            <a:off x="548640" y="1737360"/>
            <a:ext cx="3611880" cy="868680"/>
          </a:xfrm>
          <a:prstGeom prst="roundRect">
            <a:avLst>
              <a:gd name="adj" fmla="val 12632"/>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7" name="in 1 circle"/>
          <p:cNvSpPr/>
          <p:nvPr/>
        </p:nvSpPr>
        <p:spPr>
          <a:xfrm>
            <a:off x="713232" y="1874520"/>
            <a:ext cx="594360" cy="594360"/>
          </a:xfrm>
          <a:prstGeom prst="ellipse">
            <a:avLst/>
          </a:prstGeom>
          <a:solidFill>
            <a:srgbClr val="2E5BE8"/>
          </a:solidFill>
          <a:ln w="12700">
            <a:solidFill>
              <a:srgbClr val="2E5BE8"/>
            </a:solidFill>
            <a:prstDash val="solid"/>
          </a:ln>
        </p:spPr>
      </p:sp>
      <p:pic>
        <p:nvPicPr>
          <p:cNvPr id="8" name="in 1 icon" descr="preencoded.png">    </p:cNvPr>
          <p:cNvPicPr>
            <a:picLocks noChangeAspect="1"/>
          </p:cNvPicPr>
          <p:nvPr/>
        </p:nvPicPr>
        <p:blipFill>
          <a:blip r:embed="rId1"/>
          <a:stretch>
            <a:fillRect/>
          </a:stretch>
        </p:blipFill>
        <p:spPr>
          <a:xfrm>
            <a:off x="867766" y="2029054"/>
            <a:ext cx="285293" cy="285293"/>
          </a:xfrm>
          <a:prstGeom prst="rect">
            <a:avLst/>
          </a:prstGeom>
        </p:spPr>
      </p:pic>
      <p:sp>
        <p:nvSpPr>
          <p:cNvPr id="9" name="in title 1"/>
          <p:cNvSpPr txBox="1"/>
          <p:nvPr/>
        </p:nvSpPr>
        <p:spPr>
          <a:xfrm>
            <a:off x="1463040" y="1865376"/>
            <a:ext cx="2606040" cy="320040"/>
          </a:xfrm>
          <a:prstGeom prst="rect">
            <a:avLst/>
          </a:prstGeom>
          <a:noFill/>
          <a:ln/>
        </p:spPr>
        <p:txBody>
          <a:bodyPr wrap="square" lIns="0" tIns="0" rIns="0" bIns="0" rtlCol="0" anchor="t"/>
          <a:lstStyle/>
          <a:p>
            <a:pPr indent="0" marL="0">
              <a:buNone/>
            </a:pPr>
            <a:r>
              <a:rPr lang="en-US" sz="1500" b="1" dirty="0">
                <a:solidFill>
                  <a:schemeClr val="tx1"/>
                </a:solidFill>
              </a:rPr>
              <a:t>PDF drawing set</a:t>
            </a:r>
            <a:endParaRPr lang="en-US" sz="1500" dirty="0"/>
          </a:p>
        </p:txBody>
      </p:sp>
      <p:sp>
        <p:nvSpPr>
          <p:cNvPr id="10" name="in text 1"/>
          <p:cNvSpPr txBox="1"/>
          <p:nvPr/>
        </p:nvSpPr>
        <p:spPr>
          <a:xfrm>
            <a:off x="1463040" y="2194560"/>
            <a:ext cx="2606040" cy="320040"/>
          </a:xfrm>
          <a:prstGeom prst="rect">
            <a:avLst/>
          </a:prstGeom>
          <a:noFill/>
          <a:ln/>
        </p:spPr>
        <p:txBody>
          <a:bodyPr wrap="square" lIns="0" tIns="0" rIns="0" bIns="0" rtlCol="0" anchor="t"/>
          <a:lstStyle/>
          <a:p>
            <a:pPr indent="0" marL="0">
              <a:buNone/>
            </a:pPr>
            <a:r>
              <a:rPr lang="en-US" sz="1150" dirty="0">
                <a:solidFill>
                  <a:schemeClr val="tx2"/>
                </a:solidFill>
              </a:rPr>
              <a:t>scanned or exported pages</a:t>
            </a:r>
            <a:endParaRPr lang="en-US" sz="1150" dirty="0"/>
          </a:p>
        </p:txBody>
      </p:sp>
      <p:sp>
        <p:nvSpPr>
          <p:cNvPr id="11" name="out card 1"/>
          <p:cNvSpPr/>
          <p:nvPr/>
        </p:nvSpPr>
        <p:spPr>
          <a:xfrm>
            <a:off x="8001000" y="1737360"/>
            <a:ext cx="3611880" cy="868680"/>
          </a:xfrm>
          <a:prstGeom prst="roundRect">
            <a:avLst>
              <a:gd name="adj" fmla="val 12632"/>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2" name="out 1 circle"/>
          <p:cNvSpPr/>
          <p:nvPr/>
        </p:nvSpPr>
        <p:spPr>
          <a:xfrm>
            <a:off x="8165592" y="1874520"/>
            <a:ext cx="594360" cy="594360"/>
          </a:xfrm>
          <a:prstGeom prst="ellipse">
            <a:avLst/>
          </a:prstGeom>
          <a:solidFill>
            <a:srgbClr val="2E5BE8"/>
          </a:solidFill>
          <a:ln w="12700">
            <a:solidFill>
              <a:srgbClr val="2E5BE8"/>
            </a:solidFill>
            <a:prstDash val="solid"/>
          </a:ln>
        </p:spPr>
      </p:sp>
      <p:pic>
        <p:nvPicPr>
          <p:cNvPr id="13" name="out 1 icon" descr="preencoded.png">    </p:cNvPr>
          <p:cNvPicPr>
            <a:picLocks noChangeAspect="1"/>
          </p:cNvPicPr>
          <p:nvPr/>
        </p:nvPicPr>
        <p:blipFill>
          <a:blip r:embed="rId2"/>
          <a:stretch>
            <a:fillRect/>
          </a:stretch>
        </p:blipFill>
        <p:spPr>
          <a:xfrm>
            <a:off x="8320126" y="2029054"/>
            <a:ext cx="285293" cy="285293"/>
          </a:xfrm>
          <a:prstGeom prst="rect">
            <a:avLst/>
          </a:prstGeom>
        </p:spPr>
      </p:pic>
      <p:sp>
        <p:nvSpPr>
          <p:cNvPr id="14" name="out title 1"/>
          <p:cNvSpPr txBox="1"/>
          <p:nvPr/>
        </p:nvSpPr>
        <p:spPr>
          <a:xfrm>
            <a:off x="8915400" y="1865376"/>
            <a:ext cx="2606040" cy="320040"/>
          </a:xfrm>
          <a:prstGeom prst="rect">
            <a:avLst/>
          </a:prstGeom>
          <a:noFill/>
          <a:ln/>
        </p:spPr>
        <p:txBody>
          <a:bodyPr wrap="square" lIns="0" tIns="0" rIns="0" bIns="0" rtlCol="0" anchor="t"/>
          <a:lstStyle/>
          <a:p>
            <a:pPr indent="0" marL="0">
              <a:buNone/>
            </a:pPr>
            <a:r>
              <a:rPr lang="en-US" sz="1500" b="1" dirty="0">
                <a:solidFill>
                  <a:schemeClr val="tx1"/>
                </a:solidFill>
              </a:rPr>
              <a:t>Priced BoQ</a:t>
            </a:r>
            <a:endParaRPr lang="en-US" sz="1500" dirty="0"/>
          </a:p>
        </p:txBody>
      </p:sp>
      <p:sp>
        <p:nvSpPr>
          <p:cNvPr id="15" name="out text 1"/>
          <p:cNvSpPr txBox="1"/>
          <p:nvPr/>
        </p:nvSpPr>
        <p:spPr>
          <a:xfrm>
            <a:off x="8915400" y="2194560"/>
            <a:ext cx="2606040" cy="320040"/>
          </a:xfrm>
          <a:prstGeom prst="rect">
            <a:avLst/>
          </a:prstGeom>
          <a:noFill/>
          <a:ln/>
        </p:spPr>
        <p:txBody>
          <a:bodyPr wrap="square" lIns="0" tIns="0" rIns="0" bIns="0" rtlCol="0" anchor="t"/>
          <a:lstStyle/>
          <a:p>
            <a:pPr indent="0" marL="0">
              <a:buNone/>
            </a:pPr>
            <a:r>
              <a:rPr lang="en-US" sz="1150" dirty="0">
                <a:solidFill>
                  <a:schemeClr val="tx2"/>
                </a:solidFill>
              </a:rPr>
              <a:t>Excel + PDF tender document</a:t>
            </a:r>
            <a:endParaRPr lang="en-US" sz="1150" dirty="0"/>
          </a:p>
        </p:txBody>
      </p:sp>
      <p:sp>
        <p:nvSpPr>
          <p:cNvPr id="16" name="in card 2"/>
          <p:cNvSpPr/>
          <p:nvPr/>
        </p:nvSpPr>
        <p:spPr>
          <a:xfrm>
            <a:off x="548640" y="2761488"/>
            <a:ext cx="3611880" cy="868680"/>
          </a:xfrm>
          <a:prstGeom prst="roundRect">
            <a:avLst>
              <a:gd name="adj" fmla="val 12632"/>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7" name="in 2 circle"/>
          <p:cNvSpPr/>
          <p:nvPr/>
        </p:nvSpPr>
        <p:spPr>
          <a:xfrm>
            <a:off x="713232" y="2898648"/>
            <a:ext cx="594360" cy="594360"/>
          </a:xfrm>
          <a:prstGeom prst="ellipse">
            <a:avLst/>
          </a:prstGeom>
          <a:solidFill>
            <a:srgbClr val="2E5BE8"/>
          </a:solidFill>
          <a:ln w="12700">
            <a:solidFill>
              <a:srgbClr val="2E5BE8"/>
            </a:solidFill>
            <a:prstDash val="solid"/>
          </a:ln>
        </p:spPr>
      </p:sp>
      <p:pic>
        <p:nvPicPr>
          <p:cNvPr id="18" name="in 2 icon" descr="preencoded.png">    </p:cNvPr>
          <p:cNvPicPr>
            <a:picLocks noChangeAspect="1"/>
          </p:cNvPicPr>
          <p:nvPr/>
        </p:nvPicPr>
        <p:blipFill>
          <a:blip r:embed="rId3"/>
          <a:stretch>
            <a:fillRect/>
          </a:stretch>
        </p:blipFill>
        <p:spPr>
          <a:xfrm>
            <a:off x="867766" y="3053182"/>
            <a:ext cx="285293" cy="285293"/>
          </a:xfrm>
          <a:prstGeom prst="rect">
            <a:avLst/>
          </a:prstGeom>
        </p:spPr>
      </p:pic>
      <p:sp>
        <p:nvSpPr>
          <p:cNvPr id="19" name="in title 2"/>
          <p:cNvSpPr txBox="1"/>
          <p:nvPr/>
        </p:nvSpPr>
        <p:spPr>
          <a:xfrm>
            <a:off x="1463040" y="2889504"/>
            <a:ext cx="2606040" cy="320040"/>
          </a:xfrm>
          <a:prstGeom prst="rect">
            <a:avLst/>
          </a:prstGeom>
          <a:noFill/>
          <a:ln/>
        </p:spPr>
        <p:txBody>
          <a:bodyPr wrap="square" lIns="0" tIns="0" rIns="0" bIns="0" rtlCol="0" anchor="t"/>
          <a:lstStyle/>
          <a:p>
            <a:pPr indent="0" marL="0">
              <a:buNone/>
            </a:pPr>
            <a:r>
              <a:rPr lang="en-US" sz="1500" b="1" dirty="0">
                <a:solidFill>
                  <a:schemeClr val="tx1"/>
                </a:solidFill>
              </a:rPr>
              <a:t>CAD drawing set</a:t>
            </a:r>
            <a:endParaRPr lang="en-US" sz="1500" dirty="0"/>
          </a:p>
        </p:txBody>
      </p:sp>
      <p:sp>
        <p:nvSpPr>
          <p:cNvPr id="20" name="in text 2"/>
          <p:cNvSpPr txBox="1"/>
          <p:nvPr/>
        </p:nvSpPr>
        <p:spPr>
          <a:xfrm>
            <a:off x="1463040" y="3218688"/>
            <a:ext cx="2606040" cy="320040"/>
          </a:xfrm>
          <a:prstGeom prst="rect">
            <a:avLst/>
          </a:prstGeom>
          <a:noFill/>
          <a:ln/>
        </p:spPr>
        <p:txBody>
          <a:bodyPr wrap="square" lIns="0" tIns="0" rIns="0" bIns="0" rtlCol="0" anchor="t"/>
          <a:lstStyle/>
          <a:p>
            <a:pPr indent="0" marL="0">
              <a:buNone/>
            </a:pPr>
            <a:r>
              <a:rPr lang="en-US" sz="1150" dirty="0">
                <a:solidFill>
                  <a:schemeClr val="tx2"/>
                </a:solidFill>
              </a:rPr>
              <a:t>DWG / DXF: SLDs, layouts, site plan</a:t>
            </a:r>
            <a:endParaRPr lang="en-US" sz="1150" dirty="0"/>
          </a:p>
        </p:txBody>
      </p:sp>
      <p:sp>
        <p:nvSpPr>
          <p:cNvPr id="21" name="out card 2"/>
          <p:cNvSpPr/>
          <p:nvPr/>
        </p:nvSpPr>
        <p:spPr>
          <a:xfrm>
            <a:off x="8001000" y="2761488"/>
            <a:ext cx="3611880" cy="868680"/>
          </a:xfrm>
          <a:prstGeom prst="roundRect">
            <a:avLst>
              <a:gd name="adj" fmla="val 12632"/>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2" name="out 2 circle"/>
          <p:cNvSpPr/>
          <p:nvPr/>
        </p:nvSpPr>
        <p:spPr>
          <a:xfrm>
            <a:off x="8165592" y="2898648"/>
            <a:ext cx="594360" cy="594360"/>
          </a:xfrm>
          <a:prstGeom prst="ellipse">
            <a:avLst/>
          </a:prstGeom>
          <a:solidFill>
            <a:srgbClr val="2E5BE8"/>
          </a:solidFill>
          <a:ln w="12700">
            <a:solidFill>
              <a:srgbClr val="2E5BE8"/>
            </a:solidFill>
            <a:prstDash val="solid"/>
          </a:ln>
        </p:spPr>
      </p:sp>
      <p:pic>
        <p:nvPicPr>
          <p:cNvPr id="23" name="out 2 icon" descr="preencoded.png">    </p:cNvPr>
          <p:cNvPicPr>
            <a:picLocks noChangeAspect="1"/>
          </p:cNvPicPr>
          <p:nvPr/>
        </p:nvPicPr>
        <p:blipFill>
          <a:blip r:embed="rId4"/>
          <a:stretch>
            <a:fillRect/>
          </a:stretch>
        </p:blipFill>
        <p:spPr>
          <a:xfrm>
            <a:off x="8320126" y="3053182"/>
            <a:ext cx="285293" cy="285293"/>
          </a:xfrm>
          <a:prstGeom prst="rect">
            <a:avLst/>
          </a:prstGeom>
        </p:spPr>
      </p:pic>
      <p:sp>
        <p:nvSpPr>
          <p:cNvPr id="24" name="out title 2"/>
          <p:cNvSpPr txBox="1"/>
          <p:nvPr/>
        </p:nvSpPr>
        <p:spPr>
          <a:xfrm>
            <a:off x="8915400" y="2889504"/>
            <a:ext cx="2606040" cy="320040"/>
          </a:xfrm>
          <a:prstGeom prst="rect">
            <a:avLst/>
          </a:prstGeom>
          <a:noFill/>
          <a:ln/>
        </p:spPr>
        <p:txBody>
          <a:bodyPr wrap="square" lIns="0" tIns="0" rIns="0" bIns="0" rtlCol="0" anchor="t"/>
          <a:lstStyle/>
          <a:p>
            <a:pPr indent="0" marL="0">
              <a:buNone/>
            </a:pPr>
            <a:r>
              <a:rPr lang="en-US" sz="1500" b="1" dirty="0">
                <a:solidFill>
                  <a:schemeClr val="tx1"/>
                </a:solidFill>
              </a:rPr>
              <a:t>Things to check</a:t>
            </a:r>
            <a:endParaRPr lang="en-US" sz="1500" dirty="0"/>
          </a:p>
        </p:txBody>
      </p:sp>
      <p:sp>
        <p:nvSpPr>
          <p:cNvPr id="25" name="out text 2"/>
          <p:cNvSpPr txBox="1"/>
          <p:nvPr/>
        </p:nvSpPr>
        <p:spPr>
          <a:xfrm>
            <a:off x="8915400" y="3218688"/>
            <a:ext cx="2606040" cy="320040"/>
          </a:xfrm>
          <a:prstGeom prst="rect">
            <a:avLst/>
          </a:prstGeom>
          <a:noFill/>
          <a:ln/>
        </p:spPr>
        <p:txBody>
          <a:bodyPr wrap="square" lIns="0" tIns="0" rIns="0" bIns="0" rtlCol="0" anchor="t"/>
          <a:lstStyle/>
          <a:p>
            <a:pPr indent="0" marL="0">
              <a:buNone/>
            </a:pPr>
            <a:r>
              <a:rPr lang="en-US" sz="1150" dirty="0">
                <a:solidFill>
                  <a:schemeClr val="tx2"/>
                </a:solidFill>
              </a:rPr>
              <a:t>every assumption, most serious first</a:t>
            </a:r>
            <a:endParaRPr lang="en-US" sz="1150" dirty="0"/>
          </a:p>
        </p:txBody>
      </p:sp>
      <p:sp>
        <p:nvSpPr>
          <p:cNvPr id="26" name="in card 3"/>
          <p:cNvSpPr/>
          <p:nvPr/>
        </p:nvSpPr>
        <p:spPr>
          <a:xfrm>
            <a:off x="548640" y="3785616"/>
            <a:ext cx="3611880" cy="868680"/>
          </a:xfrm>
          <a:prstGeom prst="roundRect">
            <a:avLst>
              <a:gd name="adj" fmla="val 12632"/>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7" name="in 3 circle"/>
          <p:cNvSpPr/>
          <p:nvPr/>
        </p:nvSpPr>
        <p:spPr>
          <a:xfrm>
            <a:off x="713232" y="3922776"/>
            <a:ext cx="594360" cy="594360"/>
          </a:xfrm>
          <a:prstGeom prst="ellipse">
            <a:avLst/>
          </a:prstGeom>
          <a:solidFill>
            <a:srgbClr val="2E5BE8"/>
          </a:solidFill>
          <a:ln w="12700">
            <a:solidFill>
              <a:srgbClr val="2E5BE8"/>
            </a:solidFill>
            <a:prstDash val="solid"/>
          </a:ln>
        </p:spPr>
      </p:sp>
      <p:pic>
        <p:nvPicPr>
          <p:cNvPr id="28" name="in 3 icon" descr="preencoded.png">    </p:cNvPr>
          <p:cNvPicPr>
            <a:picLocks noChangeAspect="1"/>
          </p:cNvPicPr>
          <p:nvPr/>
        </p:nvPicPr>
        <p:blipFill>
          <a:blip r:embed="rId5"/>
          <a:stretch>
            <a:fillRect/>
          </a:stretch>
        </p:blipFill>
        <p:spPr>
          <a:xfrm>
            <a:off x="867766" y="4077310"/>
            <a:ext cx="285293" cy="285293"/>
          </a:xfrm>
          <a:prstGeom prst="rect">
            <a:avLst/>
          </a:prstGeom>
        </p:spPr>
      </p:pic>
      <p:sp>
        <p:nvSpPr>
          <p:cNvPr id="29" name="in title 3"/>
          <p:cNvSpPr txBox="1"/>
          <p:nvPr/>
        </p:nvSpPr>
        <p:spPr>
          <a:xfrm>
            <a:off x="1463040" y="3913632"/>
            <a:ext cx="2606040" cy="320040"/>
          </a:xfrm>
          <a:prstGeom prst="rect">
            <a:avLst/>
          </a:prstGeom>
          <a:noFill/>
          <a:ln/>
        </p:spPr>
        <p:txBody>
          <a:bodyPr wrap="square" lIns="0" tIns="0" rIns="0" bIns="0" rtlCol="0" anchor="t"/>
          <a:lstStyle/>
          <a:p>
            <a:pPr indent="0" marL="0">
              <a:buNone/>
            </a:pPr>
            <a:r>
              <a:rPr lang="en-US" sz="1500" b="1" dirty="0">
                <a:solidFill>
                  <a:schemeClr val="tx1"/>
                </a:solidFill>
              </a:rPr>
              <a:t>Both</a:t>
            </a:r>
            <a:endParaRPr lang="en-US" sz="1500" dirty="0"/>
          </a:p>
        </p:txBody>
      </p:sp>
      <p:sp>
        <p:nvSpPr>
          <p:cNvPr id="30" name="in text 3"/>
          <p:cNvSpPr txBox="1"/>
          <p:nvPr/>
        </p:nvSpPr>
        <p:spPr>
          <a:xfrm>
            <a:off x="1463040" y="4242816"/>
            <a:ext cx="2606040" cy="320040"/>
          </a:xfrm>
          <a:prstGeom prst="rect">
            <a:avLst/>
          </a:prstGeom>
          <a:noFill/>
          <a:ln/>
        </p:spPr>
        <p:txBody>
          <a:bodyPr wrap="square" lIns="0" tIns="0" rIns="0" bIns="0" rtlCol="0" anchor="t"/>
          <a:lstStyle/>
          <a:p>
            <a:pPr indent="0" marL="0">
              <a:buNone/>
            </a:pPr>
            <a:r>
              <a:rPr lang="en-US" sz="1150" dirty="0">
                <a:solidFill>
                  <a:schemeClr val="tx2"/>
                </a:solidFill>
              </a:rPr>
              <a:t>read separately, then compared and combined</a:t>
            </a:r>
            <a:endParaRPr lang="en-US" sz="1150" dirty="0"/>
          </a:p>
        </p:txBody>
      </p:sp>
      <p:sp>
        <p:nvSpPr>
          <p:cNvPr id="31" name="out card 3"/>
          <p:cNvSpPr/>
          <p:nvPr/>
        </p:nvSpPr>
        <p:spPr>
          <a:xfrm>
            <a:off x="8001000" y="3785616"/>
            <a:ext cx="3611880" cy="868680"/>
          </a:xfrm>
          <a:prstGeom prst="roundRect">
            <a:avLst>
              <a:gd name="adj" fmla="val 12632"/>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32" name="out 3 circle"/>
          <p:cNvSpPr/>
          <p:nvPr/>
        </p:nvSpPr>
        <p:spPr>
          <a:xfrm>
            <a:off x="8165592" y="3922776"/>
            <a:ext cx="594360" cy="594360"/>
          </a:xfrm>
          <a:prstGeom prst="ellipse">
            <a:avLst/>
          </a:prstGeom>
          <a:solidFill>
            <a:srgbClr val="2E5BE8"/>
          </a:solidFill>
          <a:ln w="12700">
            <a:solidFill>
              <a:srgbClr val="2E5BE8"/>
            </a:solidFill>
            <a:prstDash val="solid"/>
          </a:ln>
        </p:spPr>
      </p:sp>
      <p:pic>
        <p:nvPicPr>
          <p:cNvPr id="33" name="out 3 icon" descr="preencoded.png">    </p:cNvPr>
          <p:cNvPicPr>
            <a:picLocks noChangeAspect="1"/>
          </p:cNvPicPr>
          <p:nvPr/>
        </p:nvPicPr>
        <p:blipFill>
          <a:blip r:embed="rId6"/>
          <a:stretch>
            <a:fillRect/>
          </a:stretch>
        </p:blipFill>
        <p:spPr>
          <a:xfrm>
            <a:off x="8320126" y="4077310"/>
            <a:ext cx="285293" cy="285293"/>
          </a:xfrm>
          <a:prstGeom prst="rect">
            <a:avLst/>
          </a:prstGeom>
        </p:spPr>
      </p:pic>
      <p:sp>
        <p:nvSpPr>
          <p:cNvPr id="34" name="out title 3"/>
          <p:cNvSpPr txBox="1"/>
          <p:nvPr/>
        </p:nvSpPr>
        <p:spPr>
          <a:xfrm>
            <a:off x="8915400" y="3913632"/>
            <a:ext cx="2606040" cy="320040"/>
          </a:xfrm>
          <a:prstGeom prst="rect">
            <a:avLst/>
          </a:prstGeom>
          <a:noFill/>
          <a:ln/>
        </p:spPr>
        <p:txBody>
          <a:bodyPr wrap="square" lIns="0" tIns="0" rIns="0" bIns="0" rtlCol="0" anchor="t"/>
          <a:lstStyle/>
          <a:p>
            <a:pPr indent="0" marL="0">
              <a:buNone/>
            </a:pPr>
            <a:r>
              <a:rPr lang="en-US" sz="1500" b="1" dirty="0">
                <a:solidFill>
                  <a:schemeClr val="tx1"/>
                </a:solidFill>
              </a:rPr>
              <a:t>Comparison &amp; audit</a:t>
            </a:r>
            <a:endParaRPr lang="en-US" sz="1500" dirty="0"/>
          </a:p>
        </p:txBody>
      </p:sp>
      <p:sp>
        <p:nvSpPr>
          <p:cNvPr id="35" name="out text 3"/>
          <p:cNvSpPr txBox="1"/>
          <p:nvPr/>
        </p:nvSpPr>
        <p:spPr>
          <a:xfrm>
            <a:off x="8915400" y="4242816"/>
            <a:ext cx="2606040" cy="320040"/>
          </a:xfrm>
          <a:prstGeom prst="rect">
            <a:avLst/>
          </a:prstGeom>
          <a:noFill/>
          <a:ln/>
        </p:spPr>
        <p:txBody>
          <a:bodyPr wrap="square" lIns="0" tIns="0" rIns="0" bIns="0" rtlCol="0" anchor="t"/>
          <a:lstStyle/>
          <a:p>
            <a:pPr indent="0" marL="0">
              <a:buNone/>
            </a:pPr>
            <a:r>
              <a:rPr lang="en-US" sz="1150" dirty="0">
                <a:solidFill>
                  <a:schemeClr val="tx2"/>
                </a:solidFill>
              </a:rPr>
              <a:t>where readers agree; what a bill misses</a:t>
            </a:r>
            <a:endParaRPr lang="en-US" sz="1150" dirty="0"/>
          </a:p>
        </p:txBody>
      </p:sp>
      <p:sp>
        <p:nvSpPr>
          <p:cNvPr id="36" name="in card 4"/>
          <p:cNvSpPr/>
          <p:nvPr/>
        </p:nvSpPr>
        <p:spPr>
          <a:xfrm>
            <a:off x="548640" y="4809744"/>
            <a:ext cx="3611880" cy="868680"/>
          </a:xfrm>
          <a:prstGeom prst="roundRect">
            <a:avLst>
              <a:gd name="adj" fmla="val 12632"/>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37" name="in 4 circle"/>
          <p:cNvSpPr/>
          <p:nvPr/>
        </p:nvSpPr>
        <p:spPr>
          <a:xfrm>
            <a:off x="713232" y="4946904"/>
            <a:ext cx="594360" cy="594360"/>
          </a:xfrm>
          <a:prstGeom prst="ellipse">
            <a:avLst/>
          </a:prstGeom>
          <a:solidFill>
            <a:srgbClr val="2E5BE8"/>
          </a:solidFill>
          <a:ln w="12700">
            <a:solidFill>
              <a:srgbClr val="2E5BE8"/>
            </a:solidFill>
            <a:prstDash val="solid"/>
          </a:ln>
        </p:spPr>
      </p:sp>
      <p:pic>
        <p:nvPicPr>
          <p:cNvPr id="38" name="in 4 icon" descr="preencoded.png">    </p:cNvPr>
          <p:cNvPicPr>
            <a:picLocks noChangeAspect="1"/>
          </p:cNvPicPr>
          <p:nvPr/>
        </p:nvPicPr>
        <p:blipFill>
          <a:blip r:embed="rId7"/>
          <a:stretch>
            <a:fillRect/>
          </a:stretch>
        </p:blipFill>
        <p:spPr>
          <a:xfrm>
            <a:off x="867766" y="5101438"/>
            <a:ext cx="285293" cy="285293"/>
          </a:xfrm>
          <a:prstGeom prst="rect">
            <a:avLst/>
          </a:prstGeom>
        </p:spPr>
      </p:pic>
      <p:sp>
        <p:nvSpPr>
          <p:cNvPr id="39" name="in title 4"/>
          <p:cNvSpPr txBox="1"/>
          <p:nvPr/>
        </p:nvSpPr>
        <p:spPr>
          <a:xfrm>
            <a:off x="1463040" y="4937760"/>
            <a:ext cx="2606040" cy="320040"/>
          </a:xfrm>
          <a:prstGeom prst="rect">
            <a:avLst/>
          </a:prstGeom>
          <a:noFill/>
          <a:ln/>
        </p:spPr>
        <p:txBody>
          <a:bodyPr wrap="square" lIns="0" tIns="0" rIns="0" bIns="0" rtlCol="0" anchor="t"/>
          <a:lstStyle/>
          <a:p>
            <a:pPr indent="0" marL="0">
              <a:buNone/>
            </a:pPr>
            <a:r>
              <a:rPr lang="en-US" sz="1500" b="1" dirty="0">
                <a:solidFill>
                  <a:schemeClr val="tx1"/>
                </a:solidFill>
              </a:rPr>
              <a:t>An existing BoQ</a:t>
            </a:r>
            <a:endParaRPr lang="en-US" sz="1500" dirty="0"/>
          </a:p>
        </p:txBody>
      </p:sp>
      <p:sp>
        <p:nvSpPr>
          <p:cNvPr id="40" name="in text 4"/>
          <p:cNvSpPr txBox="1"/>
          <p:nvPr/>
        </p:nvSpPr>
        <p:spPr>
          <a:xfrm>
            <a:off x="1463040" y="5266944"/>
            <a:ext cx="2606040" cy="320040"/>
          </a:xfrm>
          <a:prstGeom prst="rect">
            <a:avLst/>
          </a:prstGeom>
          <a:noFill/>
          <a:ln/>
        </p:spPr>
        <p:txBody>
          <a:bodyPr wrap="square" lIns="0" tIns="0" rIns="0" bIns="0" rtlCol="0" anchor="t"/>
          <a:lstStyle/>
          <a:p>
            <a:pPr indent="0" marL="0">
              <a:buNone/>
            </a:pPr>
            <a:r>
              <a:rPr lang="en-US" sz="1150" dirty="0">
                <a:solidFill>
                  <a:schemeClr val="tx2"/>
                </a:solidFill>
              </a:rPr>
              <a:t>optional — audited for errors and gaps</a:t>
            </a:r>
            <a:endParaRPr lang="en-US" sz="1150" dirty="0"/>
          </a:p>
        </p:txBody>
      </p:sp>
      <p:sp>
        <p:nvSpPr>
          <p:cNvPr id="41" name="out card 4"/>
          <p:cNvSpPr/>
          <p:nvPr/>
        </p:nvSpPr>
        <p:spPr>
          <a:xfrm>
            <a:off x="8001000" y="4809744"/>
            <a:ext cx="3611880" cy="868680"/>
          </a:xfrm>
          <a:prstGeom prst="roundRect">
            <a:avLst>
              <a:gd name="adj" fmla="val 12632"/>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42" name="out 4 circle"/>
          <p:cNvSpPr/>
          <p:nvPr/>
        </p:nvSpPr>
        <p:spPr>
          <a:xfrm>
            <a:off x="8165592" y="4946904"/>
            <a:ext cx="594360" cy="594360"/>
          </a:xfrm>
          <a:prstGeom prst="ellipse">
            <a:avLst/>
          </a:prstGeom>
          <a:solidFill>
            <a:srgbClr val="2E5BE8"/>
          </a:solidFill>
          <a:ln w="12700">
            <a:solidFill>
              <a:srgbClr val="2E5BE8"/>
            </a:solidFill>
            <a:prstDash val="solid"/>
          </a:ln>
        </p:spPr>
      </p:sp>
      <p:pic>
        <p:nvPicPr>
          <p:cNvPr id="43" name="out 4 icon" descr="preencoded.png">    </p:cNvPr>
          <p:cNvPicPr>
            <a:picLocks noChangeAspect="1"/>
          </p:cNvPicPr>
          <p:nvPr/>
        </p:nvPicPr>
        <p:blipFill>
          <a:blip r:embed="rId8"/>
          <a:stretch>
            <a:fillRect/>
          </a:stretch>
        </p:blipFill>
        <p:spPr>
          <a:xfrm>
            <a:off x="8320126" y="5101438"/>
            <a:ext cx="285293" cy="285293"/>
          </a:xfrm>
          <a:prstGeom prst="rect">
            <a:avLst/>
          </a:prstGeom>
        </p:spPr>
      </p:pic>
      <p:sp>
        <p:nvSpPr>
          <p:cNvPr id="44" name="out title 4"/>
          <p:cNvSpPr txBox="1"/>
          <p:nvPr/>
        </p:nvSpPr>
        <p:spPr>
          <a:xfrm>
            <a:off x="8915400" y="4937760"/>
            <a:ext cx="2606040" cy="320040"/>
          </a:xfrm>
          <a:prstGeom prst="rect">
            <a:avLst/>
          </a:prstGeom>
          <a:noFill/>
          <a:ln/>
        </p:spPr>
        <p:txBody>
          <a:bodyPr wrap="square" lIns="0" tIns="0" rIns="0" bIns="0" rtlCol="0" anchor="t"/>
          <a:lstStyle/>
          <a:p>
            <a:pPr indent="0" marL="0">
              <a:buNone/>
            </a:pPr>
            <a:r>
              <a:rPr lang="en-US" sz="1500" b="1" dirty="0">
                <a:solidFill>
                  <a:schemeClr val="tx1"/>
                </a:solidFill>
              </a:rPr>
              <a:t>Accuracy report</a:t>
            </a:r>
            <a:endParaRPr lang="en-US" sz="1500" dirty="0"/>
          </a:p>
        </p:txBody>
      </p:sp>
      <p:sp>
        <p:nvSpPr>
          <p:cNvPr id="45" name="out text 4"/>
          <p:cNvSpPr txBox="1"/>
          <p:nvPr/>
        </p:nvSpPr>
        <p:spPr>
          <a:xfrm>
            <a:off x="8915400" y="5266944"/>
            <a:ext cx="2606040" cy="320040"/>
          </a:xfrm>
          <a:prstGeom prst="rect">
            <a:avLst/>
          </a:prstGeom>
          <a:noFill/>
          <a:ln/>
        </p:spPr>
        <p:txBody>
          <a:bodyPr wrap="square" lIns="0" tIns="0" rIns="0" bIns="0" rtlCol="0" anchor="t"/>
          <a:lstStyle/>
          <a:p>
            <a:pPr indent="0" marL="0">
              <a:buNone/>
            </a:pPr>
            <a:r>
              <a:rPr lang="en-US" sz="1150" dirty="0">
                <a:solidFill>
                  <a:schemeClr val="tx2"/>
                </a:solidFill>
              </a:rPr>
              <a:t>against a real bill, when one exists</a:t>
            </a:r>
            <a:endParaRPr lang="en-US" sz="1150" dirty="0"/>
          </a:p>
        </p:txBody>
      </p:sp>
      <p:sp>
        <p:nvSpPr>
          <p:cNvPr id="46" name="afriplan box"/>
          <p:cNvSpPr/>
          <p:nvPr/>
        </p:nvSpPr>
        <p:spPr>
          <a:xfrm>
            <a:off x="4572000" y="1737360"/>
            <a:ext cx="3063240" cy="3941064"/>
          </a:xfrm>
          <a:prstGeom prst="roundRect">
            <a:avLst>
              <a:gd name="adj" fmla="val 4478"/>
            </a:avLst>
          </a:prstGeom>
          <a:solidFill>
            <a:schemeClr val="tx1"/>
          </a:solidFill>
          <a:ln w="12700">
            <a:solidFill>
              <a:srgbClr val="101A33"/>
            </a:solidFill>
            <a:prstDash val="solid"/>
          </a:ln>
        </p:spPr>
      </p:sp>
      <p:sp>
        <p:nvSpPr>
          <p:cNvPr id="47" name="afriplan name"/>
          <p:cNvSpPr txBox="1"/>
          <p:nvPr/>
        </p:nvSpPr>
        <p:spPr>
          <a:xfrm>
            <a:off x="4572000" y="1874520"/>
            <a:ext cx="3063240" cy="457200"/>
          </a:xfrm>
          <a:prstGeom prst="rect">
            <a:avLst/>
          </a:prstGeom>
          <a:noFill/>
          <a:ln/>
        </p:spPr>
        <p:txBody>
          <a:bodyPr wrap="square" lIns="0" tIns="0" rIns="0" bIns="0" rtlCol="0" anchor="t"/>
          <a:lstStyle/>
          <a:p>
            <a:pPr algn="ctr" indent="0" marL="0">
              <a:buNone/>
            </a:pPr>
            <a:r>
              <a:rPr lang="en-US" sz="2200" b="1" dirty="0">
                <a:solidFill>
                  <a:schemeClr val="bg1"/>
                </a:solidFill>
                <a:latin typeface="Cambria" pitchFamily="34" charset="0"/>
                <a:ea typeface="Cambria" pitchFamily="34" charset="-122"/>
                <a:cs typeface="Cambria" pitchFamily="34" charset="-120"/>
              </a:rPr>
              <a:t>AfriPlan</a:t>
            </a:r>
            <a:endParaRPr lang="en-US" sz="2200" dirty="0"/>
          </a:p>
        </p:txBody>
      </p:sp>
      <p:sp>
        <p:nvSpPr>
          <p:cNvPr id="48" name="core step 1 circle"/>
          <p:cNvSpPr/>
          <p:nvPr/>
        </p:nvSpPr>
        <p:spPr>
          <a:xfrm>
            <a:off x="4846320" y="2514600"/>
            <a:ext cx="640080" cy="640080"/>
          </a:xfrm>
          <a:prstGeom prst="ellipse">
            <a:avLst/>
          </a:prstGeom>
          <a:solidFill>
            <a:srgbClr val="F2A900"/>
          </a:solidFill>
          <a:ln w="12700">
            <a:solidFill>
              <a:srgbClr val="F2A900"/>
            </a:solidFill>
            <a:prstDash val="solid"/>
          </a:ln>
        </p:spPr>
      </p:sp>
      <p:pic>
        <p:nvPicPr>
          <p:cNvPr id="49" name="core step 1 icon" descr="preencoded.png">    </p:cNvPr>
          <p:cNvPicPr>
            <a:picLocks noChangeAspect="1"/>
          </p:cNvPicPr>
          <p:nvPr/>
        </p:nvPicPr>
        <p:blipFill>
          <a:blip r:embed="rId9"/>
          <a:stretch>
            <a:fillRect/>
          </a:stretch>
        </p:blipFill>
        <p:spPr>
          <a:xfrm>
            <a:off x="5012741" y="2681021"/>
            <a:ext cx="307238" cy="307238"/>
          </a:xfrm>
          <a:prstGeom prst="rect">
            <a:avLst/>
          </a:prstGeom>
        </p:spPr>
      </p:pic>
      <p:sp>
        <p:nvSpPr>
          <p:cNvPr id="50" name="core title 1"/>
          <p:cNvSpPr txBox="1"/>
          <p:nvPr/>
        </p:nvSpPr>
        <p:spPr>
          <a:xfrm>
            <a:off x="5623560" y="2532888"/>
            <a:ext cx="1920240" cy="320040"/>
          </a:xfrm>
          <a:prstGeom prst="rect">
            <a:avLst/>
          </a:prstGeom>
          <a:noFill/>
          <a:ln/>
        </p:spPr>
        <p:txBody>
          <a:bodyPr wrap="square" lIns="0" tIns="0" rIns="0" bIns="0" rtlCol="0" anchor="t"/>
          <a:lstStyle/>
          <a:p>
            <a:pPr indent="0" marL="0">
              <a:buNone/>
            </a:pPr>
            <a:r>
              <a:rPr lang="en-US" sz="1500" b="1" dirty="0">
                <a:solidFill>
                  <a:schemeClr val="bg1"/>
                </a:solidFill>
              </a:rPr>
              <a:t>1  Read</a:t>
            </a:r>
            <a:endParaRPr lang="en-US" sz="1500" dirty="0"/>
          </a:p>
        </p:txBody>
      </p:sp>
      <p:sp>
        <p:nvSpPr>
          <p:cNvPr id="51" name="core text 1"/>
          <p:cNvSpPr txBox="1"/>
          <p:nvPr/>
        </p:nvSpPr>
        <p:spPr>
          <a:xfrm>
            <a:off x="5623560" y="2843784"/>
            <a:ext cx="1920240" cy="274320"/>
          </a:xfrm>
          <a:prstGeom prst="rect">
            <a:avLst/>
          </a:prstGeom>
          <a:noFill/>
          <a:ln/>
        </p:spPr>
        <p:txBody>
          <a:bodyPr wrap="square" lIns="0" tIns="0" rIns="0" bIns="0" rtlCol="0" anchor="t"/>
          <a:lstStyle/>
          <a:p>
            <a:pPr indent="0" marL="0">
              <a:buNone/>
            </a:pPr>
            <a:r>
              <a:rPr lang="en-US" sz="1200" dirty="0">
                <a:solidFill>
                  <a:srgbClr val="CADCFC"/>
                </a:solidFill>
              </a:rPr>
              <a:t>what is drawn</a:t>
            </a:r>
            <a:endParaRPr lang="en-US" sz="1200" dirty="0"/>
          </a:p>
        </p:txBody>
      </p:sp>
      <p:sp>
        <p:nvSpPr>
          <p:cNvPr id="52" name="core step 2 circle"/>
          <p:cNvSpPr/>
          <p:nvPr/>
        </p:nvSpPr>
        <p:spPr>
          <a:xfrm>
            <a:off x="4846320" y="3538728"/>
            <a:ext cx="640080" cy="640080"/>
          </a:xfrm>
          <a:prstGeom prst="ellipse">
            <a:avLst/>
          </a:prstGeom>
          <a:solidFill>
            <a:srgbClr val="F2A900"/>
          </a:solidFill>
          <a:ln w="12700">
            <a:solidFill>
              <a:srgbClr val="F2A900"/>
            </a:solidFill>
            <a:prstDash val="solid"/>
          </a:ln>
        </p:spPr>
      </p:sp>
      <p:pic>
        <p:nvPicPr>
          <p:cNvPr id="53" name="core step 2 icon" descr="preencoded.png">    </p:cNvPr>
          <p:cNvPicPr>
            <a:picLocks noChangeAspect="1"/>
          </p:cNvPicPr>
          <p:nvPr/>
        </p:nvPicPr>
        <p:blipFill>
          <a:blip r:embed="rId10"/>
          <a:stretch>
            <a:fillRect/>
          </a:stretch>
        </p:blipFill>
        <p:spPr>
          <a:xfrm>
            <a:off x="5012741" y="3705149"/>
            <a:ext cx="307238" cy="307238"/>
          </a:xfrm>
          <a:prstGeom prst="rect">
            <a:avLst/>
          </a:prstGeom>
        </p:spPr>
      </p:pic>
      <p:sp>
        <p:nvSpPr>
          <p:cNvPr id="54" name="core title 2"/>
          <p:cNvSpPr txBox="1"/>
          <p:nvPr/>
        </p:nvSpPr>
        <p:spPr>
          <a:xfrm>
            <a:off x="5623560" y="3557016"/>
            <a:ext cx="1920240" cy="320040"/>
          </a:xfrm>
          <a:prstGeom prst="rect">
            <a:avLst/>
          </a:prstGeom>
          <a:noFill/>
          <a:ln/>
        </p:spPr>
        <p:txBody>
          <a:bodyPr wrap="square" lIns="0" tIns="0" rIns="0" bIns="0" rtlCol="0" anchor="t"/>
          <a:lstStyle/>
          <a:p>
            <a:pPr indent="0" marL="0">
              <a:buNone/>
            </a:pPr>
            <a:r>
              <a:rPr lang="en-US" sz="1500" b="1" dirty="0">
                <a:solidFill>
                  <a:schemeClr val="bg1"/>
                </a:solidFill>
              </a:rPr>
              <a:t>2  Check</a:t>
            </a:r>
            <a:endParaRPr lang="en-US" sz="1500" dirty="0"/>
          </a:p>
        </p:txBody>
      </p:sp>
      <p:sp>
        <p:nvSpPr>
          <p:cNvPr id="55" name="core text 2"/>
          <p:cNvSpPr txBox="1"/>
          <p:nvPr/>
        </p:nvSpPr>
        <p:spPr>
          <a:xfrm>
            <a:off x="5623560" y="3867912"/>
            <a:ext cx="1920240" cy="274320"/>
          </a:xfrm>
          <a:prstGeom prst="rect">
            <a:avLst/>
          </a:prstGeom>
          <a:noFill/>
          <a:ln/>
        </p:spPr>
        <p:txBody>
          <a:bodyPr wrap="square" lIns="0" tIns="0" rIns="0" bIns="0" rtlCol="0" anchor="t"/>
          <a:lstStyle/>
          <a:p>
            <a:pPr indent="0" marL="0">
              <a:buNone/>
            </a:pPr>
            <a:r>
              <a:rPr lang="en-US" sz="1200" dirty="0">
                <a:solidFill>
                  <a:srgbClr val="CADCFC"/>
                </a:solidFill>
              </a:rPr>
              <a:t>evidence, gaps</a:t>
            </a:r>
            <a:endParaRPr lang="en-US" sz="1200" dirty="0"/>
          </a:p>
        </p:txBody>
      </p:sp>
      <p:sp>
        <p:nvSpPr>
          <p:cNvPr id="56" name="core step 3 circle"/>
          <p:cNvSpPr/>
          <p:nvPr/>
        </p:nvSpPr>
        <p:spPr>
          <a:xfrm>
            <a:off x="4846320" y="4562856"/>
            <a:ext cx="640080" cy="640080"/>
          </a:xfrm>
          <a:prstGeom prst="ellipse">
            <a:avLst/>
          </a:prstGeom>
          <a:solidFill>
            <a:srgbClr val="F2A900"/>
          </a:solidFill>
          <a:ln w="12700">
            <a:solidFill>
              <a:srgbClr val="F2A900"/>
            </a:solidFill>
            <a:prstDash val="solid"/>
          </a:ln>
        </p:spPr>
      </p:sp>
      <p:pic>
        <p:nvPicPr>
          <p:cNvPr id="57" name="core step 3 icon" descr="preencoded.png">    </p:cNvPr>
          <p:cNvPicPr>
            <a:picLocks noChangeAspect="1"/>
          </p:cNvPicPr>
          <p:nvPr/>
        </p:nvPicPr>
        <p:blipFill>
          <a:blip r:embed="rId11"/>
          <a:stretch>
            <a:fillRect/>
          </a:stretch>
        </p:blipFill>
        <p:spPr>
          <a:xfrm>
            <a:off x="5012741" y="4729277"/>
            <a:ext cx="307238" cy="307238"/>
          </a:xfrm>
          <a:prstGeom prst="rect">
            <a:avLst/>
          </a:prstGeom>
        </p:spPr>
      </p:pic>
      <p:sp>
        <p:nvSpPr>
          <p:cNvPr id="58" name="core title 3"/>
          <p:cNvSpPr txBox="1"/>
          <p:nvPr/>
        </p:nvSpPr>
        <p:spPr>
          <a:xfrm>
            <a:off x="5623560" y="4581144"/>
            <a:ext cx="1920240" cy="320040"/>
          </a:xfrm>
          <a:prstGeom prst="rect">
            <a:avLst/>
          </a:prstGeom>
          <a:noFill/>
          <a:ln/>
        </p:spPr>
        <p:txBody>
          <a:bodyPr wrap="square" lIns="0" tIns="0" rIns="0" bIns="0" rtlCol="0" anchor="t"/>
          <a:lstStyle/>
          <a:p>
            <a:pPr indent="0" marL="0">
              <a:buNone/>
            </a:pPr>
            <a:r>
              <a:rPr lang="en-US" sz="1500" b="1" dirty="0">
                <a:solidFill>
                  <a:schemeClr val="bg1"/>
                </a:solidFill>
              </a:rPr>
              <a:t>3  Price once</a:t>
            </a:r>
            <a:endParaRPr lang="en-US" sz="1500" dirty="0"/>
          </a:p>
        </p:txBody>
      </p:sp>
      <p:sp>
        <p:nvSpPr>
          <p:cNvPr id="59" name="core text 3"/>
          <p:cNvSpPr txBox="1"/>
          <p:nvPr/>
        </p:nvSpPr>
        <p:spPr>
          <a:xfrm>
            <a:off x="5623560" y="4892040"/>
            <a:ext cx="1920240" cy="274320"/>
          </a:xfrm>
          <a:prstGeom prst="rect">
            <a:avLst/>
          </a:prstGeom>
          <a:noFill/>
          <a:ln/>
        </p:spPr>
        <p:txBody>
          <a:bodyPr wrap="square" lIns="0" tIns="0" rIns="0" bIns="0" rtlCol="0" anchor="t"/>
          <a:lstStyle/>
          <a:p>
            <a:pPr indent="0" marL="0">
              <a:buNone/>
            </a:pPr>
            <a:r>
              <a:rPr lang="en-US" sz="1200" dirty="0">
                <a:solidFill>
                  <a:srgbClr val="CADCFC"/>
                </a:solidFill>
              </a:rPr>
              <a:t>SA rates</a:t>
            </a:r>
            <a:endParaRPr lang="en-US" sz="1200" dirty="0"/>
          </a:p>
        </p:txBody>
      </p:sp>
      <p:sp>
        <p:nvSpPr>
          <p:cNvPr id="60" name="Shape 46"/>
          <p:cNvSpPr/>
          <p:nvPr/>
        </p:nvSpPr>
        <p:spPr>
          <a:xfrm>
            <a:off x="4206240" y="3703320"/>
            <a:ext cx="347472" cy="0"/>
          </a:xfrm>
          <a:prstGeom prst="line">
            <a:avLst/>
          </a:prstGeom>
          <a:noFill/>
          <a:ln w="25400">
            <a:solidFill>
              <a:srgbClr val="F2A900"/>
            </a:solidFill>
            <a:prstDash val="solid"/>
            <a:tailEnd type="triangle"/>
          </a:ln>
        </p:spPr>
      </p:sp>
      <p:sp>
        <p:nvSpPr>
          <p:cNvPr id="61" name="Shape 47"/>
          <p:cNvSpPr/>
          <p:nvPr/>
        </p:nvSpPr>
        <p:spPr>
          <a:xfrm>
            <a:off x="7653528" y="3703320"/>
            <a:ext cx="329184" cy="0"/>
          </a:xfrm>
          <a:prstGeom prst="line">
            <a:avLst/>
          </a:prstGeom>
          <a:noFill/>
          <a:ln w="25400">
            <a:solidFill>
              <a:srgbClr val="F2A900"/>
            </a:solidFill>
            <a:prstDash val="solid"/>
            <a:tailEnd type="triangle"/>
          </a:ln>
        </p:spPr>
      </p:sp>
      <p:sp>
        <p:nvSpPr>
          <p:cNvPr id="62" name="in-out note"/>
          <p:cNvSpPr txBox="1"/>
          <p:nvPr/>
        </p:nvSpPr>
        <p:spPr>
          <a:xfrm>
            <a:off x="548640" y="5897880"/>
            <a:ext cx="11064240" cy="320040"/>
          </a:xfrm>
          <a:prstGeom prst="rect">
            <a:avLst/>
          </a:prstGeom>
          <a:noFill/>
          <a:ln/>
        </p:spPr>
        <p:txBody>
          <a:bodyPr wrap="square" lIns="0" tIns="0" rIns="0" bIns="0" rtlCol="0" anchor="t"/>
          <a:lstStyle/>
          <a:p>
            <a:pPr indent="0" marL="0">
              <a:buNone/>
            </a:pPr>
            <a:r>
              <a:rPr lang="en-US" sz="1300" i="1" dirty="0">
                <a:solidFill>
                  <a:schemeClr val="accent1"/>
                </a:solidFill>
              </a:rPr>
              <a:t>No drawing? No guess hidden: anything not on the drawings is priced as a marked assumption.</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Two readers, one set of findings, one pricer</a:t>
            </a:r>
            <a:endParaRPr lang="en-US" sz="3000" dirty="0"/>
          </a:p>
        </p:txBody>
      </p:sp>
      <p:sp>
        <p:nvSpPr>
          <p:cNvPr id="4" name="input 1"/>
          <p:cNvSpPr/>
          <p:nvPr/>
        </p:nvSpPr>
        <p:spPr>
          <a:xfrm>
            <a:off x="548640" y="1600200"/>
            <a:ext cx="2148840" cy="1417320"/>
          </a:xfrm>
          <a:prstGeom prst="roundRect">
            <a:avLst>
              <a:gd name="adj" fmla="val 7742"/>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5" name="input 1 circle"/>
          <p:cNvSpPr/>
          <p:nvPr/>
        </p:nvSpPr>
        <p:spPr>
          <a:xfrm>
            <a:off x="749808" y="1828800"/>
            <a:ext cx="548640" cy="548640"/>
          </a:xfrm>
          <a:prstGeom prst="ellipse">
            <a:avLst/>
          </a:prstGeom>
          <a:solidFill>
            <a:srgbClr val="F2F4F9"/>
          </a:solidFill>
          <a:ln w="12700">
            <a:solidFill>
              <a:srgbClr val="F2F4F9"/>
            </a:solidFill>
            <a:prstDash val="solid"/>
          </a:ln>
        </p:spPr>
      </p:sp>
      <p:pic>
        <p:nvPicPr>
          <p:cNvPr id="6" name="input 1 icon" descr="preencoded.png">    </p:cNvPr>
          <p:cNvPicPr>
            <a:picLocks noChangeAspect="1"/>
          </p:cNvPicPr>
          <p:nvPr/>
        </p:nvPicPr>
        <p:blipFill>
          <a:blip r:embed="rId1"/>
          <a:stretch>
            <a:fillRect/>
          </a:stretch>
        </p:blipFill>
        <p:spPr>
          <a:xfrm>
            <a:off x="892454" y="1971446"/>
            <a:ext cx="263347" cy="263347"/>
          </a:xfrm>
          <a:prstGeom prst="rect">
            <a:avLst/>
          </a:prstGeom>
        </p:spPr>
      </p:pic>
      <p:sp>
        <p:nvSpPr>
          <p:cNvPr id="7" name="input title 1"/>
          <p:cNvSpPr txBox="1"/>
          <p:nvPr/>
        </p:nvSpPr>
        <p:spPr>
          <a:xfrm>
            <a:off x="749808" y="2441448"/>
            <a:ext cx="1828800" cy="274320"/>
          </a:xfrm>
          <a:prstGeom prst="rect">
            <a:avLst/>
          </a:prstGeom>
          <a:noFill/>
          <a:ln/>
        </p:spPr>
        <p:txBody>
          <a:bodyPr wrap="square" lIns="0" tIns="0" rIns="0" bIns="0" rtlCol="0" anchor="t"/>
          <a:lstStyle/>
          <a:p>
            <a:pPr indent="0" marL="0">
              <a:buNone/>
            </a:pPr>
            <a:r>
              <a:rPr lang="en-US" sz="1400" b="1" dirty="0">
                <a:solidFill>
                  <a:schemeClr val="tx1"/>
                </a:solidFill>
              </a:rPr>
              <a:t>PDF drawings</a:t>
            </a:r>
            <a:endParaRPr lang="en-US" sz="1400" dirty="0"/>
          </a:p>
        </p:txBody>
      </p:sp>
      <p:sp>
        <p:nvSpPr>
          <p:cNvPr id="8" name="input text 1"/>
          <p:cNvSpPr txBox="1"/>
          <p:nvPr/>
        </p:nvSpPr>
        <p:spPr>
          <a:xfrm>
            <a:off x="749808" y="2697480"/>
            <a:ext cx="1828800" cy="274320"/>
          </a:xfrm>
          <a:prstGeom prst="rect">
            <a:avLst/>
          </a:prstGeom>
          <a:noFill/>
          <a:ln/>
        </p:spPr>
        <p:txBody>
          <a:bodyPr wrap="square" lIns="0" tIns="0" rIns="0" bIns="0" rtlCol="0" anchor="t"/>
          <a:lstStyle/>
          <a:p>
            <a:pPr indent="0" marL="0">
              <a:buNone/>
            </a:pPr>
            <a:r>
              <a:rPr lang="en-US" sz="1100" dirty="0">
                <a:solidFill>
                  <a:schemeClr val="tx2"/>
                </a:solidFill>
              </a:rPr>
              <a:t>scanned or exported</a:t>
            </a:r>
            <a:endParaRPr lang="en-US" sz="1100" dirty="0"/>
          </a:p>
        </p:txBody>
      </p:sp>
      <p:sp>
        <p:nvSpPr>
          <p:cNvPr id="9" name="Shape 5"/>
          <p:cNvSpPr/>
          <p:nvPr/>
        </p:nvSpPr>
        <p:spPr>
          <a:xfrm>
            <a:off x="2743200" y="2313432"/>
            <a:ext cx="365760" cy="0"/>
          </a:xfrm>
          <a:prstGeom prst="line">
            <a:avLst/>
          </a:prstGeom>
          <a:noFill/>
          <a:ln w="25400">
            <a:solidFill>
              <a:srgbClr val="8A93AB"/>
            </a:solidFill>
            <a:prstDash val="solid"/>
            <a:tailEnd type="triangle"/>
          </a:ln>
        </p:spPr>
      </p:sp>
      <p:sp>
        <p:nvSpPr>
          <p:cNvPr id="10" name="reader 1"/>
          <p:cNvSpPr/>
          <p:nvPr/>
        </p:nvSpPr>
        <p:spPr>
          <a:xfrm>
            <a:off x="3154680" y="1600200"/>
            <a:ext cx="2377440" cy="1417320"/>
          </a:xfrm>
          <a:prstGeom prst="roundRect">
            <a:avLst>
              <a:gd name="adj" fmla="val 7742"/>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1" name="reader 1 circle"/>
          <p:cNvSpPr/>
          <p:nvPr/>
        </p:nvSpPr>
        <p:spPr>
          <a:xfrm>
            <a:off x="3355848" y="1828800"/>
            <a:ext cx="548640" cy="548640"/>
          </a:xfrm>
          <a:prstGeom prst="ellipse">
            <a:avLst/>
          </a:prstGeom>
          <a:solidFill>
            <a:srgbClr val="2E5BE8"/>
          </a:solidFill>
          <a:ln w="12700">
            <a:solidFill>
              <a:srgbClr val="2E5BE8"/>
            </a:solidFill>
            <a:prstDash val="solid"/>
          </a:ln>
        </p:spPr>
      </p:sp>
      <p:pic>
        <p:nvPicPr>
          <p:cNvPr id="12" name="reader 1 icon" descr="preencoded.png">    </p:cNvPr>
          <p:cNvPicPr>
            <a:picLocks noChangeAspect="1"/>
          </p:cNvPicPr>
          <p:nvPr/>
        </p:nvPicPr>
        <p:blipFill>
          <a:blip r:embed="rId2"/>
          <a:stretch>
            <a:fillRect/>
          </a:stretch>
        </p:blipFill>
        <p:spPr>
          <a:xfrm>
            <a:off x="3498494" y="1971446"/>
            <a:ext cx="263347" cy="263347"/>
          </a:xfrm>
          <a:prstGeom prst="rect">
            <a:avLst/>
          </a:prstGeom>
        </p:spPr>
      </p:pic>
      <p:sp>
        <p:nvSpPr>
          <p:cNvPr id="13" name="reader title 1"/>
          <p:cNvSpPr txBox="1"/>
          <p:nvPr/>
        </p:nvSpPr>
        <p:spPr>
          <a:xfrm>
            <a:off x="4023360" y="1901952"/>
            <a:ext cx="1463040" cy="365760"/>
          </a:xfrm>
          <a:prstGeom prst="rect">
            <a:avLst/>
          </a:prstGeom>
          <a:noFill/>
          <a:ln/>
        </p:spPr>
        <p:txBody>
          <a:bodyPr wrap="square" lIns="0" tIns="0" rIns="0" bIns="0" rtlCol="0" anchor="t"/>
          <a:lstStyle/>
          <a:p>
            <a:pPr indent="0" marL="0">
              <a:buNone/>
            </a:pPr>
            <a:r>
              <a:rPr lang="en-US" sz="1500" b="1" dirty="0">
                <a:solidFill>
                  <a:schemeClr val="tx1"/>
                </a:solidFill>
              </a:rPr>
              <a:t>PDF reader</a:t>
            </a:r>
            <a:endParaRPr lang="en-US" sz="1500" dirty="0"/>
          </a:p>
        </p:txBody>
      </p:sp>
      <p:sp>
        <p:nvSpPr>
          <p:cNvPr id="14" name="reader text 1"/>
          <p:cNvSpPr txBox="1"/>
          <p:nvPr/>
        </p:nvSpPr>
        <p:spPr>
          <a:xfrm>
            <a:off x="3355848" y="2468880"/>
            <a:ext cx="2057400" cy="502920"/>
          </a:xfrm>
          <a:prstGeom prst="rect">
            <a:avLst/>
          </a:prstGeom>
          <a:noFill/>
          <a:ln/>
        </p:spPr>
        <p:txBody>
          <a:bodyPr wrap="square" lIns="0" tIns="0" rIns="0" bIns="0" rtlCol="0" anchor="t"/>
          <a:lstStyle/>
          <a:p>
            <a:pPr indent="0" marL="0">
              <a:buNone/>
            </a:pPr>
            <a:r>
              <a:rPr lang="en-US" sz="1150" dirty="0">
                <a:solidFill>
                  <a:schemeClr val="tx2"/>
                </a:solidFill>
              </a:rPr>
              <a:t>AI reads each page into strict forms</a:t>
            </a:r>
            <a:endParaRPr lang="en-US" sz="1150" dirty="0"/>
          </a:p>
        </p:txBody>
      </p:sp>
      <p:sp>
        <p:nvSpPr>
          <p:cNvPr id="15" name="Shape 10"/>
          <p:cNvSpPr/>
          <p:nvPr/>
        </p:nvSpPr>
        <p:spPr>
          <a:xfrm>
            <a:off x="5577840" y="2313432"/>
            <a:ext cx="365760" cy="0"/>
          </a:xfrm>
          <a:prstGeom prst="line">
            <a:avLst/>
          </a:prstGeom>
          <a:noFill/>
          <a:ln w="25400">
            <a:solidFill>
              <a:srgbClr val="8A93AB"/>
            </a:solidFill>
            <a:prstDash val="solid"/>
            <a:tailEnd type="triangle"/>
          </a:ln>
        </p:spPr>
      </p:sp>
      <p:sp>
        <p:nvSpPr>
          <p:cNvPr id="16" name="input 2"/>
          <p:cNvSpPr/>
          <p:nvPr/>
        </p:nvSpPr>
        <p:spPr>
          <a:xfrm>
            <a:off x="548640" y="3794760"/>
            <a:ext cx="2148840" cy="1417320"/>
          </a:xfrm>
          <a:prstGeom prst="roundRect">
            <a:avLst>
              <a:gd name="adj" fmla="val 7742"/>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7" name="input 2 circle"/>
          <p:cNvSpPr/>
          <p:nvPr/>
        </p:nvSpPr>
        <p:spPr>
          <a:xfrm>
            <a:off x="749808" y="4023360"/>
            <a:ext cx="548640" cy="548640"/>
          </a:xfrm>
          <a:prstGeom prst="ellipse">
            <a:avLst/>
          </a:prstGeom>
          <a:solidFill>
            <a:srgbClr val="F2F4F9"/>
          </a:solidFill>
          <a:ln w="12700">
            <a:solidFill>
              <a:srgbClr val="F2F4F9"/>
            </a:solidFill>
            <a:prstDash val="solid"/>
          </a:ln>
        </p:spPr>
      </p:sp>
      <p:pic>
        <p:nvPicPr>
          <p:cNvPr id="18" name="input 2 icon" descr="preencoded.png">    </p:cNvPr>
          <p:cNvPicPr>
            <a:picLocks noChangeAspect="1"/>
          </p:cNvPicPr>
          <p:nvPr/>
        </p:nvPicPr>
        <p:blipFill>
          <a:blip r:embed="rId3"/>
          <a:stretch>
            <a:fillRect/>
          </a:stretch>
        </p:blipFill>
        <p:spPr>
          <a:xfrm>
            <a:off x="892454" y="4166006"/>
            <a:ext cx="263347" cy="263347"/>
          </a:xfrm>
          <a:prstGeom prst="rect">
            <a:avLst/>
          </a:prstGeom>
        </p:spPr>
      </p:pic>
      <p:sp>
        <p:nvSpPr>
          <p:cNvPr id="19" name="input title 2"/>
          <p:cNvSpPr txBox="1"/>
          <p:nvPr/>
        </p:nvSpPr>
        <p:spPr>
          <a:xfrm>
            <a:off x="749808" y="4636008"/>
            <a:ext cx="1828800" cy="274320"/>
          </a:xfrm>
          <a:prstGeom prst="rect">
            <a:avLst/>
          </a:prstGeom>
          <a:noFill/>
          <a:ln/>
        </p:spPr>
        <p:txBody>
          <a:bodyPr wrap="square" lIns="0" tIns="0" rIns="0" bIns="0" rtlCol="0" anchor="t"/>
          <a:lstStyle/>
          <a:p>
            <a:pPr indent="0" marL="0">
              <a:buNone/>
            </a:pPr>
            <a:r>
              <a:rPr lang="en-US" sz="1400" b="1" dirty="0">
                <a:solidFill>
                  <a:schemeClr val="tx1"/>
                </a:solidFill>
              </a:rPr>
              <a:t>DWG / DXF drawings</a:t>
            </a:r>
            <a:endParaRPr lang="en-US" sz="1400" dirty="0"/>
          </a:p>
        </p:txBody>
      </p:sp>
      <p:sp>
        <p:nvSpPr>
          <p:cNvPr id="20" name="input text 2"/>
          <p:cNvSpPr txBox="1"/>
          <p:nvPr/>
        </p:nvSpPr>
        <p:spPr>
          <a:xfrm>
            <a:off x="749808" y="4892040"/>
            <a:ext cx="1828800" cy="274320"/>
          </a:xfrm>
          <a:prstGeom prst="rect">
            <a:avLst/>
          </a:prstGeom>
          <a:noFill/>
          <a:ln/>
        </p:spPr>
        <p:txBody>
          <a:bodyPr wrap="square" lIns="0" tIns="0" rIns="0" bIns="0" rtlCol="0" anchor="t"/>
          <a:lstStyle/>
          <a:p>
            <a:pPr indent="0" marL="0">
              <a:buNone/>
            </a:pPr>
            <a:r>
              <a:rPr lang="en-US" sz="1100" dirty="0">
                <a:solidFill>
                  <a:schemeClr val="tx2"/>
                </a:solidFill>
              </a:rPr>
              <a:t>the CAD set</a:t>
            </a:r>
            <a:endParaRPr lang="en-US" sz="1100" dirty="0"/>
          </a:p>
        </p:txBody>
      </p:sp>
      <p:sp>
        <p:nvSpPr>
          <p:cNvPr id="21" name="Shape 15"/>
          <p:cNvSpPr/>
          <p:nvPr/>
        </p:nvSpPr>
        <p:spPr>
          <a:xfrm>
            <a:off x="2743200" y="4507992"/>
            <a:ext cx="365760" cy="0"/>
          </a:xfrm>
          <a:prstGeom prst="line">
            <a:avLst/>
          </a:prstGeom>
          <a:noFill/>
          <a:ln w="25400">
            <a:solidFill>
              <a:srgbClr val="8A93AB"/>
            </a:solidFill>
            <a:prstDash val="solid"/>
            <a:tailEnd type="triangle"/>
          </a:ln>
        </p:spPr>
      </p:sp>
      <p:sp>
        <p:nvSpPr>
          <p:cNvPr id="22" name="reader 2"/>
          <p:cNvSpPr/>
          <p:nvPr/>
        </p:nvSpPr>
        <p:spPr>
          <a:xfrm>
            <a:off x="3154680" y="3794760"/>
            <a:ext cx="2377440" cy="1417320"/>
          </a:xfrm>
          <a:prstGeom prst="roundRect">
            <a:avLst>
              <a:gd name="adj" fmla="val 7742"/>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3" name="reader 2 circle"/>
          <p:cNvSpPr/>
          <p:nvPr/>
        </p:nvSpPr>
        <p:spPr>
          <a:xfrm>
            <a:off x="3355848" y="4023360"/>
            <a:ext cx="548640" cy="548640"/>
          </a:xfrm>
          <a:prstGeom prst="ellipse">
            <a:avLst/>
          </a:prstGeom>
          <a:solidFill>
            <a:srgbClr val="2E5BE8"/>
          </a:solidFill>
          <a:ln w="12700">
            <a:solidFill>
              <a:srgbClr val="2E5BE8"/>
            </a:solidFill>
            <a:prstDash val="solid"/>
          </a:ln>
        </p:spPr>
      </p:sp>
      <p:pic>
        <p:nvPicPr>
          <p:cNvPr id="24" name="reader 2 icon" descr="preencoded.png">    </p:cNvPr>
          <p:cNvPicPr>
            <a:picLocks noChangeAspect="1"/>
          </p:cNvPicPr>
          <p:nvPr/>
        </p:nvPicPr>
        <p:blipFill>
          <a:blip r:embed="rId4"/>
          <a:stretch>
            <a:fillRect/>
          </a:stretch>
        </p:blipFill>
        <p:spPr>
          <a:xfrm>
            <a:off x="3498494" y="4166006"/>
            <a:ext cx="263347" cy="263347"/>
          </a:xfrm>
          <a:prstGeom prst="rect">
            <a:avLst/>
          </a:prstGeom>
        </p:spPr>
      </p:pic>
      <p:sp>
        <p:nvSpPr>
          <p:cNvPr id="25" name="reader title 2"/>
          <p:cNvSpPr txBox="1"/>
          <p:nvPr/>
        </p:nvSpPr>
        <p:spPr>
          <a:xfrm>
            <a:off x="4023360" y="4096512"/>
            <a:ext cx="1463040" cy="365760"/>
          </a:xfrm>
          <a:prstGeom prst="rect">
            <a:avLst/>
          </a:prstGeom>
          <a:noFill/>
          <a:ln/>
        </p:spPr>
        <p:txBody>
          <a:bodyPr wrap="square" lIns="0" tIns="0" rIns="0" bIns="0" rtlCol="0" anchor="t"/>
          <a:lstStyle/>
          <a:p>
            <a:pPr indent="0" marL="0">
              <a:buNone/>
            </a:pPr>
            <a:r>
              <a:rPr lang="en-US" sz="1500" b="1" dirty="0">
                <a:solidFill>
                  <a:schemeClr val="tx1"/>
                </a:solidFill>
              </a:rPr>
              <a:t>CAD reader</a:t>
            </a:r>
            <a:endParaRPr lang="en-US" sz="1500" dirty="0"/>
          </a:p>
        </p:txBody>
      </p:sp>
      <p:sp>
        <p:nvSpPr>
          <p:cNvPr id="26" name="reader text 2"/>
          <p:cNvSpPr txBox="1"/>
          <p:nvPr/>
        </p:nvSpPr>
        <p:spPr>
          <a:xfrm>
            <a:off x="3355848" y="4663440"/>
            <a:ext cx="2057400" cy="502920"/>
          </a:xfrm>
          <a:prstGeom prst="rect">
            <a:avLst/>
          </a:prstGeom>
          <a:noFill/>
          <a:ln/>
        </p:spPr>
        <p:txBody>
          <a:bodyPr wrap="square" lIns="0" tIns="0" rIns="0" bIns="0" rtlCol="0" anchor="t"/>
          <a:lstStyle/>
          <a:p>
            <a:pPr indent="0" marL="0">
              <a:buNone/>
            </a:pPr>
            <a:r>
              <a:rPr lang="en-US" sz="1150" dirty="0">
                <a:solidFill>
                  <a:schemeClr val="tx2"/>
                </a:solidFill>
              </a:rPr>
              <a:t>counts symbols, reads SLDs, measures routes</a:t>
            </a:r>
            <a:endParaRPr lang="en-US" sz="1150" dirty="0"/>
          </a:p>
        </p:txBody>
      </p:sp>
      <p:sp>
        <p:nvSpPr>
          <p:cNvPr id="27" name="Shape 20"/>
          <p:cNvSpPr/>
          <p:nvPr/>
        </p:nvSpPr>
        <p:spPr>
          <a:xfrm>
            <a:off x="5577840" y="4507992"/>
            <a:ext cx="365760" cy="0"/>
          </a:xfrm>
          <a:prstGeom prst="line">
            <a:avLst/>
          </a:prstGeom>
          <a:noFill/>
          <a:ln w="25400">
            <a:solidFill>
              <a:srgbClr val="8A93AB"/>
            </a:solidFill>
            <a:prstDash val="solid"/>
            <a:tailEnd type="triangle"/>
          </a:ln>
        </p:spPr>
      </p:sp>
      <p:sp>
        <p:nvSpPr>
          <p:cNvPr id="28" name="findings"/>
          <p:cNvSpPr/>
          <p:nvPr/>
        </p:nvSpPr>
        <p:spPr>
          <a:xfrm>
            <a:off x="5989320" y="1600200"/>
            <a:ext cx="1828800" cy="3611880"/>
          </a:xfrm>
          <a:prstGeom prst="roundRect">
            <a:avLst>
              <a:gd name="adj" fmla="val 6000"/>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9" name="findings circle"/>
          <p:cNvSpPr/>
          <p:nvPr/>
        </p:nvSpPr>
        <p:spPr>
          <a:xfrm>
            <a:off x="6583680" y="1783080"/>
            <a:ext cx="640080" cy="640080"/>
          </a:xfrm>
          <a:prstGeom prst="ellipse">
            <a:avLst/>
          </a:prstGeom>
          <a:solidFill>
            <a:srgbClr val="F2A900"/>
          </a:solidFill>
          <a:ln w="12700">
            <a:solidFill>
              <a:srgbClr val="F2A900"/>
            </a:solidFill>
            <a:prstDash val="solid"/>
          </a:ln>
        </p:spPr>
      </p:sp>
      <p:pic>
        <p:nvPicPr>
          <p:cNvPr id="30" name="findings icon" descr="preencoded.png">    </p:cNvPr>
          <p:cNvPicPr>
            <a:picLocks noChangeAspect="1"/>
          </p:cNvPicPr>
          <p:nvPr/>
        </p:nvPicPr>
        <p:blipFill>
          <a:blip r:embed="rId5"/>
          <a:stretch>
            <a:fillRect/>
          </a:stretch>
        </p:blipFill>
        <p:spPr>
          <a:xfrm>
            <a:off x="6750101" y="1949501"/>
            <a:ext cx="307238" cy="307238"/>
          </a:xfrm>
          <a:prstGeom prst="rect">
            <a:avLst/>
          </a:prstGeom>
        </p:spPr>
      </p:pic>
      <p:sp>
        <p:nvSpPr>
          <p:cNvPr id="31" name="findings title"/>
          <p:cNvSpPr txBox="1"/>
          <p:nvPr/>
        </p:nvSpPr>
        <p:spPr>
          <a:xfrm>
            <a:off x="6172200" y="2514600"/>
            <a:ext cx="1463040" cy="320040"/>
          </a:xfrm>
          <a:prstGeom prst="rect">
            <a:avLst/>
          </a:prstGeom>
          <a:noFill/>
          <a:ln/>
        </p:spPr>
        <p:txBody>
          <a:bodyPr wrap="square" lIns="0" tIns="0" rIns="0" bIns="0" rtlCol="0" anchor="t"/>
          <a:lstStyle/>
          <a:p>
            <a:pPr algn="ctr" indent="0" marL="0">
              <a:buNone/>
            </a:pPr>
            <a:r>
              <a:rPr lang="en-US" sz="1500" b="1" dirty="0">
                <a:solidFill>
                  <a:schemeClr val="tx1"/>
                </a:solidFill>
              </a:rPr>
              <a:t>Findings</a:t>
            </a:r>
            <a:endParaRPr lang="en-US" sz="1500" dirty="0"/>
          </a:p>
        </p:txBody>
      </p:sp>
      <p:sp>
        <p:nvSpPr>
          <p:cNvPr id="32" name="findings evidence"/>
          <p:cNvSpPr txBox="1"/>
          <p:nvPr/>
        </p:nvSpPr>
        <p:spPr>
          <a:xfrm>
            <a:off x="6172200" y="2880360"/>
            <a:ext cx="1463040" cy="2103120"/>
          </a:xfrm>
          <a:prstGeom prst="rect">
            <a:avLst/>
          </a:prstGeom>
          <a:noFill/>
          <a:ln/>
        </p:spPr>
        <p:txBody>
          <a:bodyPr wrap="square" lIns="0" tIns="0" rIns="0" bIns="0" rtlCol="0" anchor="t"/>
          <a:lstStyle/>
          <a:p>
            <a:pPr algn="ctr" indent="0" marL="0">
              <a:buNone/>
            </a:pPr>
            <a:r>
              <a:rPr lang="en-US" sz="1250" dirty="0">
                <a:solidFill>
                  <a:schemeClr val="tx2"/>
                </a:solidFill>
              </a:rPr>
              <a:t>with evidence</a:t>
            </a:r>
            <a:endParaRPr lang="en-US" sz="1250" dirty="0"/>
          </a:p>
          <a:p>
            <a:pPr algn="ctr" indent="0" marL="0">
              <a:buNone/>
            </a:pPr>
            <a:r>
              <a:rPr lang="en-US" sz="1250" b="1" dirty="0">
                <a:solidFill>
                  <a:schemeClr val="accent3"/>
                </a:solidFill>
              </a:rPr>
              <a:t>measured</a:t>
            </a:r>
            <a:endParaRPr lang="en-US" sz="1250" dirty="0"/>
          </a:p>
          <a:p>
            <a:pPr algn="ctr" indent="0" marL="0">
              <a:buNone/>
            </a:pPr>
            <a:r>
              <a:rPr lang="en-US" sz="1250" dirty="0">
                <a:solidFill>
                  <a:schemeClr val="tx1"/>
                </a:solidFill>
              </a:rPr>
              <a:t>› counted</a:t>
            </a:r>
            <a:endParaRPr lang="en-US" sz="1250" dirty="0"/>
          </a:p>
          <a:p>
            <a:pPr algn="ctr" indent="0" marL="0">
              <a:buNone/>
            </a:pPr>
            <a:r>
              <a:rPr lang="en-US" sz="1250" dirty="0">
                <a:solidFill>
                  <a:schemeClr val="tx1"/>
                </a:solidFill>
              </a:rPr>
              <a:t>› written</a:t>
            </a:r>
            <a:endParaRPr lang="en-US" sz="1250" dirty="0"/>
          </a:p>
          <a:p>
            <a:pPr algn="ctr" indent="0" marL="0">
              <a:buNone/>
            </a:pPr>
            <a:r>
              <a:rPr lang="en-US" sz="1250" dirty="0">
                <a:solidFill>
                  <a:schemeClr val="tx1"/>
                </a:solidFill>
              </a:rPr>
              <a:t>› seen</a:t>
            </a:r>
            <a:endParaRPr lang="en-US" sz="1250" dirty="0"/>
          </a:p>
          <a:p>
            <a:pPr algn="ctr" indent="0" marL="0">
              <a:buNone/>
            </a:pPr>
            <a:r>
              <a:rPr lang="en-US" sz="1250" dirty="0">
                <a:solidFill>
                  <a:schemeClr val="accent4"/>
                </a:solidFill>
              </a:rPr>
              <a:t>› assumed</a:t>
            </a:r>
            <a:endParaRPr lang="en-US" sz="1250" dirty="0"/>
          </a:p>
        </p:txBody>
      </p:sp>
      <p:sp>
        <p:nvSpPr>
          <p:cNvPr id="33" name="Shape 25"/>
          <p:cNvSpPr/>
          <p:nvPr/>
        </p:nvSpPr>
        <p:spPr>
          <a:xfrm>
            <a:off x="7863840" y="3401568"/>
            <a:ext cx="365760" cy="0"/>
          </a:xfrm>
          <a:prstGeom prst="line">
            <a:avLst/>
          </a:prstGeom>
          <a:noFill/>
          <a:ln w="25400">
            <a:solidFill>
              <a:srgbClr val="8A93AB"/>
            </a:solidFill>
            <a:prstDash val="solid"/>
            <a:tailEnd type="triangle"/>
          </a:ln>
        </p:spPr>
      </p:sp>
      <p:sp>
        <p:nvSpPr>
          <p:cNvPr id="34" name="combine"/>
          <p:cNvSpPr/>
          <p:nvPr/>
        </p:nvSpPr>
        <p:spPr>
          <a:xfrm>
            <a:off x="8275320" y="1600200"/>
            <a:ext cx="1783080" cy="1508760"/>
          </a:xfrm>
          <a:prstGeom prst="roundRect">
            <a:avLst>
              <a:gd name="adj" fmla="val 7273"/>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35" name="combine circle"/>
          <p:cNvSpPr/>
          <p:nvPr/>
        </p:nvSpPr>
        <p:spPr>
          <a:xfrm>
            <a:off x="8458200" y="1755648"/>
            <a:ext cx="502920" cy="502920"/>
          </a:xfrm>
          <a:prstGeom prst="ellipse">
            <a:avLst/>
          </a:prstGeom>
          <a:solidFill>
            <a:srgbClr val="2E5BE8"/>
          </a:solidFill>
          <a:ln w="12700">
            <a:solidFill>
              <a:srgbClr val="2E5BE8"/>
            </a:solidFill>
            <a:prstDash val="solid"/>
          </a:ln>
        </p:spPr>
      </p:sp>
      <p:pic>
        <p:nvPicPr>
          <p:cNvPr id="36" name="combine icon" descr="preencoded.png">    </p:cNvPr>
          <p:cNvPicPr>
            <a:picLocks noChangeAspect="1"/>
          </p:cNvPicPr>
          <p:nvPr/>
        </p:nvPicPr>
        <p:blipFill>
          <a:blip r:embed="rId6"/>
          <a:stretch>
            <a:fillRect/>
          </a:stretch>
        </p:blipFill>
        <p:spPr>
          <a:xfrm>
            <a:off x="8588959" y="1886407"/>
            <a:ext cx="241402" cy="241402"/>
          </a:xfrm>
          <a:prstGeom prst="rect">
            <a:avLst/>
          </a:prstGeom>
        </p:spPr>
      </p:pic>
      <p:sp>
        <p:nvSpPr>
          <p:cNvPr id="37" name="combine title"/>
          <p:cNvSpPr txBox="1"/>
          <p:nvPr/>
        </p:nvSpPr>
        <p:spPr>
          <a:xfrm>
            <a:off x="8458200" y="2331720"/>
            <a:ext cx="1463040" cy="274320"/>
          </a:xfrm>
          <a:prstGeom prst="rect">
            <a:avLst/>
          </a:prstGeom>
          <a:noFill/>
          <a:ln/>
        </p:spPr>
        <p:txBody>
          <a:bodyPr wrap="square" lIns="0" tIns="0" rIns="0" bIns="0" rtlCol="0" anchor="t"/>
          <a:lstStyle/>
          <a:p>
            <a:pPr indent="0" marL="0">
              <a:buNone/>
            </a:pPr>
            <a:r>
              <a:rPr lang="en-US" sz="1400" b="1" dirty="0">
                <a:solidFill>
                  <a:schemeClr val="tx1"/>
                </a:solidFill>
              </a:rPr>
              <a:t>Combine</a:t>
            </a:r>
            <a:endParaRPr lang="en-US" sz="1400" dirty="0"/>
          </a:p>
        </p:txBody>
      </p:sp>
      <p:sp>
        <p:nvSpPr>
          <p:cNvPr id="38" name="combine text"/>
          <p:cNvSpPr txBox="1"/>
          <p:nvPr/>
        </p:nvSpPr>
        <p:spPr>
          <a:xfrm>
            <a:off x="8458200" y="2606040"/>
            <a:ext cx="1508760" cy="457200"/>
          </a:xfrm>
          <a:prstGeom prst="rect">
            <a:avLst/>
          </a:prstGeom>
          <a:noFill/>
          <a:ln/>
        </p:spPr>
        <p:txBody>
          <a:bodyPr wrap="square" lIns="0" tIns="0" rIns="0" bIns="0" rtlCol="0" anchor="t"/>
          <a:lstStyle/>
          <a:p>
            <a:pPr indent="0" marL="0">
              <a:buNone/>
            </a:pPr>
            <a:r>
              <a:rPr lang="en-US" sz="1050" dirty="0">
                <a:solidFill>
                  <a:schemeClr val="tx2"/>
                </a:solidFill>
              </a:rPr>
              <a:t>stronger evidence wins, nothing counted twice</a:t>
            </a:r>
            <a:endParaRPr lang="en-US" sz="1050" dirty="0"/>
          </a:p>
        </p:txBody>
      </p:sp>
      <p:sp>
        <p:nvSpPr>
          <p:cNvPr id="39" name="Shape 30"/>
          <p:cNvSpPr/>
          <p:nvPr/>
        </p:nvSpPr>
        <p:spPr>
          <a:xfrm>
            <a:off x="9162288" y="3154680"/>
            <a:ext cx="0" cy="502920"/>
          </a:xfrm>
          <a:prstGeom prst="line">
            <a:avLst/>
          </a:prstGeom>
          <a:noFill/>
          <a:ln w="25400">
            <a:solidFill>
              <a:srgbClr val="8A93AB"/>
            </a:solidFill>
            <a:prstDash val="solid"/>
            <a:tailEnd type="triangle"/>
          </a:ln>
        </p:spPr>
      </p:sp>
      <p:sp>
        <p:nvSpPr>
          <p:cNvPr id="40" name="price"/>
          <p:cNvSpPr/>
          <p:nvPr/>
        </p:nvSpPr>
        <p:spPr>
          <a:xfrm>
            <a:off x="8275320" y="3703320"/>
            <a:ext cx="1783080" cy="1508760"/>
          </a:xfrm>
          <a:prstGeom prst="roundRect">
            <a:avLst>
              <a:gd name="adj" fmla="val 7273"/>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41" name="price circle"/>
          <p:cNvSpPr/>
          <p:nvPr/>
        </p:nvSpPr>
        <p:spPr>
          <a:xfrm>
            <a:off x="8458200" y="3858768"/>
            <a:ext cx="502920" cy="502920"/>
          </a:xfrm>
          <a:prstGeom prst="ellipse">
            <a:avLst/>
          </a:prstGeom>
          <a:solidFill>
            <a:srgbClr val="2E5BE8"/>
          </a:solidFill>
          <a:ln w="12700">
            <a:solidFill>
              <a:srgbClr val="2E5BE8"/>
            </a:solidFill>
            <a:prstDash val="solid"/>
          </a:ln>
        </p:spPr>
      </p:sp>
      <p:pic>
        <p:nvPicPr>
          <p:cNvPr id="42" name="price icon" descr="preencoded.png">    </p:cNvPr>
          <p:cNvPicPr>
            <a:picLocks noChangeAspect="1"/>
          </p:cNvPicPr>
          <p:nvPr/>
        </p:nvPicPr>
        <p:blipFill>
          <a:blip r:embed="rId7"/>
          <a:stretch>
            <a:fillRect/>
          </a:stretch>
        </p:blipFill>
        <p:spPr>
          <a:xfrm>
            <a:off x="8588959" y="3989527"/>
            <a:ext cx="241402" cy="241402"/>
          </a:xfrm>
          <a:prstGeom prst="rect">
            <a:avLst/>
          </a:prstGeom>
        </p:spPr>
      </p:pic>
      <p:sp>
        <p:nvSpPr>
          <p:cNvPr id="43" name="price title"/>
          <p:cNvSpPr txBox="1"/>
          <p:nvPr/>
        </p:nvSpPr>
        <p:spPr>
          <a:xfrm>
            <a:off x="8458200" y="4434840"/>
            <a:ext cx="1463040" cy="274320"/>
          </a:xfrm>
          <a:prstGeom prst="rect">
            <a:avLst/>
          </a:prstGeom>
          <a:noFill/>
          <a:ln/>
        </p:spPr>
        <p:txBody>
          <a:bodyPr wrap="square" lIns="0" tIns="0" rIns="0" bIns="0" rtlCol="0" anchor="t"/>
          <a:lstStyle/>
          <a:p>
            <a:pPr indent="0" marL="0">
              <a:buNone/>
            </a:pPr>
            <a:r>
              <a:rPr lang="en-US" sz="1400" b="1" dirty="0">
                <a:solidFill>
                  <a:schemeClr val="tx1"/>
                </a:solidFill>
              </a:rPr>
              <a:t>Price once</a:t>
            </a:r>
            <a:endParaRPr lang="en-US" sz="1400" dirty="0"/>
          </a:p>
        </p:txBody>
      </p:sp>
      <p:sp>
        <p:nvSpPr>
          <p:cNvPr id="44" name="price text"/>
          <p:cNvSpPr txBox="1"/>
          <p:nvPr/>
        </p:nvSpPr>
        <p:spPr>
          <a:xfrm>
            <a:off x="8458200" y="4709160"/>
            <a:ext cx="1508760" cy="457200"/>
          </a:xfrm>
          <a:prstGeom prst="rect">
            <a:avLst/>
          </a:prstGeom>
          <a:noFill/>
          <a:ln/>
        </p:spPr>
        <p:txBody>
          <a:bodyPr wrap="square" lIns="0" tIns="0" rIns="0" bIns="0" rtlCol="0" anchor="t"/>
          <a:lstStyle/>
          <a:p>
            <a:pPr indent="0" marL="0">
              <a:buNone/>
            </a:pPr>
            <a:r>
              <a:rPr lang="en-US" sz="1050" dirty="0">
                <a:solidFill>
                  <a:schemeClr val="tx2"/>
                </a:solidFill>
              </a:rPr>
              <a:t>SA rate model: crew × hours, DB build-up</a:t>
            </a:r>
            <a:endParaRPr lang="en-US" sz="1050" dirty="0"/>
          </a:p>
        </p:txBody>
      </p:sp>
      <p:sp>
        <p:nvSpPr>
          <p:cNvPr id="45" name="Shape 35"/>
          <p:cNvSpPr/>
          <p:nvPr/>
        </p:nvSpPr>
        <p:spPr>
          <a:xfrm>
            <a:off x="10104120" y="4462272"/>
            <a:ext cx="320040" cy="0"/>
          </a:xfrm>
          <a:prstGeom prst="line">
            <a:avLst/>
          </a:prstGeom>
          <a:noFill/>
          <a:ln w="25400">
            <a:solidFill>
              <a:srgbClr val="8A93AB"/>
            </a:solidFill>
            <a:prstDash val="solid"/>
            <a:tailEnd type="triangle"/>
          </a:ln>
        </p:spPr>
      </p:sp>
      <p:sp>
        <p:nvSpPr>
          <p:cNvPr id="46" name="outputs"/>
          <p:cNvSpPr/>
          <p:nvPr/>
        </p:nvSpPr>
        <p:spPr>
          <a:xfrm>
            <a:off x="10469880" y="1600200"/>
            <a:ext cx="1188720" cy="3611880"/>
          </a:xfrm>
          <a:prstGeom prst="roundRect">
            <a:avLst>
              <a:gd name="adj" fmla="val 9231"/>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47" name="output 1 circle"/>
          <p:cNvSpPr/>
          <p:nvPr/>
        </p:nvSpPr>
        <p:spPr>
          <a:xfrm>
            <a:off x="10808208" y="1783080"/>
            <a:ext cx="502920" cy="502920"/>
          </a:xfrm>
          <a:prstGeom prst="ellipse">
            <a:avLst/>
          </a:prstGeom>
          <a:solidFill>
            <a:srgbClr val="F2F4F9"/>
          </a:solidFill>
          <a:ln w="12700">
            <a:solidFill>
              <a:srgbClr val="F2F4F9"/>
            </a:solidFill>
            <a:prstDash val="solid"/>
          </a:ln>
        </p:spPr>
      </p:sp>
      <p:pic>
        <p:nvPicPr>
          <p:cNvPr id="48" name="output 1 icon" descr="preencoded.png">    </p:cNvPr>
          <p:cNvPicPr>
            <a:picLocks noChangeAspect="1"/>
          </p:cNvPicPr>
          <p:nvPr/>
        </p:nvPicPr>
        <p:blipFill>
          <a:blip r:embed="rId8"/>
          <a:stretch>
            <a:fillRect/>
          </a:stretch>
        </p:blipFill>
        <p:spPr>
          <a:xfrm>
            <a:off x="10938967" y="1913839"/>
            <a:ext cx="241402" cy="241402"/>
          </a:xfrm>
          <a:prstGeom prst="rect">
            <a:avLst/>
          </a:prstGeom>
        </p:spPr>
      </p:pic>
      <p:sp>
        <p:nvSpPr>
          <p:cNvPr id="49" name="output label 1"/>
          <p:cNvSpPr txBox="1"/>
          <p:nvPr/>
        </p:nvSpPr>
        <p:spPr>
          <a:xfrm>
            <a:off x="10515600" y="2304288"/>
            <a:ext cx="1097280" cy="274320"/>
          </a:xfrm>
          <a:prstGeom prst="rect">
            <a:avLst/>
          </a:prstGeom>
          <a:noFill/>
          <a:ln/>
        </p:spPr>
        <p:txBody>
          <a:bodyPr wrap="square" lIns="0" tIns="0" rIns="0" bIns="0" rtlCol="0" anchor="t"/>
          <a:lstStyle/>
          <a:p>
            <a:pPr algn="ctr" indent="0" marL="0">
              <a:buNone/>
            </a:pPr>
            <a:r>
              <a:rPr lang="en-US" sz="1100" dirty="0">
                <a:solidFill>
                  <a:schemeClr val="tx1"/>
                </a:solidFill>
              </a:rPr>
              <a:t>Excel</a:t>
            </a:r>
            <a:endParaRPr lang="en-US" sz="1100" dirty="0"/>
          </a:p>
        </p:txBody>
      </p:sp>
      <p:sp>
        <p:nvSpPr>
          <p:cNvPr id="50" name="output 2 circle"/>
          <p:cNvSpPr/>
          <p:nvPr/>
        </p:nvSpPr>
        <p:spPr>
          <a:xfrm>
            <a:off x="10808208" y="2633472"/>
            <a:ext cx="502920" cy="502920"/>
          </a:xfrm>
          <a:prstGeom prst="ellipse">
            <a:avLst/>
          </a:prstGeom>
          <a:solidFill>
            <a:srgbClr val="F2F4F9"/>
          </a:solidFill>
          <a:ln w="12700">
            <a:solidFill>
              <a:srgbClr val="F2F4F9"/>
            </a:solidFill>
            <a:prstDash val="solid"/>
          </a:ln>
        </p:spPr>
      </p:sp>
      <p:pic>
        <p:nvPicPr>
          <p:cNvPr id="51" name="output 2 icon" descr="preencoded.png">    </p:cNvPr>
          <p:cNvPicPr>
            <a:picLocks noChangeAspect="1"/>
          </p:cNvPicPr>
          <p:nvPr/>
        </p:nvPicPr>
        <p:blipFill>
          <a:blip r:embed="rId9"/>
          <a:stretch>
            <a:fillRect/>
          </a:stretch>
        </p:blipFill>
        <p:spPr>
          <a:xfrm>
            <a:off x="10938967" y="2764231"/>
            <a:ext cx="241402" cy="241402"/>
          </a:xfrm>
          <a:prstGeom prst="rect">
            <a:avLst/>
          </a:prstGeom>
        </p:spPr>
      </p:pic>
      <p:sp>
        <p:nvSpPr>
          <p:cNvPr id="52" name="output label 2"/>
          <p:cNvSpPr txBox="1"/>
          <p:nvPr/>
        </p:nvSpPr>
        <p:spPr>
          <a:xfrm>
            <a:off x="10515600" y="3154680"/>
            <a:ext cx="1097280" cy="274320"/>
          </a:xfrm>
          <a:prstGeom prst="rect">
            <a:avLst/>
          </a:prstGeom>
          <a:noFill/>
          <a:ln/>
        </p:spPr>
        <p:txBody>
          <a:bodyPr wrap="square" lIns="0" tIns="0" rIns="0" bIns="0" rtlCol="0" anchor="t"/>
          <a:lstStyle/>
          <a:p>
            <a:pPr algn="ctr" indent="0" marL="0">
              <a:buNone/>
            </a:pPr>
            <a:r>
              <a:rPr lang="en-US" sz="1100" dirty="0">
                <a:solidFill>
                  <a:schemeClr val="tx1"/>
                </a:solidFill>
              </a:rPr>
              <a:t>PDF</a:t>
            </a:r>
            <a:endParaRPr lang="en-US" sz="1100" dirty="0"/>
          </a:p>
        </p:txBody>
      </p:sp>
      <p:sp>
        <p:nvSpPr>
          <p:cNvPr id="53" name="output 3 circle"/>
          <p:cNvSpPr/>
          <p:nvPr/>
        </p:nvSpPr>
        <p:spPr>
          <a:xfrm>
            <a:off x="10808208" y="3483864"/>
            <a:ext cx="502920" cy="502920"/>
          </a:xfrm>
          <a:prstGeom prst="ellipse">
            <a:avLst/>
          </a:prstGeom>
          <a:solidFill>
            <a:srgbClr val="F2F4F9"/>
          </a:solidFill>
          <a:ln w="12700">
            <a:solidFill>
              <a:srgbClr val="F2F4F9"/>
            </a:solidFill>
            <a:prstDash val="solid"/>
          </a:ln>
        </p:spPr>
      </p:sp>
      <p:pic>
        <p:nvPicPr>
          <p:cNvPr id="54" name="output 3 icon" descr="preencoded.png">    </p:cNvPr>
          <p:cNvPicPr>
            <a:picLocks noChangeAspect="1"/>
          </p:cNvPicPr>
          <p:nvPr/>
        </p:nvPicPr>
        <p:blipFill>
          <a:blip r:embed="rId10"/>
          <a:stretch>
            <a:fillRect/>
          </a:stretch>
        </p:blipFill>
        <p:spPr>
          <a:xfrm>
            <a:off x="10938967" y="3614623"/>
            <a:ext cx="241402" cy="241402"/>
          </a:xfrm>
          <a:prstGeom prst="rect">
            <a:avLst/>
          </a:prstGeom>
        </p:spPr>
      </p:pic>
      <p:sp>
        <p:nvSpPr>
          <p:cNvPr id="55" name="output label 3"/>
          <p:cNvSpPr txBox="1"/>
          <p:nvPr/>
        </p:nvSpPr>
        <p:spPr>
          <a:xfrm>
            <a:off x="10515600" y="4005072"/>
            <a:ext cx="1097280" cy="274320"/>
          </a:xfrm>
          <a:prstGeom prst="rect">
            <a:avLst/>
          </a:prstGeom>
          <a:noFill/>
          <a:ln/>
        </p:spPr>
        <p:txBody>
          <a:bodyPr wrap="square" lIns="0" tIns="0" rIns="0" bIns="0" rtlCol="0" anchor="t"/>
          <a:lstStyle/>
          <a:p>
            <a:pPr algn="ctr" indent="0" marL="0">
              <a:buNone/>
            </a:pPr>
            <a:r>
              <a:rPr lang="en-US" sz="1100" dirty="0">
                <a:solidFill>
                  <a:schemeClr val="tx1"/>
                </a:solidFill>
              </a:rPr>
              <a:t>Gaps</a:t>
            </a:r>
            <a:endParaRPr lang="en-US" sz="1100" dirty="0"/>
          </a:p>
        </p:txBody>
      </p:sp>
      <p:sp>
        <p:nvSpPr>
          <p:cNvPr id="56" name="output 4 circle"/>
          <p:cNvSpPr/>
          <p:nvPr/>
        </p:nvSpPr>
        <p:spPr>
          <a:xfrm>
            <a:off x="10808208" y="4334256"/>
            <a:ext cx="502920" cy="502920"/>
          </a:xfrm>
          <a:prstGeom prst="ellipse">
            <a:avLst/>
          </a:prstGeom>
          <a:solidFill>
            <a:srgbClr val="F2F4F9"/>
          </a:solidFill>
          <a:ln w="12700">
            <a:solidFill>
              <a:srgbClr val="F2F4F9"/>
            </a:solidFill>
            <a:prstDash val="solid"/>
          </a:ln>
        </p:spPr>
      </p:sp>
      <p:pic>
        <p:nvPicPr>
          <p:cNvPr id="57" name="output 4 icon" descr="preencoded.png">    </p:cNvPr>
          <p:cNvPicPr>
            <a:picLocks noChangeAspect="1"/>
          </p:cNvPicPr>
          <p:nvPr/>
        </p:nvPicPr>
        <p:blipFill>
          <a:blip r:embed="rId11"/>
          <a:stretch>
            <a:fillRect/>
          </a:stretch>
        </p:blipFill>
        <p:spPr>
          <a:xfrm>
            <a:off x="10938967" y="4465015"/>
            <a:ext cx="241402" cy="241402"/>
          </a:xfrm>
          <a:prstGeom prst="rect">
            <a:avLst/>
          </a:prstGeom>
        </p:spPr>
      </p:pic>
      <p:sp>
        <p:nvSpPr>
          <p:cNvPr id="58" name="output label 4"/>
          <p:cNvSpPr txBox="1"/>
          <p:nvPr/>
        </p:nvSpPr>
        <p:spPr>
          <a:xfrm>
            <a:off x="10515600" y="4855464"/>
            <a:ext cx="1097280" cy="274320"/>
          </a:xfrm>
          <a:prstGeom prst="rect">
            <a:avLst/>
          </a:prstGeom>
          <a:noFill/>
          <a:ln/>
        </p:spPr>
        <p:txBody>
          <a:bodyPr wrap="square" lIns="0" tIns="0" rIns="0" bIns="0" rtlCol="0" anchor="t"/>
          <a:lstStyle/>
          <a:p>
            <a:pPr algn="ctr" indent="0" marL="0">
              <a:buNone/>
            </a:pPr>
            <a:r>
              <a:rPr lang="en-US" sz="1100" dirty="0">
                <a:solidFill>
                  <a:schemeClr val="tx1"/>
                </a:solidFill>
              </a:rPr>
              <a:t>Score</a:t>
            </a:r>
            <a:endParaRPr lang="en-US" sz="1100" dirty="0"/>
          </a:p>
        </p:txBody>
      </p:sp>
      <p:sp>
        <p:nvSpPr>
          <p:cNvPr id="59" name="motto"/>
          <p:cNvSpPr txBox="1"/>
          <p:nvPr/>
        </p:nvSpPr>
        <p:spPr>
          <a:xfrm>
            <a:off x="548640" y="5486400"/>
            <a:ext cx="11064240" cy="365760"/>
          </a:xfrm>
          <a:prstGeom prst="rect">
            <a:avLst/>
          </a:prstGeom>
          <a:noFill/>
          <a:ln/>
        </p:spPr>
        <p:txBody>
          <a:bodyPr wrap="square" lIns="0" tIns="0" rIns="0" bIns="0" rtlCol="0" anchor="t"/>
          <a:lstStyle/>
          <a:p>
            <a:pPr indent="0" marL="0">
              <a:buNone/>
            </a:pPr>
            <a:r>
              <a:rPr lang="en-US" sz="1500" i="1" dirty="0">
                <a:solidFill>
                  <a:schemeClr val="accent1"/>
                </a:solidFill>
              </a:rPr>
              <a:t>The AI is the eyes; Python is the brain — the AI never invents a quantity, a length or a rate.</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Four rules keep the bill honest</a:t>
            </a:r>
            <a:endParaRPr lang="en-US" sz="3000" dirty="0"/>
          </a:p>
        </p:txBody>
      </p:sp>
      <p:sp>
        <p:nvSpPr>
          <p:cNvPr id="4" name="rule card 1"/>
          <p:cNvSpPr/>
          <p:nvPr/>
        </p:nvSpPr>
        <p:spPr>
          <a:xfrm>
            <a:off x="548640" y="1463040"/>
            <a:ext cx="5440680" cy="2011680"/>
          </a:xfrm>
          <a:prstGeom prst="roundRect">
            <a:avLst>
              <a:gd name="adj" fmla="val 5455"/>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5" name="rule 1 circle"/>
          <p:cNvSpPr/>
          <p:nvPr/>
        </p:nvSpPr>
        <p:spPr>
          <a:xfrm>
            <a:off x="822960" y="1783080"/>
            <a:ext cx="822960" cy="822960"/>
          </a:xfrm>
          <a:prstGeom prst="ellipse">
            <a:avLst/>
          </a:prstGeom>
          <a:solidFill>
            <a:srgbClr val="2E5BE8"/>
          </a:solidFill>
          <a:ln w="12700">
            <a:solidFill>
              <a:srgbClr val="2E5BE8"/>
            </a:solidFill>
            <a:prstDash val="solid"/>
          </a:ln>
        </p:spPr>
      </p:sp>
      <p:pic>
        <p:nvPicPr>
          <p:cNvPr id="6" name="rule 1 icon" descr="preencoded.png">    </p:cNvPr>
          <p:cNvPicPr>
            <a:picLocks noChangeAspect="1"/>
          </p:cNvPicPr>
          <p:nvPr/>
        </p:nvPicPr>
        <p:blipFill>
          <a:blip r:embed="rId1"/>
          <a:stretch>
            <a:fillRect/>
          </a:stretch>
        </p:blipFill>
        <p:spPr>
          <a:xfrm>
            <a:off x="1036930" y="1997050"/>
            <a:ext cx="395021" cy="395021"/>
          </a:xfrm>
          <a:prstGeom prst="rect">
            <a:avLst/>
          </a:prstGeom>
        </p:spPr>
      </p:pic>
      <p:sp>
        <p:nvSpPr>
          <p:cNvPr id="7" name="rule title 1"/>
          <p:cNvSpPr txBox="1"/>
          <p:nvPr/>
        </p:nvSpPr>
        <p:spPr>
          <a:xfrm>
            <a:off x="1874520" y="1783080"/>
            <a:ext cx="3886200" cy="411480"/>
          </a:xfrm>
          <a:prstGeom prst="rect">
            <a:avLst/>
          </a:prstGeom>
          <a:noFill/>
          <a:ln/>
        </p:spPr>
        <p:txBody>
          <a:bodyPr wrap="square" lIns="0" tIns="0" rIns="0" bIns="0" rtlCol="0" anchor="t"/>
          <a:lstStyle/>
          <a:p>
            <a:pPr indent="0" marL="0">
              <a:buNone/>
            </a:pPr>
            <a:r>
              <a:rPr lang="en-US" sz="1900" b="1" dirty="0">
                <a:solidFill>
                  <a:schemeClr val="tx1"/>
                </a:solidFill>
              </a:rPr>
              <a:t>AI reads, Python decides</a:t>
            </a:r>
            <a:endParaRPr lang="en-US" sz="1900" dirty="0"/>
          </a:p>
        </p:txBody>
      </p:sp>
      <p:sp>
        <p:nvSpPr>
          <p:cNvPr id="8" name="rule text 1"/>
          <p:cNvSpPr txBox="1"/>
          <p:nvPr/>
        </p:nvSpPr>
        <p:spPr>
          <a:xfrm>
            <a:off x="1874520" y="2240280"/>
            <a:ext cx="3886200" cy="1097280"/>
          </a:xfrm>
          <a:prstGeom prst="rect">
            <a:avLst/>
          </a:prstGeom>
          <a:noFill/>
          <a:ln/>
        </p:spPr>
        <p:txBody>
          <a:bodyPr wrap="square" lIns="0" tIns="0" rIns="0" bIns="0" rtlCol="0" anchor="t"/>
          <a:lstStyle/>
          <a:p>
            <a:pPr indent="0" marL="0">
              <a:buNone/>
            </a:pPr>
            <a:r>
              <a:rPr lang="en-US" sz="1400" dirty="0">
                <a:solidFill>
                  <a:schemeClr val="tx2"/>
                </a:solidFill>
              </a:rPr>
              <a:t>The AI only reports what is drawn, through strict forms. Python counts, measures, validates and prices — no AI-invented numbers or rates.</a:t>
            </a:r>
            <a:endParaRPr lang="en-US" sz="1400" dirty="0"/>
          </a:p>
        </p:txBody>
      </p:sp>
      <p:sp>
        <p:nvSpPr>
          <p:cNvPr id="9" name="rule card 2"/>
          <p:cNvSpPr/>
          <p:nvPr/>
        </p:nvSpPr>
        <p:spPr>
          <a:xfrm>
            <a:off x="6172200" y="1463040"/>
            <a:ext cx="5440680" cy="2011680"/>
          </a:xfrm>
          <a:prstGeom prst="roundRect">
            <a:avLst>
              <a:gd name="adj" fmla="val 5455"/>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0" name="rule 2 circle"/>
          <p:cNvSpPr/>
          <p:nvPr/>
        </p:nvSpPr>
        <p:spPr>
          <a:xfrm>
            <a:off x="6446520" y="1783080"/>
            <a:ext cx="822960" cy="822960"/>
          </a:xfrm>
          <a:prstGeom prst="ellipse">
            <a:avLst/>
          </a:prstGeom>
          <a:solidFill>
            <a:srgbClr val="F2A900"/>
          </a:solidFill>
          <a:ln w="12700">
            <a:solidFill>
              <a:srgbClr val="F2A900"/>
            </a:solidFill>
            <a:prstDash val="solid"/>
          </a:ln>
        </p:spPr>
      </p:sp>
      <p:pic>
        <p:nvPicPr>
          <p:cNvPr id="11" name="rule 2 icon" descr="preencoded.png">    </p:cNvPr>
          <p:cNvPicPr>
            <a:picLocks noChangeAspect="1"/>
          </p:cNvPicPr>
          <p:nvPr/>
        </p:nvPicPr>
        <p:blipFill>
          <a:blip r:embed="rId2"/>
          <a:stretch>
            <a:fillRect/>
          </a:stretch>
        </p:blipFill>
        <p:spPr>
          <a:xfrm>
            <a:off x="6660490" y="1997050"/>
            <a:ext cx="395021" cy="395021"/>
          </a:xfrm>
          <a:prstGeom prst="rect">
            <a:avLst/>
          </a:prstGeom>
        </p:spPr>
      </p:pic>
      <p:sp>
        <p:nvSpPr>
          <p:cNvPr id="12" name="rule title 2"/>
          <p:cNvSpPr txBox="1"/>
          <p:nvPr/>
        </p:nvSpPr>
        <p:spPr>
          <a:xfrm>
            <a:off x="7498080" y="1783080"/>
            <a:ext cx="3886200" cy="411480"/>
          </a:xfrm>
          <a:prstGeom prst="rect">
            <a:avLst/>
          </a:prstGeom>
          <a:noFill/>
          <a:ln/>
        </p:spPr>
        <p:txBody>
          <a:bodyPr wrap="square" lIns="0" tIns="0" rIns="0" bIns="0" rtlCol="0" anchor="t"/>
          <a:lstStyle/>
          <a:p>
            <a:pPr indent="0" marL="0">
              <a:buNone/>
            </a:pPr>
            <a:r>
              <a:rPr lang="en-US" sz="1900" b="1" dirty="0">
                <a:solidFill>
                  <a:schemeClr val="tx1"/>
                </a:solidFill>
              </a:rPr>
              <a:t>Never silent</a:t>
            </a:r>
            <a:endParaRPr lang="en-US" sz="1900" dirty="0"/>
          </a:p>
        </p:txBody>
      </p:sp>
      <p:sp>
        <p:nvSpPr>
          <p:cNvPr id="13" name="rule text 2"/>
          <p:cNvSpPr txBox="1"/>
          <p:nvPr/>
        </p:nvSpPr>
        <p:spPr>
          <a:xfrm>
            <a:off x="7498080" y="2240280"/>
            <a:ext cx="3886200" cy="1097280"/>
          </a:xfrm>
          <a:prstGeom prst="rect">
            <a:avLst/>
          </a:prstGeom>
          <a:noFill/>
          <a:ln/>
        </p:spPr>
        <p:txBody>
          <a:bodyPr wrap="square" lIns="0" tIns="0" rIns="0" bIns="0" rtlCol="0" anchor="t"/>
          <a:lstStyle/>
          <a:p>
            <a:pPr indent="0" marL="0">
              <a:buNone/>
            </a:pPr>
            <a:r>
              <a:rPr lang="en-US" sz="1400" dirty="0">
                <a:solidFill>
                  <a:schemeClr val="tx2"/>
                </a:solidFill>
              </a:rPr>
              <a:t>Every estimated quantity is tagged INFERRED, ASSUMED or PROVISIONAL, carries its assumption and appears in “things to check”.</a:t>
            </a:r>
            <a:endParaRPr lang="en-US" sz="1400" dirty="0"/>
          </a:p>
        </p:txBody>
      </p:sp>
      <p:sp>
        <p:nvSpPr>
          <p:cNvPr id="14" name="rule card 3"/>
          <p:cNvSpPr/>
          <p:nvPr/>
        </p:nvSpPr>
        <p:spPr>
          <a:xfrm>
            <a:off x="548640" y="3703320"/>
            <a:ext cx="5440680" cy="2011680"/>
          </a:xfrm>
          <a:prstGeom prst="roundRect">
            <a:avLst>
              <a:gd name="adj" fmla="val 5455"/>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5" name="rule 3 circle"/>
          <p:cNvSpPr/>
          <p:nvPr/>
        </p:nvSpPr>
        <p:spPr>
          <a:xfrm>
            <a:off x="822960" y="4023360"/>
            <a:ext cx="822960" cy="822960"/>
          </a:xfrm>
          <a:prstGeom prst="ellipse">
            <a:avLst/>
          </a:prstGeom>
          <a:solidFill>
            <a:srgbClr val="2E5BE8"/>
          </a:solidFill>
          <a:ln w="12700">
            <a:solidFill>
              <a:srgbClr val="2E5BE8"/>
            </a:solidFill>
            <a:prstDash val="solid"/>
          </a:ln>
        </p:spPr>
      </p:sp>
      <p:pic>
        <p:nvPicPr>
          <p:cNvPr id="16" name="rule 3 icon" descr="preencoded.png">    </p:cNvPr>
          <p:cNvPicPr>
            <a:picLocks noChangeAspect="1"/>
          </p:cNvPicPr>
          <p:nvPr/>
        </p:nvPicPr>
        <p:blipFill>
          <a:blip r:embed="rId3"/>
          <a:stretch>
            <a:fillRect/>
          </a:stretch>
        </p:blipFill>
        <p:spPr>
          <a:xfrm>
            <a:off x="1036930" y="4237330"/>
            <a:ext cx="395021" cy="395021"/>
          </a:xfrm>
          <a:prstGeom prst="rect">
            <a:avLst/>
          </a:prstGeom>
        </p:spPr>
      </p:pic>
      <p:sp>
        <p:nvSpPr>
          <p:cNvPr id="17" name="rule title 3"/>
          <p:cNvSpPr txBox="1"/>
          <p:nvPr/>
        </p:nvSpPr>
        <p:spPr>
          <a:xfrm>
            <a:off x="1874520" y="4023360"/>
            <a:ext cx="3886200" cy="411480"/>
          </a:xfrm>
          <a:prstGeom prst="rect">
            <a:avLst/>
          </a:prstGeom>
          <a:noFill/>
          <a:ln/>
        </p:spPr>
        <p:txBody>
          <a:bodyPr wrap="square" lIns="0" tIns="0" rIns="0" bIns="0" rtlCol="0" anchor="t"/>
          <a:lstStyle/>
          <a:p>
            <a:pPr indent="0" marL="0">
              <a:buNone/>
            </a:pPr>
            <a:r>
              <a:rPr lang="en-US" sz="1900" b="1" dirty="0">
                <a:solidFill>
                  <a:schemeClr val="tx1"/>
                </a:solidFill>
              </a:rPr>
              <a:t>Stronger evidence wins</a:t>
            </a:r>
            <a:endParaRPr lang="en-US" sz="1900" dirty="0"/>
          </a:p>
        </p:txBody>
      </p:sp>
      <p:sp>
        <p:nvSpPr>
          <p:cNvPr id="18" name="rule text 3"/>
          <p:cNvSpPr txBox="1"/>
          <p:nvPr/>
        </p:nvSpPr>
        <p:spPr>
          <a:xfrm>
            <a:off x="1874520" y="4480560"/>
            <a:ext cx="3886200" cy="1097280"/>
          </a:xfrm>
          <a:prstGeom prst="rect">
            <a:avLst/>
          </a:prstGeom>
          <a:noFill/>
          <a:ln/>
        </p:spPr>
        <p:txBody>
          <a:bodyPr wrap="square" lIns="0" tIns="0" rIns="0" bIns="0" rtlCol="0" anchor="t"/>
          <a:lstStyle/>
          <a:p>
            <a:pPr indent="0" marL="0">
              <a:buNone/>
            </a:pPr>
            <a:r>
              <a:rPr lang="en-US" sz="1400" dirty="0">
                <a:solidFill>
                  <a:schemeClr val="tx2"/>
                </a:solidFill>
              </a:rPr>
              <a:t>A measured route beats a written length beats an assumed one. The same item read twice is billed once.</a:t>
            </a:r>
            <a:endParaRPr lang="en-US" sz="1400" dirty="0"/>
          </a:p>
        </p:txBody>
      </p:sp>
      <p:sp>
        <p:nvSpPr>
          <p:cNvPr id="19" name="rule card 4"/>
          <p:cNvSpPr/>
          <p:nvPr/>
        </p:nvSpPr>
        <p:spPr>
          <a:xfrm>
            <a:off x="6172200" y="3703320"/>
            <a:ext cx="5440680" cy="2011680"/>
          </a:xfrm>
          <a:prstGeom prst="roundRect">
            <a:avLst>
              <a:gd name="adj" fmla="val 5455"/>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0" name="rule 4 circle"/>
          <p:cNvSpPr/>
          <p:nvPr/>
        </p:nvSpPr>
        <p:spPr>
          <a:xfrm>
            <a:off x="6446520" y="4023360"/>
            <a:ext cx="822960" cy="822960"/>
          </a:xfrm>
          <a:prstGeom prst="ellipse">
            <a:avLst/>
          </a:prstGeom>
          <a:solidFill>
            <a:srgbClr val="2E5BE8"/>
          </a:solidFill>
          <a:ln w="12700">
            <a:solidFill>
              <a:srgbClr val="2E5BE8"/>
            </a:solidFill>
            <a:prstDash val="solid"/>
          </a:ln>
        </p:spPr>
      </p:sp>
      <p:pic>
        <p:nvPicPr>
          <p:cNvPr id="21" name="rule 4 icon" descr="preencoded.png">    </p:cNvPr>
          <p:cNvPicPr>
            <a:picLocks noChangeAspect="1"/>
          </p:cNvPicPr>
          <p:nvPr/>
        </p:nvPicPr>
        <p:blipFill>
          <a:blip r:embed="rId4"/>
          <a:stretch>
            <a:fillRect/>
          </a:stretch>
        </p:blipFill>
        <p:spPr>
          <a:xfrm>
            <a:off x="6660490" y="4237330"/>
            <a:ext cx="395021" cy="395021"/>
          </a:xfrm>
          <a:prstGeom prst="rect">
            <a:avLst/>
          </a:prstGeom>
        </p:spPr>
      </p:pic>
      <p:sp>
        <p:nvSpPr>
          <p:cNvPr id="22" name="rule title 4"/>
          <p:cNvSpPr txBox="1"/>
          <p:nvPr/>
        </p:nvSpPr>
        <p:spPr>
          <a:xfrm>
            <a:off x="7498080" y="4023360"/>
            <a:ext cx="3886200" cy="411480"/>
          </a:xfrm>
          <a:prstGeom prst="rect">
            <a:avLst/>
          </a:prstGeom>
          <a:noFill/>
          <a:ln/>
        </p:spPr>
        <p:txBody>
          <a:bodyPr wrap="square" lIns="0" tIns="0" rIns="0" bIns="0" rtlCol="0" anchor="t"/>
          <a:lstStyle/>
          <a:p>
            <a:pPr indent="0" marL="0">
              <a:buNone/>
            </a:pPr>
            <a:r>
              <a:rPr lang="en-US" sz="1900" b="1" dirty="0">
                <a:solidFill>
                  <a:schemeClr val="tx1"/>
                </a:solidFill>
              </a:rPr>
              <a:t>Markup applied once</a:t>
            </a:r>
            <a:endParaRPr lang="en-US" sz="1900" dirty="0"/>
          </a:p>
        </p:txBody>
      </p:sp>
      <p:sp>
        <p:nvSpPr>
          <p:cNvPr id="23" name="rule text 4"/>
          <p:cNvSpPr txBox="1"/>
          <p:nvPr/>
        </p:nvSpPr>
        <p:spPr>
          <a:xfrm>
            <a:off x="7498080" y="4480560"/>
            <a:ext cx="3886200" cy="1097280"/>
          </a:xfrm>
          <a:prstGeom prst="rect">
            <a:avLst/>
          </a:prstGeom>
          <a:noFill/>
          <a:ln/>
        </p:spPr>
        <p:txBody>
          <a:bodyPr wrap="square" lIns="0" tIns="0" rIns="0" bIns="0" rtlCol="0" anchor="t"/>
          <a:lstStyle/>
          <a:p>
            <a:pPr indent="0" marL="0">
              <a:buNone/>
            </a:pPr>
            <a:r>
              <a:rPr lang="en-US" sz="1400" dirty="0">
                <a:solidFill>
                  <a:schemeClr val="tx2"/>
                </a:solidFill>
              </a:rPr>
              <a:t>Rates already carry the material markup; the extra markup starts at 0 % so nothing is charged twice.</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Every line of the bill says where it comes from</a:t>
            </a:r>
            <a:endParaRPr lang="en-US" sz="3000" dirty="0"/>
          </a:p>
        </p:txBody>
      </p:sp>
      <p:graphicFrame>
        <p:nvGraphicFramePr>
          <p:cNvPr id="11" name="label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651760"/>
                <a:gridCol w="3657600"/>
                <a:gridCol w="4754880"/>
              </a:tblGrid>
              <a:tr h="384048">
                <a:tc>
                  <a:txBody>
                    <a:bodyPr/>
                    <a:lstStyle/>
                    <a:p>
                      <a:pPr indent="0" marL="0">
                        <a:buNone/>
                      </a:pPr>
                      <a:r>
                        <a:rPr lang="en-US" sz="1300" b="1" dirty="0">
                          <a:solidFill>
                            <a:schemeClr val="bg1"/>
                          </a:solidFill>
                        </a:rPr>
                        <a:t>Label on the line</a:t>
                      </a:r>
                      <a:endParaRPr lang="en-US" sz="1300" dirty="0"/>
                    </a:p>
                  </a:txBody>
                  <a:tcPr marL="91440" marR="91440"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What it means</a:t>
                      </a:r>
                      <a:endParaRPr lang="en-US" sz="1300" dirty="0"/>
                    </a:p>
                  </a:txBody>
                  <a:tcPr marL="91440" marR="91440"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Example</a:t>
                      </a:r>
                      <a:endParaRPr lang="en-US" sz="1300" dirty="0"/>
                    </a:p>
                  </a:txBody>
                  <a:tcPr marL="91440" marR="91440"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solidFill>
                      <a:schemeClr val="tx1"/>
                    </a:solidFill>
                  </a:tcPr>
                </a:tc>
              </a:tr>
              <a:tr h="502920">
                <a:tc>
                  <a:txBody>
                    <a:bodyPr/>
                    <a:lstStyle/>
                    <a:p>
                      <a:pPr indent="0" marL="0">
                        <a:buNone/>
                      </a:pPr>
                      <a:r>
                        <a:rPr lang="en-US" sz="1300" b="1" dirty="0">
                          <a:solidFill>
                            <a:schemeClr val="accent3"/>
                          </a:solidFill>
                        </a:rPr>
                        <a:t>From the drawing</a:t>
                      </a:r>
                      <a:endParaRPr lang="en-US" sz="1300" dirty="0"/>
                    </a:p>
                  </a:txBody>
                  <a:tcPr marL="91440" marR="91440"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Counted or read off the drawings</a:t>
                      </a:r>
                      <a:endParaRPr lang="en-US" sz="1300" dirty="0"/>
                    </a:p>
                  </a:txBody>
                  <a:tcPr marL="91440" marR="91440"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Double socket outlets counted on the plug layout</a:t>
                      </a:r>
                      <a:endParaRPr lang="en-US" sz="1300" dirty="0"/>
                    </a:p>
                  </a:txBody>
                  <a:tcPr marL="91440" marR="91440"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r h="502920">
                <a:tc>
                  <a:txBody>
                    <a:bodyPr/>
                    <a:lstStyle/>
                    <a:p>
                      <a:pPr indent="0" marL="0">
                        <a:buNone/>
                      </a:pPr>
                      <a:r>
                        <a:rPr lang="en-US" sz="1300" b="1" dirty="0">
                          <a:solidFill>
                            <a:schemeClr val="accent1"/>
                          </a:solidFill>
                        </a:rPr>
                        <a:t>Worked out</a:t>
                      </a:r>
                      <a:endParaRPr lang="en-US" sz="1300" dirty="0"/>
                    </a:p>
                  </a:txBody>
                  <a:tcPr marL="91440" marR="91440"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Calculated from the drawings</a:t>
                      </a:r>
                      <a:endParaRPr lang="en-US" sz="1300" dirty="0"/>
                    </a:p>
                  </a:txBody>
                  <a:tcPr marL="91440" marR="91440"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Feeder cable: route measured on the site plan + allowances</a:t>
                      </a:r>
                      <a:endParaRPr lang="en-US" sz="1300" dirty="0"/>
                    </a:p>
                  </a:txBody>
                  <a:tcPr marL="91440" marR="91440"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r h="502920">
                <a:tc>
                  <a:txBody>
                    <a:bodyPr/>
                    <a:lstStyle/>
                    <a:p>
                      <a:pPr indent="0" marL="0">
                        <a:buNone/>
                      </a:pPr>
                      <a:r>
                        <a:rPr lang="en-US" sz="1300" b="1" dirty="0">
                          <a:solidFill>
                            <a:schemeClr val="accent4"/>
                          </a:solidFill>
                        </a:rPr>
                        <a:t>Guessed – check</a:t>
                      </a:r>
                      <a:endParaRPr lang="en-US" sz="1300" dirty="0"/>
                    </a:p>
                  </a:txBody>
                  <a:tcPr marL="91440" marR="91440"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Not on the drawings — a standard value was used</a:t>
                      </a:r>
                      <a:endParaRPr lang="en-US" sz="1300" dirty="0"/>
                    </a:p>
                  </a:txBody>
                  <a:tcPr marL="91440" marR="91440"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Feeder length assumed because no length is drawn</a:t>
                      </a:r>
                      <a:endParaRPr lang="en-US" sz="1300" dirty="0"/>
                    </a:p>
                  </a:txBody>
                  <a:tcPr marL="91440" marR="91440"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r h="502920">
                <a:tc>
                  <a:txBody>
                    <a:bodyPr/>
                    <a:lstStyle/>
                    <a:p>
                      <a:pPr indent="0" marL="0">
                        <a:buNone/>
                      </a:pPr>
                      <a:r>
                        <a:rPr lang="en-US" sz="1300" b="1" dirty="0">
                          <a:solidFill>
                            <a:schemeClr val="tx2"/>
                          </a:solidFill>
                        </a:rPr>
                        <a:t>Allowance</a:t>
                      </a:r>
                      <a:endParaRPr lang="en-US" sz="1300" dirty="0"/>
                    </a:p>
                  </a:txBody>
                  <a:tcPr marL="91440" marR="91440"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A provisional sum</a:t>
                      </a:r>
                      <a:endParaRPr lang="en-US" sz="1300" dirty="0"/>
                    </a:p>
                  </a:txBody>
                  <a:tcPr marL="91440" marR="91440"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Utility connection fee</a:t>
                      </a:r>
                      <a:endParaRPr lang="en-US" sz="1300" dirty="0"/>
                    </a:p>
                  </a:txBody>
                  <a:tcPr marL="91440" marR="91440"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r h="502920">
                <a:tc>
                  <a:txBody>
                    <a:bodyPr/>
                    <a:lstStyle/>
                    <a:p>
                      <a:pPr indent="0" marL="0">
                        <a:buNone/>
                      </a:pPr>
                      <a:r>
                        <a:rPr lang="en-US" sz="1300" b="1" dirty="0">
                          <a:solidFill>
                            <a:schemeClr val="accent4"/>
                          </a:solidFill>
                        </a:rPr>
                        <a:t>Rough estimate – check</a:t>
                      </a:r>
                      <a:endParaRPr lang="en-US" sz="1300" dirty="0"/>
                    </a:p>
                  </a:txBody>
                  <a:tcPr marL="91440" marR="91440"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Estimated from other items</a:t>
                      </a:r>
                      <a:endParaRPr lang="en-US" sz="1300" dirty="0"/>
                    </a:p>
                  </a:txBody>
                  <a:tcPr marL="91440" marR="91440"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Conduit worked out from the number of points</a:t>
                      </a:r>
                      <a:endParaRPr lang="en-US" sz="1300" dirty="0"/>
                    </a:p>
                  </a:txBody>
                  <a:tcPr marL="91440" marR="91440"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r h="502920">
                <a:tc>
                  <a:txBody>
                    <a:bodyPr/>
                    <a:lstStyle/>
                    <a:p>
                      <a:pPr indent="0" marL="0">
                        <a:buNone/>
                      </a:pPr>
                      <a:r>
                        <a:rPr lang="en-US" sz="1300" b="1" dirty="0">
                          <a:solidFill>
                            <a:schemeClr val="tx2"/>
                          </a:solidFill>
                        </a:rPr>
                        <a:t>Price you chose</a:t>
                      </a:r>
                      <a:endParaRPr lang="en-US" sz="1300" dirty="0"/>
                    </a:p>
                  </a:txBody>
                  <a:tcPr marL="91440" marR="91440"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A price you changed yourself</a:t>
                      </a:r>
                      <a:endParaRPr lang="en-US" sz="1300" dirty="0"/>
                    </a:p>
                  </a:txBody>
                  <a:tcPr marL="91440" marR="91440"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A supplier's quote applied in Pricing</a:t>
                      </a:r>
                      <a:endParaRPr lang="en-US" sz="1300" dirty="0"/>
                    </a:p>
                  </a:txBody>
                  <a:tcPr marL="91440" marR="91440"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bl>
          </a:graphicData>
        </a:graphic>
      </p:graphicFrame>
      <p:sp>
        <p:nvSpPr>
          <p:cNvPr id="5" name="severity heading"/>
          <p:cNvSpPr txBox="1"/>
          <p:nvPr/>
        </p:nvSpPr>
        <p:spPr>
          <a:xfrm>
            <a:off x="548640" y="4983480"/>
            <a:ext cx="11064240" cy="320040"/>
          </a:xfrm>
          <a:prstGeom prst="rect">
            <a:avLst/>
          </a:prstGeom>
          <a:noFill/>
          <a:ln/>
        </p:spPr>
        <p:txBody>
          <a:bodyPr wrap="square" lIns="0" tIns="0" rIns="0" bIns="0" rtlCol="0" anchor="t"/>
          <a:lstStyle/>
          <a:p>
            <a:pPr indent="0" marL="0">
              <a:buNone/>
            </a:pPr>
            <a:r>
              <a:rPr lang="en-US" sz="1400" b="1" dirty="0">
                <a:solidFill>
                  <a:schemeClr val="tx1"/>
                </a:solidFill>
              </a:rPr>
              <a:t>“Things to check” is sorted by how serious each doubt is:</a:t>
            </a:r>
            <a:endParaRPr lang="en-US" sz="1400" dirty="0"/>
          </a:p>
        </p:txBody>
      </p:sp>
      <p:sp>
        <p:nvSpPr>
          <p:cNvPr id="6" name="severity chip 1"/>
          <p:cNvSpPr/>
          <p:nvPr/>
        </p:nvSpPr>
        <p:spPr>
          <a:xfrm>
            <a:off x="548640" y="5440680"/>
            <a:ext cx="2560320" cy="502920"/>
          </a:xfrm>
          <a:prstGeom prst="roundRect">
            <a:avLst>
              <a:gd name="adj" fmla="val 49091"/>
            </a:avLst>
          </a:prstGeom>
          <a:solidFill>
            <a:srgbClr val="C6423C"/>
          </a:solidFill>
          <a:ln w="12700">
            <a:solidFill>
              <a:srgbClr val="C6423C"/>
            </a:solidFill>
            <a:prstDash val="solid"/>
          </a:ln>
        </p:spPr>
      </p:sp>
      <p:sp>
        <p:nvSpPr>
          <p:cNvPr id="7" name="severity label 1"/>
          <p:cNvSpPr txBox="1"/>
          <p:nvPr/>
        </p:nvSpPr>
        <p:spPr>
          <a:xfrm>
            <a:off x="548640" y="5440680"/>
            <a:ext cx="2560320" cy="502920"/>
          </a:xfrm>
          <a:prstGeom prst="rect">
            <a:avLst/>
          </a:prstGeom>
          <a:noFill/>
          <a:ln/>
        </p:spPr>
        <p:txBody>
          <a:bodyPr wrap="square" lIns="0" tIns="0" rIns="0" bIns="0" rtlCol="0" anchor="ctr"/>
          <a:lstStyle/>
          <a:p>
            <a:pPr algn="ctr" indent="0" marL="0">
              <a:buNone/>
            </a:pPr>
            <a:r>
              <a:rPr lang="en-US" sz="1400" b="1" dirty="0">
                <a:solidFill>
                  <a:srgbClr val="FFFFFF"/>
                </a:solidFill>
              </a:rPr>
              <a:t>MUST FIX</a:t>
            </a:r>
            <a:endParaRPr lang="en-US" sz="1400" dirty="0"/>
          </a:p>
        </p:txBody>
      </p:sp>
      <p:sp>
        <p:nvSpPr>
          <p:cNvPr id="8" name="severity chip 2"/>
          <p:cNvSpPr/>
          <p:nvPr/>
        </p:nvSpPr>
        <p:spPr>
          <a:xfrm>
            <a:off x="3364992" y="5440680"/>
            <a:ext cx="2560320" cy="502920"/>
          </a:xfrm>
          <a:prstGeom prst="roundRect">
            <a:avLst>
              <a:gd name="adj" fmla="val 49091"/>
            </a:avLst>
          </a:prstGeom>
          <a:solidFill>
            <a:srgbClr val="F2A900"/>
          </a:solidFill>
          <a:ln w="12700">
            <a:solidFill>
              <a:srgbClr val="F2A900"/>
            </a:solidFill>
            <a:prstDash val="solid"/>
          </a:ln>
        </p:spPr>
      </p:sp>
      <p:sp>
        <p:nvSpPr>
          <p:cNvPr id="9" name="severity label 2"/>
          <p:cNvSpPr txBox="1"/>
          <p:nvPr/>
        </p:nvSpPr>
        <p:spPr>
          <a:xfrm>
            <a:off x="3364992" y="5440680"/>
            <a:ext cx="2560320" cy="502920"/>
          </a:xfrm>
          <a:prstGeom prst="rect">
            <a:avLst/>
          </a:prstGeom>
          <a:noFill/>
          <a:ln/>
        </p:spPr>
        <p:txBody>
          <a:bodyPr wrap="square" lIns="0" tIns="0" rIns="0" bIns="0" rtlCol="0" anchor="ctr"/>
          <a:lstStyle/>
          <a:p>
            <a:pPr algn="ctr" indent="0" marL="0">
              <a:buNone/>
            </a:pPr>
            <a:r>
              <a:rPr lang="en-US" sz="1400" b="1" dirty="0">
                <a:solidFill>
                  <a:srgbClr val="101A33"/>
                </a:solidFill>
              </a:rPr>
              <a:t>MUST CHECK</a:t>
            </a:r>
            <a:endParaRPr lang="en-US" sz="1400" dirty="0"/>
          </a:p>
        </p:txBody>
      </p:sp>
      <p:sp>
        <p:nvSpPr>
          <p:cNvPr id="10" name="severity chip 3"/>
          <p:cNvSpPr/>
          <p:nvPr/>
        </p:nvSpPr>
        <p:spPr>
          <a:xfrm>
            <a:off x="6181344" y="5440680"/>
            <a:ext cx="2560320" cy="502920"/>
          </a:xfrm>
          <a:prstGeom prst="roundRect">
            <a:avLst>
              <a:gd name="adj" fmla="val 49091"/>
            </a:avLst>
          </a:prstGeom>
          <a:solidFill>
            <a:srgbClr val="0E9BB8"/>
          </a:solidFill>
          <a:ln w="12700">
            <a:solidFill>
              <a:srgbClr val="0E9BB8"/>
            </a:solidFill>
            <a:prstDash val="solid"/>
          </a:ln>
        </p:spPr>
      </p:sp>
      <p:sp>
        <p:nvSpPr>
          <p:cNvPr id="11" name="severity label 3"/>
          <p:cNvSpPr txBox="1"/>
          <p:nvPr/>
        </p:nvSpPr>
        <p:spPr>
          <a:xfrm>
            <a:off x="6181344" y="5440680"/>
            <a:ext cx="2560320" cy="502920"/>
          </a:xfrm>
          <a:prstGeom prst="rect">
            <a:avLst/>
          </a:prstGeom>
          <a:noFill/>
          <a:ln/>
        </p:spPr>
        <p:txBody>
          <a:bodyPr wrap="square" lIns="0" tIns="0" rIns="0" bIns="0" rtlCol="0" anchor="ctr"/>
          <a:lstStyle/>
          <a:p>
            <a:pPr algn="ctr" indent="0" marL="0">
              <a:buNone/>
            </a:pPr>
            <a:r>
              <a:rPr lang="en-US" sz="1400" b="1" dirty="0">
                <a:solidFill>
                  <a:srgbClr val="FFFFFF"/>
                </a:solidFill>
              </a:rPr>
              <a:t>SHOULD CHECK</a:t>
            </a:r>
            <a:endParaRPr lang="en-US" sz="1400" dirty="0"/>
          </a:p>
        </p:txBody>
      </p:sp>
      <p:sp>
        <p:nvSpPr>
          <p:cNvPr id="12" name="severity chip 4"/>
          <p:cNvSpPr/>
          <p:nvPr/>
        </p:nvSpPr>
        <p:spPr>
          <a:xfrm>
            <a:off x="8997696" y="5440680"/>
            <a:ext cx="2560320" cy="502920"/>
          </a:xfrm>
          <a:prstGeom prst="roundRect">
            <a:avLst>
              <a:gd name="adj" fmla="val 49091"/>
            </a:avLst>
          </a:prstGeom>
          <a:solidFill>
            <a:srgbClr val="8A93AB"/>
          </a:solidFill>
          <a:ln w="12700">
            <a:solidFill>
              <a:srgbClr val="8A93AB"/>
            </a:solidFill>
            <a:prstDash val="solid"/>
          </a:ln>
        </p:spPr>
      </p:sp>
      <p:sp>
        <p:nvSpPr>
          <p:cNvPr id="13" name="severity label 4"/>
          <p:cNvSpPr txBox="1"/>
          <p:nvPr/>
        </p:nvSpPr>
        <p:spPr>
          <a:xfrm>
            <a:off x="8997696" y="5440680"/>
            <a:ext cx="2560320" cy="502920"/>
          </a:xfrm>
          <a:prstGeom prst="rect">
            <a:avLst/>
          </a:prstGeom>
          <a:noFill/>
          <a:ln/>
        </p:spPr>
        <p:txBody>
          <a:bodyPr wrap="square" lIns="0" tIns="0" rIns="0" bIns="0" rtlCol="0" anchor="ctr"/>
          <a:lstStyle/>
          <a:p>
            <a:pPr algn="ctr" indent="0" marL="0">
              <a:buNone/>
            </a:pPr>
            <a:r>
              <a:rPr lang="en-US" sz="1400" b="1" dirty="0">
                <a:solidFill>
                  <a:srgbClr val="FFFFFF"/>
                </a:solidFill>
              </a:rPr>
              <a:t>FOR INFO</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When the drawings disagree, AfriPlan says so</a:t>
            </a:r>
            <a:endParaRPr lang="en-US" sz="3000" dirty="0"/>
          </a:p>
        </p:txBody>
      </p:sp>
      <p:sp>
        <p:nvSpPr>
          <p:cNvPr id="4" name="disagree card 1"/>
          <p:cNvSpPr/>
          <p:nvPr/>
        </p:nvSpPr>
        <p:spPr>
          <a:xfrm>
            <a:off x="548640" y="1463040"/>
            <a:ext cx="11064240" cy="960120"/>
          </a:xfrm>
          <a:prstGeom prst="roundRect">
            <a:avLst>
              <a:gd name="adj" fmla="val 11429"/>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5" name="disagree 1 circle"/>
          <p:cNvSpPr/>
          <p:nvPr/>
        </p:nvSpPr>
        <p:spPr>
          <a:xfrm>
            <a:off x="777240" y="1618488"/>
            <a:ext cx="658368" cy="658368"/>
          </a:xfrm>
          <a:prstGeom prst="ellipse">
            <a:avLst/>
          </a:prstGeom>
          <a:solidFill>
            <a:srgbClr val="2E5BE8"/>
          </a:solidFill>
          <a:ln w="12700">
            <a:solidFill>
              <a:srgbClr val="2E5BE8"/>
            </a:solidFill>
            <a:prstDash val="solid"/>
          </a:ln>
        </p:spPr>
      </p:sp>
      <p:pic>
        <p:nvPicPr>
          <p:cNvPr id="6" name="disagree 1 icon" descr="preencoded.png">    </p:cNvPr>
          <p:cNvPicPr>
            <a:picLocks noChangeAspect="1"/>
          </p:cNvPicPr>
          <p:nvPr/>
        </p:nvPicPr>
        <p:blipFill>
          <a:blip r:embed="rId1"/>
          <a:stretch>
            <a:fillRect/>
          </a:stretch>
        </p:blipFill>
        <p:spPr>
          <a:xfrm>
            <a:off x="948416" y="1789664"/>
            <a:ext cx="316017" cy="316017"/>
          </a:xfrm>
          <a:prstGeom prst="rect">
            <a:avLst/>
          </a:prstGeom>
        </p:spPr>
      </p:pic>
      <p:sp>
        <p:nvSpPr>
          <p:cNvPr id="7" name="disagree title 1"/>
          <p:cNvSpPr txBox="1"/>
          <p:nvPr/>
        </p:nvSpPr>
        <p:spPr>
          <a:xfrm>
            <a:off x="1691640" y="1591056"/>
            <a:ext cx="9692640" cy="347472"/>
          </a:xfrm>
          <a:prstGeom prst="rect">
            <a:avLst/>
          </a:prstGeom>
          <a:noFill/>
          <a:ln/>
        </p:spPr>
        <p:txBody>
          <a:bodyPr wrap="square" lIns="0" tIns="0" rIns="0" bIns="0" rtlCol="0" anchor="t"/>
          <a:lstStyle/>
          <a:p>
            <a:pPr indent="0" marL="0">
              <a:buNone/>
            </a:pPr>
            <a:r>
              <a:rPr lang="en-US" sz="1600" b="1" dirty="0">
                <a:solidFill>
                  <a:schemeClr val="tx1"/>
                </a:solidFill>
              </a:rPr>
              <a:t>Two issues of the same sheet</a:t>
            </a:r>
            <a:endParaRPr lang="en-US" sz="1600" dirty="0"/>
          </a:p>
        </p:txBody>
      </p:sp>
      <p:sp>
        <p:nvSpPr>
          <p:cNvPr id="8" name="disagree text 1"/>
          <p:cNvSpPr txBox="1"/>
          <p:nvPr/>
        </p:nvSpPr>
        <p:spPr>
          <a:xfrm>
            <a:off x="1691640" y="1956816"/>
            <a:ext cx="9692640" cy="384048"/>
          </a:xfrm>
          <a:prstGeom prst="rect">
            <a:avLst/>
          </a:prstGeom>
          <a:noFill/>
          <a:ln/>
        </p:spPr>
        <p:txBody>
          <a:bodyPr wrap="square" lIns="0" tIns="0" rIns="0" bIns="0" rtlCol="0" anchor="t"/>
          <a:lstStyle/>
          <a:p>
            <a:pPr indent="0" marL="0">
              <a:buNone/>
            </a:pPr>
            <a:r>
              <a:rPr lang="en-US" sz="1350" dirty="0">
                <a:solidFill>
                  <a:schemeClr val="tx2"/>
                </a:solidFill>
              </a:rPr>
              <a:t>The newest issue is used; the older one is skipped and listed, so nothing is billed twice.</a:t>
            </a:r>
            <a:endParaRPr lang="en-US" sz="1350" dirty="0"/>
          </a:p>
        </p:txBody>
      </p:sp>
      <p:sp>
        <p:nvSpPr>
          <p:cNvPr id="9" name="disagree card 2"/>
          <p:cNvSpPr/>
          <p:nvPr/>
        </p:nvSpPr>
        <p:spPr>
          <a:xfrm>
            <a:off x="548640" y="2578608"/>
            <a:ext cx="11064240" cy="960120"/>
          </a:xfrm>
          <a:prstGeom prst="roundRect">
            <a:avLst>
              <a:gd name="adj" fmla="val 11429"/>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0" name="disagree 2 circle"/>
          <p:cNvSpPr/>
          <p:nvPr/>
        </p:nvSpPr>
        <p:spPr>
          <a:xfrm>
            <a:off x="777240" y="2734056"/>
            <a:ext cx="658368" cy="658368"/>
          </a:xfrm>
          <a:prstGeom prst="ellipse">
            <a:avLst/>
          </a:prstGeom>
          <a:solidFill>
            <a:srgbClr val="2E5BE8"/>
          </a:solidFill>
          <a:ln w="12700">
            <a:solidFill>
              <a:srgbClr val="2E5BE8"/>
            </a:solidFill>
            <a:prstDash val="solid"/>
          </a:ln>
        </p:spPr>
      </p:sp>
      <p:pic>
        <p:nvPicPr>
          <p:cNvPr id="11" name="disagree 2 icon" descr="preencoded.png">    </p:cNvPr>
          <p:cNvPicPr>
            <a:picLocks noChangeAspect="1"/>
          </p:cNvPicPr>
          <p:nvPr/>
        </p:nvPicPr>
        <p:blipFill>
          <a:blip r:embed="rId2"/>
          <a:stretch>
            <a:fillRect/>
          </a:stretch>
        </p:blipFill>
        <p:spPr>
          <a:xfrm>
            <a:off x="948416" y="2905232"/>
            <a:ext cx="316017" cy="316017"/>
          </a:xfrm>
          <a:prstGeom prst="rect">
            <a:avLst/>
          </a:prstGeom>
        </p:spPr>
      </p:pic>
      <p:sp>
        <p:nvSpPr>
          <p:cNvPr id="12" name="disagree title 2"/>
          <p:cNvSpPr txBox="1"/>
          <p:nvPr/>
        </p:nvSpPr>
        <p:spPr>
          <a:xfrm>
            <a:off x="1691640" y="2706624"/>
            <a:ext cx="9692640" cy="347472"/>
          </a:xfrm>
          <a:prstGeom prst="rect">
            <a:avLst/>
          </a:prstGeom>
          <a:noFill/>
          <a:ln/>
        </p:spPr>
        <p:txBody>
          <a:bodyPr wrap="square" lIns="0" tIns="0" rIns="0" bIns="0" rtlCol="0" anchor="t"/>
          <a:lstStyle/>
          <a:p>
            <a:pPr indent="0" marL="0">
              <a:buNone/>
            </a:pPr>
            <a:r>
              <a:rPr lang="en-US" sz="1600" b="1" dirty="0">
                <a:solidFill>
                  <a:schemeClr val="tx1"/>
                </a:solidFill>
              </a:rPr>
              <a:t>PDF and CAD of the same sheet</a:t>
            </a:r>
            <a:endParaRPr lang="en-US" sz="1600" dirty="0"/>
          </a:p>
        </p:txBody>
      </p:sp>
      <p:sp>
        <p:nvSpPr>
          <p:cNvPr id="13" name="disagree text 2"/>
          <p:cNvSpPr txBox="1"/>
          <p:nvPr/>
        </p:nvSpPr>
        <p:spPr>
          <a:xfrm>
            <a:off x="1691640" y="3072384"/>
            <a:ext cx="9692640" cy="384048"/>
          </a:xfrm>
          <a:prstGeom prst="rect">
            <a:avLst/>
          </a:prstGeom>
          <a:noFill/>
          <a:ln/>
        </p:spPr>
        <p:txBody>
          <a:bodyPr wrap="square" lIns="0" tIns="0" rIns="0" bIns="0" rtlCol="0" anchor="t"/>
          <a:lstStyle/>
          <a:p>
            <a:pPr indent="0" marL="0">
              <a:buNone/>
            </a:pPr>
            <a:r>
              <a:rPr lang="en-US" sz="1350" dirty="0">
                <a:solidFill>
                  <a:schemeClr val="tx2"/>
                </a:solidFill>
              </a:rPr>
              <a:t>Paired by the words both print; the stronger evidence wins (measured beats counted beats written).</a:t>
            </a:r>
            <a:endParaRPr lang="en-US" sz="1350" dirty="0"/>
          </a:p>
        </p:txBody>
      </p:sp>
      <p:sp>
        <p:nvSpPr>
          <p:cNvPr id="14" name="disagree card 3"/>
          <p:cNvSpPr/>
          <p:nvPr/>
        </p:nvSpPr>
        <p:spPr>
          <a:xfrm>
            <a:off x="548640" y="3694176"/>
            <a:ext cx="11064240" cy="960120"/>
          </a:xfrm>
          <a:prstGeom prst="roundRect">
            <a:avLst>
              <a:gd name="adj" fmla="val 11429"/>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5" name="disagree 3 circle"/>
          <p:cNvSpPr/>
          <p:nvPr/>
        </p:nvSpPr>
        <p:spPr>
          <a:xfrm>
            <a:off x="777240" y="3849624"/>
            <a:ext cx="658368" cy="658368"/>
          </a:xfrm>
          <a:prstGeom prst="ellipse">
            <a:avLst/>
          </a:prstGeom>
          <a:solidFill>
            <a:srgbClr val="2E5BE8"/>
          </a:solidFill>
          <a:ln w="12700">
            <a:solidFill>
              <a:srgbClr val="2E5BE8"/>
            </a:solidFill>
            <a:prstDash val="solid"/>
          </a:ln>
        </p:spPr>
      </p:sp>
      <p:pic>
        <p:nvPicPr>
          <p:cNvPr id="16" name="disagree 3 icon" descr="preencoded.png">    </p:cNvPr>
          <p:cNvPicPr>
            <a:picLocks noChangeAspect="1"/>
          </p:cNvPicPr>
          <p:nvPr/>
        </p:nvPicPr>
        <p:blipFill>
          <a:blip r:embed="rId3"/>
          <a:stretch>
            <a:fillRect/>
          </a:stretch>
        </p:blipFill>
        <p:spPr>
          <a:xfrm>
            <a:off x="948416" y="4020800"/>
            <a:ext cx="316017" cy="316017"/>
          </a:xfrm>
          <a:prstGeom prst="rect">
            <a:avLst/>
          </a:prstGeom>
        </p:spPr>
      </p:pic>
      <p:sp>
        <p:nvSpPr>
          <p:cNvPr id="17" name="disagree title 3"/>
          <p:cNvSpPr txBox="1"/>
          <p:nvPr/>
        </p:nvSpPr>
        <p:spPr>
          <a:xfrm>
            <a:off x="1691640" y="3822192"/>
            <a:ext cx="9692640" cy="347472"/>
          </a:xfrm>
          <a:prstGeom prst="rect">
            <a:avLst/>
          </a:prstGeom>
          <a:noFill/>
          <a:ln/>
        </p:spPr>
        <p:txBody>
          <a:bodyPr wrap="square" lIns="0" tIns="0" rIns="0" bIns="0" rtlCol="0" anchor="t"/>
          <a:lstStyle/>
          <a:p>
            <a:pPr indent="0" marL="0">
              <a:buNone/>
            </a:pPr>
            <a:r>
              <a:rPr lang="en-US" sz="1600" b="1" dirty="0">
                <a:solidFill>
                  <a:schemeClr val="tx1"/>
                </a:solidFill>
              </a:rPr>
              <a:t>No length or quantity on the drawing</a:t>
            </a:r>
            <a:endParaRPr lang="en-US" sz="1600" dirty="0"/>
          </a:p>
        </p:txBody>
      </p:sp>
      <p:sp>
        <p:nvSpPr>
          <p:cNvPr id="18" name="disagree text 3"/>
          <p:cNvSpPr txBox="1"/>
          <p:nvPr/>
        </p:nvSpPr>
        <p:spPr>
          <a:xfrm>
            <a:off x="1691640" y="4187952"/>
            <a:ext cx="9692640" cy="384048"/>
          </a:xfrm>
          <a:prstGeom prst="rect">
            <a:avLst/>
          </a:prstGeom>
          <a:noFill/>
          <a:ln/>
        </p:spPr>
        <p:txBody>
          <a:bodyPr wrap="square" lIns="0" tIns="0" rIns="0" bIns="0" rtlCol="0" anchor="t"/>
          <a:lstStyle/>
          <a:p>
            <a:pPr indent="0" marL="0">
              <a:buNone/>
            </a:pPr>
            <a:r>
              <a:rPr lang="en-US" sz="1350" dirty="0">
                <a:solidFill>
                  <a:schemeClr val="tx2"/>
                </a:solidFill>
              </a:rPr>
              <a:t>A standard value is used and the line is marked “Guessed – check”.</a:t>
            </a:r>
            <a:endParaRPr lang="en-US" sz="1350" dirty="0"/>
          </a:p>
        </p:txBody>
      </p:sp>
      <p:sp>
        <p:nvSpPr>
          <p:cNvPr id="19" name="disagree card 4"/>
          <p:cNvSpPr/>
          <p:nvPr/>
        </p:nvSpPr>
        <p:spPr>
          <a:xfrm>
            <a:off x="548640" y="4809744"/>
            <a:ext cx="11064240" cy="960120"/>
          </a:xfrm>
          <a:prstGeom prst="roundRect">
            <a:avLst>
              <a:gd name="adj" fmla="val 11429"/>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0" name="disagree 4 circle"/>
          <p:cNvSpPr/>
          <p:nvPr/>
        </p:nvSpPr>
        <p:spPr>
          <a:xfrm>
            <a:off x="777240" y="4965192"/>
            <a:ext cx="658368" cy="658368"/>
          </a:xfrm>
          <a:prstGeom prst="ellipse">
            <a:avLst/>
          </a:prstGeom>
          <a:solidFill>
            <a:srgbClr val="F2A900"/>
          </a:solidFill>
          <a:ln w="12700">
            <a:solidFill>
              <a:srgbClr val="F2A900"/>
            </a:solidFill>
            <a:prstDash val="solid"/>
          </a:ln>
        </p:spPr>
      </p:sp>
      <p:pic>
        <p:nvPicPr>
          <p:cNvPr id="21" name="disagree 4 icon" descr="preencoded.png">    </p:cNvPr>
          <p:cNvPicPr>
            <a:picLocks noChangeAspect="1"/>
          </p:cNvPicPr>
          <p:nvPr/>
        </p:nvPicPr>
        <p:blipFill>
          <a:blip r:embed="rId4"/>
          <a:stretch>
            <a:fillRect/>
          </a:stretch>
        </p:blipFill>
        <p:spPr>
          <a:xfrm>
            <a:off x="948416" y="5136368"/>
            <a:ext cx="316017" cy="316017"/>
          </a:xfrm>
          <a:prstGeom prst="rect">
            <a:avLst/>
          </a:prstGeom>
        </p:spPr>
      </p:pic>
      <p:sp>
        <p:nvSpPr>
          <p:cNvPr id="22" name="disagree title 4"/>
          <p:cNvSpPr txBox="1"/>
          <p:nvPr/>
        </p:nvSpPr>
        <p:spPr>
          <a:xfrm>
            <a:off x="1691640" y="4937760"/>
            <a:ext cx="9692640" cy="347472"/>
          </a:xfrm>
          <a:prstGeom prst="rect">
            <a:avLst/>
          </a:prstGeom>
          <a:noFill/>
          <a:ln/>
        </p:spPr>
        <p:txBody>
          <a:bodyPr wrap="square" lIns="0" tIns="0" rIns="0" bIns="0" rtlCol="0" anchor="t"/>
          <a:lstStyle/>
          <a:p>
            <a:pPr indent="0" marL="0">
              <a:buNone/>
            </a:pPr>
            <a:r>
              <a:rPr lang="en-US" sz="1600" b="1" dirty="0">
                <a:solidFill>
                  <a:schemeClr val="tx1"/>
                </a:solidFill>
              </a:rPr>
              <a:t>Known limit: one board, two names</a:t>
            </a:r>
            <a:endParaRPr lang="en-US" sz="1600" dirty="0"/>
          </a:p>
        </p:txBody>
      </p:sp>
      <p:sp>
        <p:nvSpPr>
          <p:cNvPr id="23" name="disagree text 4"/>
          <p:cNvSpPr txBox="1"/>
          <p:nvPr/>
        </p:nvSpPr>
        <p:spPr>
          <a:xfrm>
            <a:off x="1691640" y="5303520"/>
            <a:ext cx="9692640" cy="384048"/>
          </a:xfrm>
          <a:prstGeom prst="rect">
            <a:avLst/>
          </a:prstGeom>
          <a:noFill/>
          <a:ln/>
        </p:spPr>
        <p:txBody>
          <a:bodyPr wrap="square" lIns="0" tIns="0" rIns="0" bIns="0" rtlCol="0" anchor="t"/>
          <a:lstStyle/>
          <a:p>
            <a:pPr indent="0" marL="0">
              <a:buNone/>
            </a:pPr>
            <a:r>
              <a:rPr lang="en-US" sz="1350" dirty="0">
                <a:solidFill>
                  <a:schemeClr val="tx2"/>
                </a:solidFill>
              </a:rPr>
              <a:t>If a layout and the single-line diagram name the same board differently, it can be billed twice — check the boards.</a:t>
            </a:r>
            <a:endParaRPr lang="en-US" sz="135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Two ways to produce a BoQ — pick the one that fits the job</a:t>
            </a:r>
            <a:endParaRPr lang="en-US" sz="3000" dirty="0"/>
          </a:p>
        </p:txBody>
      </p:sp>
      <p:sp>
        <p:nvSpPr>
          <p:cNvPr id="4" name="Web app column"/>
          <p:cNvSpPr/>
          <p:nvPr/>
        </p:nvSpPr>
        <p:spPr>
          <a:xfrm>
            <a:off x="548640" y="1417320"/>
            <a:ext cx="5440680" cy="4206240"/>
          </a:xfrm>
          <a:prstGeom prst="roundRect">
            <a:avLst>
              <a:gd name="adj" fmla="val 2609"/>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5" name="Web app circle"/>
          <p:cNvSpPr/>
          <p:nvPr/>
        </p:nvSpPr>
        <p:spPr>
          <a:xfrm>
            <a:off x="822960" y="1645920"/>
            <a:ext cx="731520" cy="731520"/>
          </a:xfrm>
          <a:prstGeom prst="ellipse">
            <a:avLst/>
          </a:prstGeom>
          <a:solidFill>
            <a:srgbClr val="2E5BE8"/>
          </a:solidFill>
          <a:ln w="12700">
            <a:solidFill>
              <a:srgbClr val="2E5BE8"/>
            </a:solidFill>
            <a:prstDash val="solid"/>
          </a:ln>
        </p:spPr>
      </p:sp>
      <p:pic>
        <p:nvPicPr>
          <p:cNvPr id="6" name="Web app icon" descr="preencoded.png">    </p:cNvPr>
          <p:cNvPicPr>
            <a:picLocks noChangeAspect="1"/>
          </p:cNvPicPr>
          <p:nvPr/>
        </p:nvPicPr>
        <p:blipFill>
          <a:blip r:embed="rId1"/>
          <a:stretch>
            <a:fillRect/>
          </a:stretch>
        </p:blipFill>
        <p:spPr>
          <a:xfrm>
            <a:off x="1013155" y="1836115"/>
            <a:ext cx="351130" cy="351130"/>
          </a:xfrm>
          <a:prstGeom prst="rect">
            <a:avLst/>
          </a:prstGeom>
        </p:spPr>
      </p:pic>
      <p:sp>
        <p:nvSpPr>
          <p:cNvPr id="7" name="Web app title"/>
          <p:cNvSpPr txBox="1"/>
          <p:nvPr/>
        </p:nvSpPr>
        <p:spPr>
          <a:xfrm>
            <a:off x="1737360" y="1664208"/>
            <a:ext cx="4023360" cy="411480"/>
          </a:xfrm>
          <a:prstGeom prst="rect">
            <a:avLst/>
          </a:prstGeom>
          <a:noFill/>
          <a:ln/>
        </p:spPr>
        <p:txBody>
          <a:bodyPr wrap="square" lIns="0" tIns="0" rIns="0" bIns="0" rtlCol="0" anchor="t"/>
          <a:lstStyle/>
          <a:p>
            <a:pPr indent="0" marL="0">
              <a:buNone/>
            </a:pPr>
            <a:r>
              <a:rPr lang="en-US" sz="2200" b="1" dirty="0">
                <a:solidFill>
                  <a:schemeClr val="tx1"/>
                </a:solidFill>
              </a:rPr>
              <a:t>Web app</a:t>
            </a:r>
            <a:endParaRPr lang="en-US" sz="2200" dirty="0"/>
          </a:p>
        </p:txBody>
      </p:sp>
      <p:sp>
        <p:nvSpPr>
          <p:cNvPr id="8" name="Web app subtitle"/>
          <p:cNvSpPr txBox="1"/>
          <p:nvPr/>
        </p:nvSpPr>
        <p:spPr>
          <a:xfrm>
            <a:off x="1737360" y="2057400"/>
            <a:ext cx="4023360" cy="320040"/>
          </a:xfrm>
          <a:prstGeom prst="rect">
            <a:avLst/>
          </a:prstGeom>
          <a:noFill/>
          <a:ln/>
        </p:spPr>
        <p:txBody>
          <a:bodyPr wrap="square" lIns="0" tIns="0" rIns="0" bIns="0" rtlCol="0" anchor="t"/>
          <a:lstStyle/>
          <a:p>
            <a:pPr indent="0" marL="0">
              <a:buNone/>
            </a:pPr>
            <a:r>
              <a:rPr lang="en-US" sz="1300" dirty="0">
                <a:solidFill>
                  <a:schemeClr val="tx2"/>
                </a:solidFill>
              </a:rPr>
              <a:t>in the browser</a:t>
            </a:r>
            <a:endParaRPr lang="en-US" sz="1300" dirty="0"/>
          </a:p>
        </p:txBody>
      </p:sp>
      <p:sp>
        <p:nvSpPr>
          <p:cNvPr id="9" name="Web app row label 1"/>
          <p:cNvSpPr txBox="1"/>
          <p:nvPr/>
        </p:nvSpPr>
        <p:spPr>
          <a:xfrm>
            <a:off x="822960" y="2697480"/>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Best for</a:t>
            </a:r>
            <a:endParaRPr lang="en-US" sz="1300" dirty="0"/>
          </a:p>
        </p:txBody>
      </p:sp>
      <p:sp>
        <p:nvSpPr>
          <p:cNvPr id="10" name="Web app row text 1"/>
          <p:cNvSpPr txBox="1"/>
          <p:nvPr/>
        </p:nvSpPr>
        <p:spPr>
          <a:xfrm>
            <a:off x="2148840" y="2697480"/>
            <a:ext cx="3657600" cy="548640"/>
          </a:xfrm>
          <a:prstGeom prst="rect">
            <a:avLst/>
          </a:prstGeom>
          <a:noFill/>
          <a:ln/>
        </p:spPr>
        <p:txBody>
          <a:bodyPr wrap="square" lIns="0" tIns="0" rIns="0" bIns="0" rtlCol="0" anchor="t"/>
          <a:lstStyle/>
          <a:p>
            <a:pPr indent="0" marL="0">
              <a:buNone/>
            </a:pPr>
            <a:r>
              <a:rPr lang="en-US" sz="1350" dirty="0">
                <a:solidFill>
                  <a:schemeClr val="tx1"/>
                </a:solidFill>
              </a:rPr>
              <a:t>contractors, quick DWG/DXF jobs, demos</a:t>
            </a:r>
            <a:endParaRPr lang="en-US" sz="1350" dirty="0"/>
          </a:p>
        </p:txBody>
      </p:sp>
      <p:sp>
        <p:nvSpPr>
          <p:cNvPr id="11" name="Web app row label 2"/>
          <p:cNvSpPr txBox="1"/>
          <p:nvPr/>
        </p:nvSpPr>
        <p:spPr>
          <a:xfrm>
            <a:off x="822960" y="3300984"/>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How</a:t>
            </a:r>
            <a:endParaRPr lang="en-US" sz="1300" dirty="0"/>
          </a:p>
        </p:txBody>
      </p:sp>
      <p:sp>
        <p:nvSpPr>
          <p:cNvPr id="12" name="Web app row text 2"/>
          <p:cNvSpPr txBox="1"/>
          <p:nvPr/>
        </p:nvSpPr>
        <p:spPr>
          <a:xfrm>
            <a:off x="2148840" y="3300984"/>
            <a:ext cx="3657600" cy="548640"/>
          </a:xfrm>
          <a:prstGeom prst="rect">
            <a:avLst/>
          </a:prstGeom>
          <a:noFill/>
          <a:ln/>
        </p:spPr>
        <p:txBody>
          <a:bodyPr wrap="square" lIns="0" tIns="0" rIns="0" bIns="0" rtlCol="0" anchor="t"/>
          <a:lstStyle/>
          <a:p>
            <a:pPr indent="0" marL="0">
              <a:buNone/>
            </a:pPr>
            <a:r>
              <a:rPr lang="en-US" sz="1350" dirty="0">
                <a:solidFill>
                  <a:schemeClr val="tx1"/>
                </a:solidFill>
              </a:rPr>
              <a:t>upload drawings → Take-off → BoQ → export</a:t>
            </a:r>
            <a:endParaRPr lang="en-US" sz="1350" dirty="0"/>
          </a:p>
        </p:txBody>
      </p:sp>
      <p:sp>
        <p:nvSpPr>
          <p:cNvPr id="13" name="Web app row label 3"/>
          <p:cNvSpPr txBox="1"/>
          <p:nvPr/>
        </p:nvSpPr>
        <p:spPr>
          <a:xfrm>
            <a:off x="822960" y="3904488"/>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PDF reading</a:t>
            </a:r>
            <a:endParaRPr lang="en-US" sz="1300" dirty="0"/>
          </a:p>
        </p:txBody>
      </p:sp>
      <p:sp>
        <p:nvSpPr>
          <p:cNvPr id="14" name="Web app row text 3"/>
          <p:cNvSpPr txBox="1"/>
          <p:nvPr/>
        </p:nvSpPr>
        <p:spPr>
          <a:xfrm>
            <a:off x="2148840" y="3904488"/>
            <a:ext cx="3657600" cy="548640"/>
          </a:xfrm>
          <a:prstGeom prst="rect">
            <a:avLst/>
          </a:prstGeom>
          <a:noFill/>
          <a:ln/>
        </p:spPr>
        <p:txBody>
          <a:bodyPr wrap="square" lIns="0" tIns="0" rIns="0" bIns="0" rtlCol="0" anchor="t"/>
          <a:lstStyle/>
          <a:p>
            <a:pPr indent="0" marL="0">
              <a:buNone/>
            </a:pPr>
            <a:r>
              <a:rPr lang="en-US" sz="1350" dirty="0">
                <a:solidFill>
                  <a:schemeClr val="tx1"/>
                </a:solidFill>
              </a:rPr>
              <a:t>Claude API (paid) or Gemini (free, slower, daily limit)</a:t>
            </a:r>
            <a:endParaRPr lang="en-US" sz="1350" dirty="0"/>
          </a:p>
        </p:txBody>
      </p:sp>
      <p:sp>
        <p:nvSpPr>
          <p:cNvPr id="15" name="Web app row label 4"/>
          <p:cNvSpPr txBox="1"/>
          <p:nvPr/>
        </p:nvSpPr>
        <p:spPr>
          <a:xfrm>
            <a:off x="822960" y="4507992"/>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DWG/DXF</a:t>
            </a:r>
            <a:endParaRPr lang="en-US" sz="1300" dirty="0"/>
          </a:p>
        </p:txBody>
      </p:sp>
      <p:sp>
        <p:nvSpPr>
          <p:cNvPr id="16" name="Web app row text 4"/>
          <p:cNvSpPr txBox="1"/>
          <p:nvPr/>
        </p:nvSpPr>
        <p:spPr>
          <a:xfrm>
            <a:off x="2148840" y="4507992"/>
            <a:ext cx="3657600" cy="548640"/>
          </a:xfrm>
          <a:prstGeom prst="rect">
            <a:avLst/>
          </a:prstGeom>
          <a:noFill/>
          <a:ln/>
        </p:spPr>
        <p:txBody>
          <a:bodyPr wrap="square" lIns="0" tIns="0" rIns="0" bIns="0" rtlCol="0" anchor="t"/>
          <a:lstStyle/>
          <a:p>
            <a:pPr indent="0" marL="0">
              <a:buNone/>
            </a:pPr>
            <a:r>
              <a:rPr lang="en-US" sz="1350" dirty="0">
                <a:solidFill>
                  <a:schemeClr val="tx1"/>
                </a:solidFill>
              </a:rPr>
              <a:t>free and exact, about 1–2 minutes</a:t>
            </a:r>
            <a:endParaRPr lang="en-US" sz="1350" dirty="0"/>
          </a:p>
        </p:txBody>
      </p:sp>
      <p:sp>
        <p:nvSpPr>
          <p:cNvPr id="17" name="Web app row label 5"/>
          <p:cNvSpPr txBox="1"/>
          <p:nvPr/>
        </p:nvSpPr>
        <p:spPr>
          <a:xfrm>
            <a:off x="822960" y="5111496"/>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Output</a:t>
            </a:r>
            <a:endParaRPr lang="en-US" sz="1300" dirty="0"/>
          </a:p>
        </p:txBody>
      </p:sp>
      <p:sp>
        <p:nvSpPr>
          <p:cNvPr id="18" name="Web app row text 5"/>
          <p:cNvSpPr txBox="1"/>
          <p:nvPr/>
        </p:nvSpPr>
        <p:spPr>
          <a:xfrm>
            <a:off x="2148840" y="5111496"/>
            <a:ext cx="3657600" cy="548640"/>
          </a:xfrm>
          <a:prstGeom prst="rect">
            <a:avLst/>
          </a:prstGeom>
          <a:noFill/>
          <a:ln/>
        </p:spPr>
        <p:txBody>
          <a:bodyPr wrap="square" lIns="0" tIns="0" rIns="0" bIns="0" rtlCol="0" anchor="t"/>
          <a:lstStyle/>
          <a:p>
            <a:pPr indent="0" marL="0">
              <a:buNone/>
            </a:pPr>
            <a:r>
              <a:rPr lang="en-US" sz="1350" dirty="0">
                <a:solidFill>
                  <a:schemeClr val="tx1"/>
                </a:solidFill>
              </a:rPr>
              <a:t>BoQ on screen, Excel &amp; PDF tender document</a:t>
            </a:r>
            <a:endParaRPr lang="en-US" sz="1350" dirty="0"/>
          </a:p>
        </p:txBody>
      </p:sp>
      <p:sp>
        <p:nvSpPr>
          <p:cNvPr id="19" name="AI Operating System column"/>
          <p:cNvSpPr/>
          <p:nvPr/>
        </p:nvSpPr>
        <p:spPr>
          <a:xfrm>
            <a:off x="6172200" y="1417320"/>
            <a:ext cx="5440680" cy="4206240"/>
          </a:xfrm>
          <a:prstGeom prst="roundRect">
            <a:avLst>
              <a:gd name="adj" fmla="val 2609"/>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0" name="AI Operating System circle"/>
          <p:cNvSpPr/>
          <p:nvPr/>
        </p:nvSpPr>
        <p:spPr>
          <a:xfrm>
            <a:off x="6446520" y="1645920"/>
            <a:ext cx="731520" cy="731520"/>
          </a:xfrm>
          <a:prstGeom prst="ellipse">
            <a:avLst/>
          </a:prstGeom>
          <a:solidFill>
            <a:srgbClr val="2E5BE8"/>
          </a:solidFill>
          <a:ln w="12700">
            <a:solidFill>
              <a:srgbClr val="2E5BE8"/>
            </a:solidFill>
            <a:prstDash val="solid"/>
          </a:ln>
        </p:spPr>
      </p:sp>
      <p:pic>
        <p:nvPicPr>
          <p:cNvPr id="21" name="AI Operating System icon" descr="preencoded.png">    </p:cNvPr>
          <p:cNvPicPr>
            <a:picLocks noChangeAspect="1"/>
          </p:cNvPicPr>
          <p:nvPr/>
        </p:nvPicPr>
        <p:blipFill>
          <a:blip r:embed="rId2"/>
          <a:stretch>
            <a:fillRect/>
          </a:stretch>
        </p:blipFill>
        <p:spPr>
          <a:xfrm>
            <a:off x="6636715" y="1836115"/>
            <a:ext cx="351130" cy="351130"/>
          </a:xfrm>
          <a:prstGeom prst="rect">
            <a:avLst/>
          </a:prstGeom>
        </p:spPr>
      </p:pic>
      <p:sp>
        <p:nvSpPr>
          <p:cNvPr id="22" name="AI Operating System title"/>
          <p:cNvSpPr txBox="1"/>
          <p:nvPr/>
        </p:nvSpPr>
        <p:spPr>
          <a:xfrm>
            <a:off x="7360920" y="1664208"/>
            <a:ext cx="4023360" cy="411480"/>
          </a:xfrm>
          <a:prstGeom prst="rect">
            <a:avLst/>
          </a:prstGeom>
          <a:noFill/>
          <a:ln/>
        </p:spPr>
        <p:txBody>
          <a:bodyPr wrap="square" lIns="0" tIns="0" rIns="0" bIns="0" rtlCol="0" anchor="t"/>
          <a:lstStyle/>
          <a:p>
            <a:pPr indent="0" marL="0">
              <a:buNone/>
            </a:pPr>
            <a:r>
              <a:rPr lang="en-US" sz="2200" b="1" dirty="0">
                <a:solidFill>
                  <a:schemeClr val="tx1"/>
                </a:solidFill>
              </a:rPr>
              <a:t>AI Operating System</a:t>
            </a:r>
            <a:endParaRPr lang="en-US" sz="2200" dirty="0"/>
          </a:p>
        </p:txBody>
      </p:sp>
      <p:sp>
        <p:nvSpPr>
          <p:cNvPr id="23" name="AI Operating System subtitle"/>
          <p:cNvSpPr txBox="1"/>
          <p:nvPr/>
        </p:nvSpPr>
        <p:spPr>
          <a:xfrm>
            <a:off x="7360920" y="2057400"/>
            <a:ext cx="4023360" cy="320040"/>
          </a:xfrm>
          <a:prstGeom prst="rect">
            <a:avLst/>
          </a:prstGeom>
          <a:noFill/>
          <a:ln/>
        </p:spPr>
        <p:txBody>
          <a:bodyPr wrap="square" lIns="0" tIns="0" rIns="0" bIns="0" rtlCol="0" anchor="t"/>
          <a:lstStyle/>
          <a:p>
            <a:pPr indent="0" marL="0">
              <a:buNone/>
            </a:pPr>
            <a:r>
              <a:rPr lang="en-US" sz="1300" dirty="0">
                <a:solidFill>
                  <a:schemeClr val="tx2"/>
                </a:solidFill>
              </a:rPr>
              <a:t>VS Code + Claude Code</a:t>
            </a:r>
            <a:endParaRPr lang="en-US" sz="1300" dirty="0"/>
          </a:p>
        </p:txBody>
      </p:sp>
      <p:sp>
        <p:nvSpPr>
          <p:cNvPr id="24" name="AI Operating System row label 1"/>
          <p:cNvSpPr txBox="1"/>
          <p:nvPr/>
        </p:nvSpPr>
        <p:spPr>
          <a:xfrm>
            <a:off x="6446520" y="2697480"/>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Best for</a:t>
            </a:r>
            <a:endParaRPr lang="en-US" sz="1300" dirty="0"/>
          </a:p>
        </p:txBody>
      </p:sp>
      <p:sp>
        <p:nvSpPr>
          <p:cNvPr id="25" name="AI Operating System row text 1"/>
          <p:cNvSpPr txBox="1"/>
          <p:nvPr/>
        </p:nvSpPr>
        <p:spPr>
          <a:xfrm>
            <a:off x="7772400" y="2697480"/>
            <a:ext cx="3657600" cy="548640"/>
          </a:xfrm>
          <a:prstGeom prst="rect">
            <a:avLst/>
          </a:prstGeom>
          <a:noFill/>
          <a:ln/>
        </p:spPr>
        <p:txBody>
          <a:bodyPr wrap="square" lIns="0" tIns="0" rIns="0" bIns="0" rtlCol="0" anchor="t"/>
          <a:lstStyle/>
          <a:p>
            <a:pPr indent="0" marL="0">
              <a:buNone/>
            </a:pPr>
            <a:r>
              <a:rPr lang="en-US" sz="1350" dirty="0">
                <a:solidFill>
                  <a:schemeClr val="tx1"/>
                </a:solidFill>
              </a:rPr>
              <a:t>your own estimating on a real project folder</a:t>
            </a:r>
            <a:endParaRPr lang="en-US" sz="1350" dirty="0"/>
          </a:p>
        </p:txBody>
      </p:sp>
      <p:sp>
        <p:nvSpPr>
          <p:cNvPr id="26" name="AI Operating System row label 2"/>
          <p:cNvSpPr txBox="1"/>
          <p:nvPr/>
        </p:nvSpPr>
        <p:spPr>
          <a:xfrm>
            <a:off x="6446520" y="3300984"/>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How</a:t>
            </a:r>
            <a:endParaRPr lang="en-US" sz="1300" dirty="0"/>
          </a:p>
        </p:txBody>
      </p:sp>
      <p:sp>
        <p:nvSpPr>
          <p:cNvPr id="27" name="AI Operating System row text 2"/>
          <p:cNvSpPr txBox="1"/>
          <p:nvPr/>
        </p:nvSpPr>
        <p:spPr>
          <a:xfrm>
            <a:off x="7772400" y="3300984"/>
            <a:ext cx="3657600" cy="548640"/>
          </a:xfrm>
          <a:prstGeom prst="rect">
            <a:avLst/>
          </a:prstGeom>
          <a:noFill/>
          <a:ln/>
        </p:spPr>
        <p:txBody>
          <a:bodyPr wrap="square" lIns="0" tIns="0" rIns="0" bIns="0" rtlCol="0" anchor="t"/>
          <a:lstStyle/>
          <a:p>
            <a:pPr indent="0" marL="0">
              <a:buNone/>
            </a:pPr>
            <a:r>
              <a:rPr lang="en-US" sz="1350" dirty="0">
                <a:solidFill>
                  <a:schemeClr val="tx1"/>
                </a:solidFill>
              </a:rPr>
              <a:t>“estimate the project in &lt;folder&gt;”</a:t>
            </a:r>
            <a:endParaRPr lang="en-US" sz="1350" dirty="0"/>
          </a:p>
        </p:txBody>
      </p:sp>
      <p:sp>
        <p:nvSpPr>
          <p:cNvPr id="28" name="AI Operating System row label 3"/>
          <p:cNvSpPr txBox="1"/>
          <p:nvPr/>
        </p:nvSpPr>
        <p:spPr>
          <a:xfrm>
            <a:off x="6446520" y="3904488"/>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PDF reading</a:t>
            </a:r>
            <a:endParaRPr lang="en-US" sz="1300" dirty="0"/>
          </a:p>
        </p:txBody>
      </p:sp>
      <p:sp>
        <p:nvSpPr>
          <p:cNvPr id="29" name="AI Operating System row text 3"/>
          <p:cNvSpPr txBox="1"/>
          <p:nvPr/>
        </p:nvSpPr>
        <p:spPr>
          <a:xfrm>
            <a:off x="7772400" y="3904488"/>
            <a:ext cx="3657600" cy="548640"/>
          </a:xfrm>
          <a:prstGeom prst="rect">
            <a:avLst/>
          </a:prstGeom>
          <a:noFill/>
          <a:ln/>
        </p:spPr>
        <p:txBody>
          <a:bodyPr wrap="square" lIns="0" tIns="0" rIns="0" bIns="0" rtlCol="0" anchor="t"/>
          <a:lstStyle/>
          <a:p>
            <a:pPr indent="0" marL="0">
              <a:buNone/>
            </a:pPr>
            <a:r>
              <a:rPr lang="en-US" sz="1350" dirty="0">
                <a:solidFill>
                  <a:schemeClr val="tx1"/>
                </a:solidFill>
              </a:rPr>
              <a:t>Claude Code reads every page — on your subscription, no API bill</a:t>
            </a:r>
            <a:endParaRPr lang="en-US" sz="1350" dirty="0"/>
          </a:p>
        </p:txBody>
      </p:sp>
      <p:sp>
        <p:nvSpPr>
          <p:cNvPr id="30" name="AI Operating System row label 4"/>
          <p:cNvSpPr txBox="1"/>
          <p:nvPr/>
        </p:nvSpPr>
        <p:spPr>
          <a:xfrm>
            <a:off x="6446520" y="4507992"/>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DWG/DXF</a:t>
            </a:r>
            <a:endParaRPr lang="en-US" sz="1300" dirty="0"/>
          </a:p>
        </p:txBody>
      </p:sp>
      <p:sp>
        <p:nvSpPr>
          <p:cNvPr id="31" name="AI Operating System row text 4"/>
          <p:cNvSpPr txBox="1"/>
          <p:nvPr/>
        </p:nvSpPr>
        <p:spPr>
          <a:xfrm>
            <a:off x="7772400" y="4507992"/>
            <a:ext cx="3657600" cy="548640"/>
          </a:xfrm>
          <a:prstGeom prst="rect">
            <a:avLst/>
          </a:prstGeom>
          <a:noFill/>
          <a:ln/>
        </p:spPr>
        <p:txBody>
          <a:bodyPr wrap="square" lIns="0" tIns="0" rIns="0" bIns="0" rtlCol="0" anchor="t"/>
          <a:lstStyle/>
          <a:p>
            <a:pPr indent="0" marL="0">
              <a:buNone/>
            </a:pPr>
            <a:r>
              <a:rPr lang="en-US" sz="1350" dirty="0">
                <a:solidFill>
                  <a:schemeClr val="tx1"/>
                </a:solidFill>
              </a:rPr>
              <a:t>the same CAD reader, combined with the PDF forms</a:t>
            </a:r>
            <a:endParaRPr lang="en-US" sz="1350" dirty="0"/>
          </a:p>
        </p:txBody>
      </p:sp>
      <p:sp>
        <p:nvSpPr>
          <p:cNvPr id="32" name="AI Operating System row label 5"/>
          <p:cNvSpPr txBox="1"/>
          <p:nvPr/>
        </p:nvSpPr>
        <p:spPr>
          <a:xfrm>
            <a:off x="6446520" y="5111496"/>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Output</a:t>
            </a:r>
            <a:endParaRPr lang="en-US" sz="1300" dirty="0"/>
          </a:p>
        </p:txBody>
      </p:sp>
      <p:sp>
        <p:nvSpPr>
          <p:cNvPr id="33" name="AI Operating System row text 5"/>
          <p:cNvSpPr txBox="1"/>
          <p:nvPr/>
        </p:nvSpPr>
        <p:spPr>
          <a:xfrm>
            <a:off x="7772400" y="5111496"/>
            <a:ext cx="3657600" cy="548640"/>
          </a:xfrm>
          <a:prstGeom prst="rect">
            <a:avLst/>
          </a:prstGeom>
          <a:noFill/>
          <a:ln/>
        </p:spPr>
        <p:txBody>
          <a:bodyPr wrap="square" lIns="0" tIns="0" rIns="0" bIns="0" rtlCol="0" anchor="t"/>
          <a:lstStyle/>
          <a:p>
            <a:pPr indent="0" marL="0">
              <a:buNone/>
            </a:pPr>
            <a:r>
              <a:rPr lang="en-US" sz="1350" dirty="0">
                <a:solidFill>
                  <a:schemeClr val="tx1"/>
                </a:solidFill>
              </a:rPr>
              <a:t>Excel + PDF + things to check + accuracy report in the folder</a:t>
            </a:r>
            <a:endParaRPr lang="en-US" sz="1350" dirty="0"/>
          </a:p>
        </p:txBody>
      </p:sp>
      <p:sp>
        <p:nvSpPr>
          <p:cNvPr id="34" name="best note"/>
          <p:cNvSpPr txBox="1"/>
          <p:nvPr/>
        </p:nvSpPr>
        <p:spPr>
          <a:xfrm>
            <a:off x="548640" y="5852160"/>
            <a:ext cx="11064240" cy="320040"/>
          </a:xfrm>
          <a:prstGeom prst="rect">
            <a:avLst/>
          </a:prstGeom>
          <a:noFill/>
          <a:ln/>
        </p:spPr>
        <p:txBody>
          <a:bodyPr wrap="square" lIns="0" tIns="0" rIns="0" bIns="0" rtlCol="0" anchor="t"/>
          <a:lstStyle/>
          <a:p>
            <a:pPr indent="0" marL="0">
              <a:buNone/>
            </a:pPr>
            <a:r>
              <a:rPr lang="en-US" sz="1300" i="1" dirty="0">
                <a:solidFill>
                  <a:schemeClr val="accent1"/>
                </a:solidFill>
              </a:rPr>
              <a:t>Best measured accuracy today: the AI Operating System (PDF + DWG combined) — see the accuracy section.</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Try AfriPlan now — open the web app</a:t>
            </a:r>
            <a:endParaRPr lang="en-US" sz="3000" dirty="0"/>
          </a:p>
        </p:txBody>
      </p:sp>
      <p:sp>
        <p:nvSpPr>
          <p:cNvPr id="4" name="link card"/>
          <p:cNvSpPr/>
          <p:nvPr/>
        </p:nvSpPr>
        <p:spPr>
          <a:xfrm>
            <a:off x="548640" y="1417320"/>
            <a:ext cx="5120640" cy="3246120"/>
          </a:xfrm>
          <a:prstGeom prst="roundRect">
            <a:avLst>
              <a:gd name="adj" fmla="val 4225"/>
            </a:avLst>
          </a:prstGeom>
          <a:solidFill>
            <a:schemeClr val="tx1"/>
          </a:solidFill>
          <a:ln w="12700">
            <a:solidFill>
              <a:schemeClr val="tx1"/>
            </a:solidFill>
            <a:prstDash val="solid"/>
          </a:ln>
        </p:spPr>
      </p:sp>
      <p:sp>
        <p:nvSpPr>
          <p:cNvPr id="5" name="link circle"/>
          <p:cNvSpPr/>
          <p:nvPr/>
        </p:nvSpPr>
        <p:spPr>
          <a:xfrm>
            <a:off x="868680" y="1691640"/>
            <a:ext cx="868680" cy="868680"/>
          </a:xfrm>
          <a:prstGeom prst="ellipse">
            <a:avLst/>
          </a:prstGeom>
          <a:solidFill>
            <a:srgbClr val="F2A900"/>
          </a:solidFill>
          <a:ln w="12700">
            <a:solidFill>
              <a:srgbClr val="F2A900"/>
            </a:solidFill>
            <a:prstDash val="solid"/>
          </a:ln>
        </p:spPr>
      </p:sp>
      <p:pic>
        <p:nvPicPr>
          <p:cNvPr id="6" name="link icon" descr="preencoded.png">    </p:cNvPr>
          <p:cNvPicPr>
            <a:picLocks noChangeAspect="1"/>
          </p:cNvPicPr>
          <p:nvPr/>
        </p:nvPicPr>
        <p:blipFill>
          <a:blip r:embed="rId1"/>
          <a:stretch>
            <a:fillRect/>
          </a:stretch>
        </p:blipFill>
        <p:spPr>
          <a:xfrm>
            <a:off x="1094537" y="1917497"/>
            <a:ext cx="416966" cy="416966"/>
          </a:xfrm>
          <a:prstGeom prst="rect">
            <a:avLst/>
          </a:prstGeom>
        </p:spPr>
      </p:pic>
      <p:sp>
        <p:nvSpPr>
          <p:cNvPr id="7" name="link label"/>
          <p:cNvSpPr txBox="1"/>
          <p:nvPr/>
        </p:nvSpPr>
        <p:spPr>
          <a:xfrm>
            <a:off x="1920240" y="1874520"/>
            <a:ext cx="3566160" cy="457200"/>
          </a:xfrm>
          <a:prstGeom prst="rect">
            <a:avLst/>
          </a:prstGeom>
          <a:noFill/>
          <a:ln/>
        </p:spPr>
        <p:txBody>
          <a:bodyPr wrap="square" lIns="0" tIns="0" rIns="0" bIns="0" rtlCol="0" anchor="t"/>
          <a:lstStyle/>
          <a:p>
            <a:pPr indent="0" marL="0">
              <a:buNone/>
            </a:pPr>
            <a:r>
              <a:rPr lang="en-US" sz="1600" dirty="0">
                <a:solidFill>
                  <a:srgbClr val="CADCFC"/>
                </a:solidFill>
              </a:rPr>
              <a:t>Open in any browser</a:t>
            </a:r>
            <a:endParaRPr lang="en-US" sz="1600" dirty="0"/>
          </a:p>
        </p:txBody>
      </p:sp>
      <p:sp>
        <p:nvSpPr>
          <p:cNvPr id="8" name="link url">
            <a:hlinkClick r:id="rId2" tooltip="Open AfriPlan"/>
          </p:cNvPr>
          <p:cNvSpPr txBox="1"/>
          <p:nvPr/>
        </p:nvSpPr>
        <p:spPr>
          <a:xfrm>
            <a:off x="868680" y="2743200"/>
            <a:ext cx="4663440" cy="685800"/>
          </a:xfrm>
          <a:prstGeom prst="rect">
            <a:avLst/>
          </a:prstGeom>
          <a:noFill/>
          <a:ln/>
        </p:spPr>
        <p:txBody>
          <a:bodyPr wrap="square" lIns="0" tIns="0" rIns="0" bIns="0" rtlCol="0" anchor="t"/>
          <a:lstStyle/>
          <a:p>
            <a:pPr indent="0" marL="0">
              <a:buNone/>
            </a:pPr>
            <a:r>
              <a:rPr lang="en-US" sz="3000" b="1" u="sng" dirty="0">
                <a:solidFill>
                  <a:schemeClr val="accent2"/>
                </a:solidFill>
                <a:latin typeface="Cambria" pitchFamily="34" charset="0"/>
                <a:ea typeface="Cambria" pitchFamily="34" charset="-122"/>
                <a:cs typeface="Cambria" pitchFamily="34" charset="-120"/>
                <a:hlinkClick r:id="rId2" invalidUrl="" action="" tgtFrame="" tooltip="Open AfriPlan" history="1" highlightClick="0" endSnd="0">
                  <a:extLst>
                    <a:ext uri="{A12FA001-AC4F-418D-AE19-62706E023703}">
                      <ahyp:hlinkClr xmlns:ahyp="http://schemas.microsoft.com/office/drawing/2018/hyperlinkcolor" val="tx"/>
                    </a:ext>
                  </a:extLst>
                </a:hlinkClick>
              </a:rPr>
              <a:t>afriplan.onrender.com</a:t>
            </a:r>
            <a:endParaRPr lang="en-US" sz="3000" dirty="0"/>
          </a:p>
        </p:txBody>
      </p:sp>
      <p:sp>
        <p:nvSpPr>
          <p:cNvPr id="9" name="link full"/>
          <p:cNvSpPr txBox="1"/>
          <p:nvPr/>
        </p:nvSpPr>
        <p:spPr>
          <a:xfrm>
            <a:off x="868680" y="3474720"/>
            <a:ext cx="4663440" cy="411480"/>
          </a:xfrm>
          <a:prstGeom prst="rect">
            <a:avLst/>
          </a:prstGeom>
          <a:noFill/>
          <a:ln/>
        </p:spPr>
        <p:txBody>
          <a:bodyPr wrap="square" lIns="0" tIns="0" rIns="0" bIns="0" rtlCol="0" anchor="t"/>
          <a:lstStyle/>
          <a:p>
            <a:pPr indent="0" marL="0">
              <a:buNone/>
            </a:pPr>
            <a:r>
              <a:rPr lang="en-US" sz="1400" dirty="0">
                <a:solidFill>
                  <a:schemeClr val="bg1"/>
                </a:solidFill>
              </a:rPr>
              <a:t>https://afriplan.onrender.com  ·  nothing to install</a:t>
            </a:r>
            <a:endParaRPr lang="en-US" sz="1400" dirty="0"/>
          </a:p>
        </p:txBody>
      </p:sp>
      <p:sp>
        <p:nvSpPr>
          <p:cNvPr id="10" name="link login"/>
          <p:cNvSpPr txBox="1"/>
          <p:nvPr/>
        </p:nvSpPr>
        <p:spPr>
          <a:xfrm>
            <a:off x="868680" y="3931920"/>
            <a:ext cx="4663440" cy="411480"/>
          </a:xfrm>
          <a:prstGeom prst="rect">
            <a:avLst/>
          </a:prstGeom>
          <a:noFill/>
          <a:ln/>
        </p:spPr>
        <p:txBody>
          <a:bodyPr wrap="square" lIns="0" tIns="0" rIns="0" bIns="0" rtlCol="0" anchor="t"/>
          <a:lstStyle/>
          <a:p>
            <a:pPr indent="0" marL="0">
              <a:buNone/>
            </a:pPr>
            <a:r>
              <a:rPr lang="en-US" sz="1400" b="1" dirty="0">
                <a:solidFill>
                  <a:schemeClr val="bg1"/>
                </a:solidFill>
              </a:rPr>
              <a:t>Demo login is pre-filled — just click Sign in.</a:t>
            </a:r>
            <a:endParaRPr lang="en-US" sz="1400" dirty="0"/>
          </a:p>
        </p:txBody>
      </p:sp>
      <p:sp>
        <p:nvSpPr>
          <p:cNvPr id="11" name="access step 1 circle"/>
          <p:cNvSpPr/>
          <p:nvPr/>
        </p:nvSpPr>
        <p:spPr>
          <a:xfrm>
            <a:off x="5989320" y="1463040"/>
            <a:ext cx="640080" cy="640080"/>
          </a:xfrm>
          <a:prstGeom prst="ellipse">
            <a:avLst/>
          </a:prstGeom>
          <a:solidFill>
            <a:srgbClr val="2E5BE8"/>
          </a:solidFill>
          <a:ln w="12700">
            <a:solidFill>
              <a:srgbClr val="2E5BE8"/>
            </a:solidFill>
            <a:prstDash val="solid"/>
          </a:ln>
        </p:spPr>
      </p:sp>
      <p:pic>
        <p:nvPicPr>
          <p:cNvPr id="12" name="access step 1 icon" descr="preencoded.png">    </p:cNvPr>
          <p:cNvPicPr>
            <a:picLocks noChangeAspect="1"/>
          </p:cNvPicPr>
          <p:nvPr/>
        </p:nvPicPr>
        <p:blipFill>
          <a:blip r:embed="rId3"/>
          <a:stretch>
            <a:fillRect/>
          </a:stretch>
        </p:blipFill>
        <p:spPr>
          <a:xfrm>
            <a:off x="6155741" y="1629461"/>
            <a:ext cx="307238" cy="307238"/>
          </a:xfrm>
          <a:prstGeom prst="rect">
            <a:avLst/>
          </a:prstGeom>
        </p:spPr>
      </p:pic>
      <p:sp>
        <p:nvSpPr>
          <p:cNvPr id="13" name="access step title 1"/>
          <p:cNvSpPr txBox="1"/>
          <p:nvPr/>
        </p:nvSpPr>
        <p:spPr>
          <a:xfrm>
            <a:off x="6812280" y="1417320"/>
            <a:ext cx="4754880" cy="365760"/>
          </a:xfrm>
          <a:prstGeom prst="rect">
            <a:avLst/>
          </a:prstGeom>
          <a:noFill/>
          <a:ln/>
        </p:spPr>
        <p:txBody>
          <a:bodyPr wrap="square" lIns="0" tIns="0" rIns="0" bIns="0" rtlCol="0" anchor="t"/>
          <a:lstStyle/>
          <a:p>
            <a:pPr indent="0" marL="0">
              <a:buNone/>
            </a:pPr>
            <a:r>
              <a:rPr lang="en-US" sz="1600" b="1" dirty="0">
                <a:solidFill>
                  <a:schemeClr val="tx1"/>
                </a:solidFill>
              </a:rPr>
              <a:t>1  Sign in</a:t>
            </a:r>
            <a:endParaRPr lang="en-US" sz="1600" dirty="0"/>
          </a:p>
        </p:txBody>
      </p:sp>
      <p:sp>
        <p:nvSpPr>
          <p:cNvPr id="14" name="access step text 1"/>
          <p:cNvSpPr txBox="1"/>
          <p:nvPr/>
        </p:nvSpPr>
        <p:spPr>
          <a:xfrm>
            <a:off x="6812280" y="1764792"/>
            <a:ext cx="4754880" cy="411480"/>
          </a:xfrm>
          <a:prstGeom prst="rect">
            <a:avLst/>
          </a:prstGeom>
          <a:noFill/>
          <a:ln/>
        </p:spPr>
        <p:txBody>
          <a:bodyPr wrap="square" lIns="0" tIns="0" rIns="0" bIns="0" rtlCol="0" anchor="t"/>
          <a:lstStyle/>
          <a:p>
            <a:pPr indent="0" marL="0">
              <a:buNone/>
            </a:pPr>
            <a:r>
              <a:rPr lang="en-US" sz="1250" dirty="0">
                <a:solidFill>
                  <a:schemeClr val="tx2"/>
                </a:solidFill>
              </a:rPr>
              <a:t>open the link, click Sign in — the demo details are already filled in</a:t>
            </a:r>
            <a:endParaRPr lang="en-US" sz="1250" dirty="0"/>
          </a:p>
        </p:txBody>
      </p:sp>
      <p:sp>
        <p:nvSpPr>
          <p:cNvPr id="15" name="access step 2 circle"/>
          <p:cNvSpPr/>
          <p:nvPr/>
        </p:nvSpPr>
        <p:spPr>
          <a:xfrm>
            <a:off x="5989320" y="2286000"/>
            <a:ext cx="640080" cy="640080"/>
          </a:xfrm>
          <a:prstGeom prst="ellipse">
            <a:avLst/>
          </a:prstGeom>
          <a:solidFill>
            <a:srgbClr val="2E5BE8"/>
          </a:solidFill>
          <a:ln w="12700">
            <a:solidFill>
              <a:srgbClr val="2E5BE8"/>
            </a:solidFill>
            <a:prstDash val="solid"/>
          </a:ln>
        </p:spPr>
      </p:sp>
      <p:pic>
        <p:nvPicPr>
          <p:cNvPr id="16" name="access step 2 icon" descr="preencoded.png">    </p:cNvPr>
          <p:cNvPicPr>
            <a:picLocks noChangeAspect="1"/>
          </p:cNvPicPr>
          <p:nvPr/>
        </p:nvPicPr>
        <p:blipFill>
          <a:blip r:embed="rId4"/>
          <a:stretch>
            <a:fillRect/>
          </a:stretch>
        </p:blipFill>
        <p:spPr>
          <a:xfrm>
            <a:off x="6155741" y="2452421"/>
            <a:ext cx="307238" cy="307238"/>
          </a:xfrm>
          <a:prstGeom prst="rect">
            <a:avLst/>
          </a:prstGeom>
        </p:spPr>
      </p:pic>
      <p:sp>
        <p:nvSpPr>
          <p:cNvPr id="17" name="access step title 2"/>
          <p:cNvSpPr txBox="1"/>
          <p:nvPr/>
        </p:nvSpPr>
        <p:spPr>
          <a:xfrm>
            <a:off x="6812280" y="2240280"/>
            <a:ext cx="4754880" cy="365760"/>
          </a:xfrm>
          <a:prstGeom prst="rect">
            <a:avLst/>
          </a:prstGeom>
          <a:noFill/>
          <a:ln/>
        </p:spPr>
        <p:txBody>
          <a:bodyPr wrap="square" lIns="0" tIns="0" rIns="0" bIns="0" rtlCol="0" anchor="t"/>
          <a:lstStyle/>
          <a:p>
            <a:pPr indent="0" marL="0">
              <a:buNone/>
            </a:pPr>
            <a:r>
              <a:rPr lang="en-US" sz="1600" b="1" dirty="0">
                <a:solidFill>
                  <a:schemeClr val="tx1"/>
                </a:solidFill>
              </a:rPr>
              <a:t>2  Upload drawings</a:t>
            </a:r>
            <a:endParaRPr lang="en-US" sz="1600" dirty="0"/>
          </a:p>
        </p:txBody>
      </p:sp>
      <p:sp>
        <p:nvSpPr>
          <p:cNvPr id="18" name="access step text 2"/>
          <p:cNvSpPr txBox="1"/>
          <p:nvPr/>
        </p:nvSpPr>
        <p:spPr>
          <a:xfrm>
            <a:off x="6812280" y="2587752"/>
            <a:ext cx="4754880" cy="411480"/>
          </a:xfrm>
          <a:prstGeom prst="rect">
            <a:avLst/>
          </a:prstGeom>
          <a:noFill/>
          <a:ln/>
        </p:spPr>
        <p:txBody>
          <a:bodyPr wrap="square" lIns="0" tIns="0" rIns="0" bIns="0" rtlCol="0" anchor="t"/>
          <a:lstStyle/>
          <a:p>
            <a:pPr indent="0" marL="0">
              <a:buNone/>
            </a:pPr>
            <a:r>
              <a:rPr lang="en-US" sz="1250" dirty="0">
                <a:solidFill>
                  <a:schemeClr val="tx2"/>
                </a:solidFill>
              </a:rPr>
              <a:t>DWG/DXF (free, 1–2 min) or PDF — choose Claude (paid) or Gemini (free)</a:t>
            </a:r>
            <a:endParaRPr lang="en-US" sz="1250" dirty="0"/>
          </a:p>
        </p:txBody>
      </p:sp>
      <p:sp>
        <p:nvSpPr>
          <p:cNvPr id="19" name="access step 3 circle"/>
          <p:cNvSpPr/>
          <p:nvPr/>
        </p:nvSpPr>
        <p:spPr>
          <a:xfrm>
            <a:off x="5989320" y="3108960"/>
            <a:ext cx="640080" cy="640080"/>
          </a:xfrm>
          <a:prstGeom prst="ellipse">
            <a:avLst/>
          </a:prstGeom>
          <a:solidFill>
            <a:srgbClr val="2E5BE8"/>
          </a:solidFill>
          <a:ln w="12700">
            <a:solidFill>
              <a:srgbClr val="2E5BE8"/>
            </a:solidFill>
            <a:prstDash val="solid"/>
          </a:ln>
        </p:spPr>
      </p:sp>
      <p:pic>
        <p:nvPicPr>
          <p:cNvPr id="20" name="access step 3 icon" descr="preencoded.png">    </p:cNvPr>
          <p:cNvPicPr>
            <a:picLocks noChangeAspect="1"/>
          </p:cNvPicPr>
          <p:nvPr/>
        </p:nvPicPr>
        <p:blipFill>
          <a:blip r:embed="rId5"/>
          <a:stretch>
            <a:fillRect/>
          </a:stretch>
        </p:blipFill>
        <p:spPr>
          <a:xfrm>
            <a:off x="6155741" y="3275381"/>
            <a:ext cx="307238" cy="307238"/>
          </a:xfrm>
          <a:prstGeom prst="rect">
            <a:avLst/>
          </a:prstGeom>
        </p:spPr>
      </p:pic>
      <p:sp>
        <p:nvSpPr>
          <p:cNvPr id="21" name="access step title 3"/>
          <p:cNvSpPr txBox="1"/>
          <p:nvPr/>
        </p:nvSpPr>
        <p:spPr>
          <a:xfrm>
            <a:off x="6812280" y="3063240"/>
            <a:ext cx="4754880" cy="365760"/>
          </a:xfrm>
          <a:prstGeom prst="rect">
            <a:avLst/>
          </a:prstGeom>
          <a:noFill/>
          <a:ln/>
        </p:spPr>
        <p:txBody>
          <a:bodyPr wrap="square" lIns="0" tIns="0" rIns="0" bIns="0" rtlCol="0" anchor="t"/>
          <a:lstStyle/>
          <a:p>
            <a:pPr indent="0" marL="0">
              <a:buNone/>
            </a:pPr>
            <a:r>
              <a:rPr lang="en-US" sz="1600" b="1" dirty="0">
                <a:solidFill>
                  <a:schemeClr val="tx1"/>
                </a:solidFill>
              </a:rPr>
              <a:t>3  Read the take-off</a:t>
            </a:r>
            <a:endParaRPr lang="en-US" sz="1600" dirty="0"/>
          </a:p>
        </p:txBody>
      </p:sp>
      <p:sp>
        <p:nvSpPr>
          <p:cNvPr id="22" name="access step text 3"/>
          <p:cNvSpPr txBox="1"/>
          <p:nvPr/>
        </p:nvSpPr>
        <p:spPr>
          <a:xfrm>
            <a:off x="6812280" y="3410712"/>
            <a:ext cx="4754880" cy="411480"/>
          </a:xfrm>
          <a:prstGeom prst="rect">
            <a:avLst/>
          </a:prstGeom>
          <a:noFill/>
          <a:ln/>
        </p:spPr>
        <p:txBody>
          <a:bodyPr wrap="square" lIns="0" tIns="0" rIns="0" bIns="0" rtlCol="0" anchor="t"/>
          <a:lstStyle/>
          <a:p>
            <a:pPr indent="0" marL="0">
              <a:buNone/>
            </a:pPr>
            <a:r>
              <a:rPr lang="en-US" sz="1250" dirty="0">
                <a:solidFill>
                  <a:schemeClr val="tx2"/>
                </a:solidFill>
              </a:rPr>
              <a:t>watch the progress, then check the gaps and “Guessed – check” lines</a:t>
            </a:r>
            <a:endParaRPr lang="en-US" sz="1250" dirty="0"/>
          </a:p>
        </p:txBody>
      </p:sp>
      <p:sp>
        <p:nvSpPr>
          <p:cNvPr id="23" name="access step 4 circle"/>
          <p:cNvSpPr/>
          <p:nvPr/>
        </p:nvSpPr>
        <p:spPr>
          <a:xfrm>
            <a:off x="5989320" y="3931920"/>
            <a:ext cx="640080" cy="640080"/>
          </a:xfrm>
          <a:prstGeom prst="ellipse">
            <a:avLst/>
          </a:prstGeom>
          <a:solidFill>
            <a:srgbClr val="2E5BE8"/>
          </a:solidFill>
          <a:ln w="12700">
            <a:solidFill>
              <a:srgbClr val="2E5BE8"/>
            </a:solidFill>
            <a:prstDash val="solid"/>
          </a:ln>
        </p:spPr>
      </p:sp>
      <p:pic>
        <p:nvPicPr>
          <p:cNvPr id="24" name="access step 4 icon" descr="preencoded.png">    </p:cNvPr>
          <p:cNvPicPr>
            <a:picLocks noChangeAspect="1"/>
          </p:cNvPicPr>
          <p:nvPr/>
        </p:nvPicPr>
        <p:blipFill>
          <a:blip r:embed="rId6"/>
          <a:stretch>
            <a:fillRect/>
          </a:stretch>
        </p:blipFill>
        <p:spPr>
          <a:xfrm>
            <a:off x="6155741" y="4098341"/>
            <a:ext cx="307238" cy="307238"/>
          </a:xfrm>
          <a:prstGeom prst="rect">
            <a:avLst/>
          </a:prstGeom>
        </p:spPr>
      </p:pic>
      <p:sp>
        <p:nvSpPr>
          <p:cNvPr id="25" name="access step title 4"/>
          <p:cNvSpPr txBox="1"/>
          <p:nvPr/>
        </p:nvSpPr>
        <p:spPr>
          <a:xfrm>
            <a:off x="6812280" y="3886200"/>
            <a:ext cx="4754880" cy="365760"/>
          </a:xfrm>
          <a:prstGeom prst="rect">
            <a:avLst/>
          </a:prstGeom>
          <a:noFill/>
          <a:ln/>
        </p:spPr>
        <p:txBody>
          <a:bodyPr wrap="square" lIns="0" tIns="0" rIns="0" bIns="0" rtlCol="0" anchor="t"/>
          <a:lstStyle/>
          <a:p>
            <a:pPr indent="0" marL="0">
              <a:buNone/>
            </a:pPr>
            <a:r>
              <a:rPr lang="en-US" sz="1600" b="1" dirty="0">
                <a:solidFill>
                  <a:schemeClr val="tx1"/>
                </a:solidFill>
              </a:rPr>
              <a:t>4  BoQ and export</a:t>
            </a:r>
            <a:endParaRPr lang="en-US" sz="1600" dirty="0"/>
          </a:p>
        </p:txBody>
      </p:sp>
      <p:sp>
        <p:nvSpPr>
          <p:cNvPr id="26" name="access step text 4"/>
          <p:cNvSpPr txBox="1"/>
          <p:nvPr/>
        </p:nvSpPr>
        <p:spPr>
          <a:xfrm>
            <a:off x="6812280" y="4233672"/>
            <a:ext cx="4754880" cy="411480"/>
          </a:xfrm>
          <a:prstGeom prst="rect">
            <a:avLst/>
          </a:prstGeom>
          <a:noFill/>
          <a:ln/>
        </p:spPr>
        <p:txBody>
          <a:bodyPr wrap="square" lIns="0" tIns="0" rIns="0" bIns="0" rtlCol="0" anchor="t"/>
          <a:lstStyle/>
          <a:p>
            <a:pPr indent="0" marL="0">
              <a:buNone/>
            </a:pPr>
            <a:r>
              <a:rPr lang="en-US" sz="1250" dirty="0">
                <a:solidFill>
                  <a:schemeClr val="tx2"/>
                </a:solidFill>
              </a:rPr>
              <a:t>open the bill, then export the Excel and PDF tender document</a:t>
            </a:r>
            <a:endParaRPr lang="en-US" sz="1250" dirty="0"/>
          </a:p>
        </p:txBody>
      </p:sp>
      <p:sp>
        <p:nvSpPr>
          <p:cNvPr id="27" name="shared demo card"/>
          <p:cNvSpPr/>
          <p:nvPr/>
        </p:nvSpPr>
        <p:spPr>
          <a:xfrm>
            <a:off x="548640" y="4937760"/>
            <a:ext cx="11064240" cy="914400"/>
          </a:xfrm>
          <a:prstGeom prst="roundRect">
            <a:avLst>
              <a:gd name="adj" fmla="val 12000"/>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8" name="shared demo circle"/>
          <p:cNvSpPr/>
          <p:nvPr/>
        </p:nvSpPr>
        <p:spPr>
          <a:xfrm>
            <a:off x="749808" y="5047488"/>
            <a:ext cx="685800" cy="685800"/>
          </a:xfrm>
          <a:prstGeom prst="ellipse">
            <a:avLst/>
          </a:prstGeom>
          <a:solidFill>
            <a:srgbClr val="F2A900"/>
          </a:solidFill>
          <a:ln w="12700">
            <a:solidFill>
              <a:srgbClr val="F2A900"/>
            </a:solidFill>
            <a:prstDash val="solid"/>
          </a:ln>
        </p:spPr>
      </p:sp>
      <p:pic>
        <p:nvPicPr>
          <p:cNvPr id="29" name="shared demo icon" descr="preencoded.png">    </p:cNvPr>
          <p:cNvPicPr>
            <a:picLocks noChangeAspect="1"/>
          </p:cNvPicPr>
          <p:nvPr/>
        </p:nvPicPr>
        <p:blipFill>
          <a:blip r:embed="rId7"/>
          <a:stretch>
            <a:fillRect/>
          </a:stretch>
        </p:blipFill>
        <p:spPr>
          <a:xfrm>
            <a:off x="928116" y="5225796"/>
            <a:ext cx="329184" cy="329184"/>
          </a:xfrm>
          <a:prstGeom prst="rect">
            <a:avLst/>
          </a:prstGeom>
        </p:spPr>
      </p:pic>
      <p:sp>
        <p:nvSpPr>
          <p:cNvPr id="30" name="shared demo text"/>
          <p:cNvSpPr txBox="1"/>
          <p:nvPr/>
        </p:nvSpPr>
        <p:spPr>
          <a:xfrm>
            <a:off x="1600200" y="5029200"/>
            <a:ext cx="9875520" cy="731520"/>
          </a:xfrm>
          <a:prstGeom prst="rect">
            <a:avLst/>
          </a:prstGeom>
          <a:noFill/>
          <a:ln/>
        </p:spPr>
        <p:txBody>
          <a:bodyPr wrap="square" lIns="0" tIns="0" rIns="0" bIns="0" rtlCol="0" anchor="ctr"/>
          <a:lstStyle/>
          <a:p>
            <a:pPr indent="0" marL="0">
              <a:buNone/>
            </a:pPr>
            <a:r>
              <a:rPr lang="en-US" sz="1400" b="1" dirty="0">
                <a:solidFill>
                  <a:schemeClr val="tx1"/>
                </a:solidFill>
              </a:rPr>
              <a:t>Shared demo account: </a:t>
            </a:r>
            <a:pPr indent="0" marL="0">
              <a:buNone/>
            </a:pPr>
            <a:r>
              <a:rPr lang="en-US" sz="1400" dirty="0">
                <a:solidFill>
                  <a:schemeClr val="tx1"/>
                </a:solidFill>
              </a:rPr>
              <a:t>everyone signs in as the same demo user. Use sample or non-confidential drawings — send client drawings to the AfriPlan team.</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The web app in seven steps</a:t>
            </a:r>
            <a:endParaRPr lang="en-US" sz="3000" dirty="0"/>
          </a:p>
        </p:txBody>
      </p:sp>
      <p:sp>
        <p:nvSpPr>
          <p:cNvPr id="4" name="web step 1 circle"/>
          <p:cNvSpPr/>
          <p:nvPr/>
        </p:nvSpPr>
        <p:spPr>
          <a:xfrm>
            <a:off x="881743" y="1828800"/>
            <a:ext cx="914400" cy="914400"/>
          </a:xfrm>
          <a:prstGeom prst="ellipse">
            <a:avLst/>
          </a:prstGeom>
          <a:solidFill>
            <a:srgbClr val="2E5BE8"/>
          </a:solidFill>
          <a:ln w="12700">
            <a:solidFill>
              <a:srgbClr val="2E5BE8"/>
            </a:solidFill>
            <a:prstDash val="solid"/>
          </a:ln>
        </p:spPr>
      </p:sp>
      <p:pic>
        <p:nvPicPr>
          <p:cNvPr id="5" name="web step 1 icon" descr="preencoded.png">    </p:cNvPr>
          <p:cNvPicPr>
            <a:picLocks noChangeAspect="1"/>
          </p:cNvPicPr>
          <p:nvPr/>
        </p:nvPicPr>
        <p:blipFill>
          <a:blip r:embed="rId1"/>
          <a:stretch>
            <a:fillRect/>
          </a:stretch>
        </p:blipFill>
        <p:spPr>
          <a:xfrm>
            <a:off x="1119487" y="2066544"/>
            <a:ext cx="438912" cy="438912"/>
          </a:xfrm>
          <a:prstGeom prst="rect">
            <a:avLst/>
          </a:prstGeom>
        </p:spPr>
      </p:pic>
      <p:sp>
        <p:nvSpPr>
          <p:cNvPr id="6" name="Shape 2"/>
          <p:cNvSpPr/>
          <p:nvPr/>
        </p:nvSpPr>
        <p:spPr>
          <a:xfrm>
            <a:off x="1869295" y="2286000"/>
            <a:ext cx="519902" cy="0"/>
          </a:xfrm>
          <a:prstGeom prst="line">
            <a:avLst/>
          </a:prstGeom>
          <a:noFill/>
          <a:ln w="25400">
            <a:solidFill>
              <a:srgbClr val="8A93AB"/>
            </a:solidFill>
            <a:prstDash val="solid"/>
            <a:tailEnd type="triangle"/>
          </a:ln>
        </p:spPr>
      </p:sp>
      <p:sp>
        <p:nvSpPr>
          <p:cNvPr id="7" name="web step number 1"/>
          <p:cNvSpPr txBox="1"/>
          <p:nvPr/>
        </p:nvSpPr>
        <p:spPr>
          <a:xfrm>
            <a:off x="1156063" y="2880360"/>
            <a:ext cx="365760" cy="320040"/>
          </a:xfrm>
          <a:prstGeom prst="rect">
            <a:avLst/>
          </a:prstGeom>
          <a:noFill/>
          <a:ln/>
        </p:spPr>
        <p:txBody>
          <a:bodyPr wrap="square" lIns="0" tIns="0" rIns="0" bIns="0" rtlCol="0" anchor="t"/>
          <a:lstStyle/>
          <a:p>
            <a:pPr algn="ctr" indent="0" marL="0">
              <a:buNone/>
            </a:pPr>
            <a:r>
              <a:rPr lang="en-US" sz="1300" b="1" dirty="0">
                <a:solidFill>
                  <a:schemeClr val="accent6"/>
                </a:solidFill>
              </a:rPr>
              <a:t>1</a:t>
            </a:r>
            <a:endParaRPr lang="en-US" sz="1300" dirty="0"/>
          </a:p>
        </p:txBody>
      </p:sp>
      <p:sp>
        <p:nvSpPr>
          <p:cNvPr id="8" name="web step title 1"/>
          <p:cNvSpPr txBox="1"/>
          <p:nvPr/>
        </p:nvSpPr>
        <p:spPr>
          <a:xfrm>
            <a:off x="594360" y="3200400"/>
            <a:ext cx="1489166" cy="365760"/>
          </a:xfrm>
          <a:prstGeom prst="rect">
            <a:avLst/>
          </a:prstGeom>
          <a:noFill/>
          <a:ln/>
        </p:spPr>
        <p:txBody>
          <a:bodyPr wrap="square" lIns="0" tIns="0" rIns="0" bIns="0" rtlCol="0" anchor="t"/>
          <a:lstStyle/>
          <a:p>
            <a:pPr algn="ctr" indent="0" marL="0">
              <a:buNone/>
            </a:pPr>
            <a:r>
              <a:rPr lang="en-US" sz="1700" b="1" dirty="0">
                <a:solidFill>
                  <a:schemeClr val="tx1"/>
                </a:solidFill>
              </a:rPr>
              <a:t>Sign in</a:t>
            </a:r>
            <a:endParaRPr lang="en-US" sz="1700" dirty="0"/>
          </a:p>
        </p:txBody>
      </p:sp>
      <p:sp>
        <p:nvSpPr>
          <p:cNvPr id="9" name="web step text 1"/>
          <p:cNvSpPr txBox="1"/>
          <p:nvPr/>
        </p:nvSpPr>
        <p:spPr>
          <a:xfrm>
            <a:off x="640080" y="3611880"/>
            <a:ext cx="1397726" cy="822960"/>
          </a:xfrm>
          <a:prstGeom prst="rect">
            <a:avLst/>
          </a:prstGeom>
          <a:noFill/>
          <a:ln/>
        </p:spPr>
        <p:txBody>
          <a:bodyPr wrap="square" lIns="0" tIns="0" rIns="0" bIns="0" rtlCol="0" anchor="t"/>
          <a:lstStyle/>
          <a:p>
            <a:pPr algn="ctr" indent="0" marL="0">
              <a:buNone/>
            </a:pPr>
            <a:r>
              <a:rPr lang="en-US" sz="1250" dirty="0">
                <a:solidFill>
                  <a:schemeClr val="tx2"/>
                </a:solidFill>
              </a:rPr>
              <a:t>demo login, pre-filled</a:t>
            </a:r>
            <a:endParaRPr lang="en-US" sz="1250" dirty="0"/>
          </a:p>
        </p:txBody>
      </p:sp>
      <p:sp>
        <p:nvSpPr>
          <p:cNvPr id="10" name="web step 2 circle"/>
          <p:cNvSpPr/>
          <p:nvPr/>
        </p:nvSpPr>
        <p:spPr>
          <a:xfrm>
            <a:off x="2462349" y="1828800"/>
            <a:ext cx="914400" cy="914400"/>
          </a:xfrm>
          <a:prstGeom prst="ellipse">
            <a:avLst/>
          </a:prstGeom>
          <a:solidFill>
            <a:srgbClr val="2E5BE8"/>
          </a:solidFill>
          <a:ln w="12700">
            <a:solidFill>
              <a:srgbClr val="2E5BE8"/>
            </a:solidFill>
            <a:prstDash val="solid"/>
          </a:ln>
        </p:spPr>
      </p:sp>
      <p:pic>
        <p:nvPicPr>
          <p:cNvPr id="11" name="web step 2 icon" descr="preencoded.png">    </p:cNvPr>
          <p:cNvPicPr>
            <a:picLocks noChangeAspect="1"/>
          </p:cNvPicPr>
          <p:nvPr/>
        </p:nvPicPr>
        <p:blipFill>
          <a:blip r:embed="rId2"/>
          <a:stretch>
            <a:fillRect/>
          </a:stretch>
        </p:blipFill>
        <p:spPr>
          <a:xfrm>
            <a:off x="2700093" y="2066544"/>
            <a:ext cx="438912" cy="438912"/>
          </a:xfrm>
          <a:prstGeom prst="rect">
            <a:avLst/>
          </a:prstGeom>
        </p:spPr>
      </p:pic>
      <p:sp>
        <p:nvSpPr>
          <p:cNvPr id="12" name="Shape 7"/>
          <p:cNvSpPr/>
          <p:nvPr/>
        </p:nvSpPr>
        <p:spPr>
          <a:xfrm>
            <a:off x="3449901" y="2286000"/>
            <a:ext cx="519902" cy="0"/>
          </a:xfrm>
          <a:prstGeom prst="line">
            <a:avLst/>
          </a:prstGeom>
          <a:noFill/>
          <a:ln w="25400">
            <a:solidFill>
              <a:srgbClr val="8A93AB"/>
            </a:solidFill>
            <a:prstDash val="solid"/>
            <a:tailEnd type="triangle"/>
          </a:ln>
        </p:spPr>
      </p:sp>
      <p:sp>
        <p:nvSpPr>
          <p:cNvPr id="13" name="web step number 2"/>
          <p:cNvSpPr txBox="1"/>
          <p:nvPr/>
        </p:nvSpPr>
        <p:spPr>
          <a:xfrm>
            <a:off x="2736669" y="2880360"/>
            <a:ext cx="365760" cy="320040"/>
          </a:xfrm>
          <a:prstGeom prst="rect">
            <a:avLst/>
          </a:prstGeom>
          <a:noFill/>
          <a:ln/>
        </p:spPr>
        <p:txBody>
          <a:bodyPr wrap="square" lIns="0" tIns="0" rIns="0" bIns="0" rtlCol="0" anchor="t"/>
          <a:lstStyle/>
          <a:p>
            <a:pPr algn="ctr" indent="0" marL="0">
              <a:buNone/>
            </a:pPr>
            <a:r>
              <a:rPr lang="en-US" sz="1300" b="1" dirty="0">
                <a:solidFill>
                  <a:schemeClr val="accent6"/>
                </a:solidFill>
              </a:rPr>
              <a:t>2</a:t>
            </a:r>
            <a:endParaRPr lang="en-US" sz="1300" dirty="0"/>
          </a:p>
        </p:txBody>
      </p:sp>
      <p:sp>
        <p:nvSpPr>
          <p:cNvPr id="14" name="web step title 2"/>
          <p:cNvSpPr txBox="1"/>
          <p:nvPr/>
        </p:nvSpPr>
        <p:spPr>
          <a:xfrm>
            <a:off x="2174966" y="3200400"/>
            <a:ext cx="1489166" cy="365760"/>
          </a:xfrm>
          <a:prstGeom prst="rect">
            <a:avLst/>
          </a:prstGeom>
          <a:noFill/>
          <a:ln/>
        </p:spPr>
        <p:txBody>
          <a:bodyPr wrap="square" lIns="0" tIns="0" rIns="0" bIns="0" rtlCol="0" anchor="t"/>
          <a:lstStyle/>
          <a:p>
            <a:pPr algn="ctr" indent="0" marL="0">
              <a:buNone/>
            </a:pPr>
            <a:r>
              <a:rPr lang="en-US" sz="1700" b="1" dirty="0">
                <a:solidFill>
                  <a:schemeClr val="tx1"/>
                </a:solidFill>
              </a:rPr>
              <a:t>Upload</a:t>
            </a:r>
            <a:endParaRPr lang="en-US" sz="1700" dirty="0"/>
          </a:p>
        </p:txBody>
      </p:sp>
      <p:sp>
        <p:nvSpPr>
          <p:cNvPr id="15" name="web step text 2"/>
          <p:cNvSpPr txBox="1"/>
          <p:nvPr/>
        </p:nvSpPr>
        <p:spPr>
          <a:xfrm>
            <a:off x="2220686" y="3611880"/>
            <a:ext cx="1397726" cy="822960"/>
          </a:xfrm>
          <a:prstGeom prst="rect">
            <a:avLst/>
          </a:prstGeom>
          <a:noFill/>
          <a:ln/>
        </p:spPr>
        <p:txBody>
          <a:bodyPr wrap="square" lIns="0" tIns="0" rIns="0" bIns="0" rtlCol="0" anchor="t"/>
          <a:lstStyle/>
          <a:p>
            <a:pPr algn="ctr" indent="0" marL="0">
              <a:buNone/>
            </a:pPr>
            <a:r>
              <a:rPr lang="en-US" sz="1250" dirty="0">
                <a:solidFill>
                  <a:schemeClr val="tx2"/>
                </a:solidFill>
              </a:rPr>
              <a:t>DXF/DWG, PDF or both</a:t>
            </a:r>
            <a:endParaRPr lang="en-US" sz="1250" dirty="0"/>
          </a:p>
        </p:txBody>
      </p:sp>
      <p:sp>
        <p:nvSpPr>
          <p:cNvPr id="16" name="web step 3 circle"/>
          <p:cNvSpPr/>
          <p:nvPr/>
        </p:nvSpPr>
        <p:spPr>
          <a:xfrm>
            <a:off x="4042954" y="1828800"/>
            <a:ext cx="914400" cy="914400"/>
          </a:xfrm>
          <a:prstGeom prst="ellipse">
            <a:avLst/>
          </a:prstGeom>
          <a:solidFill>
            <a:srgbClr val="F2A900"/>
          </a:solidFill>
          <a:ln w="12700">
            <a:solidFill>
              <a:srgbClr val="F2A900"/>
            </a:solidFill>
            <a:prstDash val="solid"/>
          </a:ln>
        </p:spPr>
      </p:sp>
      <p:pic>
        <p:nvPicPr>
          <p:cNvPr id="17" name="web step 3 icon" descr="preencoded.png">    </p:cNvPr>
          <p:cNvPicPr>
            <a:picLocks noChangeAspect="1"/>
          </p:cNvPicPr>
          <p:nvPr/>
        </p:nvPicPr>
        <p:blipFill>
          <a:blip r:embed="rId3"/>
          <a:stretch>
            <a:fillRect/>
          </a:stretch>
        </p:blipFill>
        <p:spPr>
          <a:xfrm>
            <a:off x="4280698" y="2066544"/>
            <a:ext cx="438912" cy="438912"/>
          </a:xfrm>
          <a:prstGeom prst="rect">
            <a:avLst/>
          </a:prstGeom>
        </p:spPr>
      </p:pic>
      <p:sp>
        <p:nvSpPr>
          <p:cNvPr id="18" name="Shape 12"/>
          <p:cNvSpPr/>
          <p:nvPr/>
        </p:nvSpPr>
        <p:spPr>
          <a:xfrm>
            <a:off x="5030506" y="2286000"/>
            <a:ext cx="519902" cy="0"/>
          </a:xfrm>
          <a:prstGeom prst="line">
            <a:avLst/>
          </a:prstGeom>
          <a:noFill/>
          <a:ln w="25400">
            <a:solidFill>
              <a:srgbClr val="8A93AB"/>
            </a:solidFill>
            <a:prstDash val="solid"/>
            <a:tailEnd type="triangle"/>
          </a:ln>
        </p:spPr>
      </p:sp>
      <p:sp>
        <p:nvSpPr>
          <p:cNvPr id="19" name="web step number 3"/>
          <p:cNvSpPr txBox="1"/>
          <p:nvPr/>
        </p:nvSpPr>
        <p:spPr>
          <a:xfrm>
            <a:off x="4317274" y="2880360"/>
            <a:ext cx="365760" cy="320040"/>
          </a:xfrm>
          <a:prstGeom prst="rect">
            <a:avLst/>
          </a:prstGeom>
          <a:noFill/>
          <a:ln/>
        </p:spPr>
        <p:txBody>
          <a:bodyPr wrap="square" lIns="0" tIns="0" rIns="0" bIns="0" rtlCol="0" anchor="t"/>
          <a:lstStyle/>
          <a:p>
            <a:pPr algn="ctr" indent="0" marL="0">
              <a:buNone/>
            </a:pPr>
            <a:r>
              <a:rPr lang="en-US" sz="1300" b="1" dirty="0">
                <a:solidFill>
                  <a:schemeClr val="accent6"/>
                </a:solidFill>
              </a:rPr>
              <a:t>3</a:t>
            </a:r>
            <a:endParaRPr lang="en-US" sz="1300" dirty="0"/>
          </a:p>
        </p:txBody>
      </p:sp>
      <p:sp>
        <p:nvSpPr>
          <p:cNvPr id="20" name="web step title 3"/>
          <p:cNvSpPr txBox="1"/>
          <p:nvPr/>
        </p:nvSpPr>
        <p:spPr>
          <a:xfrm>
            <a:off x="3755571" y="3200400"/>
            <a:ext cx="1489166" cy="365760"/>
          </a:xfrm>
          <a:prstGeom prst="rect">
            <a:avLst/>
          </a:prstGeom>
          <a:noFill/>
          <a:ln/>
        </p:spPr>
        <p:txBody>
          <a:bodyPr wrap="square" lIns="0" tIns="0" rIns="0" bIns="0" rtlCol="0" anchor="t"/>
          <a:lstStyle/>
          <a:p>
            <a:pPr algn="ctr" indent="0" marL="0">
              <a:buNone/>
            </a:pPr>
            <a:r>
              <a:rPr lang="en-US" sz="1700" b="1" dirty="0">
                <a:solidFill>
                  <a:schemeClr val="tx1"/>
                </a:solidFill>
              </a:rPr>
              <a:t>Take-off</a:t>
            </a:r>
            <a:endParaRPr lang="en-US" sz="1700" dirty="0"/>
          </a:p>
        </p:txBody>
      </p:sp>
      <p:sp>
        <p:nvSpPr>
          <p:cNvPr id="21" name="web step text 3"/>
          <p:cNvSpPr txBox="1"/>
          <p:nvPr/>
        </p:nvSpPr>
        <p:spPr>
          <a:xfrm>
            <a:off x="3801291" y="3611880"/>
            <a:ext cx="1397726" cy="822960"/>
          </a:xfrm>
          <a:prstGeom prst="rect">
            <a:avLst/>
          </a:prstGeom>
          <a:noFill/>
          <a:ln/>
        </p:spPr>
        <p:txBody>
          <a:bodyPr wrap="square" lIns="0" tIns="0" rIns="0" bIns="0" rtlCol="0" anchor="t"/>
          <a:lstStyle/>
          <a:p>
            <a:pPr algn="ctr" indent="0" marL="0">
              <a:buNone/>
            </a:pPr>
            <a:r>
              <a:rPr lang="en-US" sz="1250" dirty="0">
                <a:solidFill>
                  <a:schemeClr val="tx2"/>
                </a:solidFill>
              </a:rPr>
              <a:t>live progress, then the drawing set &amp; gaps</a:t>
            </a:r>
            <a:endParaRPr lang="en-US" sz="1250" dirty="0"/>
          </a:p>
        </p:txBody>
      </p:sp>
      <p:sp>
        <p:nvSpPr>
          <p:cNvPr id="22" name="web step 4 circle"/>
          <p:cNvSpPr/>
          <p:nvPr/>
        </p:nvSpPr>
        <p:spPr>
          <a:xfrm>
            <a:off x="5623560" y="1828800"/>
            <a:ext cx="914400" cy="914400"/>
          </a:xfrm>
          <a:prstGeom prst="ellipse">
            <a:avLst/>
          </a:prstGeom>
          <a:solidFill>
            <a:srgbClr val="2E5BE8"/>
          </a:solidFill>
          <a:ln w="12700">
            <a:solidFill>
              <a:srgbClr val="2E5BE8"/>
            </a:solidFill>
            <a:prstDash val="solid"/>
          </a:ln>
        </p:spPr>
      </p:sp>
      <p:pic>
        <p:nvPicPr>
          <p:cNvPr id="23" name="web step 4 icon" descr="preencoded.png">    </p:cNvPr>
          <p:cNvPicPr>
            <a:picLocks noChangeAspect="1"/>
          </p:cNvPicPr>
          <p:nvPr/>
        </p:nvPicPr>
        <p:blipFill>
          <a:blip r:embed="rId4"/>
          <a:stretch>
            <a:fillRect/>
          </a:stretch>
        </p:blipFill>
        <p:spPr>
          <a:xfrm>
            <a:off x="5861304" y="2066544"/>
            <a:ext cx="438912" cy="438912"/>
          </a:xfrm>
          <a:prstGeom prst="rect">
            <a:avLst/>
          </a:prstGeom>
        </p:spPr>
      </p:pic>
      <p:sp>
        <p:nvSpPr>
          <p:cNvPr id="24" name="Shape 17"/>
          <p:cNvSpPr/>
          <p:nvPr/>
        </p:nvSpPr>
        <p:spPr>
          <a:xfrm>
            <a:off x="6611112" y="2286000"/>
            <a:ext cx="519902" cy="0"/>
          </a:xfrm>
          <a:prstGeom prst="line">
            <a:avLst/>
          </a:prstGeom>
          <a:noFill/>
          <a:ln w="25400">
            <a:solidFill>
              <a:srgbClr val="8A93AB"/>
            </a:solidFill>
            <a:prstDash val="solid"/>
            <a:tailEnd type="triangle"/>
          </a:ln>
        </p:spPr>
      </p:sp>
      <p:sp>
        <p:nvSpPr>
          <p:cNvPr id="25" name="web step number 4"/>
          <p:cNvSpPr txBox="1"/>
          <p:nvPr/>
        </p:nvSpPr>
        <p:spPr>
          <a:xfrm>
            <a:off x="5897880" y="2880360"/>
            <a:ext cx="365760" cy="320040"/>
          </a:xfrm>
          <a:prstGeom prst="rect">
            <a:avLst/>
          </a:prstGeom>
          <a:noFill/>
          <a:ln/>
        </p:spPr>
        <p:txBody>
          <a:bodyPr wrap="square" lIns="0" tIns="0" rIns="0" bIns="0" rtlCol="0" anchor="t"/>
          <a:lstStyle/>
          <a:p>
            <a:pPr algn="ctr" indent="0" marL="0">
              <a:buNone/>
            </a:pPr>
            <a:r>
              <a:rPr lang="en-US" sz="1300" b="1" dirty="0">
                <a:solidFill>
                  <a:schemeClr val="accent6"/>
                </a:solidFill>
              </a:rPr>
              <a:t>4</a:t>
            </a:r>
            <a:endParaRPr lang="en-US" sz="1300" dirty="0"/>
          </a:p>
        </p:txBody>
      </p:sp>
      <p:sp>
        <p:nvSpPr>
          <p:cNvPr id="26" name="web step title 4"/>
          <p:cNvSpPr txBox="1"/>
          <p:nvPr/>
        </p:nvSpPr>
        <p:spPr>
          <a:xfrm>
            <a:off x="5336177" y="3200400"/>
            <a:ext cx="1489166" cy="365760"/>
          </a:xfrm>
          <a:prstGeom prst="rect">
            <a:avLst/>
          </a:prstGeom>
          <a:noFill/>
          <a:ln/>
        </p:spPr>
        <p:txBody>
          <a:bodyPr wrap="square" lIns="0" tIns="0" rIns="0" bIns="0" rtlCol="0" anchor="t"/>
          <a:lstStyle/>
          <a:p>
            <a:pPr algn="ctr" indent="0" marL="0">
              <a:buNone/>
            </a:pPr>
            <a:r>
              <a:rPr lang="en-US" sz="1700" b="1" dirty="0">
                <a:solidFill>
                  <a:schemeClr val="tx1"/>
                </a:solidFill>
              </a:rPr>
              <a:t>BoQ</a:t>
            </a:r>
            <a:endParaRPr lang="en-US" sz="1700" dirty="0"/>
          </a:p>
        </p:txBody>
      </p:sp>
      <p:sp>
        <p:nvSpPr>
          <p:cNvPr id="27" name="web step text 4"/>
          <p:cNvSpPr txBox="1"/>
          <p:nvPr/>
        </p:nvSpPr>
        <p:spPr>
          <a:xfrm>
            <a:off x="5381897" y="3611880"/>
            <a:ext cx="1397726" cy="822960"/>
          </a:xfrm>
          <a:prstGeom prst="rect">
            <a:avLst/>
          </a:prstGeom>
          <a:noFill/>
          <a:ln/>
        </p:spPr>
        <p:txBody>
          <a:bodyPr wrap="square" lIns="0" tIns="0" rIns="0" bIns="0" rtlCol="0" anchor="t"/>
          <a:lstStyle/>
          <a:p>
            <a:pPr algn="ctr" indent="0" marL="0">
              <a:buNone/>
            </a:pPr>
            <a:r>
              <a:rPr lang="en-US" sz="1250" dirty="0">
                <a:solidFill>
                  <a:schemeClr val="tx2"/>
                </a:solidFill>
              </a:rPr>
              <a:t>every line with its evidence</a:t>
            </a:r>
            <a:endParaRPr lang="en-US" sz="1250" dirty="0"/>
          </a:p>
        </p:txBody>
      </p:sp>
      <p:sp>
        <p:nvSpPr>
          <p:cNvPr id="28" name="web step 5 circle"/>
          <p:cNvSpPr/>
          <p:nvPr/>
        </p:nvSpPr>
        <p:spPr>
          <a:xfrm>
            <a:off x="7204166" y="1828800"/>
            <a:ext cx="914400" cy="914400"/>
          </a:xfrm>
          <a:prstGeom prst="ellipse">
            <a:avLst/>
          </a:prstGeom>
          <a:solidFill>
            <a:srgbClr val="2E5BE8"/>
          </a:solidFill>
          <a:ln w="12700">
            <a:solidFill>
              <a:srgbClr val="2E5BE8"/>
            </a:solidFill>
            <a:prstDash val="solid"/>
          </a:ln>
        </p:spPr>
      </p:sp>
      <p:pic>
        <p:nvPicPr>
          <p:cNvPr id="29" name="web step 5 icon" descr="preencoded.png">    </p:cNvPr>
          <p:cNvPicPr>
            <a:picLocks noChangeAspect="1"/>
          </p:cNvPicPr>
          <p:nvPr/>
        </p:nvPicPr>
        <p:blipFill>
          <a:blip r:embed="rId5"/>
          <a:stretch>
            <a:fillRect/>
          </a:stretch>
        </p:blipFill>
        <p:spPr>
          <a:xfrm>
            <a:off x="7441910" y="2066544"/>
            <a:ext cx="438912" cy="438912"/>
          </a:xfrm>
          <a:prstGeom prst="rect">
            <a:avLst/>
          </a:prstGeom>
        </p:spPr>
      </p:pic>
      <p:sp>
        <p:nvSpPr>
          <p:cNvPr id="30" name="Shape 22"/>
          <p:cNvSpPr/>
          <p:nvPr/>
        </p:nvSpPr>
        <p:spPr>
          <a:xfrm>
            <a:off x="8191718" y="2286000"/>
            <a:ext cx="519902" cy="0"/>
          </a:xfrm>
          <a:prstGeom prst="line">
            <a:avLst/>
          </a:prstGeom>
          <a:noFill/>
          <a:ln w="25400">
            <a:solidFill>
              <a:srgbClr val="8A93AB"/>
            </a:solidFill>
            <a:prstDash val="solid"/>
            <a:tailEnd type="triangle"/>
          </a:ln>
        </p:spPr>
      </p:sp>
      <p:sp>
        <p:nvSpPr>
          <p:cNvPr id="31" name="web step number 5"/>
          <p:cNvSpPr txBox="1"/>
          <p:nvPr/>
        </p:nvSpPr>
        <p:spPr>
          <a:xfrm>
            <a:off x="7478486" y="2880360"/>
            <a:ext cx="365760" cy="320040"/>
          </a:xfrm>
          <a:prstGeom prst="rect">
            <a:avLst/>
          </a:prstGeom>
          <a:noFill/>
          <a:ln/>
        </p:spPr>
        <p:txBody>
          <a:bodyPr wrap="square" lIns="0" tIns="0" rIns="0" bIns="0" rtlCol="0" anchor="t"/>
          <a:lstStyle/>
          <a:p>
            <a:pPr algn="ctr" indent="0" marL="0">
              <a:buNone/>
            </a:pPr>
            <a:r>
              <a:rPr lang="en-US" sz="1300" b="1" dirty="0">
                <a:solidFill>
                  <a:schemeClr val="accent6"/>
                </a:solidFill>
              </a:rPr>
              <a:t>5</a:t>
            </a:r>
            <a:endParaRPr lang="en-US" sz="1300" dirty="0"/>
          </a:p>
        </p:txBody>
      </p:sp>
      <p:sp>
        <p:nvSpPr>
          <p:cNvPr id="32" name="web step title 5"/>
          <p:cNvSpPr txBox="1"/>
          <p:nvPr/>
        </p:nvSpPr>
        <p:spPr>
          <a:xfrm>
            <a:off x="6916783" y="3200400"/>
            <a:ext cx="1489166" cy="365760"/>
          </a:xfrm>
          <a:prstGeom prst="rect">
            <a:avLst/>
          </a:prstGeom>
          <a:noFill/>
          <a:ln/>
        </p:spPr>
        <p:txBody>
          <a:bodyPr wrap="square" lIns="0" tIns="0" rIns="0" bIns="0" rtlCol="0" anchor="t"/>
          <a:lstStyle/>
          <a:p>
            <a:pPr algn="ctr" indent="0" marL="0">
              <a:buNone/>
            </a:pPr>
            <a:r>
              <a:rPr lang="en-US" sz="1700" b="1" dirty="0">
                <a:solidFill>
                  <a:schemeClr val="tx1"/>
                </a:solidFill>
              </a:rPr>
              <a:t>Pricing</a:t>
            </a:r>
            <a:endParaRPr lang="en-US" sz="1700" dirty="0"/>
          </a:p>
        </p:txBody>
      </p:sp>
      <p:sp>
        <p:nvSpPr>
          <p:cNvPr id="33" name="web step text 5"/>
          <p:cNvSpPr txBox="1"/>
          <p:nvPr/>
        </p:nvSpPr>
        <p:spPr>
          <a:xfrm>
            <a:off x="6962503" y="3611880"/>
            <a:ext cx="1397726" cy="822960"/>
          </a:xfrm>
          <a:prstGeom prst="rect">
            <a:avLst/>
          </a:prstGeom>
          <a:noFill/>
          <a:ln/>
        </p:spPr>
        <p:txBody>
          <a:bodyPr wrap="square" lIns="0" tIns="0" rIns="0" bIns="0" rtlCol="0" anchor="t"/>
          <a:lstStyle/>
          <a:p>
            <a:pPr algn="ctr" indent="0" marL="0">
              <a:buNone/>
            </a:pPr>
            <a:r>
              <a:rPr lang="en-US" sz="1250" dirty="0">
                <a:solidFill>
                  <a:schemeClr val="tx2"/>
                </a:solidFill>
              </a:rPr>
              <a:t>supplier quotes, apply one</a:t>
            </a:r>
            <a:endParaRPr lang="en-US" sz="1250" dirty="0"/>
          </a:p>
        </p:txBody>
      </p:sp>
      <p:sp>
        <p:nvSpPr>
          <p:cNvPr id="34" name="web step 6 circle"/>
          <p:cNvSpPr/>
          <p:nvPr/>
        </p:nvSpPr>
        <p:spPr>
          <a:xfrm>
            <a:off x="8784771" y="1828800"/>
            <a:ext cx="914400" cy="914400"/>
          </a:xfrm>
          <a:prstGeom prst="ellipse">
            <a:avLst/>
          </a:prstGeom>
          <a:solidFill>
            <a:srgbClr val="2E5BE8"/>
          </a:solidFill>
          <a:ln w="12700">
            <a:solidFill>
              <a:srgbClr val="2E5BE8"/>
            </a:solidFill>
            <a:prstDash val="solid"/>
          </a:ln>
        </p:spPr>
      </p:sp>
      <p:pic>
        <p:nvPicPr>
          <p:cNvPr id="35" name="web step 6 icon" descr="preencoded.png">    </p:cNvPr>
          <p:cNvPicPr>
            <a:picLocks noChangeAspect="1"/>
          </p:cNvPicPr>
          <p:nvPr/>
        </p:nvPicPr>
        <p:blipFill>
          <a:blip r:embed="rId6"/>
          <a:stretch>
            <a:fillRect/>
          </a:stretch>
        </p:blipFill>
        <p:spPr>
          <a:xfrm>
            <a:off x="9022515" y="2066544"/>
            <a:ext cx="438912" cy="438912"/>
          </a:xfrm>
          <a:prstGeom prst="rect">
            <a:avLst/>
          </a:prstGeom>
        </p:spPr>
      </p:pic>
      <p:sp>
        <p:nvSpPr>
          <p:cNvPr id="36" name="Shape 27"/>
          <p:cNvSpPr/>
          <p:nvPr/>
        </p:nvSpPr>
        <p:spPr>
          <a:xfrm>
            <a:off x="9772323" y="2286000"/>
            <a:ext cx="519902" cy="0"/>
          </a:xfrm>
          <a:prstGeom prst="line">
            <a:avLst/>
          </a:prstGeom>
          <a:noFill/>
          <a:ln w="25400">
            <a:solidFill>
              <a:srgbClr val="8A93AB"/>
            </a:solidFill>
            <a:prstDash val="solid"/>
            <a:tailEnd type="triangle"/>
          </a:ln>
        </p:spPr>
      </p:sp>
      <p:sp>
        <p:nvSpPr>
          <p:cNvPr id="37" name="web step number 6"/>
          <p:cNvSpPr txBox="1"/>
          <p:nvPr/>
        </p:nvSpPr>
        <p:spPr>
          <a:xfrm>
            <a:off x="9059091" y="2880360"/>
            <a:ext cx="365760" cy="320040"/>
          </a:xfrm>
          <a:prstGeom prst="rect">
            <a:avLst/>
          </a:prstGeom>
          <a:noFill/>
          <a:ln/>
        </p:spPr>
        <p:txBody>
          <a:bodyPr wrap="square" lIns="0" tIns="0" rIns="0" bIns="0" rtlCol="0" anchor="t"/>
          <a:lstStyle/>
          <a:p>
            <a:pPr algn="ctr" indent="0" marL="0">
              <a:buNone/>
            </a:pPr>
            <a:r>
              <a:rPr lang="en-US" sz="1300" b="1" dirty="0">
                <a:solidFill>
                  <a:schemeClr val="accent6"/>
                </a:solidFill>
              </a:rPr>
              <a:t>6</a:t>
            </a:r>
            <a:endParaRPr lang="en-US" sz="1300" dirty="0"/>
          </a:p>
        </p:txBody>
      </p:sp>
      <p:sp>
        <p:nvSpPr>
          <p:cNvPr id="38" name="web step title 6"/>
          <p:cNvSpPr txBox="1"/>
          <p:nvPr/>
        </p:nvSpPr>
        <p:spPr>
          <a:xfrm>
            <a:off x="8497389" y="3200400"/>
            <a:ext cx="1489166" cy="365760"/>
          </a:xfrm>
          <a:prstGeom prst="rect">
            <a:avLst/>
          </a:prstGeom>
          <a:noFill/>
          <a:ln/>
        </p:spPr>
        <p:txBody>
          <a:bodyPr wrap="square" lIns="0" tIns="0" rIns="0" bIns="0" rtlCol="0" anchor="t"/>
          <a:lstStyle/>
          <a:p>
            <a:pPr algn="ctr" indent="0" marL="0">
              <a:buNone/>
            </a:pPr>
            <a:r>
              <a:rPr lang="en-US" sz="1700" b="1" dirty="0">
                <a:solidFill>
                  <a:schemeClr val="tx1"/>
                </a:solidFill>
              </a:rPr>
              <a:t>Export</a:t>
            </a:r>
            <a:endParaRPr lang="en-US" sz="1700" dirty="0"/>
          </a:p>
        </p:txBody>
      </p:sp>
      <p:sp>
        <p:nvSpPr>
          <p:cNvPr id="39" name="web step text 6"/>
          <p:cNvSpPr txBox="1"/>
          <p:nvPr/>
        </p:nvSpPr>
        <p:spPr>
          <a:xfrm>
            <a:off x="8543109" y="3611880"/>
            <a:ext cx="1397726" cy="822960"/>
          </a:xfrm>
          <a:prstGeom prst="rect">
            <a:avLst/>
          </a:prstGeom>
          <a:noFill/>
          <a:ln/>
        </p:spPr>
        <p:txBody>
          <a:bodyPr wrap="square" lIns="0" tIns="0" rIns="0" bIns="0" rtlCol="0" anchor="t"/>
          <a:lstStyle/>
          <a:p>
            <a:pPr algn="ctr" indent="0" marL="0">
              <a:buNone/>
            </a:pPr>
            <a:r>
              <a:rPr lang="en-US" sz="1250" dirty="0">
                <a:solidFill>
                  <a:schemeClr val="tx2"/>
                </a:solidFill>
              </a:rPr>
              <a:t>Excel &amp; PDF, email</a:t>
            </a:r>
            <a:endParaRPr lang="en-US" sz="1250" dirty="0"/>
          </a:p>
        </p:txBody>
      </p:sp>
      <p:sp>
        <p:nvSpPr>
          <p:cNvPr id="40" name="web step 7 circle"/>
          <p:cNvSpPr/>
          <p:nvPr/>
        </p:nvSpPr>
        <p:spPr>
          <a:xfrm>
            <a:off x="10365377" y="1828800"/>
            <a:ext cx="914400" cy="914400"/>
          </a:xfrm>
          <a:prstGeom prst="ellipse">
            <a:avLst/>
          </a:prstGeom>
          <a:solidFill>
            <a:srgbClr val="2E5BE8"/>
          </a:solidFill>
          <a:ln w="12700">
            <a:solidFill>
              <a:srgbClr val="2E5BE8"/>
            </a:solidFill>
            <a:prstDash val="solid"/>
          </a:ln>
        </p:spPr>
      </p:sp>
      <p:pic>
        <p:nvPicPr>
          <p:cNvPr id="41" name="web step 7 icon" descr="preencoded.png">    </p:cNvPr>
          <p:cNvPicPr>
            <a:picLocks noChangeAspect="1"/>
          </p:cNvPicPr>
          <p:nvPr/>
        </p:nvPicPr>
        <p:blipFill>
          <a:blip r:embed="rId7"/>
          <a:stretch>
            <a:fillRect/>
          </a:stretch>
        </p:blipFill>
        <p:spPr>
          <a:xfrm>
            <a:off x="10603121" y="2066544"/>
            <a:ext cx="438912" cy="438912"/>
          </a:xfrm>
          <a:prstGeom prst="rect">
            <a:avLst/>
          </a:prstGeom>
        </p:spPr>
      </p:pic>
      <p:sp>
        <p:nvSpPr>
          <p:cNvPr id="42" name="web step number 7"/>
          <p:cNvSpPr txBox="1"/>
          <p:nvPr/>
        </p:nvSpPr>
        <p:spPr>
          <a:xfrm>
            <a:off x="10639697" y="2880360"/>
            <a:ext cx="365760" cy="320040"/>
          </a:xfrm>
          <a:prstGeom prst="rect">
            <a:avLst/>
          </a:prstGeom>
          <a:noFill/>
          <a:ln/>
        </p:spPr>
        <p:txBody>
          <a:bodyPr wrap="square" lIns="0" tIns="0" rIns="0" bIns="0" rtlCol="0" anchor="t"/>
          <a:lstStyle/>
          <a:p>
            <a:pPr algn="ctr" indent="0" marL="0">
              <a:buNone/>
            </a:pPr>
            <a:r>
              <a:rPr lang="en-US" sz="1300" b="1" dirty="0">
                <a:solidFill>
                  <a:schemeClr val="accent6"/>
                </a:solidFill>
              </a:rPr>
              <a:t>7</a:t>
            </a:r>
            <a:endParaRPr lang="en-US" sz="1300" dirty="0"/>
          </a:p>
        </p:txBody>
      </p:sp>
      <p:sp>
        <p:nvSpPr>
          <p:cNvPr id="43" name="web step title 7"/>
          <p:cNvSpPr txBox="1"/>
          <p:nvPr/>
        </p:nvSpPr>
        <p:spPr>
          <a:xfrm>
            <a:off x="10077994" y="3200400"/>
            <a:ext cx="1489166" cy="365760"/>
          </a:xfrm>
          <a:prstGeom prst="rect">
            <a:avLst/>
          </a:prstGeom>
          <a:noFill/>
          <a:ln/>
        </p:spPr>
        <p:txBody>
          <a:bodyPr wrap="square" lIns="0" tIns="0" rIns="0" bIns="0" rtlCol="0" anchor="t"/>
          <a:lstStyle/>
          <a:p>
            <a:pPr algn="ctr" indent="0" marL="0">
              <a:buNone/>
            </a:pPr>
            <a:r>
              <a:rPr lang="en-US" sz="1700" b="1" dirty="0">
                <a:solidFill>
                  <a:schemeClr val="tx1"/>
                </a:solidFill>
              </a:rPr>
              <a:t>Audit</a:t>
            </a:r>
            <a:endParaRPr lang="en-US" sz="1700" dirty="0"/>
          </a:p>
        </p:txBody>
      </p:sp>
      <p:sp>
        <p:nvSpPr>
          <p:cNvPr id="44" name="web step text 7"/>
          <p:cNvSpPr txBox="1"/>
          <p:nvPr/>
        </p:nvSpPr>
        <p:spPr>
          <a:xfrm>
            <a:off x="10123714" y="3611880"/>
            <a:ext cx="1397726" cy="822960"/>
          </a:xfrm>
          <a:prstGeom prst="rect">
            <a:avLst/>
          </a:prstGeom>
          <a:noFill/>
          <a:ln/>
        </p:spPr>
        <p:txBody>
          <a:bodyPr wrap="square" lIns="0" tIns="0" rIns="0" bIns="0" rtlCol="0" anchor="t"/>
          <a:lstStyle/>
          <a:p>
            <a:pPr algn="ctr" indent="0" marL="0">
              <a:buNone/>
            </a:pPr>
            <a:r>
              <a:rPr lang="en-US" sz="1250" dirty="0">
                <a:solidFill>
                  <a:schemeClr val="tx2"/>
                </a:solidFill>
              </a:rPr>
              <a:t>check any BoQ</a:t>
            </a:r>
            <a:endParaRPr lang="en-US" sz="1250" dirty="0"/>
          </a:p>
        </p:txBody>
      </p:sp>
      <p:sp>
        <p:nvSpPr>
          <p:cNvPr id="45" name="start card"/>
          <p:cNvSpPr/>
          <p:nvPr/>
        </p:nvSpPr>
        <p:spPr>
          <a:xfrm>
            <a:off x="548640" y="4709160"/>
            <a:ext cx="11064240" cy="1097280"/>
          </a:xfrm>
          <a:prstGeom prst="roundRect">
            <a:avLst>
              <a:gd name="adj" fmla="val 10000"/>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46" name="start circle"/>
          <p:cNvSpPr/>
          <p:nvPr/>
        </p:nvSpPr>
        <p:spPr>
          <a:xfrm>
            <a:off x="777240" y="4892040"/>
            <a:ext cx="731520" cy="731520"/>
          </a:xfrm>
          <a:prstGeom prst="ellipse">
            <a:avLst/>
          </a:prstGeom>
          <a:solidFill>
            <a:srgbClr val="101A33"/>
          </a:solidFill>
          <a:ln w="12700">
            <a:solidFill>
              <a:srgbClr val="101A33"/>
            </a:solidFill>
            <a:prstDash val="solid"/>
          </a:ln>
        </p:spPr>
      </p:sp>
      <p:pic>
        <p:nvPicPr>
          <p:cNvPr id="47" name="start icon" descr="preencoded.png">    </p:cNvPr>
          <p:cNvPicPr>
            <a:picLocks noChangeAspect="1"/>
          </p:cNvPicPr>
          <p:nvPr/>
        </p:nvPicPr>
        <p:blipFill>
          <a:blip r:embed="rId8"/>
          <a:stretch>
            <a:fillRect/>
          </a:stretch>
        </p:blipFill>
        <p:spPr>
          <a:xfrm>
            <a:off x="967435" y="5082235"/>
            <a:ext cx="351130" cy="351130"/>
          </a:xfrm>
          <a:prstGeom prst="rect">
            <a:avLst/>
          </a:prstGeom>
        </p:spPr>
      </p:pic>
      <p:sp>
        <p:nvSpPr>
          <p:cNvPr id="48" name="start text"/>
          <p:cNvSpPr txBox="1"/>
          <p:nvPr/>
        </p:nvSpPr>
        <p:spPr>
          <a:xfrm>
            <a:off x="1737360" y="4983480"/>
            <a:ext cx="9692640" cy="548640"/>
          </a:xfrm>
          <a:prstGeom prst="rect">
            <a:avLst/>
          </a:prstGeom>
          <a:noFill/>
          <a:ln/>
        </p:spPr>
        <p:txBody>
          <a:bodyPr wrap="square" lIns="0" tIns="0" rIns="0" bIns="0" rtlCol="0" anchor="ctr"/>
          <a:lstStyle/>
          <a:p>
            <a:pPr indent="0" marL="0">
              <a:buNone/>
            </a:pPr>
            <a:r>
              <a:rPr lang="en-US" sz="1500" b="1" dirty="0">
                <a:solidFill>
                  <a:schemeClr val="tx1"/>
                </a:solidFill>
              </a:rPr>
              <a:t>Online: </a:t>
            </a:r>
            <a:pPr indent="0" marL="0">
              <a:buNone/>
            </a:pPr>
            <a:r>
              <a:rPr lang="en-US" sz="1500" b="1" u="sng" dirty="0">
                <a:solidFill>
                  <a:schemeClr val="accent1"/>
                </a:solidFill>
                <a:hlinkClick r:id="rId9" invalidUrl="" action="" tgtFrame="" tooltip="" history="1" highlightClick="0" endSnd="0">
                  <a:extLst>
                    <a:ext uri="{A12FA001-AC4F-418D-AE19-62706E023703}">
                      <ahyp:hlinkClr xmlns:ahyp="http://schemas.microsoft.com/office/drawing/2018/hyperlinkcolor" val="tx"/>
                    </a:ext>
                  </a:extLst>
                </a:hlinkClick>
              </a:rPr>
              <a:t>https://afriplan.onrender.com</a:t>
            </a:r>
            <a:endParaRPr lang="en-US" sz="1500" dirty="0"/>
          </a:p>
          <a:p>
            <a:pPr indent="0" marL="0">
              <a:buNone/>
            </a:pPr>
            <a:r>
              <a:rPr lang="en-US" sz="1500" dirty="0">
                <a:solidFill>
                  <a:schemeClr val="tx1"/>
                </a:solidFill>
              </a:rPr>
              <a:t>On your own computer: </a:t>
            </a:r>
            <a:pPr indent="0" marL="0">
              <a:buNone/>
            </a:pPr>
            <a:r>
              <a:rPr lang="en-US" sz="1500" b="1" dirty="0">
                <a:solidFill>
                  <a:schemeClr val="accent1"/>
                </a:solidFill>
                <a:latin typeface="Courier New" pitchFamily="34" charset="0"/>
                <a:ea typeface="Courier New" pitchFamily="34" charset="-122"/>
                <a:cs typeface="Courier New" pitchFamily="34" charset="-120"/>
              </a:rPr>
              <a:t>python scripts/dev.py start</a:t>
            </a:r>
            <a:pPr indent="0" marL="0">
              <a:buNone/>
            </a:pPr>
            <a:r>
              <a:rPr lang="en-US" sz="1500" dirty="0">
                <a:solidFill>
                  <a:schemeClr val="tx1"/>
                </a:solidFill>
              </a:rPr>
              <a:t> → http://127.0.0.1:5180</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Upload: choose the engine that fits your drawings</a:t>
            </a:r>
            <a:endParaRPr lang="en-US" sz="3000" dirty="0"/>
          </a:p>
        </p:txBody>
      </p:sp>
      <p:sp>
        <p:nvSpPr>
          <p:cNvPr id="4" name="engine card 1"/>
          <p:cNvSpPr/>
          <p:nvPr/>
        </p:nvSpPr>
        <p:spPr>
          <a:xfrm>
            <a:off x="548640" y="1417320"/>
            <a:ext cx="3520440" cy="4343400"/>
          </a:xfrm>
          <a:prstGeom prst="roundRect">
            <a:avLst>
              <a:gd name="adj" fmla="val 3117"/>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5" name="engine 1 circle"/>
          <p:cNvSpPr/>
          <p:nvPr/>
        </p:nvSpPr>
        <p:spPr>
          <a:xfrm>
            <a:off x="822960" y="1645920"/>
            <a:ext cx="777240" cy="777240"/>
          </a:xfrm>
          <a:prstGeom prst="ellipse">
            <a:avLst/>
          </a:prstGeom>
          <a:solidFill>
            <a:srgbClr val="2E5BE8"/>
          </a:solidFill>
          <a:ln w="12700">
            <a:solidFill>
              <a:srgbClr val="2E5BE8"/>
            </a:solidFill>
            <a:prstDash val="solid"/>
          </a:ln>
        </p:spPr>
      </p:sp>
      <p:pic>
        <p:nvPicPr>
          <p:cNvPr id="6" name="engine 1 icon" descr="preencoded.png">    </p:cNvPr>
          <p:cNvPicPr>
            <a:picLocks noChangeAspect="1"/>
          </p:cNvPicPr>
          <p:nvPr/>
        </p:nvPicPr>
        <p:blipFill>
          <a:blip r:embed="rId1"/>
          <a:stretch>
            <a:fillRect/>
          </a:stretch>
        </p:blipFill>
        <p:spPr>
          <a:xfrm>
            <a:off x="1025042" y="1848002"/>
            <a:ext cx="373075" cy="373075"/>
          </a:xfrm>
          <a:prstGeom prst="rect">
            <a:avLst/>
          </a:prstGeom>
        </p:spPr>
      </p:pic>
      <p:sp>
        <p:nvSpPr>
          <p:cNvPr id="7" name="engine title 1"/>
          <p:cNvSpPr txBox="1"/>
          <p:nvPr/>
        </p:nvSpPr>
        <p:spPr>
          <a:xfrm>
            <a:off x="1737360" y="1691640"/>
            <a:ext cx="2194560" cy="411480"/>
          </a:xfrm>
          <a:prstGeom prst="rect">
            <a:avLst/>
          </a:prstGeom>
          <a:noFill/>
          <a:ln/>
        </p:spPr>
        <p:txBody>
          <a:bodyPr wrap="square" lIns="0" tIns="0" rIns="0" bIns="0" rtlCol="0" anchor="t"/>
          <a:lstStyle/>
          <a:p>
            <a:pPr indent="0" marL="0">
              <a:buNone/>
            </a:pPr>
            <a:r>
              <a:rPr lang="en-US" sz="2100" b="1" dirty="0">
                <a:solidFill>
                  <a:schemeClr val="tx1"/>
                </a:solidFill>
              </a:rPr>
              <a:t>DXF / DWG</a:t>
            </a:r>
            <a:endParaRPr lang="en-US" sz="2100" dirty="0"/>
          </a:p>
        </p:txBody>
      </p:sp>
      <p:sp>
        <p:nvSpPr>
          <p:cNvPr id="8" name="engine tag 1"/>
          <p:cNvSpPr txBox="1"/>
          <p:nvPr/>
        </p:nvSpPr>
        <p:spPr>
          <a:xfrm>
            <a:off x="1737360" y="2103120"/>
            <a:ext cx="2240280" cy="320040"/>
          </a:xfrm>
          <a:prstGeom prst="rect">
            <a:avLst/>
          </a:prstGeom>
          <a:noFill/>
          <a:ln/>
        </p:spPr>
        <p:txBody>
          <a:bodyPr wrap="square" lIns="0" tIns="0" rIns="0" bIns="0" rtlCol="0" anchor="t"/>
          <a:lstStyle/>
          <a:p>
            <a:pPr indent="0" marL="0">
              <a:buNone/>
            </a:pPr>
            <a:r>
              <a:rPr lang="en-US" sz="1300" b="1" dirty="0">
                <a:solidFill>
                  <a:schemeClr val="accent1"/>
                </a:solidFill>
              </a:rPr>
              <a:t>Free · exact · 1–2 min</a:t>
            </a:r>
            <a:endParaRPr lang="en-US" sz="1300" dirty="0"/>
          </a:p>
        </p:txBody>
      </p:sp>
      <p:sp>
        <p:nvSpPr>
          <p:cNvPr id="9" name="engine points 1"/>
          <p:cNvSpPr txBox="1"/>
          <p:nvPr/>
        </p:nvSpPr>
        <p:spPr>
          <a:xfrm>
            <a:off x="822960" y="2697480"/>
            <a:ext cx="3017520" cy="29260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Select the whole set: SLDs, layouts and the electrical site plan</a:t>
            </a:r>
            <a:endParaRPr lang="en-US" sz="1400" dirty="0"/>
          </a:p>
          <a:p>
            <a:pPr marL="342900" indent="-342900">
              <a:spcAft>
                <a:spcPts val="800"/>
              </a:spcAft>
              <a:buSzPct val="100000"/>
              <a:buChar char="•"/>
            </a:pPr>
            <a:r>
              <a:rPr lang="en-US" sz="1400" dirty="0">
                <a:solidFill>
                  <a:schemeClr val="tx1"/>
                </a:solidFill>
              </a:rPr>
              <a:t>Feeder lengths measured on the site plan</a:t>
            </a:r>
            <a:endParaRPr lang="en-US" sz="1400" dirty="0"/>
          </a:p>
          <a:p>
            <a:pPr marL="342900" indent="-342900">
              <a:spcAft>
                <a:spcPts val="800"/>
              </a:spcAft>
              <a:buSzPct val="100000"/>
              <a:buChar char="•"/>
            </a:pPr>
            <a:r>
              <a:rPr lang="en-US" sz="1400" dirty="0">
                <a:solidFill>
                  <a:schemeClr val="tx1"/>
                </a:solidFill>
              </a:rPr>
              <a:t>Older revisions skipped automatically</a:t>
            </a:r>
            <a:endParaRPr lang="en-US" sz="1400" dirty="0"/>
          </a:p>
          <a:p>
            <a:pPr marL="342900" indent="-342900">
              <a:spcAft>
                <a:spcPts val="800"/>
              </a:spcAft>
              <a:buSzPct val="100000"/>
              <a:buChar char="•"/>
            </a:pPr>
            <a:r>
              <a:rPr lang="en-US" sz="1400" dirty="0">
                <a:solidFill>
                  <a:schemeClr val="tx1"/>
                </a:solidFill>
              </a:rPr>
              <a:t>Optional: AI names unnamed symbols (≈ R1–2)</a:t>
            </a:r>
            <a:endParaRPr lang="en-US" sz="1400" dirty="0"/>
          </a:p>
        </p:txBody>
      </p:sp>
      <p:sp>
        <p:nvSpPr>
          <p:cNvPr id="10" name="engine card 2"/>
          <p:cNvSpPr/>
          <p:nvPr/>
        </p:nvSpPr>
        <p:spPr>
          <a:xfrm>
            <a:off x="4297680" y="1417320"/>
            <a:ext cx="3520440" cy="4343400"/>
          </a:xfrm>
          <a:prstGeom prst="roundRect">
            <a:avLst>
              <a:gd name="adj" fmla="val 3117"/>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1" name="engine 2 circle"/>
          <p:cNvSpPr/>
          <p:nvPr/>
        </p:nvSpPr>
        <p:spPr>
          <a:xfrm>
            <a:off x="4572000" y="1645920"/>
            <a:ext cx="777240" cy="777240"/>
          </a:xfrm>
          <a:prstGeom prst="ellipse">
            <a:avLst/>
          </a:prstGeom>
          <a:solidFill>
            <a:srgbClr val="2E5BE8"/>
          </a:solidFill>
          <a:ln w="12700">
            <a:solidFill>
              <a:srgbClr val="2E5BE8"/>
            </a:solidFill>
            <a:prstDash val="solid"/>
          </a:ln>
        </p:spPr>
      </p:sp>
      <p:pic>
        <p:nvPicPr>
          <p:cNvPr id="12" name="engine 2 icon" descr="preencoded.png">    </p:cNvPr>
          <p:cNvPicPr>
            <a:picLocks noChangeAspect="1"/>
          </p:cNvPicPr>
          <p:nvPr/>
        </p:nvPicPr>
        <p:blipFill>
          <a:blip r:embed="rId2"/>
          <a:stretch>
            <a:fillRect/>
          </a:stretch>
        </p:blipFill>
        <p:spPr>
          <a:xfrm>
            <a:off x="4774082" y="1848002"/>
            <a:ext cx="373075" cy="373075"/>
          </a:xfrm>
          <a:prstGeom prst="rect">
            <a:avLst/>
          </a:prstGeom>
        </p:spPr>
      </p:pic>
      <p:sp>
        <p:nvSpPr>
          <p:cNvPr id="13" name="engine title 2"/>
          <p:cNvSpPr txBox="1"/>
          <p:nvPr/>
        </p:nvSpPr>
        <p:spPr>
          <a:xfrm>
            <a:off x="5486400" y="1691640"/>
            <a:ext cx="2194560" cy="411480"/>
          </a:xfrm>
          <a:prstGeom prst="rect">
            <a:avLst/>
          </a:prstGeom>
          <a:noFill/>
          <a:ln/>
        </p:spPr>
        <p:txBody>
          <a:bodyPr wrap="square" lIns="0" tIns="0" rIns="0" bIns="0" rtlCol="0" anchor="t"/>
          <a:lstStyle/>
          <a:p>
            <a:pPr indent="0" marL="0">
              <a:buNone/>
            </a:pPr>
            <a:r>
              <a:rPr lang="en-US" sz="2100" b="1" dirty="0">
                <a:solidFill>
                  <a:schemeClr val="tx1"/>
                </a:solidFill>
              </a:rPr>
              <a:t>PDF</a:t>
            </a:r>
            <a:endParaRPr lang="en-US" sz="2100" dirty="0"/>
          </a:p>
        </p:txBody>
      </p:sp>
      <p:sp>
        <p:nvSpPr>
          <p:cNvPr id="14" name="engine tag 2"/>
          <p:cNvSpPr txBox="1"/>
          <p:nvPr/>
        </p:nvSpPr>
        <p:spPr>
          <a:xfrm>
            <a:off x="5486400" y="2103120"/>
            <a:ext cx="2240280" cy="320040"/>
          </a:xfrm>
          <a:prstGeom prst="rect">
            <a:avLst/>
          </a:prstGeom>
          <a:noFill/>
          <a:ln/>
        </p:spPr>
        <p:txBody>
          <a:bodyPr wrap="square" lIns="0" tIns="0" rIns="0" bIns="0" rtlCol="0" anchor="t"/>
          <a:lstStyle/>
          <a:p>
            <a:pPr indent="0" marL="0">
              <a:buNone/>
            </a:pPr>
            <a:r>
              <a:rPr lang="en-US" sz="1300" b="1" dirty="0">
                <a:solidFill>
                  <a:schemeClr val="accent1"/>
                </a:solidFill>
              </a:rPr>
              <a:t>AI reads every page</a:t>
            </a:r>
            <a:endParaRPr lang="en-US" sz="1300" dirty="0"/>
          </a:p>
        </p:txBody>
      </p:sp>
      <p:sp>
        <p:nvSpPr>
          <p:cNvPr id="15" name="engine points 2"/>
          <p:cNvSpPr txBox="1"/>
          <p:nvPr/>
        </p:nvSpPr>
        <p:spPr>
          <a:xfrm>
            <a:off x="4572000" y="2697480"/>
            <a:ext cx="3017520" cy="29260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Choose the reader: Claude (paid, most accurate) or Gemini (free)</a:t>
            </a:r>
            <a:endParaRPr lang="en-US" sz="1400" dirty="0"/>
          </a:p>
          <a:p>
            <a:pPr marL="342900" indent="-342900">
              <a:spcAft>
                <a:spcPts val="800"/>
              </a:spcAft>
              <a:buSzPct val="100000"/>
              <a:buChar char="•"/>
            </a:pPr>
            <a:r>
              <a:rPr lang="en-US" sz="1400" dirty="0">
                <a:solidFill>
                  <a:schemeClr val="tx1"/>
                </a:solidFill>
              </a:rPr>
              <a:t>Claude ≈ R2.50 a page, ≈ 5 min for 18 pages</a:t>
            </a:r>
            <a:endParaRPr lang="en-US" sz="1400" dirty="0"/>
          </a:p>
          <a:p>
            <a:pPr marL="342900" indent="-342900">
              <a:spcAft>
                <a:spcPts val="800"/>
              </a:spcAft>
              <a:buSzPct val="100000"/>
              <a:buChar char="•"/>
            </a:pPr>
            <a:r>
              <a:rPr lang="en-US" sz="1400" dirty="0">
                <a:solidFill>
                  <a:schemeClr val="tx1"/>
                </a:solidFill>
              </a:rPr>
              <a:t>Gemini: slower; stops at Google's daily limit — the screen says why</a:t>
            </a:r>
            <a:endParaRPr lang="en-US" sz="1400" dirty="0"/>
          </a:p>
          <a:p>
            <a:pPr marL="342900" indent="-342900">
              <a:spcAft>
                <a:spcPts val="800"/>
              </a:spcAft>
              <a:buSzPct val="100000"/>
              <a:buChar char="•"/>
            </a:pPr>
            <a:r>
              <a:rPr lang="en-US" sz="1400" dirty="0">
                <a:solidFill>
                  <a:schemeClr val="tx1"/>
                </a:solidFill>
              </a:rPr>
              <a:t>Live progress: page X of Y, AI waits shown</a:t>
            </a:r>
            <a:endParaRPr lang="en-US" sz="1400" dirty="0"/>
          </a:p>
        </p:txBody>
      </p:sp>
      <p:sp>
        <p:nvSpPr>
          <p:cNvPr id="16" name="engine card 3"/>
          <p:cNvSpPr/>
          <p:nvPr/>
        </p:nvSpPr>
        <p:spPr>
          <a:xfrm>
            <a:off x="8046720" y="1417320"/>
            <a:ext cx="3520440" cy="4343400"/>
          </a:xfrm>
          <a:prstGeom prst="roundRect">
            <a:avLst>
              <a:gd name="adj" fmla="val 3117"/>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7" name="engine 3 circle"/>
          <p:cNvSpPr/>
          <p:nvPr/>
        </p:nvSpPr>
        <p:spPr>
          <a:xfrm>
            <a:off x="8321040" y="1645920"/>
            <a:ext cx="777240" cy="777240"/>
          </a:xfrm>
          <a:prstGeom prst="ellipse">
            <a:avLst/>
          </a:prstGeom>
          <a:solidFill>
            <a:srgbClr val="2E5BE8"/>
          </a:solidFill>
          <a:ln w="12700">
            <a:solidFill>
              <a:srgbClr val="2E5BE8"/>
            </a:solidFill>
            <a:prstDash val="solid"/>
          </a:ln>
        </p:spPr>
      </p:sp>
      <p:pic>
        <p:nvPicPr>
          <p:cNvPr id="18" name="engine 3 icon" descr="preencoded.png">    </p:cNvPr>
          <p:cNvPicPr>
            <a:picLocks noChangeAspect="1"/>
          </p:cNvPicPr>
          <p:nvPr/>
        </p:nvPicPr>
        <p:blipFill>
          <a:blip r:embed="rId3"/>
          <a:stretch>
            <a:fillRect/>
          </a:stretch>
        </p:blipFill>
        <p:spPr>
          <a:xfrm>
            <a:off x="8523122" y="1848002"/>
            <a:ext cx="373075" cy="373075"/>
          </a:xfrm>
          <a:prstGeom prst="rect">
            <a:avLst/>
          </a:prstGeom>
        </p:spPr>
      </p:pic>
      <p:sp>
        <p:nvSpPr>
          <p:cNvPr id="19" name="engine title 3"/>
          <p:cNvSpPr txBox="1"/>
          <p:nvPr/>
        </p:nvSpPr>
        <p:spPr>
          <a:xfrm>
            <a:off x="9235440" y="1691640"/>
            <a:ext cx="2194560" cy="411480"/>
          </a:xfrm>
          <a:prstGeom prst="rect">
            <a:avLst/>
          </a:prstGeom>
          <a:noFill/>
          <a:ln/>
        </p:spPr>
        <p:txBody>
          <a:bodyPr wrap="square" lIns="0" tIns="0" rIns="0" bIns="0" rtlCol="0" anchor="t"/>
          <a:lstStyle/>
          <a:p>
            <a:pPr indent="0" marL="0">
              <a:buNone/>
            </a:pPr>
            <a:r>
              <a:rPr lang="en-US" sz="2100" b="1" dirty="0">
                <a:solidFill>
                  <a:schemeClr val="tx1"/>
                </a:solidFill>
              </a:rPr>
              <a:t>Both</a:t>
            </a:r>
            <a:endParaRPr lang="en-US" sz="2100" dirty="0"/>
          </a:p>
        </p:txBody>
      </p:sp>
      <p:sp>
        <p:nvSpPr>
          <p:cNvPr id="20" name="engine tag 3"/>
          <p:cNvSpPr txBox="1"/>
          <p:nvPr/>
        </p:nvSpPr>
        <p:spPr>
          <a:xfrm>
            <a:off x="9235440" y="2103120"/>
            <a:ext cx="2240280" cy="320040"/>
          </a:xfrm>
          <a:prstGeom prst="rect">
            <a:avLst/>
          </a:prstGeom>
          <a:noFill/>
          <a:ln/>
        </p:spPr>
        <p:txBody>
          <a:bodyPr wrap="square" lIns="0" tIns="0" rIns="0" bIns="0" rtlCol="0" anchor="t"/>
          <a:lstStyle/>
          <a:p>
            <a:pPr indent="0" marL="0">
              <a:buNone/>
            </a:pPr>
            <a:r>
              <a:rPr lang="en-US" sz="1300" b="1" dirty="0">
                <a:solidFill>
                  <a:schemeClr val="accent1"/>
                </a:solidFill>
              </a:rPr>
              <a:t>run both, then compare</a:t>
            </a:r>
            <a:endParaRPr lang="en-US" sz="1300" dirty="0"/>
          </a:p>
        </p:txBody>
      </p:sp>
      <p:sp>
        <p:nvSpPr>
          <p:cNvPr id="21" name="engine points 3"/>
          <p:cNvSpPr txBox="1"/>
          <p:nvPr/>
        </p:nvSpPr>
        <p:spPr>
          <a:xfrm>
            <a:off x="8321040" y="2697480"/>
            <a:ext cx="3017520" cy="29260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Runs the CAD and PDF engines side by side</a:t>
            </a:r>
            <a:endParaRPr lang="en-US" sz="1400" dirty="0"/>
          </a:p>
          <a:p>
            <a:pPr marL="342900" indent="-342900">
              <a:spcAft>
                <a:spcPts val="800"/>
              </a:spcAft>
              <a:buSzPct val="100000"/>
              <a:buChar char="•"/>
            </a:pPr>
            <a:r>
              <a:rPr lang="en-US" sz="1400" dirty="0">
                <a:solidFill>
                  <a:schemeClr val="tx1"/>
                </a:solidFill>
              </a:rPr>
              <a:t>Shows where they agree and disagree</a:t>
            </a:r>
            <a:endParaRPr lang="en-US" sz="1400" dirty="0"/>
          </a:p>
          <a:p>
            <a:pPr marL="342900" indent="-342900">
              <a:spcAft>
                <a:spcPts val="800"/>
              </a:spcAft>
              <a:buSzPct val="100000"/>
              <a:buChar char="•"/>
            </a:pPr>
            <a:r>
              <a:rPr lang="en-US" sz="1400" dirty="0">
                <a:solidFill>
                  <a:schemeClr val="tx1"/>
                </a:solidFill>
              </a:rPr>
              <a:t>Comparison report as PDF</a:t>
            </a:r>
            <a:endParaRPr lang="en-US" sz="1400" dirty="0"/>
          </a:p>
          <a:p>
            <a:pPr marL="342900" indent="-342900">
              <a:spcAft>
                <a:spcPts val="800"/>
              </a:spcAft>
              <a:buSzPct val="100000"/>
              <a:buChar char="•"/>
            </a:pPr>
            <a:r>
              <a:rPr lang="en-US" sz="1400" dirty="0">
                <a:solidFill>
                  <a:schemeClr val="tx1"/>
                </a:solidFill>
              </a:rPr>
              <a:t>Best when some sheets exist only as PDF</a:t>
            </a:r>
            <a:endParaRPr lang="en-US" sz="1400" dirty="0"/>
          </a:p>
        </p:txBody>
      </p:sp>
      <p:sp>
        <p:nvSpPr>
          <p:cNvPr id="22" name="source"/>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000" i="1" dirty="0">
                <a:solidFill>
                  <a:schemeClr val="accent6"/>
                </a:solidFill>
              </a:rPr>
              <a:t>Tip: without an API key, DWG/DXF estimating, audit and exports still work. Keys go in api/.env (never committed).</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Take-off: watch the progress, then read the gaps</a:t>
            </a:r>
            <a:endParaRPr lang="en-US" sz="3000" dirty="0"/>
          </a:p>
        </p:txBody>
      </p:sp>
      <p:pic>
        <p:nvPicPr>
          <p:cNvPr id="4" name="progress screenshot" descr="C:\Users\BIBINBUSINESS\AppData\Local\Temp\claude\c--Users-BIBINBUSINESS-OneDrive-Desktop-afriplan-web\160cb13b-69be-45a9-b0fa-6d0d5fe06738\scratchpad\deck\run-progress.png">    </p:cNvPr>
          <p:cNvPicPr>
            <a:picLocks noChangeAspect="1"/>
          </p:cNvPicPr>
          <p:nvPr/>
        </p:nvPicPr>
        <p:blipFill>
          <a:blip r:embed="rId1"/>
          <a:stretch>
            <a:fillRect/>
          </a:stretch>
        </p:blipFill>
        <p:spPr>
          <a:xfrm>
            <a:off x="548640" y="1417320"/>
            <a:ext cx="6583680" cy="3703320"/>
          </a:xfrm>
          <a:prstGeom prst="rect">
            <a:avLst/>
          </a:prstGeom>
        </p:spPr>
      </p:pic>
      <p:sp>
        <p:nvSpPr>
          <p:cNvPr id="5" name="screenshot frame"/>
          <p:cNvSpPr/>
          <p:nvPr/>
        </p:nvSpPr>
        <p:spPr>
          <a:xfrm>
            <a:off x="548640" y="1417320"/>
            <a:ext cx="6583680" cy="3703320"/>
          </a:xfrm>
          <a:prstGeom prst="rect">
            <a:avLst/>
          </a:prstGeom>
          <a:ln w="12700">
            <a:solidFill>
              <a:srgbClr val="D9DEE9"/>
            </a:solidFill>
            <a:prstDash val="solid"/>
          </a:ln>
        </p:spPr>
      </p:sp>
      <p:sp>
        <p:nvSpPr>
          <p:cNvPr id="6" name="screenshot caption"/>
          <p:cNvSpPr txBox="1"/>
          <p:nvPr/>
        </p:nvSpPr>
        <p:spPr>
          <a:xfrm>
            <a:off x="548640" y="5212080"/>
            <a:ext cx="6583680" cy="274320"/>
          </a:xfrm>
          <a:prstGeom prst="rect">
            <a:avLst/>
          </a:prstGeom>
          <a:noFill/>
          <a:ln/>
        </p:spPr>
        <p:txBody>
          <a:bodyPr wrap="square" lIns="0" tIns="0" rIns="0" bIns="0" rtlCol="0" anchor="t"/>
          <a:lstStyle/>
          <a:p>
            <a:pPr indent="0" marL="0">
              <a:buNone/>
            </a:pPr>
            <a:r>
              <a:rPr lang="en-US" sz="1100" i="1" dirty="0">
                <a:solidFill>
                  <a:schemeClr val="accent6"/>
                </a:solidFill>
              </a:rPr>
              <a:t>The Take-off page during a PDF run on the free Gemini tier</a:t>
            </a:r>
            <a:endParaRPr lang="en-US" sz="1100" dirty="0"/>
          </a:p>
        </p:txBody>
      </p:sp>
      <p:sp>
        <p:nvSpPr>
          <p:cNvPr id="7" name="takeoff point 1 circle"/>
          <p:cNvSpPr/>
          <p:nvPr/>
        </p:nvSpPr>
        <p:spPr>
          <a:xfrm>
            <a:off x="7543800" y="1463040"/>
            <a:ext cx="640080" cy="640080"/>
          </a:xfrm>
          <a:prstGeom prst="ellipse">
            <a:avLst/>
          </a:prstGeom>
          <a:solidFill>
            <a:srgbClr val="2E5BE8"/>
          </a:solidFill>
          <a:ln w="12700">
            <a:solidFill>
              <a:srgbClr val="2E5BE8"/>
            </a:solidFill>
            <a:prstDash val="solid"/>
          </a:ln>
        </p:spPr>
      </p:sp>
      <p:pic>
        <p:nvPicPr>
          <p:cNvPr id="8" name="takeoff point 1 icon" descr="preencoded.png">    </p:cNvPr>
          <p:cNvPicPr>
            <a:picLocks noChangeAspect="1"/>
          </p:cNvPicPr>
          <p:nvPr/>
        </p:nvPicPr>
        <p:blipFill>
          <a:blip r:embed="rId2"/>
          <a:stretch>
            <a:fillRect/>
          </a:stretch>
        </p:blipFill>
        <p:spPr>
          <a:xfrm>
            <a:off x="7710221" y="1629461"/>
            <a:ext cx="307238" cy="307238"/>
          </a:xfrm>
          <a:prstGeom prst="rect">
            <a:avLst/>
          </a:prstGeom>
        </p:spPr>
      </p:pic>
      <p:sp>
        <p:nvSpPr>
          <p:cNvPr id="9" name="takeoff point title 1"/>
          <p:cNvSpPr txBox="1"/>
          <p:nvPr/>
        </p:nvSpPr>
        <p:spPr>
          <a:xfrm>
            <a:off x="8366760" y="1463040"/>
            <a:ext cx="3291840" cy="365760"/>
          </a:xfrm>
          <a:prstGeom prst="rect">
            <a:avLst/>
          </a:prstGeom>
          <a:noFill/>
          <a:ln/>
        </p:spPr>
        <p:txBody>
          <a:bodyPr wrap="square" lIns="0" tIns="0" rIns="0" bIns="0" rtlCol="0" anchor="t"/>
          <a:lstStyle/>
          <a:p>
            <a:pPr indent="0" marL="0">
              <a:buNone/>
            </a:pPr>
            <a:r>
              <a:rPr lang="en-US" sz="1700" b="1" dirty="0">
                <a:solidFill>
                  <a:schemeClr val="tx1"/>
                </a:solidFill>
              </a:rPr>
              <a:t>Live progress</a:t>
            </a:r>
            <a:endParaRPr lang="en-US" sz="1700" dirty="0"/>
          </a:p>
        </p:txBody>
      </p:sp>
      <p:sp>
        <p:nvSpPr>
          <p:cNvPr id="10" name="takeoff point text 1"/>
          <p:cNvSpPr txBox="1"/>
          <p:nvPr/>
        </p:nvSpPr>
        <p:spPr>
          <a:xfrm>
            <a:off x="8366760" y="1847088"/>
            <a:ext cx="3291840" cy="777240"/>
          </a:xfrm>
          <a:prstGeom prst="rect">
            <a:avLst/>
          </a:prstGeom>
          <a:noFill/>
          <a:ln/>
        </p:spPr>
        <p:txBody>
          <a:bodyPr wrap="square" lIns="0" tIns="0" rIns="0" bIns="0" rtlCol="0" anchor="t"/>
          <a:lstStyle/>
          <a:p>
            <a:pPr indent="0" marL="0">
              <a:buNone/>
            </a:pPr>
            <a:r>
              <a:rPr lang="en-US" sz="1350" dirty="0">
                <a:solidFill>
                  <a:schemeClr val="tx2"/>
                </a:solidFill>
              </a:rPr>
              <a:t>step, pages done, time so far and the AI's “busy, waiting” note</a:t>
            </a:r>
            <a:endParaRPr lang="en-US" sz="1350" dirty="0"/>
          </a:p>
        </p:txBody>
      </p:sp>
      <p:sp>
        <p:nvSpPr>
          <p:cNvPr id="11" name="takeoff point 2 circle"/>
          <p:cNvSpPr/>
          <p:nvPr/>
        </p:nvSpPr>
        <p:spPr>
          <a:xfrm>
            <a:off x="7543800" y="2788920"/>
            <a:ext cx="640080" cy="640080"/>
          </a:xfrm>
          <a:prstGeom prst="ellipse">
            <a:avLst/>
          </a:prstGeom>
          <a:solidFill>
            <a:srgbClr val="F2A900"/>
          </a:solidFill>
          <a:ln w="12700">
            <a:solidFill>
              <a:srgbClr val="F2A900"/>
            </a:solidFill>
            <a:prstDash val="solid"/>
          </a:ln>
        </p:spPr>
      </p:sp>
      <p:pic>
        <p:nvPicPr>
          <p:cNvPr id="12" name="takeoff point 2 icon" descr="preencoded.png">    </p:cNvPr>
          <p:cNvPicPr>
            <a:picLocks noChangeAspect="1"/>
          </p:cNvPicPr>
          <p:nvPr/>
        </p:nvPicPr>
        <p:blipFill>
          <a:blip r:embed="rId3"/>
          <a:stretch>
            <a:fillRect/>
          </a:stretch>
        </p:blipFill>
        <p:spPr>
          <a:xfrm>
            <a:off x="7710221" y="2955341"/>
            <a:ext cx="307238" cy="307238"/>
          </a:xfrm>
          <a:prstGeom prst="rect">
            <a:avLst/>
          </a:prstGeom>
        </p:spPr>
      </p:pic>
      <p:sp>
        <p:nvSpPr>
          <p:cNvPr id="13" name="takeoff point title 2"/>
          <p:cNvSpPr txBox="1"/>
          <p:nvPr/>
        </p:nvSpPr>
        <p:spPr>
          <a:xfrm>
            <a:off x="8366760" y="2788920"/>
            <a:ext cx="3291840" cy="365760"/>
          </a:xfrm>
          <a:prstGeom prst="rect">
            <a:avLst/>
          </a:prstGeom>
          <a:noFill/>
          <a:ln/>
        </p:spPr>
        <p:txBody>
          <a:bodyPr wrap="square" lIns="0" tIns="0" rIns="0" bIns="0" rtlCol="0" anchor="t"/>
          <a:lstStyle/>
          <a:p>
            <a:pPr indent="0" marL="0">
              <a:buNone/>
            </a:pPr>
            <a:r>
              <a:rPr lang="en-US" sz="1700" b="1" dirty="0">
                <a:solidFill>
                  <a:schemeClr val="tx1"/>
                </a:solidFill>
              </a:rPr>
              <a:t>Failures say why</a:t>
            </a:r>
            <a:endParaRPr lang="en-US" sz="1700" dirty="0"/>
          </a:p>
        </p:txBody>
      </p:sp>
      <p:sp>
        <p:nvSpPr>
          <p:cNvPr id="14" name="takeoff point text 2"/>
          <p:cNvSpPr txBox="1"/>
          <p:nvPr/>
        </p:nvSpPr>
        <p:spPr>
          <a:xfrm>
            <a:off x="8366760" y="3172968"/>
            <a:ext cx="3291840" cy="777240"/>
          </a:xfrm>
          <a:prstGeom prst="rect">
            <a:avLst/>
          </a:prstGeom>
          <a:noFill/>
          <a:ln/>
        </p:spPr>
        <p:txBody>
          <a:bodyPr wrap="square" lIns="0" tIns="0" rIns="0" bIns="0" rtlCol="0" anchor="t"/>
          <a:lstStyle/>
          <a:p>
            <a:pPr indent="0" marL="0">
              <a:buNone/>
            </a:pPr>
            <a:r>
              <a:rPr lang="en-US" sz="1350" dirty="0">
                <a:solidFill>
                  <a:schemeClr val="tx2"/>
                </a:solidFill>
              </a:rPr>
              <a:t>e.g. Gemini's free daily limit is used up — and what to do instead</a:t>
            </a:r>
            <a:endParaRPr lang="en-US" sz="1350" dirty="0"/>
          </a:p>
        </p:txBody>
      </p:sp>
      <p:sp>
        <p:nvSpPr>
          <p:cNvPr id="15" name="takeoff point 3 circle"/>
          <p:cNvSpPr/>
          <p:nvPr/>
        </p:nvSpPr>
        <p:spPr>
          <a:xfrm>
            <a:off x="7543800" y="4114800"/>
            <a:ext cx="640080" cy="640080"/>
          </a:xfrm>
          <a:prstGeom prst="ellipse">
            <a:avLst/>
          </a:prstGeom>
          <a:solidFill>
            <a:srgbClr val="2E5BE8"/>
          </a:solidFill>
          <a:ln w="12700">
            <a:solidFill>
              <a:srgbClr val="2E5BE8"/>
            </a:solidFill>
            <a:prstDash val="solid"/>
          </a:ln>
        </p:spPr>
      </p:sp>
      <p:pic>
        <p:nvPicPr>
          <p:cNvPr id="16" name="takeoff point 3 icon" descr="preencoded.png">    </p:cNvPr>
          <p:cNvPicPr>
            <a:picLocks noChangeAspect="1"/>
          </p:cNvPicPr>
          <p:nvPr/>
        </p:nvPicPr>
        <p:blipFill>
          <a:blip r:embed="rId4"/>
          <a:stretch>
            <a:fillRect/>
          </a:stretch>
        </p:blipFill>
        <p:spPr>
          <a:xfrm>
            <a:off x="7710221" y="4281221"/>
            <a:ext cx="307238" cy="307238"/>
          </a:xfrm>
          <a:prstGeom prst="rect">
            <a:avLst/>
          </a:prstGeom>
        </p:spPr>
      </p:pic>
      <p:sp>
        <p:nvSpPr>
          <p:cNvPr id="17" name="takeoff point title 3"/>
          <p:cNvSpPr txBox="1"/>
          <p:nvPr/>
        </p:nvSpPr>
        <p:spPr>
          <a:xfrm>
            <a:off x="8366760" y="4114800"/>
            <a:ext cx="3291840" cy="365760"/>
          </a:xfrm>
          <a:prstGeom prst="rect">
            <a:avLst/>
          </a:prstGeom>
          <a:noFill/>
          <a:ln/>
        </p:spPr>
        <p:txBody>
          <a:bodyPr wrap="square" lIns="0" tIns="0" rIns="0" bIns="0" rtlCol="0" anchor="t"/>
          <a:lstStyle/>
          <a:p>
            <a:pPr indent="0" marL="0">
              <a:buNone/>
            </a:pPr>
            <a:r>
              <a:rPr lang="en-US" sz="1700" b="1" dirty="0">
                <a:solidFill>
                  <a:schemeClr val="tx1"/>
                </a:solidFill>
              </a:rPr>
              <a:t>Then the results</a:t>
            </a:r>
            <a:endParaRPr lang="en-US" sz="1700" dirty="0"/>
          </a:p>
        </p:txBody>
      </p:sp>
      <p:sp>
        <p:nvSpPr>
          <p:cNvPr id="18" name="takeoff point text 3"/>
          <p:cNvSpPr txBox="1"/>
          <p:nvPr/>
        </p:nvSpPr>
        <p:spPr>
          <a:xfrm>
            <a:off x="8366760" y="4498848"/>
            <a:ext cx="3291840" cy="777240"/>
          </a:xfrm>
          <a:prstGeom prst="rect">
            <a:avLst/>
          </a:prstGeom>
          <a:noFill/>
          <a:ln/>
        </p:spPr>
        <p:txBody>
          <a:bodyPr wrap="square" lIns="0" tIns="0" rIns="0" bIns="0" rtlCol="0" anchor="t"/>
          <a:lstStyle/>
          <a:p>
            <a:pPr indent="0" marL="0">
              <a:buNone/>
            </a:pPr>
            <a:r>
              <a:rPr lang="en-US" sz="1350" dirty="0">
                <a:solidFill>
                  <a:schemeClr val="tx2"/>
                </a:solidFill>
              </a:rPr>
              <a:t>drawing set, legend, coverage and the gap report</a:t>
            </a:r>
            <a:endParaRPr lang="en-US" sz="135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BoQ, pricing and export: the tender document</a:t>
            </a:r>
            <a:endParaRPr lang="en-US" sz="3000" dirty="0"/>
          </a:p>
        </p:txBody>
      </p:sp>
      <p:sp>
        <p:nvSpPr>
          <p:cNvPr id="4" name="boq point 1 circle"/>
          <p:cNvSpPr/>
          <p:nvPr/>
        </p:nvSpPr>
        <p:spPr>
          <a:xfrm>
            <a:off x="548640" y="1463040"/>
            <a:ext cx="640080" cy="640080"/>
          </a:xfrm>
          <a:prstGeom prst="ellipse">
            <a:avLst/>
          </a:prstGeom>
          <a:solidFill>
            <a:srgbClr val="2E5BE8"/>
          </a:solidFill>
          <a:ln w="12700">
            <a:solidFill>
              <a:srgbClr val="2E5BE8"/>
            </a:solidFill>
            <a:prstDash val="solid"/>
          </a:ln>
        </p:spPr>
      </p:sp>
      <p:pic>
        <p:nvPicPr>
          <p:cNvPr id="5" name="boq point 1 icon" descr="preencoded.png">    </p:cNvPr>
          <p:cNvPicPr>
            <a:picLocks noChangeAspect="1"/>
          </p:cNvPicPr>
          <p:nvPr/>
        </p:nvPicPr>
        <p:blipFill>
          <a:blip r:embed="rId1"/>
          <a:stretch>
            <a:fillRect/>
          </a:stretch>
        </p:blipFill>
        <p:spPr>
          <a:xfrm>
            <a:off x="715061" y="1629461"/>
            <a:ext cx="307238" cy="307238"/>
          </a:xfrm>
          <a:prstGeom prst="rect">
            <a:avLst/>
          </a:prstGeom>
        </p:spPr>
      </p:pic>
      <p:sp>
        <p:nvSpPr>
          <p:cNvPr id="6" name="boq point title 1"/>
          <p:cNvSpPr txBox="1"/>
          <p:nvPr/>
        </p:nvSpPr>
        <p:spPr>
          <a:xfrm>
            <a:off x="1371600" y="1444752"/>
            <a:ext cx="4572000" cy="347472"/>
          </a:xfrm>
          <a:prstGeom prst="rect">
            <a:avLst/>
          </a:prstGeom>
          <a:noFill/>
          <a:ln/>
        </p:spPr>
        <p:txBody>
          <a:bodyPr wrap="square" lIns="0" tIns="0" rIns="0" bIns="0" rtlCol="0" anchor="t"/>
          <a:lstStyle/>
          <a:p>
            <a:pPr indent="0" marL="0">
              <a:buNone/>
            </a:pPr>
            <a:r>
              <a:rPr lang="en-US" sz="1600" b="1" dirty="0">
                <a:solidFill>
                  <a:schemeClr val="tx1"/>
                </a:solidFill>
              </a:rPr>
              <a:t>Bill of Quantities</a:t>
            </a:r>
            <a:endParaRPr lang="en-US" sz="1600" dirty="0"/>
          </a:p>
        </p:txBody>
      </p:sp>
      <p:sp>
        <p:nvSpPr>
          <p:cNvPr id="7" name="boq point text 1"/>
          <p:cNvSpPr txBox="1"/>
          <p:nvPr/>
        </p:nvSpPr>
        <p:spPr>
          <a:xfrm>
            <a:off x="1371600" y="1792224"/>
            <a:ext cx="4572000" cy="594360"/>
          </a:xfrm>
          <a:prstGeom prst="rect">
            <a:avLst/>
          </a:prstGeom>
          <a:noFill/>
          <a:ln/>
        </p:spPr>
        <p:txBody>
          <a:bodyPr wrap="square" lIns="0" tIns="0" rIns="0" bIns="0" rtlCol="0" anchor="t"/>
          <a:lstStyle/>
          <a:p>
            <a:pPr indent="0" marL="0">
              <a:buNone/>
            </a:pPr>
            <a:r>
              <a:rPr lang="en-US" sz="1300" dirty="0">
                <a:solidFill>
                  <a:schemeClr val="tx2"/>
                </a:solidFill>
              </a:rPr>
              <a:t>every line with quantity, rate and its evidence tag; measured lines show their route</a:t>
            </a:r>
            <a:endParaRPr lang="en-US" sz="1300" dirty="0"/>
          </a:p>
        </p:txBody>
      </p:sp>
      <p:sp>
        <p:nvSpPr>
          <p:cNvPr id="8" name="boq point 2 circle"/>
          <p:cNvSpPr/>
          <p:nvPr/>
        </p:nvSpPr>
        <p:spPr>
          <a:xfrm>
            <a:off x="548640" y="2542032"/>
            <a:ext cx="640080" cy="640080"/>
          </a:xfrm>
          <a:prstGeom prst="ellipse">
            <a:avLst/>
          </a:prstGeom>
          <a:solidFill>
            <a:srgbClr val="2E5BE8"/>
          </a:solidFill>
          <a:ln w="12700">
            <a:solidFill>
              <a:srgbClr val="2E5BE8"/>
            </a:solidFill>
            <a:prstDash val="solid"/>
          </a:ln>
        </p:spPr>
      </p:sp>
      <p:pic>
        <p:nvPicPr>
          <p:cNvPr id="9" name="boq point 2 icon" descr="preencoded.png">    </p:cNvPr>
          <p:cNvPicPr>
            <a:picLocks noChangeAspect="1"/>
          </p:cNvPicPr>
          <p:nvPr/>
        </p:nvPicPr>
        <p:blipFill>
          <a:blip r:embed="rId2"/>
          <a:stretch>
            <a:fillRect/>
          </a:stretch>
        </p:blipFill>
        <p:spPr>
          <a:xfrm>
            <a:off x="715061" y="2708453"/>
            <a:ext cx="307238" cy="307238"/>
          </a:xfrm>
          <a:prstGeom prst="rect">
            <a:avLst/>
          </a:prstGeom>
        </p:spPr>
      </p:pic>
      <p:sp>
        <p:nvSpPr>
          <p:cNvPr id="10" name="boq point title 2"/>
          <p:cNvSpPr txBox="1"/>
          <p:nvPr/>
        </p:nvSpPr>
        <p:spPr>
          <a:xfrm>
            <a:off x="1371600" y="2523744"/>
            <a:ext cx="4572000" cy="347472"/>
          </a:xfrm>
          <a:prstGeom prst="rect">
            <a:avLst/>
          </a:prstGeom>
          <a:noFill/>
          <a:ln/>
        </p:spPr>
        <p:txBody>
          <a:bodyPr wrap="square" lIns="0" tIns="0" rIns="0" bIns="0" rtlCol="0" anchor="t"/>
          <a:lstStyle/>
          <a:p>
            <a:pPr indent="0" marL="0">
              <a:buNone/>
            </a:pPr>
            <a:r>
              <a:rPr lang="en-US" sz="1600" b="1" dirty="0">
                <a:solidFill>
                  <a:schemeClr val="tx1"/>
                </a:solidFill>
              </a:rPr>
              <a:t>Things to check</a:t>
            </a:r>
            <a:endParaRPr lang="en-US" sz="1600" dirty="0"/>
          </a:p>
        </p:txBody>
      </p:sp>
      <p:sp>
        <p:nvSpPr>
          <p:cNvPr id="11" name="boq point text 2"/>
          <p:cNvSpPr txBox="1"/>
          <p:nvPr/>
        </p:nvSpPr>
        <p:spPr>
          <a:xfrm>
            <a:off x="1371600" y="2871216"/>
            <a:ext cx="4572000" cy="594360"/>
          </a:xfrm>
          <a:prstGeom prst="rect">
            <a:avLst/>
          </a:prstGeom>
          <a:noFill/>
          <a:ln/>
        </p:spPr>
        <p:txBody>
          <a:bodyPr wrap="square" lIns="0" tIns="0" rIns="0" bIns="0" rtlCol="0" anchor="t"/>
          <a:lstStyle/>
          <a:p>
            <a:pPr indent="0" marL="0">
              <a:buNone/>
            </a:pPr>
            <a:r>
              <a:rPr lang="en-US" sz="1300" dirty="0">
                <a:solidFill>
                  <a:schemeClr val="tx2"/>
                </a:solidFill>
              </a:rPr>
              <a:t>every assumption, most serious first — start the review here</a:t>
            </a:r>
            <a:endParaRPr lang="en-US" sz="1300" dirty="0"/>
          </a:p>
        </p:txBody>
      </p:sp>
      <p:sp>
        <p:nvSpPr>
          <p:cNvPr id="12" name="boq point 3 circle"/>
          <p:cNvSpPr/>
          <p:nvPr/>
        </p:nvSpPr>
        <p:spPr>
          <a:xfrm>
            <a:off x="548640" y="3621024"/>
            <a:ext cx="640080" cy="640080"/>
          </a:xfrm>
          <a:prstGeom prst="ellipse">
            <a:avLst/>
          </a:prstGeom>
          <a:solidFill>
            <a:srgbClr val="2E5BE8"/>
          </a:solidFill>
          <a:ln w="12700">
            <a:solidFill>
              <a:srgbClr val="2E5BE8"/>
            </a:solidFill>
            <a:prstDash val="solid"/>
          </a:ln>
        </p:spPr>
      </p:sp>
      <p:pic>
        <p:nvPicPr>
          <p:cNvPr id="13" name="boq point 3 icon" descr="preencoded.png">    </p:cNvPr>
          <p:cNvPicPr>
            <a:picLocks noChangeAspect="1"/>
          </p:cNvPicPr>
          <p:nvPr/>
        </p:nvPicPr>
        <p:blipFill>
          <a:blip r:embed="rId3"/>
          <a:stretch>
            <a:fillRect/>
          </a:stretch>
        </p:blipFill>
        <p:spPr>
          <a:xfrm>
            <a:off x="715061" y="3787445"/>
            <a:ext cx="307238" cy="307238"/>
          </a:xfrm>
          <a:prstGeom prst="rect">
            <a:avLst/>
          </a:prstGeom>
        </p:spPr>
      </p:pic>
      <p:sp>
        <p:nvSpPr>
          <p:cNvPr id="14" name="boq point title 3"/>
          <p:cNvSpPr txBox="1"/>
          <p:nvPr/>
        </p:nvSpPr>
        <p:spPr>
          <a:xfrm>
            <a:off x="1371600" y="3602736"/>
            <a:ext cx="4572000" cy="347472"/>
          </a:xfrm>
          <a:prstGeom prst="rect">
            <a:avLst/>
          </a:prstGeom>
          <a:noFill/>
          <a:ln/>
        </p:spPr>
        <p:txBody>
          <a:bodyPr wrap="square" lIns="0" tIns="0" rIns="0" bIns="0" rtlCol="0" anchor="t"/>
          <a:lstStyle/>
          <a:p>
            <a:pPr indent="0" marL="0">
              <a:buNone/>
            </a:pPr>
            <a:r>
              <a:rPr lang="en-US" sz="1600" b="1" dirty="0">
                <a:solidFill>
                  <a:schemeClr val="tx1"/>
                </a:solidFill>
              </a:rPr>
              <a:t>Live pricing</a:t>
            </a:r>
            <a:endParaRPr lang="en-US" sz="1600" dirty="0"/>
          </a:p>
        </p:txBody>
      </p:sp>
      <p:sp>
        <p:nvSpPr>
          <p:cNvPr id="15" name="boq point text 3"/>
          <p:cNvSpPr txBox="1"/>
          <p:nvPr/>
        </p:nvSpPr>
        <p:spPr>
          <a:xfrm>
            <a:off x="1371600" y="3950208"/>
            <a:ext cx="4572000" cy="594360"/>
          </a:xfrm>
          <a:prstGeom prst="rect">
            <a:avLst/>
          </a:prstGeom>
          <a:noFill/>
          <a:ln/>
        </p:spPr>
        <p:txBody>
          <a:bodyPr wrap="square" lIns="0" tIns="0" rIns="0" bIns="0" rtlCol="0" anchor="t"/>
          <a:lstStyle/>
          <a:p>
            <a:pPr indent="0" marL="0">
              <a:buNone/>
            </a:pPr>
            <a:r>
              <a:rPr lang="en-US" sz="1300" dirty="0">
                <a:solidFill>
                  <a:schemeClr val="tx2"/>
                </a:solidFill>
              </a:rPr>
              <a:t>request supplier quotes and apply the one you choose</a:t>
            </a:r>
            <a:endParaRPr lang="en-US" sz="1300" dirty="0"/>
          </a:p>
        </p:txBody>
      </p:sp>
      <p:sp>
        <p:nvSpPr>
          <p:cNvPr id="16" name="boq point 4 circle"/>
          <p:cNvSpPr/>
          <p:nvPr/>
        </p:nvSpPr>
        <p:spPr>
          <a:xfrm>
            <a:off x="548640" y="4700016"/>
            <a:ext cx="640080" cy="640080"/>
          </a:xfrm>
          <a:prstGeom prst="ellipse">
            <a:avLst/>
          </a:prstGeom>
          <a:solidFill>
            <a:srgbClr val="2E5BE8"/>
          </a:solidFill>
          <a:ln w="12700">
            <a:solidFill>
              <a:srgbClr val="2E5BE8"/>
            </a:solidFill>
            <a:prstDash val="solid"/>
          </a:ln>
        </p:spPr>
      </p:sp>
      <p:pic>
        <p:nvPicPr>
          <p:cNvPr id="17" name="boq point 4 icon" descr="preencoded.png">    </p:cNvPr>
          <p:cNvPicPr>
            <a:picLocks noChangeAspect="1"/>
          </p:cNvPicPr>
          <p:nvPr/>
        </p:nvPicPr>
        <p:blipFill>
          <a:blip r:embed="rId4"/>
          <a:stretch>
            <a:fillRect/>
          </a:stretch>
        </p:blipFill>
        <p:spPr>
          <a:xfrm>
            <a:off x="715061" y="4866437"/>
            <a:ext cx="307238" cy="307238"/>
          </a:xfrm>
          <a:prstGeom prst="rect">
            <a:avLst/>
          </a:prstGeom>
        </p:spPr>
      </p:pic>
      <p:sp>
        <p:nvSpPr>
          <p:cNvPr id="18" name="boq point title 4"/>
          <p:cNvSpPr txBox="1"/>
          <p:nvPr/>
        </p:nvSpPr>
        <p:spPr>
          <a:xfrm>
            <a:off x="1371600" y="4681728"/>
            <a:ext cx="4572000" cy="347472"/>
          </a:xfrm>
          <a:prstGeom prst="rect">
            <a:avLst/>
          </a:prstGeom>
          <a:noFill/>
          <a:ln/>
        </p:spPr>
        <p:txBody>
          <a:bodyPr wrap="square" lIns="0" tIns="0" rIns="0" bIns="0" rtlCol="0" anchor="t"/>
          <a:lstStyle/>
          <a:p>
            <a:pPr indent="0" marL="0">
              <a:buNone/>
            </a:pPr>
            <a:r>
              <a:rPr lang="en-US" sz="1600" b="1" dirty="0">
                <a:solidFill>
                  <a:schemeClr val="tx1"/>
                </a:solidFill>
              </a:rPr>
              <a:t>Export &amp; email</a:t>
            </a:r>
            <a:endParaRPr lang="en-US" sz="1600" dirty="0"/>
          </a:p>
        </p:txBody>
      </p:sp>
      <p:sp>
        <p:nvSpPr>
          <p:cNvPr id="19" name="boq point text 4"/>
          <p:cNvSpPr txBox="1"/>
          <p:nvPr/>
        </p:nvSpPr>
        <p:spPr>
          <a:xfrm>
            <a:off x="1371600" y="5029200"/>
            <a:ext cx="4572000" cy="594360"/>
          </a:xfrm>
          <a:prstGeom prst="rect">
            <a:avLst/>
          </a:prstGeom>
          <a:noFill/>
          <a:ln/>
        </p:spPr>
        <p:txBody>
          <a:bodyPr wrap="square" lIns="0" tIns="0" rIns="0" bIns="0" rtlCol="0" anchor="t"/>
          <a:lstStyle/>
          <a:p>
            <a:pPr indent="0" marL="0">
              <a:buNone/>
            </a:pPr>
            <a:r>
              <a:rPr lang="en-US" sz="1300" dirty="0">
                <a:solidFill>
                  <a:schemeClr val="tx2"/>
                </a:solidFill>
              </a:rPr>
              <a:t>tender Excel and PDF, made on the server, ready to submit</a:t>
            </a:r>
            <a:endParaRPr lang="en-US" sz="1300" dirty="0"/>
          </a:p>
        </p:txBody>
      </p:sp>
      <p:sp>
        <p:nvSpPr>
          <p:cNvPr id="20" name="audit card"/>
          <p:cNvSpPr/>
          <p:nvPr/>
        </p:nvSpPr>
        <p:spPr>
          <a:xfrm>
            <a:off x="6309360" y="1417320"/>
            <a:ext cx="5303520" cy="4343400"/>
          </a:xfrm>
          <a:prstGeom prst="roundRect">
            <a:avLst>
              <a:gd name="adj" fmla="val 2526"/>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1" name="audit circle"/>
          <p:cNvSpPr/>
          <p:nvPr/>
        </p:nvSpPr>
        <p:spPr>
          <a:xfrm>
            <a:off x="6583680" y="1645920"/>
            <a:ext cx="777240" cy="777240"/>
          </a:xfrm>
          <a:prstGeom prst="ellipse">
            <a:avLst/>
          </a:prstGeom>
          <a:solidFill>
            <a:srgbClr val="F2A900"/>
          </a:solidFill>
          <a:ln w="12700">
            <a:solidFill>
              <a:srgbClr val="F2A900"/>
            </a:solidFill>
            <a:prstDash val="solid"/>
          </a:ln>
        </p:spPr>
      </p:sp>
      <p:pic>
        <p:nvPicPr>
          <p:cNvPr id="22" name="audit icon" descr="preencoded.png">    </p:cNvPr>
          <p:cNvPicPr>
            <a:picLocks noChangeAspect="1"/>
          </p:cNvPicPr>
          <p:nvPr/>
        </p:nvPicPr>
        <p:blipFill>
          <a:blip r:embed="rId5"/>
          <a:stretch>
            <a:fillRect/>
          </a:stretch>
        </p:blipFill>
        <p:spPr>
          <a:xfrm>
            <a:off x="6785762" y="1848002"/>
            <a:ext cx="373075" cy="373075"/>
          </a:xfrm>
          <a:prstGeom prst="rect">
            <a:avLst/>
          </a:prstGeom>
        </p:spPr>
      </p:pic>
      <p:sp>
        <p:nvSpPr>
          <p:cNvPr id="23" name="audit title"/>
          <p:cNvSpPr txBox="1"/>
          <p:nvPr/>
        </p:nvSpPr>
        <p:spPr>
          <a:xfrm>
            <a:off x="7543800" y="1691640"/>
            <a:ext cx="3840480" cy="411480"/>
          </a:xfrm>
          <a:prstGeom prst="rect">
            <a:avLst/>
          </a:prstGeom>
          <a:noFill/>
          <a:ln/>
        </p:spPr>
        <p:txBody>
          <a:bodyPr wrap="square" lIns="0" tIns="0" rIns="0" bIns="0" rtlCol="0" anchor="t"/>
          <a:lstStyle/>
          <a:p>
            <a:pPr indent="0" marL="0">
              <a:buNone/>
            </a:pPr>
            <a:r>
              <a:rPr lang="en-US" sz="2100" b="1" dirty="0">
                <a:solidFill>
                  <a:schemeClr val="tx1"/>
                </a:solidFill>
              </a:rPr>
              <a:t>Audit a BoQ</a:t>
            </a:r>
            <a:endParaRPr lang="en-US" sz="2100" dirty="0"/>
          </a:p>
        </p:txBody>
      </p:sp>
      <p:sp>
        <p:nvSpPr>
          <p:cNvPr id="24" name="audit subtitle"/>
          <p:cNvSpPr txBox="1"/>
          <p:nvPr/>
        </p:nvSpPr>
        <p:spPr>
          <a:xfrm>
            <a:off x="7543800" y="2103120"/>
            <a:ext cx="3931920" cy="320040"/>
          </a:xfrm>
          <a:prstGeom prst="rect">
            <a:avLst/>
          </a:prstGeom>
          <a:noFill/>
          <a:ln/>
        </p:spPr>
        <p:txBody>
          <a:bodyPr wrap="square" lIns="0" tIns="0" rIns="0" bIns="0" rtlCol="0" anchor="t"/>
          <a:lstStyle/>
          <a:p>
            <a:pPr indent="0" marL="0">
              <a:buNone/>
            </a:pPr>
            <a:r>
              <a:rPr lang="en-US" sz="1300" dirty="0">
                <a:solidFill>
                  <a:schemeClr val="tx2"/>
                </a:solidFill>
              </a:rPr>
              <a:t>any bill — yours, the QS's or the engineer's</a:t>
            </a:r>
            <a:endParaRPr lang="en-US" sz="1300" dirty="0"/>
          </a:p>
        </p:txBody>
      </p:sp>
      <p:sp>
        <p:nvSpPr>
          <p:cNvPr id="25" name="audit checks"/>
          <p:cNvSpPr txBox="1"/>
          <p:nvPr/>
        </p:nvSpPr>
        <p:spPr>
          <a:xfrm>
            <a:off x="6629400" y="2697480"/>
            <a:ext cx="4754880" cy="292608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Arithmetic errors</a:t>
            </a:r>
            <a:endParaRPr lang="en-US" sz="1450" dirty="0"/>
          </a:p>
          <a:p>
            <a:pPr marL="342900" indent="-342900">
              <a:spcAft>
                <a:spcPts val="600"/>
              </a:spcAft>
              <a:buSzPct val="100000"/>
              <a:buChar char="•"/>
            </a:pPr>
            <a:r>
              <a:rPr lang="en-US" sz="1450" dirty="0">
                <a:solidFill>
                  <a:schemeClr val="tx1"/>
                </a:solidFill>
              </a:rPr>
              <a:t>Unpriced or untotalled lines</a:t>
            </a:r>
            <a:endParaRPr lang="en-US" sz="1450" dirty="0"/>
          </a:p>
          <a:p>
            <a:pPr marL="342900" indent="-342900">
              <a:spcAft>
                <a:spcPts val="600"/>
              </a:spcAft>
              <a:buSzPct val="100000"/>
              <a:buChar char="•"/>
            </a:pPr>
            <a:r>
              <a:rPr lang="en-US" sz="1450" dirty="0">
                <a:solidFill>
                  <a:schemeClr val="tx1"/>
                </a:solidFill>
              </a:rPr>
              <a:t>Duplicated lines</a:t>
            </a:r>
            <a:endParaRPr lang="en-US" sz="1450" dirty="0"/>
          </a:p>
          <a:p>
            <a:pPr marL="342900" indent="-342900">
              <a:spcAft>
                <a:spcPts val="600"/>
              </a:spcAft>
              <a:buSzPct val="100000"/>
              <a:buChar char="•"/>
            </a:pPr>
            <a:r>
              <a:rPr lang="en-US" sz="1450" dirty="0">
                <a:solidFill>
                  <a:schemeClr val="tx1"/>
                </a:solidFill>
              </a:rPr>
              <a:t>Roll-up and contingency errors</a:t>
            </a:r>
            <a:endParaRPr lang="en-US" sz="1450" dirty="0"/>
          </a:p>
          <a:p>
            <a:pPr marL="342900" indent="-342900">
              <a:spcAft>
                <a:spcPts val="600"/>
              </a:spcAft>
              <a:buSzPct val="100000"/>
              <a:buChar char="•"/>
            </a:pPr>
            <a:r>
              <a:rPr lang="en-US" sz="1450" dirty="0">
                <a:solidFill>
                  <a:schemeClr val="tx1"/>
                </a:solidFill>
              </a:rPr>
              <a:t>Sheets missing from the summary</a:t>
            </a:r>
            <a:endParaRPr lang="en-US" sz="1450" dirty="0"/>
          </a:p>
          <a:p>
            <a:pPr marL="342900" indent="-342900">
              <a:spcAft>
                <a:spcPts val="600"/>
              </a:spcAft>
              <a:buSzPct val="100000"/>
              <a:buChar char="•"/>
            </a:pPr>
            <a:r>
              <a:rPr lang="en-US" sz="1450" dirty="0">
                <a:solidFill>
                  <a:schemeClr val="tx1"/>
                </a:solidFill>
              </a:rPr>
              <a:t>Missing companion items</a:t>
            </a:r>
            <a:endParaRPr lang="en-US" sz="1450" dirty="0"/>
          </a:p>
          <a:p>
            <a:pPr marL="342900" indent="-342900">
              <a:spcAft>
                <a:spcPts val="600"/>
              </a:spcAft>
              <a:buSzPct val="100000"/>
              <a:buChar char="•"/>
            </a:pPr>
            <a:r>
              <a:rPr lang="en-US" sz="1450" dirty="0">
                <a:solidFill>
                  <a:schemeClr val="tx1"/>
                </a:solidFill>
              </a:rPr>
              <a:t>Which drawings a complete BoQ still needs</a:t>
            </a:r>
            <a:endParaRPr lang="en-US" sz="145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The AI Operating System: VS Code + Claude Code + skills</a:t>
            </a:r>
            <a:endParaRPr lang="en-US" sz="3000" dirty="0"/>
          </a:p>
        </p:txBody>
      </p:sp>
      <p:sp>
        <p:nvSpPr>
          <p:cNvPr id="4" name="os layer 1"/>
          <p:cNvSpPr/>
          <p:nvPr/>
        </p:nvSpPr>
        <p:spPr>
          <a:xfrm>
            <a:off x="548640" y="1371600"/>
            <a:ext cx="7589520" cy="777240"/>
          </a:xfrm>
          <a:prstGeom prst="roundRect">
            <a:avLst>
              <a:gd name="adj" fmla="val 14118"/>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5" name="os layer 1 circle"/>
          <p:cNvSpPr/>
          <p:nvPr/>
        </p:nvSpPr>
        <p:spPr>
          <a:xfrm>
            <a:off x="731520" y="1463040"/>
            <a:ext cx="594360" cy="594360"/>
          </a:xfrm>
          <a:prstGeom prst="ellipse">
            <a:avLst/>
          </a:prstGeom>
          <a:solidFill>
            <a:srgbClr val="2E5BE8"/>
          </a:solidFill>
          <a:ln w="12700">
            <a:solidFill>
              <a:srgbClr val="2E5BE8"/>
            </a:solidFill>
            <a:prstDash val="solid"/>
          </a:ln>
        </p:spPr>
      </p:sp>
      <p:pic>
        <p:nvPicPr>
          <p:cNvPr id="6" name="os layer 1 icon" descr="preencoded.png">    </p:cNvPr>
          <p:cNvPicPr>
            <a:picLocks noChangeAspect="1"/>
          </p:cNvPicPr>
          <p:nvPr/>
        </p:nvPicPr>
        <p:blipFill>
          <a:blip r:embed="rId1"/>
          <a:stretch>
            <a:fillRect/>
          </a:stretch>
        </p:blipFill>
        <p:spPr>
          <a:xfrm>
            <a:off x="886054" y="1617574"/>
            <a:ext cx="285293" cy="285293"/>
          </a:xfrm>
          <a:prstGeom prst="rect">
            <a:avLst/>
          </a:prstGeom>
        </p:spPr>
      </p:pic>
      <p:sp>
        <p:nvSpPr>
          <p:cNvPr id="7" name="os layer title 1"/>
          <p:cNvSpPr txBox="1"/>
          <p:nvPr/>
        </p:nvSpPr>
        <p:spPr>
          <a:xfrm>
            <a:off x="1508760" y="1444752"/>
            <a:ext cx="5943600" cy="329184"/>
          </a:xfrm>
          <a:prstGeom prst="rect">
            <a:avLst/>
          </a:prstGeom>
          <a:noFill/>
          <a:ln/>
        </p:spPr>
        <p:txBody>
          <a:bodyPr wrap="square" lIns="0" tIns="0" rIns="0" bIns="0" rtlCol="0" anchor="t"/>
          <a:lstStyle/>
          <a:p>
            <a:pPr indent="0" marL="0">
              <a:buNone/>
            </a:pPr>
            <a:r>
              <a:rPr lang="en-US" sz="1500" b="1" dirty="0">
                <a:solidFill>
                  <a:schemeClr val="tx1"/>
                </a:solidFill>
              </a:rPr>
              <a:t>VS Code</a:t>
            </a:r>
            <a:endParaRPr lang="en-US" sz="1500" dirty="0"/>
          </a:p>
        </p:txBody>
      </p:sp>
      <p:sp>
        <p:nvSpPr>
          <p:cNvPr id="8" name="os layer text 1"/>
          <p:cNvSpPr txBox="1"/>
          <p:nvPr/>
        </p:nvSpPr>
        <p:spPr>
          <a:xfrm>
            <a:off x="1508760" y="1783080"/>
            <a:ext cx="6035040" cy="320040"/>
          </a:xfrm>
          <a:prstGeom prst="rect">
            <a:avLst/>
          </a:prstGeom>
          <a:noFill/>
          <a:ln/>
        </p:spPr>
        <p:txBody>
          <a:bodyPr wrap="square" lIns="0" tIns="0" rIns="0" bIns="0" rtlCol="0" anchor="t"/>
          <a:lstStyle/>
          <a:p>
            <a:pPr indent="0" marL="0">
              <a:buNone/>
            </a:pPr>
            <a:r>
              <a:rPr lang="en-US" sz="1200" dirty="0">
                <a:solidFill>
                  <a:schemeClr val="tx2"/>
                </a:solidFill>
              </a:rPr>
              <a:t>the editor you work in — drawings folder open, results in the same window</a:t>
            </a:r>
            <a:endParaRPr lang="en-US" sz="1200" dirty="0"/>
          </a:p>
        </p:txBody>
      </p:sp>
      <p:sp>
        <p:nvSpPr>
          <p:cNvPr id="9" name="os layer ref 1"/>
          <p:cNvSpPr txBox="1"/>
          <p:nvPr/>
        </p:nvSpPr>
        <p:spPr>
          <a:xfrm>
            <a:off x="7589520" y="1618488"/>
            <a:ext cx="457200" cy="274320"/>
          </a:xfrm>
          <a:prstGeom prst="rect">
            <a:avLst/>
          </a:prstGeom>
          <a:noFill/>
          <a:ln/>
        </p:spPr>
        <p:txBody>
          <a:bodyPr wrap="square" lIns="0" tIns="0" rIns="0" bIns="0" rtlCol="0" anchor="t"/>
          <a:lstStyle/>
          <a:p>
            <a:pPr indent="0" marL="0">
              <a:buNone/>
            </a:pPr>
            <a:r>
              <a:rPr lang="en-US" sz="1100" dirty="0">
                <a:solidFill>
                  <a:schemeClr val="accent6"/>
                </a:solidFill>
              </a:rPr>
              <a:t>[4]</a:t>
            </a:r>
            <a:endParaRPr lang="en-US" sz="1100" dirty="0"/>
          </a:p>
        </p:txBody>
      </p:sp>
      <p:sp>
        <p:nvSpPr>
          <p:cNvPr id="10" name="os layer 2"/>
          <p:cNvSpPr/>
          <p:nvPr/>
        </p:nvSpPr>
        <p:spPr>
          <a:xfrm>
            <a:off x="548640" y="2267712"/>
            <a:ext cx="7589520" cy="777240"/>
          </a:xfrm>
          <a:prstGeom prst="roundRect">
            <a:avLst>
              <a:gd name="adj" fmla="val 14118"/>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1" name="os layer 2 circle"/>
          <p:cNvSpPr/>
          <p:nvPr/>
        </p:nvSpPr>
        <p:spPr>
          <a:xfrm>
            <a:off x="731520" y="2359152"/>
            <a:ext cx="594360" cy="594360"/>
          </a:xfrm>
          <a:prstGeom prst="ellipse">
            <a:avLst/>
          </a:prstGeom>
          <a:solidFill>
            <a:srgbClr val="F2A900"/>
          </a:solidFill>
          <a:ln w="12700">
            <a:solidFill>
              <a:srgbClr val="F2A900"/>
            </a:solidFill>
            <a:prstDash val="solid"/>
          </a:ln>
        </p:spPr>
      </p:sp>
      <p:pic>
        <p:nvPicPr>
          <p:cNvPr id="12" name="os layer 2 icon" descr="preencoded.png">    </p:cNvPr>
          <p:cNvPicPr>
            <a:picLocks noChangeAspect="1"/>
          </p:cNvPicPr>
          <p:nvPr/>
        </p:nvPicPr>
        <p:blipFill>
          <a:blip r:embed="rId2"/>
          <a:stretch>
            <a:fillRect/>
          </a:stretch>
        </p:blipFill>
        <p:spPr>
          <a:xfrm>
            <a:off x="886054" y="2513686"/>
            <a:ext cx="285293" cy="285293"/>
          </a:xfrm>
          <a:prstGeom prst="rect">
            <a:avLst/>
          </a:prstGeom>
        </p:spPr>
      </p:pic>
      <p:sp>
        <p:nvSpPr>
          <p:cNvPr id="13" name="os layer title 2"/>
          <p:cNvSpPr txBox="1"/>
          <p:nvPr/>
        </p:nvSpPr>
        <p:spPr>
          <a:xfrm>
            <a:off x="1508760" y="2340864"/>
            <a:ext cx="5943600" cy="329184"/>
          </a:xfrm>
          <a:prstGeom prst="rect">
            <a:avLst/>
          </a:prstGeom>
          <a:noFill/>
          <a:ln/>
        </p:spPr>
        <p:txBody>
          <a:bodyPr wrap="square" lIns="0" tIns="0" rIns="0" bIns="0" rtlCol="0" anchor="t"/>
          <a:lstStyle/>
          <a:p>
            <a:pPr indent="0" marL="0">
              <a:buNone/>
            </a:pPr>
            <a:r>
              <a:rPr lang="en-US" sz="1500" b="1" dirty="0">
                <a:solidFill>
                  <a:schemeClr val="tx1"/>
                </a:solidFill>
              </a:rPr>
              <a:t>Claude Code — the AI agent</a:t>
            </a:r>
            <a:endParaRPr lang="en-US" sz="1500" dirty="0"/>
          </a:p>
        </p:txBody>
      </p:sp>
      <p:sp>
        <p:nvSpPr>
          <p:cNvPr id="14" name="os layer text 2"/>
          <p:cNvSpPr txBox="1"/>
          <p:nvPr/>
        </p:nvSpPr>
        <p:spPr>
          <a:xfrm>
            <a:off x="1508760" y="2679192"/>
            <a:ext cx="6035040" cy="320040"/>
          </a:xfrm>
          <a:prstGeom prst="rect">
            <a:avLst/>
          </a:prstGeom>
          <a:noFill/>
          <a:ln/>
        </p:spPr>
        <p:txBody>
          <a:bodyPr wrap="square" lIns="0" tIns="0" rIns="0" bIns="0" rtlCol="0" anchor="t"/>
          <a:lstStyle/>
          <a:p>
            <a:pPr indent="0" marL="0">
              <a:buNone/>
            </a:pPr>
            <a:r>
              <a:rPr lang="en-US" sz="1200" dirty="0">
                <a:solidFill>
                  <a:schemeClr val="tx2"/>
                </a:solidFill>
              </a:rPr>
              <a:t>explores the project, reads and writes files, runs commands — with your permission</a:t>
            </a:r>
            <a:endParaRPr lang="en-US" sz="1200" dirty="0"/>
          </a:p>
        </p:txBody>
      </p:sp>
      <p:sp>
        <p:nvSpPr>
          <p:cNvPr id="15" name="os layer ref 2"/>
          <p:cNvSpPr txBox="1"/>
          <p:nvPr/>
        </p:nvSpPr>
        <p:spPr>
          <a:xfrm>
            <a:off x="7589520" y="2514600"/>
            <a:ext cx="457200" cy="274320"/>
          </a:xfrm>
          <a:prstGeom prst="rect">
            <a:avLst/>
          </a:prstGeom>
          <a:noFill/>
          <a:ln/>
        </p:spPr>
        <p:txBody>
          <a:bodyPr wrap="square" lIns="0" tIns="0" rIns="0" bIns="0" rtlCol="0" anchor="t"/>
          <a:lstStyle/>
          <a:p>
            <a:pPr indent="0" marL="0">
              <a:buNone/>
            </a:pPr>
            <a:r>
              <a:rPr lang="en-US" sz="1100" dirty="0">
                <a:solidFill>
                  <a:schemeClr val="accent6"/>
                </a:solidFill>
              </a:rPr>
              <a:t>[4]</a:t>
            </a:r>
            <a:endParaRPr lang="en-US" sz="1100" dirty="0"/>
          </a:p>
        </p:txBody>
      </p:sp>
      <p:sp>
        <p:nvSpPr>
          <p:cNvPr id="16" name="os layer 3"/>
          <p:cNvSpPr/>
          <p:nvPr/>
        </p:nvSpPr>
        <p:spPr>
          <a:xfrm>
            <a:off x="548640" y="3163824"/>
            <a:ext cx="7589520" cy="777240"/>
          </a:xfrm>
          <a:prstGeom prst="roundRect">
            <a:avLst>
              <a:gd name="adj" fmla="val 14118"/>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7" name="os layer 3 circle"/>
          <p:cNvSpPr/>
          <p:nvPr/>
        </p:nvSpPr>
        <p:spPr>
          <a:xfrm>
            <a:off x="731520" y="3255264"/>
            <a:ext cx="594360" cy="594360"/>
          </a:xfrm>
          <a:prstGeom prst="ellipse">
            <a:avLst/>
          </a:prstGeom>
          <a:solidFill>
            <a:srgbClr val="2E5BE8"/>
          </a:solidFill>
          <a:ln w="12700">
            <a:solidFill>
              <a:srgbClr val="2E5BE8"/>
            </a:solidFill>
            <a:prstDash val="solid"/>
          </a:ln>
        </p:spPr>
      </p:sp>
      <p:pic>
        <p:nvPicPr>
          <p:cNvPr id="18" name="os layer 3 icon" descr="preencoded.png">    </p:cNvPr>
          <p:cNvPicPr>
            <a:picLocks noChangeAspect="1"/>
          </p:cNvPicPr>
          <p:nvPr/>
        </p:nvPicPr>
        <p:blipFill>
          <a:blip r:embed="rId3"/>
          <a:stretch>
            <a:fillRect/>
          </a:stretch>
        </p:blipFill>
        <p:spPr>
          <a:xfrm>
            <a:off x="886054" y="3409798"/>
            <a:ext cx="285293" cy="285293"/>
          </a:xfrm>
          <a:prstGeom prst="rect">
            <a:avLst/>
          </a:prstGeom>
        </p:spPr>
      </p:pic>
      <p:sp>
        <p:nvSpPr>
          <p:cNvPr id="19" name="os layer title 3"/>
          <p:cNvSpPr txBox="1"/>
          <p:nvPr/>
        </p:nvSpPr>
        <p:spPr>
          <a:xfrm>
            <a:off x="1508760" y="3236976"/>
            <a:ext cx="5943600" cy="329184"/>
          </a:xfrm>
          <a:prstGeom prst="rect">
            <a:avLst/>
          </a:prstGeom>
          <a:noFill/>
          <a:ln/>
        </p:spPr>
        <p:txBody>
          <a:bodyPr wrap="square" lIns="0" tIns="0" rIns="0" bIns="0" rtlCol="0" anchor="t"/>
          <a:lstStyle/>
          <a:p>
            <a:pPr indent="0" marL="0">
              <a:buNone/>
            </a:pPr>
            <a:r>
              <a:rPr lang="en-US" sz="1500" b="1" dirty="0">
                <a:solidFill>
                  <a:schemeClr val="tx1"/>
                </a:solidFill>
              </a:rPr>
              <a:t>Project memory</a:t>
            </a:r>
            <a:endParaRPr lang="en-US" sz="1500" dirty="0"/>
          </a:p>
        </p:txBody>
      </p:sp>
      <p:sp>
        <p:nvSpPr>
          <p:cNvPr id="20" name="os layer text 3"/>
          <p:cNvSpPr txBox="1"/>
          <p:nvPr/>
        </p:nvSpPr>
        <p:spPr>
          <a:xfrm>
            <a:off x="1508760" y="3575304"/>
            <a:ext cx="6035040" cy="320040"/>
          </a:xfrm>
          <a:prstGeom prst="rect">
            <a:avLst/>
          </a:prstGeom>
          <a:noFill/>
          <a:ln/>
        </p:spPr>
        <p:txBody>
          <a:bodyPr wrap="square" lIns="0" tIns="0" rIns="0" bIns="0" rtlCol="0" anchor="t"/>
          <a:lstStyle/>
          <a:p>
            <a:pPr indent="0" marL="0">
              <a:buNone/>
            </a:pPr>
            <a:r>
              <a:rPr lang="en-US" sz="1200" dirty="0">
                <a:solidFill>
                  <a:schemeClr val="tx2"/>
                </a:solidFill>
              </a:rPr>
              <a:t>CLAUDE.md (project rules, read every session) + auto-memory (Claude's own notes)</a:t>
            </a:r>
            <a:endParaRPr lang="en-US" sz="1200" dirty="0"/>
          </a:p>
        </p:txBody>
      </p:sp>
      <p:sp>
        <p:nvSpPr>
          <p:cNvPr id="21" name="os layer ref 3"/>
          <p:cNvSpPr txBox="1"/>
          <p:nvPr/>
        </p:nvSpPr>
        <p:spPr>
          <a:xfrm>
            <a:off x="7589520" y="3410712"/>
            <a:ext cx="457200" cy="274320"/>
          </a:xfrm>
          <a:prstGeom prst="rect">
            <a:avLst/>
          </a:prstGeom>
          <a:noFill/>
          <a:ln/>
        </p:spPr>
        <p:txBody>
          <a:bodyPr wrap="square" lIns="0" tIns="0" rIns="0" bIns="0" rtlCol="0" anchor="t"/>
          <a:lstStyle/>
          <a:p>
            <a:pPr indent="0" marL="0">
              <a:buNone/>
            </a:pPr>
            <a:r>
              <a:rPr lang="en-US" sz="1100" dirty="0">
                <a:solidFill>
                  <a:schemeClr val="accent6"/>
                </a:solidFill>
              </a:rPr>
              <a:t>[2]</a:t>
            </a:r>
            <a:endParaRPr lang="en-US" sz="1100" dirty="0"/>
          </a:p>
        </p:txBody>
      </p:sp>
      <p:sp>
        <p:nvSpPr>
          <p:cNvPr id="22" name="os layer 4"/>
          <p:cNvSpPr/>
          <p:nvPr/>
        </p:nvSpPr>
        <p:spPr>
          <a:xfrm>
            <a:off x="548640" y="4059936"/>
            <a:ext cx="7589520" cy="777240"/>
          </a:xfrm>
          <a:prstGeom prst="roundRect">
            <a:avLst>
              <a:gd name="adj" fmla="val 14118"/>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3" name="os layer 4 circle"/>
          <p:cNvSpPr/>
          <p:nvPr/>
        </p:nvSpPr>
        <p:spPr>
          <a:xfrm>
            <a:off x="731520" y="4151376"/>
            <a:ext cx="594360" cy="594360"/>
          </a:xfrm>
          <a:prstGeom prst="ellipse">
            <a:avLst/>
          </a:prstGeom>
          <a:solidFill>
            <a:srgbClr val="2E5BE8"/>
          </a:solidFill>
          <a:ln w="12700">
            <a:solidFill>
              <a:srgbClr val="2E5BE8"/>
            </a:solidFill>
            <a:prstDash val="solid"/>
          </a:ln>
        </p:spPr>
      </p:sp>
      <p:pic>
        <p:nvPicPr>
          <p:cNvPr id="24" name="os layer 4 icon" descr="preencoded.png">    </p:cNvPr>
          <p:cNvPicPr>
            <a:picLocks noChangeAspect="1"/>
          </p:cNvPicPr>
          <p:nvPr/>
        </p:nvPicPr>
        <p:blipFill>
          <a:blip r:embed="rId4"/>
          <a:stretch>
            <a:fillRect/>
          </a:stretch>
        </p:blipFill>
        <p:spPr>
          <a:xfrm>
            <a:off x="886054" y="4305910"/>
            <a:ext cx="285293" cy="285293"/>
          </a:xfrm>
          <a:prstGeom prst="rect">
            <a:avLst/>
          </a:prstGeom>
        </p:spPr>
      </p:pic>
      <p:sp>
        <p:nvSpPr>
          <p:cNvPr id="25" name="os layer title 4"/>
          <p:cNvSpPr txBox="1"/>
          <p:nvPr/>
        </p:nvSpPr>
        <p:spPr>
          <a:xfrm>
            <a:off x="1508760" y="4133088"/>
            <a:ext cx="5943600" cy="329184"/>
          </a:xfrm>
          <a:prstGeom prst="rect">
            <a:avLst/>
          </a:prstGeom>
          <a:noFill/>
          <a:ln/>
        </p:spPr>
        <p:txBody>
          <a:bodyPr wrap="square" lIns="0" tIns="0" rIns="0" bIns="0" rtlCol="0" anchor="t"/>
          <a:lstStyle/>
          <a:p>
            <a:pPr indent="0" marL="0">
              <a:buNone/>
            </a:pPr>
            <a:r>
              <a:rPr lang="en-US" sz="1500" b="1" dirty="0">
                <a:solidFill>
                  <a:schemeClr val="tx1"/>
                </a:solidFill>
              </a:rPr>
              <a:t>Claude skills</a:t>
            </a:r>
            <a:endParaRPr lang="en-US" sz="1500" dirty="0"/>
          </a:p>
        </p:txBody>
      </p:sp>
      <p:sp>
        <p:nvSpPr>
          <p:cNvPr id="26" name="os layer text 4"/>
          <p:cNvSpPr txBox="1"/>
          <p:nvPr/>
        </p:nvSpPr>
        <p:spPr>
          <a:xfrm>
            <a:off x="1508760" y="4471416"/>
            <a:ext cx="6035040" cy="320040"/>
          </a:xfrm>
          <a:prstGeom prst="rect">
            <a:avLst/>
          </a:prstGeom>
          <a:noFill/>
          <a:ln/>
        </p:spPr>
        <p:txBody>
          <a:bodyPr wrap="square" lIns="0" tIns="0" rIns="0" bIns="0" rtlCol="0" anchor="t"/>
          <a:lstStyle/>
          <a:p>
            <a:pPr indent="0" marL="0">
              <a:buNone/>
            </a:pPr>
            <a:r>
              <a:rPr lang="en-US" sz="1200" dirty="0">
                <a:solidFill>
                  <a:schemeClr val="tx2"/>
                </a:solidFill>
              </a:rPr>
              <a:t>SKILL.md folders Claude finds and uses when the task fits — e.g. estimate-project</a:t>
            </a:r>
            <a:endParaRPr lang="en-US" sz="1200" dirty="0"/>
          </a:p>
        </p:txBody>
      </p:sp>
      <p:sp>
        <p:nvSpPr>
          <p:cNvPr id="27" name="os layer ref 4"/>
          <p:cNvSpPr txBox="1"/>
          <p:nvPr/>
        </p:nvSpPr>
        <p:spPr>
          <a:xfrm>
            <a:off x="7589520" y="4306824"/>
            <a:ext cx="457200" cy="274320"/>
          </a:xfrm>
          <a:prstGeom prst="rect">
            <a:avLst/>
          </a:prstGeom>
          <a:noFill/>
          <a:ln/>
        </p:spPr>
        <p:txBody>
          <a:bodyPr wrap="square" lIns="0" tIns="0" rIns="0" bIns="0" rtlCol="0" anchor="t"/>
          <a:lstStyle/>
          <a:p>
            <a:pPr indent="0" marL="0">
              <a:buNone/>
            </a:pPr>
            <a:r>
              <a:rPr lang="en-US" sz="1100" dirty="0">
                <a:solidFill>
                  <a:schemeClr val="accent6"/>
                </a:solidFill>
              </a:rPr>
              <a:t>[1]</a:t>
            </a:r>
            <a:endParaRPr lang="en-US" sz="1100" dirty="0"/>
          </a:p>
        </p:txBody>
      </p:sp>
      <p:sp>
        <p:nvSpPr>
          <p:cNvPr id="28" name="os layer 5"/>
          <p:cNvSpPr/>
          <p:nvPr/>
        </p:nvSpPr>
        <p:spPr>
          <a:xfrm>
            <a:off x="548640" y="4956048"/>
            <a:ext cx="7589520" cy="777240"/>
          </a:xfrm>
          <a:prstGeom prst="roundRect">
            <a:avLst>
              <a:gd name="adj" fmla="val 14118"/>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9" name="os layer 5 circle"/>
          <p:cNvSpPr/>
          <p:nvPr/>
        </p:nvSpPr>
        <p:spPr>
          <a:xfrm>
            <a:off x="731520" y="5047488"/>
            <a:ext cx="594360" cy="594360"/>
          </a:xfrm>
          <a:prstGeom prst="ellipse">
            <a:avLst/>
          </a:prstGeom>
          <a:solidFill>
            <a:srgbClr val="2E5BE8"/>
          </a:solidFill>
          <a:ln w="12700">
            <a:solidFill>
              <a:srgbClr val="2E5BE8"/>
            </a:solidFill>
            <a:prstDash val="solid"/>
          </a:ln>
        </p:spPr>
      </p:sp>
      <p:pic>
        <p:nvPicPr>
          <p:cNvPr id="30" name="os layer 5 icon" descr="preencoded.png">    </p:cNvPr>
          <p:cNvPicPr>
            <a:picLocks noChangeAspect="1"/>
          </p:cNvPicPr>
          <p:nvPr/>
        </p:nvPicPr>
        <p:blipFill>
          <a:blip r:embed="rId5"/>
          <a:stretch>
            <a:fillRect/>
          </a:stretch>
        </p:blipFill>
        <p:spPr>
          <a:xfrm>
            <a:off x="886054" y="5202022"/>
            <a:ext cx="285293" cy="285293"/>
          </a:xfrm>
          <a:prstGeom prst="rect">
            <a:avLst/>
          </a:prstGeom>
        </p:spPr>
      </p:pic>
      <p:sp>
        <p:nvSpPr>
          <p:cNvPr id="31" name="os layer title 5"/>
          <p:cNvSpPr txBox="1"/>
          <p:nvPr/>
        </p:nvSpPr>
        <p:spPr>
          <a:xfrm>
            <a:off x="1508760" y="5029200"/>
            <a:ext cx="5943600" cy="329184"/>
          </a:xfrm>
          <a:prstGeom prst="rect">
            <a:avLst/>
          </a:prstGeom>
          <a:noFill/>
          <a:ln/>
        </p:spPr>
        <p:txBody>
          <a:bodyPr wrap="square" lIns="0" tIns="0" rIns="0" bIns="0" rtlCol="0" anchor="t"/>
          <a:lstStyle/>
          <a:p>
            <a:pPr indent="0" marL="0">
              <a:buNone/>
            </a:pPr>
            <a:r>
              <a:rPr lang="en-US" sz="1500" b="1" dirty="0">
                <a:solidFill>
                  <a:schemeClr val="tx1"/>
                </a:solidFill>
              </a:rPr>
              <a:t>Python execution</a:t>
            </a:r>
            <a:endParaRPr lang="en-US" sz="1500" dirty="0"/>
          </a:p>
        </p:txBody>
      </p:sp>
      <p:sp>
        <p:nvSpPr>
          <p:cNvPr id="32" name="os layer text 5"/>
          <p:cNvSpPr txBox="1"/>
          <p:nvPr/>
        </p:nvSpPr>
        <p:spPr>
          <a:xfrm>
            <a:off x="1508760" y="5367528"/>
            <a:ext cx="6035040" cy="320040"/>
          </a:xfrm>
          <a:prstGeom prst="rect">
            <a:avLst/>
          </a:prstGeom>
          <a:noFill/>
          <a:ln/>
        </p:spPr>
        <p:txBody>
          <a:bodyPr wrap="square" lIns="0" tIns="0" rIns="0" bIns="0" rtlCol="0" anchor="t"/>
          <a:lstStyle/>
          <a:p>
            <a:pPr indent="0" marL="0">
              <a:buNone/>
            </a:pPr>
            <a:r>
              <a:rPr lang="en-US" sz="1200" dirty="0">
                <a:solidFill>
                  <a:schemeClr val="tx2"/>
                </a:solidFill>
              </a:rPr>
              <a:t>prepares every page, checks every form, combines and prices — no AI arithmetic</a:t>
            </a:r>
            <a:endParaRPr lang="en-US" sz="1200" dirty="0"/>
          </a:p>
        </p:txBody>
      </p:sp>
      <p:sp>
        <p:nvSpPr>
          <p:cNvPr id="33" name="os layer ref 5"/>
          <p:cNvSpPr txBox="1"/>
          <p:nvPr/>
        </p:nvSpPr>
        <p:spPr>
          <a:xfrm>
            <a:off x="7589520" y="5202936"/>
            <a:ext cx="457200" cy="274320"/>
          </a:xfrm>
          <a:prstGeom prst="rect">
            <a:avLst/>
          </a:prstGeom>
          <a:noFill/>
          <a:ln/>
        </p:spPr>
        <p:txBody>
          <a:bodyPr wrap="square" lIns="0" tIns="0" rIns="0" bIns="0" rtlCol="0" anchor="t"/>
          <a:lstStyle/>
          <a:p>
            <a:pPr indent="0" marL="0">
              <a:buNone/>
            </a:pPr>
            <a:r>
              <a:rPr lang="en-US" sz="1100" dirty="0">
                <a:solidFill>
                  <a:schemeClr val="accent6"/>
                </a:solidFill>
              </a:rPr>
              <a:t>[5]</a:t>
            </a:r>
            <a:endParaRPr lang="en-US" sz="1100" dirty="0"/>
          </a:p>
        </p:txBody>
      </p:sp>
      <p:sp>
        <p:nvSpPr>
          <p:cNvPr id="34" name="os why box"/>
          <p:cNvSpPr/>
          <p:nvPr/>
        </p:nvSpPr>
        <p:spPr>
          <a:xfrm>
            <a:off x="8412480" y="1371600"/>
            <a:ext cx="3200400" cy="4361688"/>
          </a:xfrm>
          <a:prstGeom prst="roundRect">
            <a:avLst>
              <a:gd name="adj" fmla="val 4286"/>
            </a:avLst>
          </a:prstGeom>
          <a:solidFill>
            <a:schemeClr val="tx1"/>
          </a:solidFill>
          <a:ln w="12700">
            <a:solidFill>
              <a:srgbClr val="101A33"/>
            </a:solidFill>
            <a:prstDash val="solid"/>
          </a:ln>
        </p:spPr>
      </p:sp>
      <p:sp>
        <p:nvSpPr>
          <p:cNvPr id="35" name="os why title"/>
          <p:cNvSpPr txBox="1"/>
          <p:nvPr/>
        </p:nvSpPr>
        <p:spPr>
          <a:xfrm>
            <a:off x="8641080" y="1554480"/>
            <a:ext cx="2788920" cy="411480"/>
          </a:xfrm>
          <a:prstGeom prst="rect">
            <a:avLst/>
          </a:prstGeom>
          <a:noFill/>
          <a:ln/>
        </p:spPr>
        <p:txBody>
          <a:bodyPr wrap="square" lIns="0" tIns="0" rIns="0" bIns="0" rtlCol="0" anchor="t"/>
          <a:lstStyle/>
          <a:p>
            <a:pPr indent="0" marL="0">
              <a:buNone/>
            </a:pPr>
            <a:r>
              <a:rPr lang="en-US" sz="1600" b="1" dirty="0">
                <a:solidFill>
                  <a:schemeClr val="accent2"/>
                </a:solidFill>
              </a:rPr>
              <a:t>Why “operating system”?</a:t>
            </a:r>
            <a:endParaRPr lang="en-US" sz="1600" dirty="0"/>
          </a:p>
        </p:txBody>
      </p:sp>
      <p:sp>
        <p:nvSpPr>
          <p:cNvPr id="36" name="os why text"/>
          <p:cNvSpPr txBox="1"/>
          <p:nvPr/>
        </p:nvSpPr>
        <p:spPr>
          <a:xfrm>
            <a:off x="8641080" y="2057400"/>
            <a:ext cx="2788920" cy="3474720"/>
          </a:xfrm>
          <a:prstGeom prst="rect">
            <a:avLst/>
          </a:prstGeom>
          <a:noFill/>
          <a:ln/>
        </p:spPr>
        <p:txBody>
          <a:bodyPr wrap="square" lIns="0" tIns="0" rIns="0" bIns="0" rtlCol="0" anchor="t"/>
          <a:lstStyle/>
          <a:p>
            <a:pPr indent="0" marL="0">
              <a:spcAft>
                <a:spcPts val="400"/>
              </a:spcAft>
              <a:buNone/>
            </a:pPr>
            <a:r>
              <a:rPr lang="en-US" sz="1350" dirty="0">
                <a:solidFill>
                  <a:schemeClr val="bg1"/>
                </a:solidFill>
              </a:rPr>
              <a:t>Like an OS, it gives the AI everything around the task:</a:t>
            </a:r>
            <a:endParaRPr lang="en-US" sz="1350" dirty="0"/>
          </a:p>
          <a:p>
            <a:pPr indent="0" marL="0">
              <a:spcAft>
                <a:spcPts val="400"/>
              </a:spcAft>
              <a:buNone/>
            </a:pPr>
            <a:r>
              <a:rPr lang="en-US" sz="1350" dirty="0">
                <a:solidFill>
                  <a:schemeClr val="tx1"/>
                </a:solidFill>
              </a:rPr>
              <a:t> </a:t>
            </a:r>
            <a:endParaRPr lang="en-US" sz="1350" dirty="0"/>
          </a:p>
          <a:p>
            <a:pPr marL="342900" indent="-342900">
              <a:spcAft>
                <a:spcPts val="400"/>
              </a:spcAft>
              <a:buSzPct val="100000"/>
              <a:buChar char="•"/>
            </a:pPr>
            <a:r>
              <a:rPr lang="en-US" sz="1350" dirty="0">
                <a:solidFill>
                  <a:srgbClr val="CADCFC"/>
                </a:solidFill>
              </a:rPr>
              <a:t>the rules (playbook), </a:t>
            </a:r>
            <a:endParaRPr lang="en-US" sz="1350" dirty="0"/>
          </a:p>
          <a:p>
            <a:pPr marL="342900" indent="-342900">
              <a:spcAft>
                <a:spcPts val="400"/>
              </a:spcAft>
              <a:buSzPct val="100000"/>
              <a:buChar char="•"/>
            </a:pPr>
            <a:r>
              <a:rPr lang="en-US" sz="1350" dirty="0">
                <a:solidFill>
                  <a:srgbClr val="CADCFC"/>
                </a:solidFill>
              </a:rPr>
              <a:t>the memory (CLAUDE.md), </a:t>
            </a:r>
            <a:endParaRPr lang="en-US" sz="1350" dirty="0"/>
          </a:p>
          <a:p>
            <a:pPr marL="342900" indent="-342900">
              <a:spcAft>
                <a:spcPts val="400"/>
              </a:spcAft>
              <a:buSzPct val="100000"/>
              <a:buChar char="•"/>
            </a:pPr>
            <a:r>
              <a:rPr lang="en-US" sz="1350" dirty="0">
                <a:solidFill>
                  <a:srgbClr val="CADCFC"/>
                </a:solidFill>
              </a:rPr>
              <a:t>the know-how (skills), </a:t>
            </a:r>
            <a:endParaRPr lang="en-US" sz="1350" dirty="0"/>
          </a:p>
          <a:p>
            <a:pPr marL="342900" indent="-342900">
              <a:spcAft>
                <a:spcPts val="400"/>
              </a:spcAft>
              <a:buSzPct val="100000"/>
              <a:buChar char="•"/>
            </a:pPr>
            <a:r>
              <a:rPr lang="en-US" sz="1350" dirty="0">
                <a:solidFill>
                  <a:srgbClr val="CADCFC"/>
                </a:solidFill>
              </a:rPr>
              <a:t>the tools (Python), </a:t>
            </a:r>
            <a:endParaRPr lang="en-US" sz="1350" dirty="0"/>
          </a:p>
          <a:p>
            <a:pPr indent="0" marL="0">
              <a:spcAft>
                <a:spcPts val="400"/>
              </a:spcAft>
              <a:buNone/>
            </a:pPr>
            <a:r>
              <a:rPr lang="en-US" sz="1350" dirty="0">
                <a:solidFill>
                  <a:schemeClr val="bg1"/>
                </a:solidFill>
              </a:rPr>
              <a:t>so Claude reads the drawings in context, not from scratch.</a:t>
            </a:r>
            <a:endParaRPr lang="en-US" sz="1350" dirty="0"/>
          </a:p>
        </p:txBody>
      </p:sp>
      <p:sp>
        <p:nvSpPr>
          <p:cNvPr id="37" name="source"/>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000" i="1" dirty="0">
                <a:solidFill>
                  <a:schemeClr val="accent6"/>
                </a:solidFill>
              </a:rPr>
              <a:t>[1] Anthropic, Agent Skills · [2] Claude Code docs, Memory · [3] Claude Help Center, Claude Code with Pro or Max · [4] Claude Code for VS Code · [5] AfriPlan ADR-0002 — full list in References.</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The Claude skills of this project, by name</a:t>
            </a:r>
            <a:endParaRPr lang="en-US" sz="3000" dirty="0"/>
          </a:p>
        </p:txBody>
      </p:sp>
      <p:graphicFrame>
        <p:nvGraphicFramePr>
          <p:cNvPr id="20" name="skill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926080"/>
                <a:gridCol w="4846320"/>
                <a:gridCol w="3291840"/>
              </a:tblGrid>
              <a:tr h="384048">
                <a:tc>
                  <a:txBody>
                    <a:bodyPr/>
                    <a:lstStyle/>
                    <a:p>
                      <a:pPr indent="0" marL="0">
                        <a:buNone/>
                      </a:pPr>
                      <a:r>
                        <a:rPr lang="en-US" sz="1250" b="1" dirty="0">
                          <a:solidFill>
                            <a:schemeClr val="bg1"/>
                          </a:solidFill>
                        </a:rPr>
                        <a:t>Skill (SKILL.md)</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solidFill>
                      <a:schemeClr val="tx1"/>
                    </a:solidFill>
                  </a:tcPr>
                </a:tc>
                <a:tc>
                  <a:txBody>
                    <a:bodyPr/>
                    <a:lstStyle/>
                    <a:p>
                      <a:pPr indent="0" marL="0">
                        <a:buNone/>
                      </a:pPr>
                      <a:r>
                        <a:rPr lang="en-US" sz="1250" b="1" dirty="0">
                          <a:solidFill>
                            <a:schemeClr val="bg1"/>
                          </a:solidFill>
                        </a:rPr>
                        <a:t>What it does</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solidFill>
                      <a:schemeClr val="tx1"/>
                    </a:solidFill>
                  </a:tcPr>
                </a:tc>
                <a:tc>
                  <a:txBody>
                    <a:bodyPr/>
                    <a:lstStyle/>
                    <a:p>
                      <a:pPr indent="0" marL="0">
                        <a:buNone/>
                      </a:pPr>
                      <a:r>
                        <a:rPr lang="en-US" sz="1250" b="1" dirty="0">
                          <a:solidFill>
                            <a:schemeClr val="bg1"/>
                          </a:solidFill>
                        </a:rPr>
                        <a:t>Say to Claude Code, for example</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solidFill>
                      <a:schemeClr val="tx1"/>
                    </a:solidFill>
                  </a:tcPr>
                </a:tc>
              </a:tr>
              <a:tr h="548640">
                <a:tc>
                  <a:txBody>
                    <a:bodyPr/>
                    <a:lstStyle/>
                    <a:p>
                      <a:pPr indent="0" marL="0">
                        <a:buNone/>
                      </a:pPr>
                      <a:r>
                        <a:rPr lang="en-US" sz="1250" b="1" dirty="0">
                          <a:solidFill>
                            <a:schemeClr val="accent1"/>
                          </a:solidFill>
                          <a:latin typeface="Courier New" pitchFamily="34" charset="0"/>
                          <a:ea typeface="Courier New" pitchFamily="34" charset="-122"/>
                          <a:cs typeface="Courier New" pitchFamily="34" charset="-120"/>
                        </a:rPr>
                        <a:t>estimate-project</a:t>
                      </a:r>
                      <a:endParaRPr lang="en-US" sz="1250" dirty="0">
                        <a:latin typeface="Courier New" charset="0"/>
                        <a:ea typeface="Courier New" charset="0"/>
                        <a:cs typeface="Courier New" charset="0"/>
                      </a:endParaRPr>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Any project folder → priced BoQ (Excel + PDF) + things to check</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“estimate the project in &lt;folder&gt;”</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r h="548640">
                <a:tc>
                  <a:txBody>
                    <a:bodyPr/>
                    <a:lstStyle/>
                    <a:p>
                      <a:pPr indent="0" marL="0">
                        <a:buNone/>
                      </a:pPr>
                      <a:r>
                        <a:rPr lang="en-US" sz="1250" b="1" dirty="0">
                          <a:solidFill>
                            <a:schemeClr val="accent1"/>
                          </a:solidFill>
                          <a:latin typeface="Courier New" pitchFamily="34" charset="0"/>
                          <a:ea typeface="Courier New" pitchFamily="34" charset="-122"/>
                          <a:cs typeface="Courier New" pitchFamily="34" charset="-120"/>
                        </a:rPr>
                        <a:t>evaluate-boq</a:t>
                      </a:r>
                      <a:endParaRPr lang="en-US" sz="1250" dirty="0">
                        <a:latin typeface="Courier New" charset="0"/>
                        <a:ea typeface="Courier New" charset="0"/>
                        <a:cs typeface="Courier New" charset="0"/>
                      </a:endParaRPr>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Scores a bill against a real priced bill — reading accuracy</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“how accurate is this run?”</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r h="621792">
                <a:tc>
                  <a:txBody>
                    <a:bodyPr/>
                    <a:lstStyle/>
                    <a:p>
                      <a:pPr indent="0" marL="0">
                        <a:buNone/>
                      </a:pPr>
                      <a:r>
                        <a:rPr lang="en-US" sz="1250" b="1" dirty="0">
                          <a:solidFill>
                            <a:schemeClr val="accent1"/>
                          </a:solidFill>
                          <a:latin typeface="Courier New" pitchFamily="34" charset="0"/>
                          <a:ea typeface="Courier New" pitchFamily="34" charset="-122"/>
                          <a:cs typeface="Courier New" pitchFamily="34" charset="-120"/>
                        </a:rPr>
                        <a:t>audit-boq</a:t>
                      </a:r>
                      <a:endParaRPr lang="en-US" sz="1250" dirty="0">
                        <a:latin typeface="Courier New" charset="0"/>
                        <a:ea typeface="Courier New" charset="0"/>
                        <a:cs typeface="Courier New" charset="0"/>
                      </a:endParaRPr>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Audits any BoQ: arithmetic, unpriced lines, duplicates, missing items; drawings still needed</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“audit this BoQ”</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r h="548640">
                <a:tc>
                  <a:txBody>
                    <a:bodyPr/>
                    <a:lstStyle/>
                    <a:p>
                      <a:pPr indent="0" marL="0">
                        <a:buNone/>
                      </a:pPr>
                      <a:r>
                        <a:rPr lang="en-US" sz="1250" b="1" dirty="0">
                          <a:solidFill>
                            <a:schemeClr val="accent1"/>
                          </a:solidFill>
                          <a:latin typeface="Courier New" pitchFamily="34" charset="0"/>
                          <a:ea typeface="Courier New" pitchFamily="34" charset="-122"/>
                          <a:cs typeface="Courier New" pitchFamily="34" charset="-120"/>
                        </a:rPr>
                        <a:t>add-reference-project</a:t>
                      </a:r>
                      <a:endParaRPr lang="en-US" sz="1250" dirty="0">
                        <a:latin typeface="Courier New" charset="0"/>
                        <a:ea typeface="Courier New" charset="0"/>
                        <a:cs typeface="Courier New" charset="0"/>
                      </a:endParaRPr>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Adds a new real project + its priced bill as an answer key</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“add this project as a reference”</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r h="502920">
                <a:tc>
                  <a:txBody>
                    <a:bodyPr/>
                    <a:lstStyle/>
                    <a:p>
                      <a:pPr indent="0" marL="0">
                        <a:buNone/>
                      </a:pPr>
                      <a:r>
                        <a:rPr lang="en-US" sz="1250" b="1" dirty="0">
                          <a:solidFill>
                            <a:schemeClr val="accent1"/>
                          </a:solidFill>
                          <a:latin typeface="Courier New" pitchFamily="34" charset="0"/>
                          <a:ea typeface="Courier New" pitchFamily="34" charset="-122"/>
                          <a:cs typeface="Courier New" pitchFamily="34" charset="-120"/>
                        </a:rPr>
                        <a:t>tdd</a:t>
                      </a:r>
                      <a:endParaRPr lang="en-US" sz="1250" dirty="0">
                        <a:latin typeface="Courier New" charset="0"/>
                        <a:ea typeface="Courier New" charset="0"/>
                        <a:cs typeface="Courier New" charset="0"/>
                      </a:endParaRPr>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Every code change test-first: red, green, refactor</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used automatically for code changes</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r h="502920">
                <a:tc>
                  <a:txBody>
                    <a:bodyPr/>
                    <a:lstStyle/>
                    <a:p>
                      <a:pPr indent="0" marL="0">
                        <a:buNone/>
                      </a:pPr>
                      <a:r>
                        <a:rPr lang="en-US" sz="1250" b="1" dirty="0">
                          <a:solidFill>
                            <a:schemeClr val="accent1"/>
                          </a:solidFill>
                          <a:latin typeface="Courier New" pitchFamily="34" charset="0"/>
                          <a:ea typeface="Courier New" pitchFamily="34" charset="-122"/>
                          <a:cs typeface="Courier New" pitchFamily="34" charset="-120"/>
                        </a:rPr>
                        <a:t>karpathy-coding-discipline</a:t>
                      </a:r>
                      <a:endParaRPr lang="en-US" sz="1250" dirty="0">
                        <a:latin typeface="Courier New" charset="0"/>
                        <a:ea typeface="Courier New" charset="0"/>
                        <a:cs typeface="Courier New" charset="0"/>
                      </a:endParaRPr>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Small, careful, goal-driven code changes</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used automatically for code changes</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bl>
          </a:graphicData>
        </a:graphic>
      </p:graphicFrame>
      <p:sp>
        <p:nvSpPr>
          <p:cNvPr id="5" name="skills note card"/>
          <p:cNvSpPr/>
          <p:nvPr/>
        </p:nvSpPr>
        <p:spPr>
          <a:xfrm>
            <a:off x="548640" y="5166360"/>
            <a:ext cx="11064240" cy="777240"/>
          </a:xfrm>
          <a:prstGeom prst="roundRect">
            <a:avLst>
              <a:gd name="adj" fmla="val 14118"/>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6" name="skills note"/>
          <p:cNvSpPr txBox="1"/>
          <p:nvPr/>
        </p:nvSpPr>
        <p:spPr>
          <a:xfrm>
            <a:off x="777240" y="5230368"/>
            <a:ext cx="10698480" cy="658368"/>
          </a:xfrm>
          <a:prstGeom prst="rect">
            <a:avLst/>
          </a:prstGeom>
          <a:noFill/>
          <a:ln/>
        </p:spPr>
        <p:txBody>
          <a:bodyPr wrap="square" lIns="0" tIns="0" rIns="0" bIns="0" rtlCol="0" anchor="ctr"/>
          <a:lstStyle/>
          <a:p>
            <a:pPr indent="0" marL="0">
              <a:buNone/>
            </a:pPr>
            <a:r>
              <a:rPr lang="en-US" sz="1300" b="1" dirty="0">
                <a:solidFill>
                  <a:schemeClr val="tx1"/>
                </a:solidFill>
              </a:rPr>
              <a:t>How a skill works: </a:t>
            </a:r>
            <a:pPr indent="0" marL="0">
              <a:buNone/>
            </a:pPr>
            <a:r>
              <a:rPr lang="en-US" sz="1300" dirty="0">
                <a:solidFill>
                  <a:schemeClr val="tx1"/>
                </a:solidFill>
              </a:rPr>
              <a:t>a folder with a SKILL.md file; Claude discovers it and loads it only when the task matches its description [1] [6]. The AI OS also keeps a playbook (rules, lessons) and a brain note (how to read pages).</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How a job runs in the AI Operating System</a:t>
            </a:r>
            <a:endParaRPr lang="en-US" sz="3000" dirty="0"/>
          </a:p>
        </p:txBody>
      </p:sp>
      <p:sp>
        <p:nvSpPr>
          <p:cNvPr id="4" name="os step 1"/>
          <p:cNvSpPr/>
          <p:nvPr/>
        </p:nvSpPr>
        <p:spPr>
          <a:xfrm>
            <a:off x="548640" y="1417320"/>
            <a:ext cx="2560320" cy="3154680"/>
          </a:xfrm>
          <a:prstGeom prst="roundRect">
            <a:avLst>
              <a:gd name="adj" fmla="val 4286"/>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5" name="os step 1 circle"/>
          <p:cNvSpPr/>
          <p:nvPr/>
        </p:nvSpPr>
        <p:spPr>
          <a:xfrm>
            <a:off x="777240" y="1645920"/>
            <a:ext cx="731520" cy="731520"/>
          </a:xfrm>
          <a:prstGeom prst="ellipse">
            <a:avLst/>
          </a:prstGeom>
          <a:solidFill>
            <a:srgbClr val="2E5BE8"/>
          </a:solidFill>
          <a:ln w="12700">
            <a:solidFill>
              <a:srgbClr val="2E5BE8"/>
            </a:solidFill>
            <a:prstDash val="solid"/>
          </a:ln>
        </p:spPr>
      </p:sp>
      <p:pic>
        <p:nvPicPr>
          <p:cNvPr id="6" name="os step 1 icon" descr="preencoded.png">    </p:cNvPr>
          <p:cNvPicPr>
            <a:picLocks noChangeAspect="1"/>
          </p:cNvPicPr>
          <p:nvPr/>
        </p:nvPicPr>
        <p:blipFill>
          <a:blip r:embed="rId1"/>
          <a:stretch>
            <a:fillRect/>
          </a:stretch>
        </p:blipFill>
        <p:spPr>
          <a:xfrm>
            <a:off x="967435" y="1836115"/>
            <a:ext cx="351130" cy="351130"/>
          </a:xfrm>
          <a:prstGeom prst="rect">
            <a:avLst/>
          </a:prstGeom>
        </p:spPr>
      </p:pic>
      <p:sp>
        <p:nvSpPr>
          <p:cNvPr id="7" name="os step title 1"/>
          <p:cNvSpPr txBox="1"/>
          <p:nvPr/>
        </p:nvSpPr>
        <p:spPr>
          <a:xfrm>
            <a:off x="777240" y="2514600"/>
            <a:ext cx="2194560" cy="365760"/>
          </a:xfrm>
          <a:prstGeom prst="rect">
            <a:avLst/>
          </a:prstGeom>
          <a:noFill/>
          <a:ln/>
        </p:spPr>
        <p:txBody>
          <a:bodyPr wrap="square" lIns="0" tIns="0" rIns="0" bIns="0" rtlCol="0" anchor="t"/>
          <a:lstStyle/>
          <a:p>
            <a:pPr indent="0" marL="0">
              <a:buNone/>
            </a:pPr>
            <a:r>
              <a:rPr lang="en-US" sz="1800" b="1" dirty="0">
                <a:solidFill>
                  <a:schemeClr val="tx1"/>
                </a:solidFill>
              </a:rPr>
              <a:t>1 · Prepare</a:t>
            </a:r>
            <a:endParaRPr lang="en-US" sz="1800" dirty="0"/>
          </a:p>
        </p:txBody>
      </p:sp>
      <p:sp>
        <p:nvSpPr>
          <p:cNvPr id="8" name="os step who 1"/>
          <p:cNvSpPr txBox="1"/>
          <p:nvPr/>
        </p:nvSpPr>
        <p:spPr>
          <a:xfrm>
            <a:off x="777240" y="2880360"/>
            <a:ext cx="2240280" cy="292608"/>
          </a:xfrm>
          <a:prstGeom prst="rect">
            <a:avLst/>
          </a:prstGeom>
          <a:noFill/>
          <a:ln/>
        </p:spPr>
        <p:txBody>
          <a:bodyPr wrap="square" lIns="0" tIns="0" rIns="0" bIns="0" rtlCol="0" anchor="t"/>
          <a:lstStyle/>
          <a:p>
            <a:pPr indent="0" marL="0">
              <a:buNone/>
            </a:pPr>
            <a:r>
              <a:rPr lang="en-US" sz="1200" b="1" dirty="0">
                <a:solidFill>
                  <a:schemeClr val="accent1"/>
                </a:solidFill>
              </a:rPr>
              <a:t>Python</a:t>
            </a:r>
            <a:endParaRPr lang="en-US" sz="1200" dirty="0"/>
          </a:p>
        </p:txBody>
      </p:sp>
      <p:sp>
        <p:nvSpPr>
          <p:cNvPr id="9" name="os step text 1"/>
          <p:cNvSpPr txBox="1"/>
          <p:nvPr/>
        </p:nvSpPr>
        <p:spPr>
          <a:xfrm>
            <a:off x="777240" y="3200400"/>
            <a:ext cx="2148840" cy="1280160"/>
          </a:xfrm>
          <a:prstGeom prst="rect">
            <a:avLst/>
          </a:prstGeom>
          <a:noFill/>
          <a:ln/>
        </p:spPr>
        <p:txBody>
          <a:bodyPr wrap="square" lIns="0" tIns="0" rIns="0" bIns="0" rtlCol="0" anchor="t"/>
          <a:lstStyle/>
          <a:p>
            <a:pPr indent="0" marL="0">
              <a:buNone/>
            </a:pPr>
            <a:r>
              <a:rPr lang="en-US" sz="1300" dirty="0">
                <a:solidFill>
                  <a:schemeClr val="tx2"/>
                </a:solidFill>
              </a:rPr>
              <a:t>finds every PDF and DWG/DXF, sets old revisions aside, renders each page (whole, zoomed, legend, text)</a:t>
            </a:r>
            <a:endParaRPr lang="en-US" sz="1300" dirty="0"/>
          </a:p>
        </p:txBody>
      </p:sp>
      <p:sp>
        <p:nvSpPr>
          <p:cNvPr id="10" name="Shape 6"/>
          <p:cNvSpPr/>
          <p:nvPr/>
        </p:nvSpPr>
        <p:spPr>
          <a:xfrm>
            <a:off x="3127248" y="2971800"/>
            <a:ext cx="237744" cy="0"/>
          </a:xfrm>
          <a:prstGeom prst="line">
            <a:avLst/>
          </a:prstGeom>
          <a:noFill/>
          <a:ln w="25400">
            <a:solidFill>
              <a:srgbClr val="8A93AB"/>
            </a:solidFill>
            <a:prstDash val="solid"/>
            <a:tailEnd type="triangle"/>
          </a:ln>
        </p:spPr>
      </p:sp>
      <p:sp>
        <p:nvSpPr>
          <p:cNvPr id="11" name="os step 2"/>
          <p:cNvSpPr/>
          <p:nvPr/>
        </p:nvSpPr>
        <p:spPr>
          <a:xfrm>
            <a:off x="3383280" y="1417320"/>
            <a:ext cx="2560320" cy="3154680"/>
          </a:xfrm>
          <a:prstGeom prst="roundRect">
            <a:avLst>
              <a:gd name="adj" fmla="val 4286"/>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2" name="os step 2 circle"/>
          <p:cNvSpPr/>
          <p:nvPr/>
        </p:nvSpPr>
        <p:spPr>
          <a:xfrm>
            <a:off x="3611880" y="1645920"/>
            <a:ext cx="731520" cy="731520"/>
          </a:xfrm>
          <a:prstGeom prst="ellipse">
            <a:avLst/>
          </a:prstGeom>
          <a:solidFill>
            <a:srgbClr val="F2A900"/>
          </a:solidFill>
          <a:ln w="12700">
            <a:solidFill>
              <a:srgbClr val="F2A900"/>
            </a:solidFill>
            <a:prstDash val="solid"/>
          </a:ln>
        </p:spPr>
      </p:sp>
      <p:pic>
        <p:nvPicPr>
          <p:cNvPr id="13" name="os step 2 icon" descr="preencoded.png">    </p:cNvPr>
          <p:cNvPicPr>
            <a:picLocks noChangeAspect="1"/>
          </p:cNvPicPr>
          <p:nvPr/>
        </p:nvPicPr>
        <p:blipFill>
          <a:blip r:embed="rId2"/>
          <a:stretch>
            <a:fillRect/>
          </a:stretch>
        </p:blipFill>
        <p:spPr>
          <a:xfrm>
            <a:off x="3802075" y="1836115"/>
            <a:ext cx="351130" cy="351130"/>
          </a:xfrm>
          <a:prstGeom prst="rect">
            <a:avLst/>
          </a:prstGeom>
        </p:spPr>
      </p:pic>
      <p:sp>
        <p:nvSpPr>
          <p:cNvPr id="14" name="os step title 2"/>
          <p:cNvSpPr txBox="1"/>
          <p:nvPr/>
        </p:nvSpPr>
        <p:spPr>
          <a:xfrm>
            <a:off x="3611880" y="2514600"/>
            <a:ext cx="2194560" cy="365760"/>
          </a:xfrm>
          <a:prstGeom prst="rect">
            <a:avLst/>
          </a:prstGeom>
          <a:noFill/>
          <a:ln/>
        </p:spPr>
        <p:txBody>
          <a:bodyPr wrap="square" lIns="0" tIns="0" rIns="0" bIns="0" rtlCol="0" anchor="t"/>
          <a:lstStyle/>
          <a:p>
            <a:pPr indent="0" marL="0">
              <a:buNone/>
            </a:pPr>
            <a:r>
              <a:rPr lang="en-US" sz="1800" b="1" dirty="0">
                <a:solidFill>
                  <a:schemeClr val="tx1"/>
                </a:solidFill>
              </a:rPr>
              <a:t>2 · Read</a:t>
            </a:r>
            <a:endParaRPr lang="en-US" sz="1800" dirty="0"/>
          </a:p>
        </p:txBody>
      </p:sp>
      <p:sp>
        <p:nvSpPr>
          <p:cNvPr id="15" name="os step who 2"/>
          <p:cNvSpPr txBox="1"/>
          <p:nvPr/>
        </p:nvSpPr>
        <p:spPr>
          <a:xfrm>
            <a:off x="3611880" y="2880360"/>
            <a:ext cx="2240280" cy="292608"/>
          </a:xfrm>
          <a:prstGeom prst="rect">
            <a:avLst/>
          </a:prstGeom>
          <a:noFill/>
          <a:ln/>
        </p:spPr>
        <p:txBody>
          <a:bodyPr wrap="square" lIns="0" tIns="0" rIns="0" bIns="0" rtlCol="0" anchor="t"/>
          <a:lstStyle/>
          <a:p>
            <a:pPr indent="0" marL="0">
              <a:buNone/>
            </a:pPr>
            <a:r>
              <a:rPr lang="en-US" sz="1200" b="1" dirty="0">
                <a:solidFill>
                  <a:schemeClr val="accent1"/>
                </a:solidFill>
              </a:rPr>
              <a:t>Claude Code + estimate-project</a:t>
            </a:r>
            <a:endParaRPr lang="en-US" sz="1200" dirty="0"/>
          </a:p>
        </p:txBody>
      </p:sp>
      <p:sp>
        <p:nvSpPr>
          <p:cNvPr id="16" name="os step text 2"/>
          <p:cNvSpPr txBox="1"/>
          <p:nvPr/>
        </p:nvSpPr>
        <p:spPr>
          <a:xfrm>
            <a:off x="3611880" y="3200400"/>
            <a:ext cx="2148840" cy="1280160"/>
          </a:xfrm>
          <a:prstGeom prst="rect">
            <a:avLst/>
          </a:prstGeom>
          <a:noFill/>
          <a:ln/>
        </p:spPr>
        <p:txBody>
          <a:bodyPr wrap="square" lIns="0" tIns="0" rIns="0" bIns="0" rtlCol="0" anchor="t"/>
          <a:lstStyle/>
          <a:p>
            <a:pPr indent="0" marL="0">
              <a:buNone/>
            </a:pPr>
            <a:r>
              <a:rPr lang="en-US" sz="1300" dirty="0">
                <a:solidFill>
                  <a:schemeClr val="tx2"/>
                </a:solidFill>
              </a:rPr>
              <a:t>reads every page and fills one strict form per page — only what is drawn</a:t>
            </a:r>
            <a:endParaRPr lang="en-US" sz="1300" dirty="0"/>
          </a:p>
        </p:txBody>
      </p:sp>
      <p:sp>
        <p:nvSpPr>
          <p:cNvPr id="17" name="Shape 12"/>
          <p:cNvSpPr/>
          <p:nvPr/>
        </p:nvSpPr>
        <p:spPr>
          <a:xfrm>
            <a:off x="5961888" y="2971800"/>
            <a:ext cx="237744" cy="0"/>
          </a:xfrm>
          <a:prstGeom prst="line">
            <a:avLst/>
          </a:prstGeom>
          <a:noFill/>
          <a:ln w="25400">
            <a:solidFill>
              <a:srgbClr val="8A93AB"/>
            </a:solidFill>
            <a:prstDash val="solid"/>
            <a:tailEnd type="triangle"/>
          </a:ln>
        </p:spPr>
      </p:sp>
      <p:sp>
        <p:nvSpPr>
          <p:cNvPr id="18" name="os step 3"/>
          <p:cNvSpPr/>
          <p:nvPr/>
        </p:nvSpPr>
        <p:spPr>
          <a:xfrm>
            <a:off x="6217920" y="1417320"/>
            <a:ext cx="2560320" cy="3154680"/>
          </a:xfrm>
          <a:prstGeom prst="roundRect">
            <a:avLst>
              <a:gd name="adj" fmla="val 4286"/>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9" name="os step 3 circle"/>
          <p:cNvSpPr/>
          <p:nvPr/>
        </p:nvSpPr>
        <p:spPr>
          <a:xfrm>
            <a:off x="6446520" y="1645920"/>
            <a:ext cx="731520" cy="731520"/>
          </a:xfrm>
          <a:prstGeom prst="ellipse">
            <a:avLst/>
          </a:prstGeom>
          <a:solidFill>
            <a:srgbClr val="2E5BE8"/>
          </a:solidFill>
          <a:ln w="12700">
            <a:solidFill>
              <a:srgbClr val="2E5BE8"/>
            </a:solidFill>
            <a:prstDash val="solid"/>
          </a:ln>
        </p:spPr>
      </p:sp>
      <p:pic>
        <p:nvPicPr>
          <p:cNvPr id="20" name="os step 3 icon" descr="preencoded.png">    </p:cNvPr>
          <p:cNvPicPr>
            <a:picLocks noChangeAspect="1"/>
          </p:cNvPicPr>
          <p:nvPr/>
        </p:nvPicPr>
        <p:blipFill>
          <a:blip r:embed="rId3"/>
          <a:stretch>
            <a:fillRect/>
          </a:stretch>
        </p:blipFill>
        <p:spPr>
          <a:xfrm>
            <a:off x="6636715" y="1836115"/>
            <a:ext cx="351130" cy="351130"/>
          </a:xfrm>
          <a:prstGeom prst="rect">
            <a:avLst/>
          </a:prstGeom>
        </p:spPr>
      </p:pic>
      <p:sp>
        <p:nvSpPr>
          <p:cNvPr id="21" name="os step title 3"/>
          <p:cNvSpPr txBox="1"/>
          <p:nvPr/>
        </p:nvSpPr>
        <p:spPr>
          <a:xfrm>
            <a:off x="6446520" y="2514600"/>
            <a:ext cx="2194560" cy="365760"/>
          </a:xfrm>
          <a:prstGeom prst="rect">
            <a:avLst/>
          </a:prstGeom>
          <a:noFill/>
          <a:ln/>
        </p:spPr>
        <p:txBody>
          <a:bodyPr wrap="square" lIns="0" tIns="0" rIns="0" bIns="0" rtlCol="0" anchor="t"/>
          <a:lstStyle/>
          <a:p>
            <a:pPr indent="0" marL="0">
              <a:buNone/>
            </a:pPr>
            <a:r>
              <a:rPr lang="en-US" sz="1800" b="1" dirty="0">
                <a:solidFill>
                  <a:schemeClr val="tx1"/>
                </a:solidFill>
              </a:rPr>
              <a:t>3 · Finish</a:t>
            </a:r>
            <a:endParaRPr lang="en-US" sz="1800" dirty="0"/>
          </a:p>
        </p:txBody>
      </p:sp>
      <p:sp>
        <p:nvSpPr>
          <p:cNvPr id="22" name="os step who 3"/>
          <p:cNvSpPr txBox="1"/>
          <p:nvPr/>
        </p:nvSpPr>
        <p:spPr>
          <a:xfrm>
            <a:off x="6446520" y="2880360"/>
            <a:ext cx="2240280" cy="292608"/>
          </a:xfrm>
          <a:prstGeom prst="rect">
            <a:avLst/>
          </a:prstGeom>
          <a:noFill/>
          <a:ln/>
        </p:spPr>
        <p:txBody>
          <a:bodyPr wrap="square" lIns="0" tIns="0" rIns="0" bIns="0" rtlCol="0" anchor="t"/>
          <a:lstStyle/>
          <a:p>
            <a:pPr indent="0" marL="0">
              <a:buNone/>
            </a:pPr>
            <a:r>
              <a:rPr lang="en-US" sz="1200" b="1" dirty="0">
                <a:solidFill>
                  <a:schemeClr val="accent1"/>
                </a:solidFill>
              </a:rPr>
              <a:t>Python</a:t>
            </a:r>
            <a:endParaRPr lang="en-US" sz="1200" dirty="0"/>
          </a:p>
        </p:txBody>
      </p:sp>
      <p:sp>
        <p:nvSpPr>
          <p:cNvPr id="23" name="os step text 3"/>
          <p:cNvSpPr txBox="1"/>
          <p:nvPr/>
        </p:nvSpPr>
        <p:spPr>
          <a:xfrm>
            <a:off x="6446520" y="3200400"/>
            <a:ext cx="2148840" cy="1280160"/>
          </a:xfrm>
          <a:prstGeom prst="rect">
            <a:avLst/>
          </a:prstGeom>
          <a:noFill/>
          <a:ln/>
        </p:spPr>
        <p:txBody>
          <a:bodyPr wrap="square" lIns="0" tIns="0" rIns="0" bIns="0" rtlCol="0" anchor="t"/>
          <a:lstStyle/>
          <a:p>
            <a:pPr indent="0" marL="0">
              <a:buNone/>
            </a:pPr>
            <a:r>
              <a:rPr lang="en-US" sz="1300" dirty="0">
                <a:solidFill>
                  <a:schemeClr val="tx2"/>
                </a:solidFill>
              </a:rPr>
              <a:t>checks every form, reads the CAD set, combines both readers, prices once</a:t>
            </a:r>
            <a:endParaRPr lang="en-US" sz="1300" dirty="0"/>
          </a:p>
        </p:txBody>
      </p:sp>
      <p:sp>
        <p:nvSpPr>
          <p:cNvPr id="24" name="Shape 18"/>
          <p:cNvSpPr/>
          <p:nvPr/>
        </p:nvSpPr>
        <p:spPr>
          <a:xfrm>
            <a:off x="8796528" y="2971800"/>
            <a:ext cx="237744" cy="0"/>
          </a:xfrm>
          <a:prstGeom prst="line">
            <a:avLst/>
          </a:prstGeom>
          <a:noFill/>
          <a:ln w="25400">
            <a:solidFill>
              <a:srgbClr val="8A93AB"/>
            </a:solidFill>
            <a:prstDash val="solid"/>
            <a:tailEnd type="triangle"/>
          </a:ln>
        </p:spPr>
      </p:sp>
      <p:sp>
        <p:nvSpPr>
          <p:cNvPr id="25" name="os step 4"/>
          <p:cNvSpPr/>
          <p:nvPr/>
        </p:nvSpPr>
        <p:spPr>
          <a:xfrm>
            <a:off x="9052560" y="1417320"/>
            <a:ext cx="2560320" cy="3154680"/>
          </a:xfrm>
          <a:prstGeom prst="roundRect">
            <a:avLst>
              <a:gd name="adj" fmla="val 4286"/>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6" name="os step 4 circle"/>
          <p:cNvSpPr/>
          <p:nvPr/>
        </p:nvSpPr>
        <p:spPr>
          <a:xfrm>
            <a:off x="9281160" y="1645920"/>
            <a:ext cx="731520" cy="731520"/>
          </a:xfrm>
          <a:prstGeom prst="ellipse">
            <a:avLst/>
          </a:prstGeom>
          <a:solidFill>
            <a:srgbClr val="2E5BE8"/>
          </a:solidFill>
          <a:ln w="12700">
            <a:solidFill>
              <a:srgbClr val="2E5BE8"/>
            </a:solidFill>
            <a:prstDash val="solid"/>
          </a:ln>
        </p:spPr>
      </p:sp>
      <p:pic>
        <p:nvPicPr>
          <p:cNvPr id="27" name="os step 4 icon" descr="preencoded.png">    </p:cNvPr>
          <p:cNvPicPr>
            <a:picLocks noChangeAspect="1"/>
          </p:cNvPicPr>
          <p:nvPr/>
        </p:nvPicPr>
        <p:blipFill>
          <a:blip r:embed="rId4"/>
          <a:stretch>
            <a:fillRect/>
          </a:stretch>
        </p:blipFill>
        <p:spPr>
          <a:xfrm>
            <a:off x="9471355" y="1836115"/>
            <a:ext cx="351130" cy="351130"/>
          </a:xfrm>
          <a:prstGeom prst="rect">
            <a:avLst/>
          </a:prstGeom>
        </p:spPr>
      </p:pic>
      <p:sp>
        <p:nvSpPr>
          <p:cNvPr id="28" name="os step title 4"/>
          <p:cNvSpPr txBox="1"/>
          <p:nvPr/>
        </p:nvSpPr>
        <p:spPr>
          <a:xfrm>
            <a:off x="9281160" y="2514600"/>
            <a:ext cx="2194560" cy="365760"/>
          </a:xfrm>
          <a:prstGeom prst="rect">
            <a:avLst/>
          </a:prstGeom>
          <a:noFill/>
          <a:ln/>
        </p:spPr>
        <p:txBody>
          <a:bodyPr wrap="square" lIns="0" tIns="0" rIns="0" bIns="0" rtlCol="0" anchor="t"/>
          <a:lstStyle/>
          <a:p>
            <a:pPr indent="0" marL="0">
              <a:buNone/>
            </a:pPr>
            <a:r>
              <a:rPr lang="en-US" sz="1800" b="1" dirty="0">
                <a:solidFill>
                  <a:schemeClr val="tx1"/>
                </a:solidFill>
              </a:rPr>
              <a:t>AfriPlan_Output</a:t>
            </a:r>
            <a:endParaRPr lang="en-US" sz="1800" dirty="0"/>
          </a:p>
        </p:txBody>
      </p:sp>
      <p:sp>
        <p:nvSpPr>
          <p:cNvPr id="29" name="os step who 4"/>
          <p:cNvSpPr txBox="1"/>
          <p:nvPr/>
        </p:nvSpPr>
        <p:spPr>
          <a:xfrm>
            <a:off x="9281160" y="2880360"/>
            <a:ext cx="2240280" cy="292608"/>
          </a:xfrm>
          <a:prstGeom prst="rect">
            <a:avLst/>
          </a:prstGeom>
          <a:noFill/>
          <a:ln/>
        </p:spPr>
        <p:txBody>
          <a:bodyPr wrap="square" lIns="0" tIns="0" rIns="0" bIns="0" rtlCol="0" anchor="t"/>
          <a:lstStyle/>
          <a:p>
            <a:pPr indent="0" marL="0">
              <a:buNone/>
            </a:pPr>
            <a:r>
              <a:rPr lang="en-US" sz="1200" b="1" dirty="0">
                <a:solidFill>
                  <a:schemeClr val="accent1"/>
                </a:solidFill>
              </a:rPr>
              <a:t>in the project folder</a:t>
            </a:r>
            <a:endParaRPr lang="en-US" sz="1200" dirty="0"/>
          </a:p>
        </p:txBody>
      </p:sp>
      <p:sp>
        <p:nvSpPr>
          <p:cNvPr id="30" name="os step text 4"/>
          <p:cNvSpPr txBox="1"/>
          <p:nvPr/>
        </p:nvSpPr>
        <p:spPr>
          <a:xfrm>
            <a:off x="9281160" y="3200400"/>
            <a:ext cx="2148840" cy="1280160"/>
          </a:xfrm>
          <a:prstGeom prst="rect">
            <a:avLst/>
          </a:prstGeom>
          <a:noFill/>
          <a:ln/>
        </p:spPr>
        <p:txBody>
          <a:bodyPr wrap="square" lIns="0" tIns="0" rIns="0" bIns="0" rtlCol="0" anchor="t"/>
          <a:lstStyle/>
          <a:p>
            <a:pPr indent="0" marL="0">
              <a:buNone/>
            </a:pPr>
            <a:r>
              <a:rPr lang="en-US" sz="1300" dirty="0">
                <a:solidFill>
                  <a:schemeClr val="tx2"/>
                </a:solidFill>
              </a:rPr>
              <a:t>Excel + PDF BoQ, things to check, summary — and an accuracy report when scored</a:t>
            </a:r>
            <a:endParaRPr lang="en-US" sz="1300" dirty="0"/>
          </a:p>
        </p:txBody>
      </p:sp>
      <p:sp>
        <p:nvSpPr>
          <p:cNvPr id="31" name="command box"/>
          <p:cNvSpPr/>
          <p:nvPr/>
        </p:nvSpPr>
        <p:spPr>
          <a:xfrm>
            <a:off x="548640" y="4800600"/>
            <a:ext cx="11064240" cy="1051560"/>
          </a:xfrm>
          <a:prstGeom prst="roundRect">
            <a:avLst>
              <a:gd name="adj" fmla="val 8696"/>
            </a:avLst>
          </a:prstGeom>
          <a:solidFill>
            <a:schemeClr val="tx1"/>
          </a:solidFill>
          <a:ln w="12700">
            <a:solidFill>
              <a:srgbClr val="101A33"/>
            </a:solidFill>
            <a:prstDash val="solid"/>
          </a:ln>
        </p:spPr>
      </p:sp>
      <p:sp>
        <p:nvSpPr>
          <p:cNvPr id="32" name="command text"/>
          <p:cNvSpPr txBox="1"/>
          <p:nvPr/>
        </p:nvSpPr>
        <p:spPr>
          <a:xfrm>
            <a:off x="822960" y="4919472"/>
            <a:ext cx="10607040" cy="822960"/>
          </a:xfrm>
          <a:prstGeom prst="rect">
            <a:avLst/>
          </a:prstGeom>
          <a:noFill/>
          <a:ln/>
        </p:spPr>
        <p:txBody>
          <a:bodyPr wrap="square" lIns="0" tIns="0" rIns="0" bIns="0" rtlCol="0" anchor="ctr"/>
          <a:lstStyle/>
          <a:p>
            <a:pPr indent="0" marL="0">
              <a:buNone/>
            </a:pPr>
            <a:r>
              <a:rPr lang="en-US" sz="1400" b="1" dirty="0">
                <a:solidFill>
                  <a:schemeClr val="accent2"/>
                </a:solidFill>
              </a:rPr>
              <a:t>Say to Claude Code:  </a:t>
            </a:r>
            <a:pPr indent="0" marL="0">
              <a:buNone/>
            </a:pPr>
            <a:r>
              <a:rPr lang="en-US" sz="1400" dirty="0">
                <a:solidFill>
                  <a:schemeClr val="bg1"/>
                </a:solidFill>
              </a:rPr>
              <a:t>estimate the project in C:\Projects\My Job</a:t>
            </a:r>
            <a:endParaRPr lang="en-US" sz="1400" dirty="0"/>
          </a:p>
          <a:p>
            <a:pPr indent="0" marL="0">
              <a:buNone/>
            </a:pPr>
            <a:r>
              <a:rPr lang="en-US" sz="1400" b="1" dirty="0">
                <a:solidFill>
                  <a:schemeClr val="accent2"/>
                </a:solidFill>
              </a:rPr>
              <a:t>It runs:  </a:t>
            </a:r>
            <a:pPr indent="0" marL="0">
              <a:buNone/>
            </a:pPr>
            <a:r>
              <a:rPr lang="en-US" sz="1400" dirty="0">
                <a:solidFill>
                  <a:schemeClr val="bg1"/>
                </a:solidFill>
                <a:latin typeface="Courier New" pitchFamily="34" charset="0"/>
                <a:ea typeface="Courier New" pitchFamily="34" charset="-122"/>
                <a:cs typeface="Courier New" pitchFamily="34" charset="-120"/>
              </a:rPr>
              <a:t>$PY doe/execution/project.py prepare "&lt;folder&gt;"   …   finish "&lt;folder&gt;"</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Web app or AI Operating System — the advantages of each</a:t>
            </a:r>
            <a:endParaRPr lang="en-US" sz="3000" dirty="0"/>
          </a:p>
        </p:txBody>
      </p:sp>
      <p:sp>
        <p:nvSpPr>
          <p:cNvPr id="4" name="Web app adv card"/>
          <p:cNvSpPr/>
          <p:nvPr/>
        </p:nvSpPr>
        <p:spPr>
          <a:xfrm>
            <a:off x="548640" y="1371600"/>
            <a:ext cx="5440680" cy="4160520"/>
          </a:xfrm>
          <a:prstGeom prst="roundRect">
            <a:avLst>
              <a:gd name="adj" fmla="val 2637"/>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5" name="Web app adv circle"/>
          <p:cNvSpPr/>
          <p:nvPr/>
        </p:nvSpPr>
        <p:spPr>
          <a:xfrm>
            <a:off x="777240" y="1536192"/>
            <a:ext cx="685800" cy="685800"/>
          </a:xfrm>
          <a:prstGeom prst="ellipse">
            <a:avLst/>
          </a:prstGeom>
          <a:solidFill>
            <a:srgbClr val="2E5BE8"/>
          </a:solidFill>
          <a:ln w="12700">
            <a:solidFill>
              <a:srgbClr val="2E5BE8"/>
            </a:solidFill>
            <a:prstDash val="solid"/>
          </a:ln>
        </p:spPr>
      </p:sp>
      <p:pic>
        <p:nvPicPr>
          <p:cNvPr id="6" name="Web app adv icon" descr="preencoded.png">    </p:cNvPr>
          <p:cNvPicPr>
            <a:picLocks noChangeAspect="1"/>
          </p:cNvPicPr>
          <p:nvPr/>
        </p:nvPicPr>
        <p:blipFill>
          <a:blip r:embed="rId1"/>
          <a:stretch>
            <a:fillRect/>
          </a:stretch>
        </p:blipFill>
        <p:spPr>
          <a:xfrm>
            <a:off x="955548" y="1714500"/>
            <a:ext cx="329184" cy="329184"/>
          </a:xfrm>
          <a:prstGeom prst="rect">
            <a:avLst/>
          </a:prstGeom>
        </p:spPr>
      </p:pic>
      <p:sp>
        <p:nvSpPr>
          <p:cNvPr id="7" name="Web app adv title"/>
          <p:cNvSpPr txBox="1"/>
          <p:nvPr/>
        </p:nvSpPr>
        <p:spPr>
          <a:xfrm>
            <a:off x="1600200" y="1627632"/>
            <a:ext cx="4114800" cy="457200"/>
          </a:xfrm>
          <a:prstGeom prst="rect">
            <a:avLst/>
          </a:prstGeom>
          <a:noFill/>
          <a:ln/>
        </p:spPr>
        <p:txBody>
          <a:bodyPr wrap="square" lIns="0" tIns="0" rIns="0" bIns="0" rtlCol="0" anchor="t"/>
          <a:lstStyle/>
          <a:p>
            <a:pPr indent="0" marL="0">
              <a:buNone/>
            </a:pPr>
            <a:r>
              <a:rPr lang="en-US" sz="2100" b="1" dirty="0">
                <a:solidFill>
                  <a:schemeClr val="tx1"/>
                </a:solidFill>
              </a:rPr>
              <a:t>Web app</a:t>
            </a:r>
            <a:endParaRPr lang="en-US" sz="2100" dirty="0"/>
          </a:p>
        </p:txBody>
      </p:sp>
      <p:sp>
        <p:nvSpPr>
          <p:cNvPr id="8" name="Web app adv row 1"/>
          <p:cNvSpPr txBox="1"/>
          <p:nvPr/>
        </p:nvSpPr>
        <p:spPr>
          <a:xfrm>
            <a:off x="822960" y="2423160"/>
            <a:ext cx="4480560" cy="301752"/>
          </a:xfrm>
          <a:prstGeom prst="rect">
            <a:avLst/>
          </a:prstGeom>
          <a:noFill/>
          <a:ln/>
        </p:spPr>
        <p:txBody>
          <a:bodyPr wrap="square" lIns="0" tIns="0" rIns="0" bIns="0" rtlCol="0" anchor="t"/>
          <a:lstStyle/>
          <a:p>
            <a:pPr indent="0" marL="0">
              <a:buNone/>
            </a:pPr>
            <a:r>
              <a:rPr lang="en-US" sz="1500" b="1" dirty="0">
                <a:solidFill>
                  <a:schemeClr val="accent3"/>
                </a:solidFill>
              </a:rPr>
              <a:t>✓ </a:t>
            </a:r>
            <a:pPr indent="0" marL="0">
              <a:buNone/>
            </a:pPr>
            <a:r>
              <a:rPr lang="en-US" sz="1500" b="1" dirty="0">
                <a:solidFill>
                  <a:schemeClr val="tx1"/>
                </a:solidFill>
              </a:rPr>
              <a:t>Nothing to install</a:t>
            </a:r>
            <a:endParaRPr lang="en-US" sz="1500" dirty="0"/>
          </a:p>
        </p:txBody>
      </p:sp>
      <p:sp>
        <p:nvSpPr>
          <p:cNvPr id="9" name="Web app adv text 1"/>
          <p:cNvSpPr txBox="1"/>
          <p:nvPr/>
        </p:nvSpPr>
        <p:spPr>
          <a:xfrm>
            <a:off x="1115568" y="2734056"/>
            <a:ext cx="4206240" cy="320040"/>
          </a:xfrm>
          <a:prstGeom prst="rect">
            <a:avLst/>
          </a:prstGeom>
          <a:noFill/>
          <a:ln/>
        </p:spPr>
        <p:txBody>
          <a:bodyPr wrap="square" lIns="0" tIns="0" rIns="0" bIns="0" rtlCol="0" anchor="t"/>
          <a:lstStyle/>
          <a:p>
            <a:pPr indent="0" marL="0">
              <a:buNone/>
            </a:pPr>
            <a:r>
              <a:rPr lang="en-US" sz="1250" dirty="0">
                <a:solidFill>
                  <a:schemeClr val="tx2"/>
                </a:solidFill>
              </a:rPr>
              <a:t>runs in the browser; upload drawings and go</a:t>
            </a:r>
            <a:endParaRPr lang="en-US" sz="1250" dirty="0"/>
          </a:p>
        </p:txBody>
      </p:sp>
      <p:sp>
        <p:nvSpPr>
          <p:cNvPr id="10" name="Web app adv ref 1"/>
          <p:cNvSpPr txBox="1"/>
          <p:nvPr/>
        </p:nvSpPr>
        <p:spPr>
          <a:xfrm>
            <a:off x="5257800" y="2441448"/>
            <a:ext cx="685800" cy="274320"/>
          </a:xfrm>
          <a:prstGeom prst="rect">
            <a:avLst/>
          </a:prstGeom>
          <a:noFill/>
          <a:ln/>
        </p:spPr>
        <p:txBody>
          <a:bodyPr wrap="square" lIns="0" tIns="0" rIns="0" bIns="0" rtlCol="0" anchor="t"/>
          <a:lstStyle/>
          <a:p>
            <a:pPr algn="r" indent="0" marL="0">
              <a:buNone/>
            </a:pPr>
            <a:r>
              <a:rPr lang="en-US" sz="1050" dirty="0">
                <a:solidFill>
                  <a:schemeClr val="accent6"/>
                </a:solidFill>
              </a:rPr>
              <a:t>[7]</a:t>
            </a:r>
            <a:endParaRPr lang="en-US" sz="1050" dirty="0"/>
          </a:p>
        </p:txBody>
      </p:sp>
      <p:sp>
        <p:nvSpPr>
          <p:cNvPr id="11" name="Web app adv row 2"/>
          <p:cNvSpPr txBox="1"/>
          <p:nvPr/>
        </p:nvSpPr>
        <p:spPr>
          <a:xfrm>
            <a:off x="822960" y="3182112"/>
            <a:ext cx="4480560" cy="301752"/>
          </a:xfrm>
          <a:prstGeom prst="rect">
            <a:avLst/>
          </a:prstGeom>
          <a:noFill/>
          <a:ln/>
        </p:spPr>
        <p:txBody>
          <a:bodyPr wrap="square" lIns="0" tIns="0" rIns="0" bIns="0" rtlCol="0" anchor="t"/>
          <a:lstStyle/>
          <a:p>
            <a:pPr indent="0" marL="0">
              <a:buNone/>
            </a:pPr>
            <a:r>
              <a:rPr lang="en-US" sz="1500" b="1" dirty="0">
                <a:solidFill>
                  <a:schemeClr val="accent3"/>
                </a:solidFill>
              </a:rPr>
              <a:t>✓ </a:t>
            </a:r>
            <a:pPr indent="0" marL="0">
              <a:buNone/>
            </a:pPr>
            <a:r>
              <a:rPr lang="en-US" sz="1500" b="1" dirty="0">
                <a:solidFill>
                  <a:schemeClr val="tx1"/>
                </a:solidFill>
              </a:rPr>
              <a:t>Your choice of AI reader</a:t>
            </a:r>
            <a:endParaRPr lang="en-US" sz="1500" dirty="0"/>
          </a:p>
        </p:txBody>
      </p:sp>
      <p:sp>
        <p:nvSpPr>
          <p:cNvPr id="12" name="Web app adv text 2"/>
          <p:cNvSpPr txBox="1"/>
          <p:nvPr/>
        </p:nvSpPr>
        <p:spPr>
          <a:xfrm>
            <a:off x="1115568" y="3493008"/>
            <a:ext cx="4206240" cy="320040"/>
          </a:xfrm>
          <a:prstGeom prst="rect">
            <a:avLst/>
          </a:prstGeom>
          <a:noFill/>
          <a:ln/>
        </p:spPr>
        <p:txBody>
          <a:bodyPr wrap="square" lIns="0" tIns="0" rIns="0" bIns="0" rtlCol="0" anchor="t"/>
          <a:lstStyle/>
          <a:p>
            <a:pPr indent="0" marL="0">
              <a:buNone/>
            </a:pPr>
            <a:r>
              <a:rPr lang="en-US" sz="1250" dirty="0">
                <a:solidFill>
                  <a:schemeClr val="tx2"/>
                </a:solidFill>
              </a:rPr>
              <a:t>Claude (paid per use) or Gemini (free, small daily limit)</a:t>
            </a:r>
            <a:endParaRPr lang="en-US" sz="1250" dirty="0"/>
          </a:p>
        </p:txBody>
      </p:sp>
      <p:sp>
        <p:nvSpPr>
          <p:cNvPr id="13" name="Web app adv ref 2"/>
          <p:cNvSpPr txBox="1"/>
          <p:nvPr/>
        </p:nvSpPr>
        <p:spPr>
          <a:xfrm>
            <a:off x="5257800" y="3200400"/>
            <a:ext cx="685800" cy="274320"/>
          </a:xfrm>
          <a:prstGeom prst="rect">
            <a:avLst/>
          </a:prstGeom>
          <a:noFill/>
          <a:ln/>
        </p:spPr>
        <p:txBody>
          <a:bodyPr wrap="square" lIns="0" tIns="0" rIns="0" bIns="0" rtlCol="0" anchor="t"/>
          <a:lstStyle/>
          <a:p>
            <a:pPr algn="r" indent="0" marL="0">
              <a:buNone/>
            </a:pPr>
            <a:r>
              <a:rPr lang="en-US" sz="1050" dirty="0">
                <a:solidFill>
                  <a:schemeClr val="accent6"/>
                </a:solidFill>
              </a:rPr>
              <a:t>[8] [9]</a:t>
            </a:r>
            <a:endParaRPr lang="en-US" sz="1050" dirty="0"/>
          </a:p>
        </p:txBody>
      </p:sp>
      <p:sp>
        <p:nvSpPr>
          <p:cNvPr id="14" name="Web app adv row 3"/>
          <p:cNvSpPr txBox="1"/>
          <p:nvPr/>
        </p:nvSpPr>
        <p:spPr>
          <a:xfrm>
            <a:off x="822960" y="3941064"/>
            <a:ext cx="4480560" cy="301752"/>
          </a:xfrm>
          <a:prstGeom prst="rect">
            <a:avLst/>
          </a:prstGeom>
          <a:noFill/>
          <a:ln/>
        </p:spPr>
        <p:txBody>
          <a:bodyPr wrap="square" lIns="0" tIns="0" rIns="0" bIns="0" rtlCol="0" anchor="t"/>
          <a:lstStyle/>
          <a:p>
            <a:pPr indent="0" marL="0">
              <a:buNone/>
            </a:pPr>
            <a:r>
              <a:rPr lang="en-US" sz="1500" b="1" dirty="0">
                <a:solidFill>
                  <a:schemeClr val="accent3"/>
                </a:solidFill>
              </a:rPr>
              <a:t>✓ </a:t>
            </a:r>
            <a:pPr indent="0" marL="0">
              <a:buNone/>
            </a:pPr>
            <a:r>
              <a:rPr lang="en-US" sz="1500" b="1" dirty="0">
                <a:solidFill>
                  <a:schemeClr val="tx1"/>
                </a:solidFill>
              </a:rPr>
              <a:t>Live progress</a:t>
            </a:r>
            <a:endParaRPr lang="en-US" sz="1500" dirty="0"/>
          </a:p>
        </p:txBody>
      </p:sp>
      <p:sp>
        <p:nvSpPr>
          <p:cNvPr id="15" name="Web app adv text 3"/>
          <p:cNvSpPr txBox="1"/>
          <p:nvPr/>
        </p:nvSpPr>
        <p:spPr>
          <a:xfrm>
            <a:off x="1115568" y="4251960"/>
            <a:ext cx="4206240" cy="320040"/>
          </a:xfrm>
          <a:prstGeom prst="rect">
            <a:avLst/>
          </a:prstGeom>
          <a:noFill/>
          <a:ln/>
        </p:spPr>
        <p:txBody>
          <a:bodyPr wrap="square" lIns="0" tIns="0" rIns="0" bIns="0" rtlCol="0" anchor="t"/>
          <a:lstStyle/>
          <a:p>
            <a:pPr indent="0" marL="0">
              <a:buNone/>
            </a:pPr>
            <a:r>
              <a:rPr lang="en-US" sz="1250" dirty="0">
                <a:solidFill>
                  <a:schemeClr val="tx2"/>
                </a:solidFill>
              </a:rPr>
              <a:t>page X of Y, AI waits and failure reasons shown</a:t>
            </a:r>
            <a:endParaRPr lang="en-US" sz="1250" dirty="0"/>
          </a:p>
        </p:txBody>
      </p:sp>
      <p:sp>
        <p:nvSpPr>
          <p:cNvPr id="16" name="Web app adv ref 3"/>
          <p:cNvSpPr txBox="1"/>
          <p:nvPr/>
        </p:nvSpPr>
        <p:spPr>
          <a:xfrm>
            <a:off x="5257800" y="3959352"/>
            <a:ext cx="685800" cy="274320"/>
          </a:xfrm>
          <a:prstGeom prst="rect">
            <a:avLst/>
          </a:prstGeom>
          <a:noFill/>
          <a:ln/>
        </p:spPr>
        <p:txBody>
          <a:bodyPr wrap="square" lIns="0" tIns="0" rIns="0" bIns="0" rtlCol="0" anchor="t"/>
          <a:lstStyle/>
          <a:p>
            <a:pPr algn="r" indent="0" marL="0">
              <a:buNone/>
            </a:pPr>
            <a:r>
              <a:rPr lang="en-US" sz="1050" dirty="0">
                <a:solidFill>
                  <a:schemeClr val="accent6"/>
                </a:solidFill>
              </a:rPr>
              <a:t>[10]</a:t>
            </a:r>
            <a:endParaRPr lang="en-US" sz="1050" dirty="0"/>
          </a:p>
        </p:txBody>
      </p:sp>
      <p:sp>
        <p:nvSpPr>
          <p:cNvPr id="17" name="Web app adv row 4"/>
          <p:cNvSpPr txBox="1"/>
          <p:nvPr/>
        </p:nvSpPr>
        <p:spPr>
          <a:xfrm>
            <a:off x="822960" y="4700016"/>
            <a:ext cx="4480560" cy="301752"/>
          </a:xfrm>
          <a:prstGeom prst="rect">
            <a:avLst/>
          </a:prstGeom>
          <a:noFill/>
          <a:ln/>
        </p:spPr>
        <p:txBody>
          <a:bodyPr wrap="square" lIns="0" tIns="0" rIns="0" bIns="0" rtlCol="0" anchor="t"/>
          <a:lstStyle/>
          <a:p>
            <a:pPr indent="0" marL="0">
              <a:buNone/>
            </a:pPr>
            <a:r>
              <a:rPr lang="en-US" sz="1500" b="1" dirty="0">
                <a:solidFill>
                  <a:schemeClr val="accent3"/>
                </a:solidFill>
              </a:rPr>
              <a:t>✓ </a:t>
            </a:r>
            <a:pPr indent="0" marL="0">
              <a:buNone/>
            </a:pPr>
            <a:r>
              <a:rPr lang="en-US" sz="1500" b="1" dirty="0">
                <a:solidFill>
                  <a:schemeClr val="tx1"/>
                </a:solidFill>
              </a:rPr>
              <a:t>Same checks and pricer</a:t>
            </a:r>
            <a:endParaRPr lang="en-US" sz="1500" dirty="0"/>
          </a:p>
        </p:txBody>
      </p:sp>
      <p:sp>
        <p:nvSpPr>
          <p:cNvPr id="18" name="Web app adv text 4"/>
          <p:cNvSpPr txBox="1"/>
          <p:nvPr/>
        </p:nvSpPr>
        <p:spPr>
          <a:xfrm>
            <a:off x="1115568" y="5010912"/>
            <a:ext cx="4206240" cy="320040"/>
          </a:xfrm>
          <a:prstGeom prst="rect">
            <a:avLst/>
          </a:prstGeom>
          <a:noFill/>
          <a:ln/>
        </p:spPr>
        <p:txBody>
          <a:bodyPr wrap="square" lIns="0" tIns="0" rIns="0" bIns="0" rtlCol="0" anchor="t"/>
          <a:lstStyle/>
          <a:p>
            <a:pPr indent="0" marL="0">
              <a:buNone/>
            </a:pPr>
            <a:r>
              <a:rPr lang="en-US" sz="1250" dirty="0">
                <a:solidFill>
                  <a:schemeClr val="tx2"/>
                </a:solidFill>
              </a:rPr>
              <a:t>one pricer and the same labels as the AI OS</a:t>
            </a:r>
            <a:endParaRPr lang="en-US" sz="1250" dirty="0"/>
          </a:p>
        </p:txBody>
      </p:sp>
      <p:sp>
        <p:nvSpPr>
          <p:cNvPr id="19" name="Web app adv ref 4"/>
          <p:cNvSpPr txBox="1"/>
          <p:nvPr/>
        </p:nvSpPr>
        <p:spPr>
          <a:xfrm>
            <a:off x="5257800" y="4718304"/>
            <a:ext cx="685800" cy="274320"/>
          </a:xfrm>
          <a:prstGeom prst="rect">
            <a:avLst/>
          </a:prstGeom>
          <a:noFill/>
          <a:ln/>
        </p:spPr>
        <p:txBody>
          <a:bodyPr wrap="square" lIns="0" tIns="0" rIns="0" bIns="0" rtlCol="0" anchor="t"/>
          <a:lstStyle/>
          <a:p>
            <a:pPr algn="r" indent="0" marL="0">
              <a:buNone/>
            </a:pPr>
            <a:r>
              <a:rPr lang="en-US" sz="1050" dirty="0">
                <a:solidFill>
                  <a:schemeClr val="accent6"/>
                </a:solidFill>
              </a:rPr>
              <a:t>[5]</a:t>
            </a:r>
            <a:endParaRPr lang="en-US" sz="1050" dirty="0"/>
          </a:p>
        </p:txBody>
      </p:sp>
      <p:sp>
        <p:nvSpPr>
          <p:cNvPr id="20" name="AI Operating System adv card"/>
          <p:cNvSpPr/>
          <p:nvPr/>
        </p:nvSpPr>
        <p:spPr>
          <a:xfrm>
            <a:off x="6172200" y="1371600"/>
            <a:ext cx="5440680" cy="4160520"/>
          </a:xfrm>
          <a:prstGeom prst="roundRect">
            <a:avLst>
              <a:gd name="adj" fmla="val 2637"/>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1" name="AI Operating System adv circle"/>
          <p:cNvSpPr/>
          <p:nvPr/>
        </p:nvSpPr>
        <p:spPr>
          <a:xfrm>
            <a:off x="6400800" y="1536192"/>
            <a:ext cx="685800" cy="685800"/>
          </a:xfrm>
          <a:prstGeom prst="ellipse">
            <a:avLst/>
          </a:prstGeom>
          <a:solidFill>
            <a:srgbClr val="2E5BE8"/>
          </a:solidFill>
          <a:ln w="12700">
            <a:solidFill>
              <a:srgbClr val="2E5BE8"/>
            </a:solidFill>
            <a:prstDash val="solid"/>
          </a:ln>
        </p:spPr>
      </p:sp>
      <p:pic>
        <p:nvPicPr>
          <p:cNvPr id="22" name="AI Operating System adv icon" descr="preencoded.png">    </p:cNvPr>
          <p:cNvPicPr>
            <a:picLocks noChangeAspect="1"/>
          </p:cNvPicPr>
          <p:nvPr/>
        </p:nvPicPr>
        <p:blipFill>
          <a:blip r:embed="rId2"/>
          <a:stretch>
            <a:fillRect/>
          </a:stretch>
        </p:blipFill>
        <p:spPr>
          <a:xfrm>
            <a:off x="6579108" y="1714500"/>
            <a:ext cx="329184" cy="329184"/>
          </a:xfrm>
          <a:prstGeom prst="rect">
            <a:avLst/>
          </a:prstGeom>
        </p:spPr>
      </p:pic>
      <p:sp>
        <p:nvSpPr>
          <p:cNvPr id="23" name="AI Operating System adv title"/>
          <p:cNvSpPr txBox="1"/>
          <p:nvPr/>
        </p:nvSpPr>
        <p:spPr>
          <a:xfrm>
            <a:off x="7223760" y="1627632"/>
            <a:ext cx="4114800" cy="457200"/>
          </a:xfrm>
          <a:prstGeom prst="rect">
            <a:avLst/>
          </a:prstGeom>
          <a:noFill/>
          <a:ln/>
        </p:spPr>
        <p:txBody>
          <a:bodyPr wrap="square" lIns="0" tIns="0" rIns="0" bIns="0" rtlCol="0" anchor="t"/>
          <a:lstStyle/>
          <a:p>
            <a:pPr indent="0" marL="0">
              <a:buNone/>
            </a:pPr>
            <a:r>
              <a:rPr lang="en-US" sz="2100" b="1" dirty="0">
                <a:solidFill>
                  <a:schemeClr val="tx1"/>
                </a:solidFill>
              </a:rPr>
              <a:t>AI Operating System</a:t>
            </a:r>
            <a:endParaRPr lang="en-US" sz="2100" dirty="0"/>
          </a:p>
        </p:txBody>
      </p:sp>
      <p:sp>
        <p:nvSpPr>
          <p:cNvPr id="24" name="AI Operating System adv row 1"/>
          <p:cNvSpPr txBox="1"/>
          <p:nvPr/>
        </p:nvSpPr>
        <p:spPr>
          <a:xfrm>
            <a:off x="6446520" y="2423160"/>
            <a:ext cx="4480560" cy="301752"/>
          </a:xfrm>
          <a:prstGeom prst="rect">
            <a:avLst/>
          </a:prstGeom>
          <a:noFill/>
          <a:ln/>
        </p:spPr>
        <p:txBody>
          <a:bodyPr wrap="square" lIns="0" tIns="0" rIns="0" bIns="0" rtlCol="0" anchor="t"/>
          <a:lstStyle/>
          <a:p>
            <a:pPr indent="0" marL="0">
              <a:buNone/>
            </a:pPr>
            <a:r>
              <a:rPr lang="en-US" sz="1500" b="1" dirty="0">
                <a:solidFill>
                  <a:schemeClr val="accent3"/>
                </a:solidFill>
              </a:rPr>
              <a:t>✓ </a:t>
            </a:r>
            <a:pPr indent="0" marL="0">
              <a:buNone/>
            </a:pPr>
            <a:r>
              <a:rPr lang="en-US" sz="1500" b="1" dirty="0">
                <a:solidFill>
                  <a:schemeClr val="tx1"/>
                </a:solidFill>
              </a:rPr>
              <a:t>No API bill</a:t>
            </a:r>
            <a:endParaRPr lang="en-US" sz="1500" dirty="0"/>
          </a:p>
        </p:txBody>
      </p:sp>
      <p:sp>
        <p:nvSpPr>
          <p:cNvPr id="25" name="AI Operating System adv text 1"/>
          <p:cNvSpPr txBox="1"/>
          <p:nvPr/>
        </p:nvSpPr>
        <p:spPr>
          <a:xfrm>
            <a:off x="6739128" y="2734056"/>
            <a:ext cx="4206240" cy="320040"/>
          </a:xfrm>
          <a:prstGeom prst="rect">
            <a:avLst/>
          </a:prstGeom>
          <a:noFill/>
          <a:ln/>
        </p:spPr>
        <p:txBody>
          <a:bodyPr wrap="square" lIns="0" tIns="0" rIns="0" bIns="0" rtlCol="0" anchor="t"/>
          <a:lstStyle/>
          <a:p>
            <a:pPr indent="0" marL="0">
              <a:buNone/>
            </a:pPr>
            <a:r>
              <a:rPr lang="en-US" sz="1250" dirty="0">
                <a:solidFill>
                  <a:schemeClr val="tx2"/>
                </a:solidFill>
              </a:rPr>
              <a:t>covered by a Claude Pro or Max plan, also in VS Code</a:t>
            </a:r>
            <a:endParaRPr lang="en-US" sz="1250" dirty="0"/>
          </a:p>
        </p:txBody>
      </p:sp>
      <p:sp>
        <p:nvSpPr>
          <p:cNvPr id="26" name="AI Operating System adv ref 1"/>
          <p:cNvSpPr txBox="1"/>
          <p:nvPr/>
        </p:nvSpPr>
        <p:spPr>
          <a:xfrm>
            <a:off x="10881360" y="2441448"/>
            <a:ext cx="685800" cy="274320"/>
          </a:xfrm>
          <a:prstGeom prst="rect">
            <a:avLst/>
          </a:prstGeom>
          <a:noFill/>
          <a:ln/>
        </p:spPr>
        <p:txBody>
          <a:bodyPr wrap="square" lIns="0" tIns="0" rIns="0" bIns="0" rtlCol="0" anchor="t"/>
          <a:lstStyle/>
          <a:p>
            <a:pPr algn="r" indent="0" marL="0">
              <a:buNone/>
            </a:pPr>
            <a:r>
              <a:rPr lang="en-US" sz="1050" dirty="0">
                <a:solidFill>
                  <a:schemeClr val="accent6"/>
                </a:solidFill>
              </a:rPr>
              <a:t>[3]</a:t>
            </a:r>
            <a:endParaRPr lang="en-US" sz="1050" dirty="0"/>
          </a:p>
        </p:txBody>
      </p:sp>
      <p:sp>
        <p:nvSpPr>
          <p:cNvPr id="27" name="AI Operating System adv row 2"/>
          <p:cNvSpPr txBox="1"/>
          <p:nvPr/>
        </p:nvSpPr>
        <p:spPr>
          <a:xfrm>
            <a:off x="6446520" y="3182112"/>
            <a:ext cx="4480560" cy="301752"/>
          </a:xfrm>
          <a:prstGeom prst="rect">
            <a:avLst/>
          </a:prstGeom>
          <a:noFill/>
          <a:ln/>
        </p:spPr>
        <p:txBody>
          <a:bodyPr wrap="square" lIns="0" tIns="0" rIns="0" bIns="0" rtlCol="0" anchor="t"/>
          <a:lstStyle/>
          <a:p>
            <a:pPr indent="0" marL="0">
              <a:buNone/>
            </a:pPr>
            <a:r>
              <a:rPr lang="en-US" sz="1500" b="1" dirty="0">
                <a:solidFill>
                  <a:schemeClr val="accent3"/>
                </a:solidFill>
              </a:rPr>
              <a:t>✓ </a:t>
            </a:r>
            <a:pPr indent="0" marL="0">
              <a:buNone/>
            </a:pPr>
            <a:r>
              <a:rPr lang="en-US" sz="1500" b="1" dirty="0">
                <a:solidFill>
                  <a:schemeClr val="tx1"/>
                </a:solidFill>
              </a:rPr>
              <a:t>Remembers the project</a:t>
            </a:r>
            <a:endParaRPr lang="en-US" sz="1500" dirty="0"/>
          </a:p>
        </p:txBody>
      </p:sp>
      <p:sp>
        <p:nvSpPr>
          <p:cNvPr id="28" name="AI Operating System adv text 2"/>
          <p:cNvSpPr txBox="1"/>
          <p:nvPr/>
        </p:nvSpPr>
        <p:spPr>
          <a:xfrm>
            <a:off x="6739128" y="3493008"/>
            <a:ext cx="4206240" cy="320040"/>
          </a:xfrm>
          <a:prstGeom prst="rect">
            <a:avLst/>
          </a:prstGeom>
          <a:noFill/>
          <a:ln/>
        </p:spPr>
        <p:txBody>
          <a:bodyPr wrap="square" lIns="0" tIns="0" rIns="0" bIns="0" rtlCol="0" anchor="t"/>
          <a:lstStyle/>
          <a:p>
            <a:pPr indent="0" marL="0">
              <a:buNone/>
            </a:pPr>
            <a:r>
              <a:rPr lang="en-US" sz="1250" dirty="0">
                <a:solidFill>
                  <a:schemeClr val="tx2"/>
                </a:solidFill>
              </a:rPr>
              <a:t>CLAUDE.md rules + auto-memory read every session</a:t>
            </a:r>
            <a:endParaRPr lang="en-US" sz="1250" dirty="0"/>
          </a:p>
        </p:txBody>
      </p:sp>
      <p:sp>
        <p:nvSpPr>
          <p:cNvPr id="29" name="AI Operating System adv ref 2"/>
          <p:cNvSpPr txBox="1"/>
          <p:nvPr/>
        </p:nvSpPr>
        <p:spPr>
          <a:xfrm>
            <a:off x="10881360" y="3200400"/>
            <a:ext cx="685800" cy="274320"/>
          </a:xfrm>
          <a:prstGeom prst="rect">
            <a:avLst/>
          </a:prstGeom>
          <a:noFill/>
          <a:ln/>
        </p:spPr>
        <p:txBody>
          <a:bodyPr wrap="square" lIns="0" tIns="0" rIns="0" bIns="0" rtlCol="0" anchor="t"/>
          <a:lstStyle/>
          <a:p>
            <a:pPr algn="r" indent="0" marL="0">
              <a:buNone/>
            </a:pPr>
            <a:r>
              <a:rPr lang="en-US" sz="1050" dirty="0">
                <a:solidFill>
                  <a:schemeClr val="accent6"/>
                </a:solidFill>
              </a:rPr>
              <a:t>[2]</a:t>
            </a:r>
            <a:endParaRPr lang="en-US" sz="1050" dirty="0"/>
          </a:p>
        </p:txBody>
      </p:sp>
      <p:sp>
        <p:nvSpPr>
          <p:cNvPr id="30" name="AI Operating System adv row 3"/>
          <p:cNvSpPr txBox="1"/>
          <p:nvPr/>
        </p:nvSpPr>
        <p:spPr>
          <a:xfrm>
            <a:off x="6446520" y="3941064"/>
            <a:ext cx="4480560" cy="301752"/>
          </a:xfrm>
          <a:prstGeom prst="rect">
            <a:avLst/>
          </a:prstGeom>
          <a:noFill/>
          <a:ln/>
        </p:spPr>
        <p:txBody>
          <a:bodyPr wrap="square" lIns="0" tIns="0" rIns="0" bIns="0" rtlCol="0" anchor="t"/>
          <a:lstStyle/>
          <a:p>
            <a:pPr indent="0" marL="0">
              <a:buNone/>
            </a:pPr>
            <a:r>
              <a:rPr lang="en-US" sz="1500" b="1" dirty="0">
                <a:solidFill>
                  <a:schemeClr val="accent3"/>
                </a:solidFill>
              </a:rPr>
              <a:t>✓ </a:t>
            </a:r>
            <a:pPr indent="0" marL="0">
              <a:buNone/>
            </a:pPr>
            <a:r>
              <a:rPr lang="en-US" sz="1500" b="1" dirty="0">
                <a:solidFill>
                  <a:schemeClr val="tx1"/>
                </a:solidFill>
              </a:rPr>
              <a:t>Reusable skills</a:t>
            </a:r>
            <a:endParaRPr lang="en-US" sz="1500" dirty="0"/>
          </a:p>
        </p:txBody>
      </p:sp>
      <p:sp>
        <p:nvSpPr>
          <p:cNvPr id="31" name="AI Operating System adv text 3"/>
          <p:cNvSpPr txBox="1"/>
          <p:nvPr/>
        </p:nvSpPr>
        <p:spPr>
          <a:xfrm>
            <a:off x="6739128" y="4251960"/>
            <a:ext cx="4206240" cy="320040"/>
          </a:xfrm>
          <a:prstGeom prst="rect">
            <a:avLst/>
          </a:prstGeom>
          <a:noFill/>
          <a:ln/>
        </p:spPr>
        <p:txBody>
          <a:bodyPr wrap="square" lIns="0" tIns="0" rIns="0" bIns="0" rtlCol="0" anchor="t"/>
          <a:lstStyle/>
          <a:p>
            <a:pPr indent="0" marL="0">
              <a:buNone/>
            </a:pPr>
            <a:r>
              <a:rPr lang="en-US" sz="1250" dirty="0">
                <a:solidFill>
                  <a:schemeClr val="tx2"/>
                </a:solidFill>
              </a:rPr>
              <a:t>SKILL.md know-how loaded when the task fits</a:t>
            </a:r>
            <a:endParaRPr lang="en-US" sz="1250" dirty="0"/>
          </a:p>
        </p:txBody>
      </p:sp>
      <p:sp>
        <p:nvSpPr>
          <p:cNvPr id="32" name="AI Operating System adv ref 3"/>
          <p:cNvSpPr txBox="1"/>
          <p:nvPr/>
        </p:nvSpPr>
        <p:spPr>
          <a:xfrm>
            <a:off x="10881360" y="3959352"/>
            <a:ext cx="685800" cy="274320"/>
          </a:xfrm>
          <a:prstGeom prst="rect">
            <a:avLst/>
          </a:prstGeom>
          <a:noFill/>
          <a:ln/>
        </p:spPr>
        <p:txBody>
          <a:bodyPr wrap="square" lIns="0" tIns="0" rIns="0" bIns="0" rtlCol="0" anchor="t"/>
          <a:lstStyle/>
          <a:p>
            <a:pPr algn="r" indent="0" marL="0">
              <a:buNone/>
            </a:pPr>
            <a:r>
              <a:rPr lang="en-US" sz="1050" dirty="0">
                <a:solidFill>
                  <a:schemeClr val="accent6"/>
                </a:solidFill>
              </a:rPr>
              <a:t>[1] [6]</a:t>
            </a:r>
            <a:endParaRPr lang="en-US" sz="1050" dirty="0"/>
          </a:p>
        </p:txBody>
      </p:sp>
      <p:sp>
        <p:nvSpPr>
          <p:cNvPr id="33" name="AI Operating System adv row 4"/>
          <p:cNvSpPr txBox="1"/>
          <p:nvPr/>
        </p:nvSpPr>
        <p:spPr>
          <a:xfrm>
            <a:off x="6446520" y="4700016"/>
            <a:ext cx="4480560" cy="301752"/>
          </a:xfrm>
          <a:prstGeom prst="rect">
            <a:avLst/>
          </a:prstGeom>
          <a:noFill/>
          <a:ln/>
        </p:spPr>
        <p:txBody>
          <a:bodyPr wrap="square" lIns="0" tIns="0" rIns="0" bIns="0" rtlCol="0" anchor="t"/>
          <a:lstStyle/>
          <a:p>
            <a:pPr indent="0" marL="0">
              <a:buNone/>
            </a:pPr>
            <a:r>
              <a:rPr lang="en-US" sz="1500" b="1" dirty="0">
                <a:solidFill>
                  <a:schemeClr val="accent3"/>
                </a:solidFill>
              </a:rPr>
              <a:t>✓ </a:t>
            </a:r>
            <a:pPr indent="0" marL="0">
              <a:buNone/>
            </a:pPr>
            <a:r>
              <a:rPr lang="en-US" sz="1500" b="1" dirty="0">
                <a:solidFill>
                  <a:schemeClr val="tx1"/>
                </a:solidFill>
              </a:rPr>
              <a:t>Best reading so far</a:t>
            </a:r>
            <a:endParaRPr lang="en-US" sz="1500" dirty="0"/>
          </a:p>
        </p:txBody>
      </p:sp>
      <p:sp>
        <p:nvSpPr>
          <p:cNvPr id="34" name="AI Operating System adv text 4"/>
          <p:cNvSpPr txBox="1"/>
          <p:nvPr/>
        </p:nvSpPr>
        <p:spPr>
          <a:xfrm>
            <a:off x="6739128" y="5010912"/>
            <a:ext cx="4206240" cy="320040"/>
          </a:xfrm>
          <a:prstGeom prst="rect">
            <a:avLst/>
          </a:prstGeom>
          <a:noFill/>
          <a:ln/>
        </p:spPr>
        <p:txBody>
          <a:bodyPr wrap="square" lIns="0" tIns="0" rIns="0" bIns="0" rtlCol="0" anchor="t"/>
          <a:lstStyle/>
          <a:p>
            <a:pPr indent="0" marL="0">
              <a:buNone/>
            </a:pPr>
            <a:r>
              <a:rPr lang="en-US" sz="1250" dirty="0">
                <a:solidFill>
                  <a:schemeClr val="tx2"/>
                </a:solidFill>
              </a:rPr>
              <a:t>reproducible page forms; highest measured scores</a:t>
            </a:r>
            <a:endParaRPr lang="en-US" sz="1250" dirty="0"/>
          </a:p>
        </p:txBody>
      </p:sp>
      <p:sp>
        <p:nvSpPr>
          <p:cNvPr id="35" name="AI Operating System adv ref 4"/>
          <p:cNvSpPr txBox="1"/>
          <p:nvPr/>
        </p:nvSpPr>
        <p:spPr>
          <a:xfrm>
            <a:off x="10881360" y="4718304"/>
            <a:ext cx="685800" cy="274320"/>
          </a:xfrm>
          <a:prstGeom prst="rect">
            <a:avLst/>
          </a:prstGeom>
          <a:noFill/>
          <a:ln/>
        </p:spPr>
        <p:txBody>
          <a:bodyPr wrap="square" lIns="0" tIns="0" rIns="0" bIns="0" rtlCol="0" anchor="t"/>
          <a:lstStyle/>
          <a:p>
            <a:pPr algn="r" indent="0" marL="0">
              <a:buNone/>
            </a:pPr>
            <a:r>
              <a:rPr lang="en-US" sz="1050" dirty="0">
                <a:solidFill>
                  <a:schemeClr val="accent6"/>
                </a:solidFill>
              </a:rPr>
              <a:t>[11]</a:t>
            </a:r>
            <a:endParaRPr lang="en-US" sz="1050" dirty="0"/>
          </a:p>
        </p:txBody>
      </p:sp>
      <p:sp>
        <p:nvSpPr>
          <p:cNvPr id="36" name="choose note"/>
          <p:cNvSpPr txBox="1"/>
          <p:nvPr/>
        </p:nvSpPr>
        <p:spPr>
          <a:xfrm>
            <a:off x="548640" y="5623560"/>
            <a:ext cx="11064240" cy="548640"/>
          </a:xfrm>
          <a:prstGeom prst="rect">
            <a:avLst/>
          </a:prstGeom>
          <a:noFill/>
          <a:ln/>
        </p:spPr>
        <p:txBody>
          <a:bodyPr wrap="square" lIns="0" tIns="0" rIns="0" bIns="0" rtlCol="0" anchor="t"/>
          <a:lstStyle/>
          <a:p>
            <a:pPr indent="0" marL="0">
              <a:buNone/>
            </a:pPr>
            <a:r>
              <a:rPr lang="en-US" sz="1250" b="1" dirty="0">
                <a:solidFill>
                  <a:schemeClr val="accent1"/>
                </a:solidFill>
              </a:rPr>
              <a:t>Choose: </a:t>
            </a:r>
            <a:pPr indent="0" marL="0">
              <a:buNone/>
            </a:pPr>
            <a:r>
              <a:rPr lang="en-US" sz="1250" dirty="0">
                <a:solidFill>
                  <a:schemeClr val="accent1"/>
                </a:solidFill>
              </a:rPr>
              <a:t>the web app for contractors, quick DWG/DXF jobs and demos · the AI OS for your own estimating — it needs VS Code, Claude Code and a Claude plan (if an API key is set on the computer, Claude Code bills the API instead [3]).</a:t>
            </a:r>
            <a:endParaRPr lang="en-US" sz="125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Set up on Windows or Mac in two commands</a:t>
            </a:r>
            <a:endParaRPr lang="en-US" sz="3000" dirty="0"/>
          </a:p>
        </p:txBody>
      </p:sp>
      <p:graphicFrame>
        <p:nvGraphicFramePr>
          <p:cNvPr id="23" name="prerequisites table"/>
          <p:cNvGraphicFramePr>
            <a:graphicFrameLocks noGrp="1"/>
          </p:cNvGraphicFramePr>
          <p:nvPr>
            <p:extLst>
              <p:ext uri="{D42A27DB-BD31-4B8C-83A1-F6EECF244321}">
                <p14:modId xmlns:p14="http://schemas.microsoft.com/office/powerpoint/2010/main" val="1579011935"/>
              </p:ext>
            </p:extLst>
          </p:nvPr>
        </p:nvGraphicFramePr>
        <p:xfrm>
          <a:off x="548640" y="1417320"/>
          <a:ext cx="6035040" cy="914400"/>
        </p:xfrm>
        <a:graphic>
          <a:graphicData uri="http://schemas.openxmlformats.org/drawingml/2006/table">
            <a:tbl>
              <a:tblPr/>
              <a:tblGrid>
                <a:gridCol w="1828800"/>
                <a:gridCol w="822960"/>
                <a:gridCol w="1691640"/>
                <a:gridCol w="1691640"/>
              </a:tblGrid>
              <a:tr h="457200">
                <a:tc>
                  <a:txBody>
                    <a:bodyPr/>
                    <a:lstStyle/>
                    <a:p>
                      <a:pPr indent="0" marL="0">
                        <a:buNone/>
                      </a:pPr>
                      <a:r>
                        <a:rPr lang="en-US" sz="1250" b="1" dirty="0">
                          <a:solidFill>
                            <a:schemeClr val="bg1"/>
                          </a:solidFill>
                        </a:rPr>
                        <a:t>Tool</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solidFill>
                      <a:schemeClr val="tx1"/>
                    </a:solidFill>
                  </a:tcPr>
                </a:tc>
                <a:tc>
                  <a:txBody>
                    <a:bodyPr/>
                    <a:lstStyle/>
                    <a:p>
                      <a:pPr indent="0" marL="0">
                        <a:buNone/>
                      </a:pPr>
                      <a:r>
                        <a:rPr lang="en-US" sz="1250" b="1" dirty="0">
                          <a:solidFill>
                            <a:schemeClr val="bg1"/>
                          </a:solidFill>
                        </a:rPr>
                        <a:t>Version</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solidFill>
                      <a:schemeClr val="tx1"/>
                    </a:solidFill>
                  </a:tcPr>
                </a:tc>
                <a:tc>
                  <a:txBody>
                    <a:bodyPr/>
                    <a:lstStyle/>
                    <a:p>
                      <a:pPr indent="0" marL="0">
                        <a:buNone/>
                      </a:pPr>
                      <a:r>
                        <a:rPr lang="en-US" sz="1250" b="1" dirty="0">
                          <a:solidFill>
                            <a:schemeClr val="bg1"/>
                          </a:solidFill>
                        </a:rPr>
                        <a:t>Windows</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solidFill>
                      <a:schemeClr val="tx1"/>
                    </a:solidFill>
                  </a:tcPr>
                </a:tc>
                <a:tc>
                  <a:txBody>
                    <a:bodyPr/>
                    <a:lstStyle/>
                    <a:p>
                      <a:pPr indent="0" marL="0">
                        <a:buNone/>
                      </a:pPr>
                      <a:r>
                        <a:rPr lang="en-US" sz="1250" b="1" dirty="0">
                          <a:solidFill>
                            <a:schemeClr val="bg1"/>
                          </a:solidFill>
                        </a:rPr>
                        <a:t>macOS</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solidFill>
                      <a:schemeClr val="tx1"/>
                    </a:solidFill>
                  </a:tcPr>
                </a:tc>
              </a:tr>
              <a:tr h="457200">
                <a:tc>
                  <a:txBody>
                    <a:bodyPr/>
                    <a:lstStyle/>
                    <a:p>
                      <a:pPr indent="0" marL="0">
                        <a:buNone/>
                      </a:pPr>
                      <a:r>
                        <a:rPr lang="en-US" sz="1250" dirty="0">
                          <a:solidFill>
                            <a:schemeClr val="tx1"/>
                          </a:solidFill>
                        </a:rPr>
                        <a:t>Git</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any</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git-scm.com</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xcode-select --install</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r h="457200">
                <a:tc>
                  <a:txBody>
                    <a:bodyPr/>
                    <a:lstStyle/>
                    <a:p>
                      <a:pPr indent="0" marL="0">
                        <a:buNone/>
                      </a:pPr>
                      <a:r>
                        <a:rPr lang="en-US" sz="1250" dirty="0">
                          <a:solidFill>
                            <a:schemeClr val="tx1"/>
                          </a:solidFill>
                        </a:rPr>
                        <a:t>Python</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3.12+</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python.org</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brew install python@3.12</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r h="457200">
                <a:tc>
                  <a:txBody>
                    <a:bodyPr/>
                    <a:lstStyle/>
                    <a:p>
                      <a:pPr indent="0" marL="0">
                        <a:buNone/>
                      </a:pPr>
                      <a:r>
                        <a:rPr lang="en-US" sz="1250" dirty="0">
                          <a:solidFill>
                            <a:schemeClr val="tx1"/>
                          </a:solidFill>
                        </a:rPr>
                        <a:t>Node.js</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20+</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nodejs.org</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brew install node</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r h="457200">
                <a:tc>
                  <a:txBody>
                    <a:bodyPr/>
                    <a:lstStyle/>
                    <a:p>
                      <a:pPr indent="0" marL="0">
                        <a:buNone/>
                      </a:pPr>
                      <a:r>
                        <a:rPr lang="en-US" sz="1250" dirty="0">
                          <a:solidFill>
                            <a:schemeClr val="tx1"/>
                          </a:solidFill>
                        </a:rPr>
                        <a:t>LibreDWG (optional)</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0.14</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releases → dwg2dxf.exe</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brew install libredwg</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r h="457200">
                <a:tc>
                  <a:txBody>
                    <a:bodyPr/>
                    <a:lstStyle/>
                    <a:p>
                      <a:pPr indent="0" marL="0">
                        <a:buNone/>
                      </a:pPr>
                      <a:r>
                        <a:rPr lang="en-US" sz="1250" dirty="0">
                          <a:solidFill>
                            <a:schemeClr val="tx1"/>
                          </a:solidFill>
                        </a:rPr>
                        <a:t>Claude Code (optional)</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latest</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claude.com/claude-code</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same</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bl>
          </a:graphicData>
        </a:graphic>
      </p:graphicFrame>
      <p:sp>
        <p:nvSpPr>
          <p:cNvPr id="5" name="setup box"/>
          <p:cNvSpPr/>
          <p:nvPr/>
        </p:nvSpPr>
        <p:spPr>
          <a:xfrm>
            <a:off x="6903720" y="1417320"/>
            <a:ext cx="4709160" cy="2240280"/>
          </a:xfrm>
          <a:prstGeom prst="roundRect">
            <a:avLst>
              <a:gd name="adj" fmla="val 4082"/>
            </a:avLst>
          </a:prstGeom>
          <a:solidFill>
            <a:schemeClr val="tx1"/>
          </a:solidFill>
          <a:ln w="12700">
            <a:solidFill>
              <a:srgbClr val="101A33"/>
            </a:solidFill>
            <a:prstDash val="solid"/>
          </a:ln>
        </p:spPr>
      </p:sp>
      <p:sp>
        <p:nvSpPr>
          <p:cNvPr id="6" name="setup commands"/>
          <p:cNvSpPr txBox="1"/>
          <p:nvPr/>
        </p:nvSpPr>
        <p:spPr>
          <a:xfrm>
            <a:off x="7132320" y="1600200"/>
            <a:ext cx="4343400" cy="2423160"/>
          </a:xfrm>
          <a:prstGeom prst="rect">
            <a:avLst/>
          </a:prstGeom>
          <a:noFill/>
          <a:ln/>
        </p:spPr>
        <p:txBody>
          <a:bodyPr wrap="square" lIns="0" tIns="0" rIns="0" bIns="0" rtlCol="0" anchor="t"/>
          <a:lstStyle/>
          <a:p>
            <a:pPr indent="0" marL="0">
              <a:buNone/>
            </a:pPr>
            <a:r>
              <a:rPr lang="en-US" sz="1350" dirty="0">
                <a:solidFill>
                  <a:schemeClr val="accent2"/>
                </a:solidFill>
              </a:rPr>
              <a:t># once per computer</a:t>
            </a:r>
            <a:endParaRPr lang="en-US" sz="1350" dirty="0"/>
          </a:p>
          <a:p>
            <a:pPr indent="0" marL="0">
              <a:buNone/>
            </a:pPr>
            <a:r>
              <a:rPr lang="en-US" sz="1350" dirty="0">
                <a:solidFill>
                  <a:schemeClr val="bg1"/>
                </a:solidFill>
                <a:latin typeface="Courier New" pitchFamily="34" charset="0"/>
                <a:ea typeface="Courier New" pitchFamily="34" charset="-122"/>
                <a:cs typeface="Courier New" pitchFamily="34" charset="-120"/>
              </a:rPr>
              <a:t>git clone https://github.com/</a:t>
            </a:r>
            <a:endParaRPr lang="en-US" sz="1350" dirty="0"/>
          </a:p>
          <a:p>
            <a:pPr indent="0" marL="0">
              <a:buNone/>
            </a:pPr>
            <a:r>
              <a:rPr lang="en-US" sz="1350" dirty="0">
                <a:solidFill>
                  <a:schemeClr val="bg1"/>
                </a:solidFill>
                <a:latin typeface="Courier New" pitchFamily="34" charset="0"/>
                <a:ea typeface="Courier New" pitchFamily="34" charset="-122"/>
                <a:cs typeface="Courier New" pitchFamily="34" charset="-120"/>
              </a:rPr>
              <a:t>    Jonathan-Lukwichi/afriplan-ai.git</a:t>
            </a:r>
            <a:endParaRPr lang="en-US" sz="1350" dirty="0"/>
          </a:p>
          <a:p>
            <a:pPr indent="0" marL="0">
              <a:buNone/>
            </a:pPr>
            <a:r>
              <a:rPr lang="en-US" sz="1350" dirty="0">
                <a:solidFill>
                  <a:schemeClr val="bg1"/>
                </a:solidFill>
                <a:latin typeface="Courier New" pitchFamily="34" charset="0"/>
                <a:ea typeface="Courier New" pitchFamily="34" charset="-122"/>
                <a:cs typeface="Courier New" pitchFamily="34" charset="-120"/>
              </a:rPr>
              <a:t>cd afriplan-ai</a:t>
            </a:r>
            <a:endParaRPr lang="en-US" sz="1350" dirty="0"/>
          </a:p>
          <a:p>
            <a:pPr indent="0" marL="0">
              <a:buNone/>
            </a:pPr>
            <a:r>
              <a:rPr lang="en-US" sz="1350" dirty="0">
                <a:solidFill>
                  <a:schemeClr val="bg1"/>
                </a:solidFill>
                <a:latin typeface="Courier New" pitchFamily="34" charset="0"/>
                <a:ea typeface="Courier New" pitchFamily="34" charset="-122"/>
                <a:cs typeface="Courier New" pitchFamily="34" charset="-120"/>
              </a:rPr>
              <a:t>python scripts/dev.py setup</a:t>
            </a:r>
            <a:endParaRPr lang="en-US" sz="1350" dirty="0"/>
          </a:p>
          <a:p>
            <a:pPr indent="0" marL="0">
              <a:buNone/>
            </a:pPr>
            <a:r>
              <a:rPr lang="en-US" sz="1350" dirty="0">
                <a:solidFill>
                  <a:schemeClr val="accent2"/>
                </a:solidFill>
              </a:rPr>
              <a:t># every time</a:t>
            </a:r>
            <a:endParaRPr lang="en-US" sz="1350" dirty="0"/>
          </a:p>
          <a:p>
            <a:pPr indent="0" marL="0">
              <a:buNone/>
            </a:pPr>
            <a:r>
              <a:rPr lang="en-US" sz="1350" dirty="0">
                <a:solidFill>
                  <a:schemeClr val="bg1"/>
                </a:solidFill>
                <a:latin typeface="Courier New" pitchFamily="34" charset="0"/>
                <a:ea typeface="Courier New" pitchFamily="34" charset="-122"/>
                <a:cs typeface="Courier New" pitchFamily="34" charset="-120"/>
              </a:rPr>
              <a:t>python scripts/dev.py start</a:t>
            </a:r>
            <a:endParaRPr lang="en-US" sz="1350" dirty="0"/>
          </a:p>
        </p:txBody>
      </p:sp>
      <p:sp>
        <p:nvSpPr>
          <p:cNvPr id="7" name="setup tip 1 circle"/>
          <p:cNvSpPr/>
          <p:nvPr/>
        </p:nvSpPr>
        <p:spPr>
          <a:xfrm>
            <a:off x="6903720" y="3931920"/>
            <a:ext cx="384048" cy="384048"/>
          </a:xfrm>
          <a:prstGeom prst="ellipse">
            <a:avLst/>
          </a:prstGeom>
          <a:solidFill>
            <a:srgbClr val="F2F4F9"/>
          </a:solidFill>
          <a:ln w="12700">
            <a:solidFill>
              <a:srgbClr val="F2F4F9"/>
            </a:solidFill>
            <a:prstDash val="solid"/>
          </a:ln>
        </p:spPr>
      </p:sp>
      <p:pic>
        <p:nvPicPr>
          <p:cNvPr id="8" name="setup tip 1 icon" descr="preencoded.png">    </p:cNvPr>
          <p:cNvPicPr>
            <a:picLocks noChangeAspect="1"/>
          </p:cNvPicPr>
          <p:nvPr/>
        </p:nvPicPr>
        <p:blipFill>
          <a:blip r:embed="rId1"/>
          <a:stretch>
            <a:fillRect/>
          </a:stretch>
        </p:blipFill>
        <p:spPr>
          <a:xfrm>
            <a:off x="7003572" y="4031772"/>
            <a:ext cx="184343" cy="184343"/>
          </a:xfrm>
          <a:prstGeom prst="rect">
            <a:avLst/>
          </a:prstGeom>
        </p:spPr>
      </p:pic>
      <p:sp>
        <p:nvSpPr>
          <p:cNvPr id="9" name="setup tip text 1"/>
          <p:cNvSpPr txBox="1"/>
          <p:nvPr/>
        </p:nvSpPr>
        <p:spPr>
          <a:xfrm>
            <a:off x="7406640" y="3986784"/>
            <a:ext cx="4206240" cy="384048"/>
          </a:xfrm>
          <a:prstGeom prst="rect">
            <a:avLst/>
          </a:prstGeom>
          <a:noFill/>
          <a:ln/>
        </p:spPr>
        <p:txBody>
          <a:bodyPr wrap="square" lIns="0" tIns="0" rIns="0" bIns="0" rtlCol="0" anchor="t"/>
          <a:lstStyle/>
          <a:p>
            <a:pPr indent="0" marL="0">
              <a:buNone/>
            </a:pPr>
            <a:r>
              <a:rPr lang="en-US" sz="1250" dirty="0">
                <a:solidFill>
                  <a:schemeClr val="tx1"/>
                </a:solidFill>
              </a:rPr>
              <a:t>On a Mac, type python3 instead of python.</a:t>
            </a:r>
            <a:endParaRPr lang="en-US" sz="1250" dirty="0"/>
          </a:p>
        </p:txBody>
      </p:sp>
      <p:sp>
        <p:nvSpPr>
          <p:cNvPr id="10" name="setup tip 2 circle"/>
          <p:cNvSpPr/>
          <p:nvPr/>
        </p:nvSpPr>
        <p:spPr>
          <a:xfrm>
            <a:off x="6903720" y="4480560"/>
            <a:ext cx="384048" cy="384048"/>
          </a:xfrm>
          <a:prstGeom prst="ellipse">
            <a:avLst/>
          </a:prstGeom>
          <a:solidFill>
            <a:srgbClr val="F2F4F9"/>
          </a:solidFill>
          <a:ln w="12700">
            <a:solidFill>
              <a:srgbClr val="F2F4F9"/>
            </a:solidFill>
            <a:prstDash val="solid"/>
          </a:ln>
        </p:spPr>
      </p:sp>
      <p:pic>
        <p:nvPicPr>
          <p:cNvPr id="11" name="setup tip 2 icon" descr="preencoded.png">    </p:cNvPr>
          <p:cNvPicPr>
            <a:picLocks noChangeAspect="1"/>
          </p:cNvPicPr>
          <p:nvPr/>
        </p:nvPicPr>
        <p:blipFill>
          <a:blip r:embed="rId2"/>
          <a:stretch>
            <a:fillRect/>
          </a:stretch>
        </p:blipFill>
        <p:spPr>
          <a:xfrm>
            <a:off x="7003572" y="4580412"/>
            <a:ext cx="184343" cy="184343"/>
          </a:xfrm>
          <a:prstGeom prst="rect">
            <a:avLst/>
          </a:prstGeom>
        </p:spPr>
      </p:pic>
      <p:sp>
        <p:nvSpPr>
          <p:cNvPr id="12" name="setup tip text 2"/>
          <p:cNvSpPr txBox="1"/>
          <p:nvPr/>
        </p:nvSpPr>
        <p:spPr>
          <a:xfrm>
            <a:off x="7406640" y="4535424"/>
            <a:ext cx="4206240" cy="384048"/>
          </a:xfrm>
          <a:prstGeom prst="rect">
            <a:avLst/>
          </a:prstGeom>
          <a:noFill/>
          <a:ln/>
        </p:spPr>
        <p:txBody>
          <a:bodyPr wrap="square" lIns="0" tIns="0" rIns="0" bIns="0" rtlCol="0" anchor="t"/>
          <a:lstStyle/>
          <a:p>
            <a:pPr indent="0" marL="0">
              <a:buNone/>
            </a:pPr>
            <a:r>
              <a:rPr lang="en-US" sz="1250" dirty="0">
                <a:solidFill>
                  <a:schemeClr val="tx1"/>
                </a:solidFill>
              </a:rPr>
              <a:t>On Windows, clone into a short path (e.g. C:\dev) — very deep folders can break installs.</a:t>
            </a:r>
            <a:endParaRPr lang="en-US" sz="1250" dirty="0"/>
          </a:p>
        </p:txBody>
      </p:sp>
      <p:sp>
        <p:nvSpPr>
          <p:cNvPr id="13" name="setup tip 3 circle"/>
          <p:cNvSpPr/>
          <p:nvPr/>
        </p:nvSpPr>
        <p:spPr>
          <a:xfrm>
            <a:off x="6903720" y="5029200"/>
            <a:ext cx="384048" cy="384048"/>
          </a:xfrm>
          <a:prstGeom prst="ellipse">
            <a:avLst/>
          </a:prstGeom>
          <a:solidFill>
            <a:srgbClr val="F2F4F9"/>
          </a:solidFill>
          <a:ln w="12700">
            <a:solidFill>
              <a:srgbClr val="F2F4F9"/>
            </a:solidFill>
            <a:prstDash val="solid"/>
          </a:ln>
        </p:spPr>
      </p:sp>
      <p:pic>
        <p:nvPicPr>
          <p:cNvPr id="14" name="setup tip 3 icon" descr="preencoded.png">    </p:cNvPr>
          <p:cNvPicPr>
            <a:picLocks noChangeAspect="1"/>
          </p:cNvPicPr>
          <p:nvPr/>
        </p:nvPicPr>
        <p:blipFill>
          <a:blip r:embed="rId3"/>
          <a:stretch>
            <a:fillRect/>
          </a:stretch>
        </p:blipFill>
        <p:spPr>
          <a:xfrm>
            <a:off x="7003572" y="5129052"/>
            <a:ext cx="184343" cy="184343"/>
          </a:xfrm>
          <a:prstGeom prst="rect">
            <a:avLst/>
          </a:prstGeom>
        </p:spPr>
      </p:pic>
      <p:sp>
        <p:nvSpPr>
          <p:cNvPr id="15" name="setup tip text 3"/>
          <p:cNvSpPr txBox="1"/>
          <p:nvPr/>
        </p:nvSpPr>
        <p:spPr>
          <a:xfrm>
            <a:off x="7406640" y="5084064"/>
            <a:ext cx="4206240" cy="384048"/>
          </a:xfrm>
          <a:prstGeom prst="rect">
            <a:avLst/>
          </a:prstGeom>
          <a:noFill/>
          <a:ln/>
        </p:spPr>
        <p:txBody>
          <a:bodyPr wrap="square" lIns="0" tIns="0" rIns="0" bIns="0" rtlCol="0" anchor="t"/>
          <a:lstStyle/>
          <a:p>
            <a:pPr indent="0" marL="0">
              <a:buNone/>
            </a:pPr>
            <a:r>
              <a:rPr lang="en-US" sz="1250" dirty="0">
                <a:solidFill>
                  <a:schemeClr val="tx1"/>
                </a:solidFill>
              </a:rPr>
              <a:t>Keys (optional) go in api/.env: ANTHROPIC_API_KEY or GEMINI_API_KEY.</a:t>
            </a:r>
            <a:endParaRPr lang="en-US" sz="125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We check reading accuracy first — pricing comes next</a:t>
            </a:r>
            <a:endParaRPr lang="en-US" sz="3000" dirty="0"/>
          </a:p>
        </p:txBody>
      </p:sp>
      <p:sp>
        <p:nvSpPr>
          <p:cNvPr id="4" name="Reading accuracy card"/>
          <p:cNvSpPr/>
          <p:nvPr/>
        </p:nvSpPr>
        <p:spPr>
          <a:xfrm>
            <a:off x="548640" y="1417320"/>
            <a:ext cx="5440680" cy="3154680"/>
          </a:xfrm>
          <a:prstGeom prst="roundRect">
            <a:avLst>
              <a:gd name="adj" fmla="val 3478"/>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5" name="Reading accuracy circle"/>
          <p:cNvSpPr/>
          <p:nvPr/>
        </p:nvSpPr>
        <p:spPr>
          <a:xfrm>
            <a:off x="822960" y="1645920"/>
            <a:ext cx="777240" cy="777240"/>
          </a:xfrm>
          <a:prstGeom prst="ellipse">
            <a:avLst/>
          </a:prstGeom>
          <a:solidFill>
            <a:srgbClr val="2E5BE8"/>
          </a:solidFill>
          <a:ln w="12700">
            <a:solidFill>
              <a:srgbClr val="2E5BE8"/>
            </a:solidFill>
            <a:prstDash val="solid"/>
          </a:ln>
        </p:spPr>
      </p:sp>
      <p:pic>
        <p:nvPicPr>
          <p:cNvPr id="6" name="Reading accuracy icon" descr="preencoded.png">    </p:cNvPr>
          <p:cNvPicPr>
            <a:picLocks noChangeAspect="1"/>
          </p:cNvPicPr>
          <p:nvPr/>
        </p:nvPicPr>
        <p:blipFill>
          <a:blip r:embed="rId1"/>
          <a:stretch>
            <a:fillRect/>
          </a:stretch>
        </p:blipFill>
        <p:spPr>
          <a:xfrm>
            <a:off x="1025042" y="1848002"/>
            <a:ext cx="373075" cy="373075"/>
          </a:xfrm>
          <a:prstGeom prst="rect">
            <a:avLst/>
          </a:prstGeom>
        </p:spPr>
      </p:pic>
      <p:sp>
        <p:nvSpPr>
          <p:cNvPr id="7" name="Reading accuracy title"/>
          <p:cNvSpPr txBox="1"/>
          <p:nvPr/>
        </p:nvSpPr>
        <p:spPr>
          <a:xfrm>
            <a:off x="1783080" y="1664208"/>
            <a:ext cx="3017520" cy="411480"/>
          </a:xfrm>
          <a:prstGeom prst="rect">
            <a:avLst/>
          </a:prstGeom>
          <a:noFill/>
          <a:ln/>
        </p:spPr>
        <p:txBody>
          <a:bodyPr wrap="square" lIns="0" tIns="0" rIns="0" bIns="0" rtlCol="0" anchor="t"/>
          <a:lstStyle/>
          <a:p>
            <a:pPr indent="0" marL="0">
              <a:buNone/>
            </a:pPr>
            <a:r>
              <a:rPr lang="en-US" sz="2100" b="1" dirty="0">
                <a:solidFill>
                  <a:schemeClr val="tx1"/>
                </a:solidFill>
              </a:rPr>
              <a:t>Reading accuracy</a:t>
            </a:r>
            <a:endParaRPr lang="en-US" sz="2100" dirty="0"/>
          </a:p>
        </p:txBody>
      </p:sp>
      <p:sp>
        <p:nvSpPr>
          <p:cNvPr id="8" name="Reading accuracy tag"/>
          <p:cNvSpPr/>
          <p:nvPr/>
        </p:nvSpPr>
        <p:spPr>
          <a:xfrm>
            <a:off x="4754880" y="1719072"/>
            <a:ext cx="960120" cy="365760"/>
          </a:xfrm>
          <a:prstGeom prst="roundRect">
            <a:avLst>
              <a:gd name="adj" fmla="val 50000"/>
            </a:avLst>
          </a:prstGeom>
          <a:solidFill>
            <a:srgbClr val="0F8A5F"/>
          </a:solidFill>
          <a:ln w="12700">
            <a:solidFill>
              <a:srgbClr val="0F8A5F"/>
            </a:solidFill>
            <a:prstDash val="solid"/>
          </a:ln>
        </p:spPr>
      </p:sp>
      <p:sp>
        <p:nvSpPr>
          <p:cNvPr id="9" name="Reading accuracy tag text"/>
          <p:cNvSpPr txBox="1"/>
          <p:nvPr/>
        </p:nvSpPr>
        <p:spPr>
          <a:xfrm>
            <a:off x="4754880" y="1719072"/>
            <a:ext cx="960120" cy="365760"/>
          </a:xfrm>
          <a:prstGeom prst="rect">
            <a:avLst/>
          </a:prstGeom>
          <a:noFill/>
          <a:ln/>
        </p:spPr>
        <p:txBody>
          <a:bodyPr wrap="square" lIns="0" tIns="0" rIns="0" bIns="0" rtlCol="0" anchor="ctr"/>
          <a:lstStyle/>
          <a:p>
            <a:pPr algn="ctr" indent="0" marL="0">
              <a:buNone/>
            </a:pPr>
            <a:r>
              <a:rPr lang="en-US" sz="1200" b="1" dirty="0">
                <a:solidFill>
                  <a:schemeClr val="bg1"/>
                </a:solidFill>
              </a:rPr>
              <a:t>NOW</a:t>
            </a:r>
            <a:endParaRPr lang="en-US" sz="1200" dirty="0"/>
          </a:p>
        </p:txBody>
      </p:sp>
      <p:sp>
        <p:nvSpPr>
          <p:cNvPr id="10" name="Reading accuracy question"/>
          <p:cNvSpPr txBox="1"/>
          <p:nvPr/>
        </p:nvSpPr>
        <p:spPr>
          <a:xfrm>
            <a:off x="1783080" y="2103120"/>
            <a:ext cx="4023360" cy="365760"/>
          </a:xfrm>
          <a:prstGeom prst="rect">
            <a:avLst/>
          </a:prstGeom>
          <a:noFill/>
          <a:ln/>
        </p:spPr>
        <p:txBody>
          <a:bodyPr wrap="square" lIns="0" tIns="0" rIns="0" bIns="0" rtlCol="0" anchor="t"/>
          <a:lstStyle/>
          <a:p>
            <a:pPr indent="0" marL="0">
              <a:buNone/>
            </a:pPr>
            <a:r>
              <a:rPr lang="en-US" sz="1400" i="1" dirty="0">
                <a:solidFill>
                  <a:schemeClr val="tx2"/>
                </a:solidFill>
              </a:rPr>
              <a:t>Did AfriPlan read what is drawn?</a:t>
            </a:r>
            <a:endParaRPr lang="en-US" sz="1400" dirty="0"/>
          </a:p>
        </p:txBody>
      </p:sp>
      <p:sp>
        <p:nvSpPr>
          <p:cNvPr id="11" name="Reading accuracy points"/>
          <p:cNvSpPr txBox="1"/>
          <p:nvPr/>
        </p:nvSpPr>
        <p:spPr>
          <a:xfrm>
            <a:off x="868680" y="2743200"/>
            <a:ext cx="4892040" cy="16916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The right items: boards, cables, lights, sockets, switches</a:t>
            </a:r>
            <a:endParaRPr lang="en-US" sz="1500" dirty="0"/>
          </a:p>
          <a:p>
            <a:pPr marL="342900" indent="-342900">
              <a:spcAft>
                <a:spcPts val="1000"/>
              </a:spcAft>
              <a:buSzPct val="100000"/>
              <a:buChar char="•"/>
            </a:pPr>
            <a:r>
              <a:rPr lang="en-US" sz="1500" dirty="0">
                <a:solidFill>
                  <a:schemeClr val="tx1"/>
                </a:solidFill>
              </a:rPr>
              <a:t>The right counts and the right lengths</a:t>
            </a:r>
            <a:endParaRPr lang="en-US" sz="1500" dirty="0"/>
          </a:p>
          <a:p>
            <a:pPr marL="342900" indent="-342900">
              <a:spcAft>
                <a:spcPts val="1000"/>
              </a:spcAft>
              <a:buSzPct val="100000"/>
              <a:buChar char="•"/>
            </a:pPr>
            <a:r>
              <a:rPr lang="en-US" sz="1500" dirty="0">
                <a:solidFill>
                  <a:schemeClr val="tx1"/>
                </a:solidFill>
              </a:rPr>
              <a:t>Only items counted or measured on the drawings</a:t>
            </a:r>
            <a:endParaRPr lang="en-US" sz="1500" dirty="0"/>
          </a:p>
          <a:p>
            <a:pPr marL="342900" indent="-342900">
              <a:spcAft>
                <a:spcPts val="1000"/>
              </a:spcAft>
              <a:buSzPct val="100000"/>
              <a:buChar char="•"/>
            </a:pPr>
            <a:r>
              <a:rPr lang="en-US" sz="1500" dirty="0">
                <a:solidFill>
                  <a:schemeClr val="tx1"/>
                </a:solidFill>
              </a:rPr>
              <a:t>Prices play no part — our rates never enter</a:t>
            </a:r>
            <a:endParaRPr lang="en-US" sz="1500" dirty="0"/>
          </a:p>
        </p:txBody>
      </p:sp>
      <p:sp>
        <p:nvSpPr>
          <p:cNvPr id="12" name="Pricing accuracy card"/>
          <p:cNvSpPr/>
          <p:nvPr/>
        </p:nvSpPr>
        <p:spPr>
          <a:xfrm>
            <a:off x="6172200" y="1417320"/>
            <a:ext cx="5440680" cy="3154680"/>
          </a:xfrm>
          <a:prstGeom prst="roundRect">
            <a:avLst>
              <a:gd name="adj" fmla="val 3478"/>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3" name="Pricing accuracy circle"/>
          <p:cNvSpPr/>
          <p:nvPr/>
        </p:nvSpPr>
        <p:spPr>
          <a:xfrm>
            <a:off x="6446520" y="1645920"/>
            <a:ext cx="777240" cy="777240"/>
          </a:xfrm>
          <a:prstGeom prst="ellipse">
            <a:avLst/>
          </a:prstGeom>
          <a:solidFill>
            <a:srgbClr val="2E5BE8"/>
          </a:solidFill>
          <a:ln w="12700">
            <a:solidFill>
              <a:srgbClr val="2E5BE8"/>
            </a:solidFill>
            <a:prstDash val="solid"/>
          </a:ln>
        </p:spPr>
      </p:sp>
      <p:pic>
        <p:nvPicPr>
          <p:cNvPr id="14" name="Pricing accuracy icon" descr="preencoded.png">    </p:cNvPr>
          <p:cNvPicPr>
            <a:picLocks noChangeAspect="1"/>
          </p:cNvPicPr>
          <p:nvPr/>
        </p:nvPicPr>
        <p:blipFill>
          <a:blip r:embed="rId2"/>
          <a:stretch>
            <a:fillRect/>
          </a:stretch>
        </p:blipFill>
        <p:spPr>
          <a:xfrm>
            <a:off x="6648602" y="1848002"/>
            <a:ext cx="373075" cy="373075"/>
          </a:xfrm>
          <a:prstGeom prst="rect">
            <a:avLst/>
          </a:prstGeom>
        </p:spPr>
      </p:pic>
      <p:sp>
        <p:nvSpPr>
          <p:cNvPr id="15" name="Pricing accuracy title"/>
          <p:cNvSpPr txBox="1"/>
          <p:nvPr/>
        </p:nvSpPr>
        <p:spPr>
          <a:xfrm>
            <a:off x="7406640" y="1664208"/>
            <a:ext cx="3017520" cy="411480"/>
          </a:xfrm>
          <a:prstGeom prst="rect">
            <a:avLst/>
          </a:prstGeom>
          <a:noFill/>
          <a:ln/>
        </p:spPr>
        <p:txBody>
          <a:bodyPr wrap="square" lIns="0" tIns="0" rIns="0" bIns="0" rtlCol="0" anchor="t"/>
          <a:lstStyle/>
          <a:p>
            <a:pPr indent="0" marL="0">
              <a:buNone/>
            </a:pPr>
            <a:r>
              <a:rPr lang="en-US" sz="2100" b="1" dirty="0">
                <a:solidFill>
                  <a:schemeClr val="tx1"/>
                </a:solidFill>
              </a:rPr>
              <a:t>Pricing accuracy</a:t>
            </a:r>
            <a:endParaRPr lang="en-US" sz="2100" dirty="0"/>
          </a:p>
        </p:txBody>
      </p:sp>
      <p:sp>
        <p:nvSpPr>
          <p:cNvPr id="16" name="Pricing accuracy tag"/>
          <p:cNvSpPr/>
          <p:nvPr/>
        </p:nvSpPr>
        <p:spPr>
          <a:xfrm>
            <a:off x="10378440" y="1719072"/>
            <a:ext cx="960120" cy="365760"/>
          </a:xfrm>
          <a:prstGeom prst="roundRect">
            <a:avLst>
              <a:gd name="adj" fmla="val 50000"/>
            </a:avLst>
          </a:prstGeom>
          <a:solidFill>
            <a:srgbClr val="8A93AB"/>
          </a:solidFill>
          <a:ln w="12700">
            <a:solidFill>
              <a:srgbClr val="8A93AB"/>
            </a:solidFill>
            <a:prstDash val="solid"/>
          </a:ln>
        </p:spPr>
      </p:sp>
      <p:sp>
        <p:nvSpPr>
          <p:cNvPr id="17" name="Pricing accuracy tag text"/>
          <p:cNvSpPr txBox="1"/>
          <p:nvPr/>
        </p:nvSpPr>
        <p:spPr>
          <a:xfrm>
            <a:off x="10378440" y="1719072"/>
            <a:ext cx="960120" cy="365760"/>
          </a:xfrm>
          <a:prstGeom prst="rect">
            <a:avLst/>
          </a:prstGeom>
          <a:noFill/>
          <a:ln/>
        </p:spPr>
        <p:txBody>
          <a:bodyPr wrap="square" lIns="0" tIns="0" rIns="0" bIns="0" rtlCol="0" anchor="ctr"/>
          <a:lstStyle/>
          <a:p>
            <a:pPr algn="ctr" indent="0" marL="0">
              <a:buNone/>
            </a:pPr>
            <a:r>
              <a:rPr lang="en-US" sz="1200" b="1" dirty="0">
                <a:solidFill>
                  <a:schemeClr val="bg1"/>
                </a:solidFill>
              </a:rPr>
              <a:t>NEXT</a:t>
            </a:r>
            <a:endParaRPr lang="en-US" sz="1200" dirty="0"/>
          </a:p>
        </p:txBody>
      </p:sp>
      <p:sp>
        <p:nvSpPr>
          <p:cNvPr id="18" name="Pricing accuracy question"/>
          <p:cNvSpPr txBox="1"/>
          <p:nvPr/>
        </p:nvSpPr>
        <p:spPr>
          <a:xfrm>
            <a:off x="7406640" y="2103120"/>
            <a:ext cx="4023360" cy="365760"/>
          </a:xfrm>
          <a:prstGeom prst="rect">
            <a:avLst/>
          </a:prstGeom>
          <a:noFill/>
          <a:ln/>
        </p:spPr>
        <p:txBody>
          <a:bodyPr wrap="square" lIns="0" tIns="0" rIns="0" bIns="0" rtlCol="0" anchor="t"/>
          <a:lstStyle/>
          <a:p>
            <a:pPr indent="0" marL="0">
              <a:buNone/>
            </a:pPr>
            <a:r>
              <a:rPr lang="en-US" sz="1400" i="1" dirty="0">
                <a:solidFill>
                  <a:schemeClr val="tx2"/>
                </a:solidFill>
              </a:rPr>
              <a:t>Are the rates right, so the total is right?</a:t>
            </a:r>
            <a:endParaRPr lang="en-US" sz="1400" dirty="0"/>
          </a:p>
        </p:txBody>
      </p:sp>
      <p:sp>
        <p:nvSpPr>
          <p:cNvPr id="19" name="Pricing accuracy points"/>
          <p:cNvSpPr txBox="1"/>
          <p:nvPr/>
        </p:nvSpPr>
        <p:spPr>
          <a:xfrm>
            <a:off x="6492240" y="2743200"/>
            <a:ext cx="4892040" cy="16916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Rates for labour and material at SA prices</a:t>
            </a:r>
            <a:endParaRPr lang="en-US" sz="1500" dirty="0"/>
          </a:p>
          <a:p>
            <a:pPr marL="342900" indent="-342900">
              <a:spcAft>
                <a:spcPts val="1000"/>
              </a:spcAft>
              <a:buSzPct val="100000"/>
              <a:buChar char="•"/>
            </a:pPr>
            <a:r>
              <a:rPr lang="en-US" sz="1500" dirty="0">
                <a:solidFill>
                  <a:schemeClr val="tx1"/>
                </a:solidFill>
              </a:rPr>
              <a:t>The tender total against the real total</a:t>
            </a:r>
            <a:endParaRPr lang="en-US" sz="1500" dirty="0"/>
          </a:p>
          <a:p>
            <a:pPr marL="342900" indent="-342900">
              <a:spcAft>
                <a:spcPts val="1000"/>
              </a:spcAft>
              <a:buSzPct val="100000"/>
              <a:buChar char="•"/>
            </a:pPr>
            <a:r>
              <a:rPr lang="en-US" sz="1500" dirty="0">
                <a:solidFill>
                  <a:schemeClr val="tx1"/>
                </a:solidFill>
              </a:rPr>
              <a:t>Expert yardstick for a tender: AACE 56R-08 Class 1</a:t>
            </a:r>
            <a:endParaRPr lang="en-US" sz="1500" dirty="0"/>
          </a:p>
          <a:p>
            <a:pPr marL="342900" indent="-342900">
              <a:spcAft>
                <a:spcPts val="1000"/>
              </a:spcAft>
              <a:buSzPct val="100000"/>
              <a:buChar char="•"/>
            </a:pPr>
            <a:r>
              <a:rPr lang="en-US" sz="1500" dirty="0">
                <a:solidFill>
                  <a:schemeClr val="tx1"/>
                </a:solidFill>
              </a:rPr>
              <a:t>−3 % to −5 % low, +3 % to +10 % high</a:t>
            </a:r>
            <a:endParaRPr lang="en-US" sz="1500" dirty="0"/>
          </a:p>
        </p:txBody>
      </p:sp>
      <p:sp>
        <p:nvSpPr>
          <p:cNvPr id="20" name="reading first takeaway"/>
          <p:cNvSpPr txBox="1"/>
          <p:nvPr/>
        </p:nvSpPr>
        <p:spPr>
          <a:xfrm>
            <a:off x="548640" y="4846320"/>
            <a:ext cx="11064240" cy="411480"/>
          </a:xfrm>
          <a:prstGeom prst="rect">
            <a:avLst/>
          </a:prstGeom>
          <a:noFill/>
          <a:ln/>
        </p:spPr>
        <p:txBody>
          <a:bodyPr wrap="square" lIns="0" tIns="0" rIns="0" bIns="0" rtlCol="0" anchor="t"/>
          <a:lstStyle/>
          <a:p>
            <a:pPr indent="0" marL="0">
              <a:buNone/>
            </a:pPr>
            <a:r>
              <a:rPr lang="en-US" sz="1600" b="1" i="1" dirty="0">
                <a:solidFill>
                  <a:schemeClr val="accent1"/>
                </a:solidFill>
              </a:rPr>
              <a:t>This deck reports reading accuracy. </a:t>
            </a:r>
            <a:pPr indent="0" marL="0">
              <a:buNone/>
            </a:pPr>
            <a:r>
              <a:rPr lang="en-US" sz="1600" i="1" dirty="0">
                <a:solidFill>
                  <a:schemeClr val="accent1"/>
                </a:solidFill>
              </a:rPr>
              <a:t>Pricing will be judged next, against the AACE Class 1 range.</a:t>
            </a:r>
            <a:endParaRPr lang="en-US" sz="1600" dirty="0"/>
          </a:p>
        </p:txBody>
      </p:sp>
      <p:sp>
        <p:nvSpPr>
          <p:cNvPr id="21" name="source"/>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000" i="1" dirty="0">
                <a:solidFill>
                  <a:schemeClr val="accent6"/>
                </a:solidFill>
              </a:rPr>
              <a:t>AACE International (2020), Recommended Practice 56R-08 — Cost estimate classification, building and general construction; a guideline, not a standard.</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How the reading score works</a:t>
            </a:r>
            <a:endParaRPr lang="en-US" sz="3000" dirty="0"/>
          </a:p>
        </p:txBody>
      </p:sp>
      <p:sp>
        <p:nvSpPr>
          <p:cNvPr id="4" name="score card"/>
          <p:cNvSpPr/>
          <p:nvPr/>
        </p:nvSpPr>
        <p:spPr>
          <a:xfrm>
            <a:off x="548640" y="1417320"/>
            <a:ext cx="5760720" cy="4389120"/>
          </a:xfrm>
          <a:prstGeom prst="roundRect">
            <a:avLst>
              <a:gd name="adj" fmla="val 2500"/>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5" name="score title"/>
          <p:cNvSpPr txBox="1"/>
          <p:nvPr/>
        </p:nvSpPr>
        <p:spPr>
          <a:xfrm>
            <a:off x="822960" y="1645920"/>
            <a:ext cx="5303520" cy="411480"/>
          </a:xfrm>
          <a:prstGeom prst="rect">
            <a:avLst/>
          </a:prstGeom>
          <a:noFill/>
          <a:ln/>
        </p:spPr>
        <p:txBody>
          <a:bodyPr wrap="square" lIns="0" tIns="0" rIns="0" bIns="0" rtlCol="0" anchor="t"/>
          <a:lstStyle/>
          <a:p>
            <a:pPr indent="0" marL="0">
              <a:buNone/>
            </a:pPr>
            <a:r>
              <a:rPr lang="en-US" sz="2000" b="1" dirty="0">
                <a:solidFill>
                  <a:schemeClr val="tx1"/>
                </a:solidFill>
              </a:rPr>
              <a:t>Reading score</a:t>
            </a:r>
            <a:endParaRPr lang="en-US" sz="2000" dirty="0"/>
          </a:p>
        </p:txBody>
      </p:sp>
      <p:sp>
        <p:nvSpPr>
          <p:cNvPr id="6" name="formula box"/>
          <p:cNvSpPr/>
          <p:nvPr/>
        </p:nvSpPr>
        <p:spPr>
          <a:xfrm>
            <a:off x="822960" y="2194560"/>
            <a:ext cx="5212080" cy="960120"/>
          </a:xfrm>
          <a:prstGeom prst="roundRect">
            <a:avLst>
              <a:gd name="adj" fmla="val 7619"/>
            </a:avLst>
          </a:prstGeom>
          <a:solidFill>
            <a:schemeClr val="bg1"/>
          </a:solidFill>
          <a:ln w="12700">
            <a:solidFill>
              <a:srgbClr val="D9DEE9"/>
            </a:solidFill>
            <a:prstDash val="solid"/>
          </a:ln>
        </p:spPr>
      </p:sp>
      <p:sp>
        <p:nvSpPr>
          <p:cNvPr id="7" name="formula"/>
          <p:cNvSpPr txBox="1"/>
          <p:nvPr/>
        </p:nvSpPr>
        <p:spPr>
          <a:xfrm>
            <a:off x="960120" y="2286000"/>
            <a:ext cx="4937760" cy="777240"/>
          </a:xfrm>
          <a:prstGeom prst="rect">
            <a:avLst/>
          </a:prstGeom>
          <a:noFill/>
          <a:ln/>
        </p:spPr>
        <p:txBody>
          <a:bodyPr wrap="square" lIns="0" tIns="0" rIns="0" bIns="0" rtlCol="0" anchor="ctr"/>
          <a:lstStyle/>
          <a:p>
            <a:pPr algn="ctr" indent="0" marL="0">
              <a:buNone/>
            </a:pPr>
            <a:r>
              <a:rPr lang="en-US" sz="1700" b="1" dirty="0">
                <a:solidFill>
                  <a:schemeClr val="accent1"/>
                </a:solidFill>
                <a:latin typeface="Cambria" pitchFamily="34" charset="0"/>
                <a:ea typeface="Cambria" pitchFamily="34" charset="-122"/>
                <a:cs typeface="Cambria" pitchFamily="34" charset="-120"/>
              </a:rPr>
              <a:t>Σ value × read × quantity accuracy</a:t>
            </a:r>
            <a:endParaRPr lang="en-US" sz="1700" dirty="0"/>
          </a:p>
          <a:p>
            <a:pPr algn="ctr" indent="0" marL="0">
              <a:buNone/>
            </a:pPr>
            <a:r>
              <a:rPr lang="en-US" sz="1700" b="1" dirty="0">
                <a:solidFill>
                  <a:schemeClr val="accent1"/>
                </a:solidFill>
                <a:latin typeface="Cambria" pitchFamily="34" charset="0"/>
                <a:ea typeface="Cambria" pitchFamily="34" charset="-122"/>
                <a:cs typeface="Cambria" pitchFamily="34" charset="-120"/>
              </a:rPr>
              <a:t>÷  Σ value of the items on the drawings</a:t>
            </a:r>
            <a:endParaRPr lang="en-US" sz="1700" dirty="0"/>
          </a:p>
        </p:txBody>
      </p:sp>
      <p:sp>
        <p:nvSpPr>
          <p:cNvPr id="8" name="score example"/>
          <p:cNvSpPr txBox="1"/>
          <p:nvPr/>
        </p:nvSpPr>
        <p:spPr>
          <a:xfrm>
            <a:off x="822960" y="3383280"/>
            <a:ext cx="5303520" cy="914400"/>
          </a:xfrm>
          <a:prstGeom prst="rect">
            <a:avLst/>
          </a:prstGeom>
          <a:noFill/>
          <a:ln/>
        </p:spPr>
        <p:txBody>
          <a:bodyPr wrap="square" lIns="0" tIns="0" rIns="0" bIns="0" rtlCol="0" anchor="t"/>
          <a:lstStyle/>
          <a:p>
            <a:pPr indent="0" marL="0">
              <a:buNone/>
            </a:pPr>
            <a:r>
              <a:rPr lang="en-US" sz="1400" b="1" dirty="0">
                <a:solidFill>
                  <a:schemeClr val="tx1"/>
                </a:solidFill>
              </a:rPr>
              <a:t>Example: </a:t>
            </a:r>
            <a:pPr indent="0" marL="0">
              <a:buNone/>
            </a:pPr>
            <a:r>
              <a:rPr lang="en-US" sz="1400" dirty="0">
                <a:solidFill>
                  <a:schemeClr val="tx1"/>
                </a:solidFill>
              </a:rPr>
              <a:t>a feeder worth R100 000 in the real bill, read with 90 % of the right length, adds R90 000 of the R100 000. A board never read adds nothing.</a:t>
            </a:r>
            <a:endParaRPr lang="en-US" sz="1400" dirty="0"/>
          </a:p>
        </p:txBody>
      </p:sp>
      <p:sp>
        <p:nvSpPr>
          <p:cNvPr id="9" name="judged"/>
          <p:cNvSpPr txBox="1"/>
          <p:nvPr/>
        </p:nvSpPr>
        <p:spPr>
          <a:xfrm>
            <a:off x="822960" y="4389120"/>
            <a:ext cx="5303520" cy="1188720"/>
          </a:xfrm>
          <a:prstGeom prst="rect">
            <a:avLst/>
          </a:prstGeom>
          <a:noFill/>
          <a:ln/>
        </p:spPr>
        <p:txBody>
          <a:bodyPr wrap="square" lIns="0" tIns="0" rIns="0" bIns="0" rtlCol="0" anchor="t"/>
          <a:lstStyle/>
          <a:p>
            <a:pPr indent="0" marL="0">
              <a:buNone/>
            </a:pPr>
            <a:r>
              <a:rPr lang="en-US" sz="1300" b="1" dirty="0">
                <a:solidFill>
                  <a:schemeClr val="accent3"/>
                </a:solidFill>
              </a:rPr>
              <a:t>Judged: </a:t>
            </a:r>
            <a:pPr indent="0" marL="0">
              <a:buNone/>
            </a:pPr>
            <a:r>
              <a:rPr lang="en-US" sz="1300" dirty="0">
                <a:solidFill>
                  <a:schemeClr val="tx1"/>
                </a:solidFill>
              </a:rPr>
              <a:t>counted symbols and measured runs on the uploaded drawings.</a:t>
            </a:r>
            <a:endParaRPr lang="en-US" sz="1300" dirty="0"/>
          </a:p>
          <a:p>
            <a:pPr indent="0" marL="0">
              <a:buNone/>
            </a:pPr>
            <a:r>
              <a:rPr lang="en-US" sz="1300" b="1" dirty="0">
                <a:solidFill>
                  <a:schemeClr val="accent4"/>
                </a:solidFill>
              </a:rPr>
              <a:t>Left out, and named: </a:t>
            </a:r>
            <a:pPr indent="0" marL="0">
              <a:buNone/>
            </a:pPr>
            <a:r>
              <a:rPr lang="en-US" sz="1300" dirty="0">
                <a:solidFill>
                  <a:schemeClr val="tx1"/>
                </a:solidFill>
              </a:rPr>
              <a:t>estimating rules (wire, conduit, trench…) and allowances never drawn.</a:t>
            </a:r>
            <a:endParaRPr lang="en-US" sz="1300" dirty="0"/>
          </a:p>
        </p:txBody>
      </p:sp>
      <p:sp>
        <p:nvSpPr>
          <p:cNvPr id="10" name="reading metric 1 circle"/>
          <p:cNvSpPr/>
          <p:nvPr/>
        </p:nvSpPr>
        <p:spPr>
          <a:xfrm>
            <a:off x="6629400" y="1554480"/>
            <a:ext cx="594360" cy="594360"/>
          </a:xfrm>
          <a:prstGeom prst="ellipse">
            <a:avLst/>
          </a:prstGeom>
          <a:solidFill>
            <a:srgbClr val="F2F4F9"/>
          </a:solidFill>
          <a:ln w="12700">
            <a:solidFill>
              <a:srgbClr val="F2F4F9"/>
            </a:solidFill>
            <a:prstDash val="solid"/>
          </a:ln>
        </p:spPr>
      </p:sp>
      <p:pic>
        <p:nvPicPr>
          <p:cNvPr id="11" name="reading metric 1 icon" descr="preencoded.png">    </p:cNvPr>
          <p:cNvPicPr>
            <a:picLocks noChangeAspect="1"/>
          </p:cNvPicPr>
          <p:nvPr/>
        </p:nvPicPr>
        <p:blipFill>
          <a:blip r:embed="rId1"/>
          <a:stretch>
            <a:fillRect/>
          </a:stretch>
        </p:blipFill>
        <p:spPr>
          <a:xfrm>
            <a:off x="6783934" y="1709014"/>
            <a:ext cx="285293" cy="285293"/>
          </a:xfrm>
          <a:prstGeom prst="rect">
            <a:avLst/>
          </a:prstGeom>
        </p:spPr>
      </p:pic>
      <p:sp>
        <p:nvSpPr>
          <p:cNvPr id="12" name="reading metric title 1"/>
          <p:cNvSpPr txBox="1"/>
          <p:nvPr/>
        </p:nvSpPr>
        <p:spPr>
          <a:xfrm>
            <a:off x="7406640" y="1554480"/>
            <a:ext cx="4206240" cy="347472"/>
          </a:xfrm>
          <a:prstGeom prst="rect">
            <a:avLst/>
          </a:prstGeom>
          <a:noFill/>
          <a:ln/>
        </p:spPr>
        <p:txBody>
          <a:bodyPr wrap="square" lIns="0" tIns="0" rIns="0" bIns="0" rtlCol="0" anchor="t"/>
          <a:lstStyle/>
          <a:p>
            <a:pPr indent="0" marL="0">
              <a:buNone/>
            </a:pPr>
            <a:r>
              <a:rPr lang="en-US" sz="1700" b="1" dirty="0">
                <a:solidFill>
                  <a:schemeClr val="tx1"/>
                </a:solidFill>
              </a:rPr>
              <a:t>Coverage</a:t>
            </a:r>
            <a:endParaRPr lang="en-US" sz="1700" dirty="0"/>
          </a:p>
        </p:txBody>
      </p:sp>
      <p:sp>
        <p:nvSpPr>
          <p:cNvPr id="13" name="reading metric text 1"/>
          <p:cNvSpPr txBox="1"/>
          <p:nvPr/>
        </p:nvSpPr>
        <p:spPr>
          <a:xfrm>
            <a:off x="7406640" y="1920240"/>
            <a:ext cx="4206240" cy="457200"/>
          </a:xfrm>
          <a:prstGeom prst="rect">
            <a:avLst/>
          </a:prstGeom>
          <a:noFill/>
          <a:ln/>
        </p:spPr>
        <p:txBody>
          <a:bodyPr wrap="square" lIns="0" tIns="0" rIns="0" bIns="0" rtlCol="0" anchor="t"/>
          <a:lstStyle/>
          <a:p>
            <a:pPr indent="0" marL="0">
              <a:buNone/>
            </a:pPr>
            <a:r>
              <a:rPr lang="en-US" sz="1350" dirty="0">
                <a:solidFill>
                  <a:schemeClr val="tx2"/>
                </a:solidFill>
              </a:rPr>
              <a:t>did we read the item at all?</a:t>
            </a:r>
            <a:endParaRPr lang="en-US" sz="1350" dirty="0"/>
          </a:p>
        </p:txBody>
      </p:sp>
      <p:sp>
        <p:nvSpPr>
          <p:cNvPr id="14" name="reading metric 2 circle"/>
          <p:cNvSpPr/>
          <p:nvPr/>
        </p:nvSpPr>
        <p:spPr>
          <a:xfrm>
            <a:off x="6629400" y="2606040"/>
            <a:ext cx="594360" cy="594360"/>
          </a:xfrm>
          <a:prstGeom prst="ellipse">
            <a:avLst/>
          </a:prstGeom>
          <a:solidFill>
            <a:srgbClr val="F2F4F9"/>
          </a:solidFill>
          <a:ln w="12700">
            <a:solidFill>
              <a:srgbClr val="F2F4F9"/>
            </a:solidFill>
            <a:prstDash val="solid"/>
          </a:ln>
        </p:spPr>
      </p:sp>
      <p:pic>
        <p:nvPicPr>
          <p:cNvPr id="15" name="reading metric 2 icon" descr="preencoded.png">    </p:cNvPr>
          <p:cNvPicPr>
            <a:picLocks noChangeAspect="1"/>
          </p:cNvPicPr>
          <p:nvPr/>
        </p:nvPicPr>
        <p:blipFill>
          <a:blip r:embed="rId2"/>
          <a:stretch>
            <a:fillRect/>
          </a:stretch>
        </p:blipFill>
        <p:spPr>
          <a:xfrm>
            <a:off x="6783934" y="2760574"/>
            <a:ext cx="285293" cy="285293"/>
          </a:xfrm>
          <a:prstGeom prst="rect">
            <a:avLst/>
          </a:prstGeom>
        </p:spPr>
      </p:pic>
      <p:sp>
        <p:nvSpPr>
          <p:cNvPr id="16" name="reading metric title 2"/>
          <p:cNvSpPr txBox="1"/>
          <p:nvPr/>
        </p:nvSpPr>
        <p:spPr>
          <a:xfrm>
            <a:off x="7406640" y="2606040"/>
            <a:ext cx="4206240" cy="347472"/>
          </a:xfrm>
          <a:prstGeom prst="rect">
            <a:avLst/>
          </a:prstGeom>
          <a:noFill/>
          <a:ln/>
        </p:spPr>
        <p:txBody>
          <a:bodyPr wrap="square" lIns="0" tIns="0" rIns="0" bIns="0" rtlCol="0" anchor="t"/>
          <a:lstStyle/>
          <a:p>
            <a:pPr indent="0" marL="0">
              <a:buNone/>
            </a:pPr>
            <a:r>
              <a:rPr lang="en-US" sz="1700" b="1" dirty="0">
                <a:solidFill>
                  <a:schemeClr val="tx1"/>
                </a:solidFill>
              </a:rPr>
              <a:t>Quantity accuracy</a:t>
            </a:r>
            <a:endParaRPr lang="en-US" sz="1700" dirty="0"/>
          </a:p>
        </p:txBody>
      </p:sp>
      <p:sp>
        <p:nvSpPr>
          <p:cNvPr id="17" name="reading metric text 2"/>
          <p:cNvSpPr txBox="1"/>
          <p:nvPr/>
        </p:nvSpPr>
        <p:spPr>
          <a:xfrm>
            <a:off x="7406640" y="2971800"/>
            <a:ext cx="4206240" cy="457200"/>
          </a:xfrm>
          <a:prstGeom prst="rect">
            <a:avLst/>
          </a:prstGeom>
          <a:noFill/>
          <a:ln/>
        </p:spPr>
        <p:txBody>
          <a:bodyPr wrap="square" lIns="0" tIns="0" rIns="0" bIns="0" rtlCol="0" anchor="t"/>
          <a:lstStyle/>
          <a:p>
            <a:pPr indent="0" marL="0">
              <a:buNone/>
            </a:pPr>
            <a:r>
              <a:rPr lang="en-US" sz="1350" dirty="0">
                <a:solidFill>
                  <a:schemeClr val="tx2"/>
                </a:solidFill>
              </a:rPr>
              <a:t>how close is our count or length?</a:t>
            </a:r>
            <a:endParaRPr lang="en-US" sz="1350" dirty="0"/>
          </a:p>
        </p:txBody>
      </p:sp>
      <p:sp>
        <p:nvSpPr>
          <p:cNvPr id="18" name="reading metric 3 circle"/>
          <p:cNvSpPr/>
          <p:nvPr/>
        </p:nvSpPr>
        <p:spPr>
          <a:xfrm>
            <a:off x="6629400" y="3657600"/>
            <a:ext cx="594360" cy="594360"/>
          </a:xfrm>
          <a:prstGeom prst="ellipse">
            <a:avLst/>
          </a:prstGeom>
          <a:solidFill>
            <a:srgbClr val="F2F4F9"/>
          </a:solidFill>
          <a:ln w="12700">
            <a:solidFill>
              <a:srgbClr val="F2F4F9"/>
            </a:solidFill>
            <a:prstDash val="solid"/>
          </a:ln>
        </p:spPr>
      </p:sp>
      <p:pic>
        <p:nvPicPr>
          <p:cNvPr id="19" name="reading metric 3 icon" descr="preencoded.png">    </p:cNvPr>
          <p:cNvPicPr>
            <a:picLocks noChangeAspect="1"/>
          </p:cNvPicPr>
          <p:nvPr/>
        </p:nvPicPr>
        <p:blipFill>
          <a:blip r:embed="rId3"/>
          <a:stretch>
            <a:fillRect/>
          </a:stretch>
        </p:blipFill>
        <p:spPr>
          <a:xfrm>
            <a:off x="6783934" y="3812134"/>
            <a:ext cx="285293" cy="285293"/>
          </a:xfrm>
          <a:prstGeom prst="rect">
            <a:avLst/>
          </a:prstGeom>
        </p:spPr>
      </p:pic>
      <p:sp>
        <p:nvSpPr>
          <p:cNvPr id="20" name="reading metric title 3"/>
          <p:cNvSpPr txBox="1"/>
          <p:nvPr/>
        </p:nvSpPr>
        <p:spPr>
          <a:xfrm>
            <a:off x="7406640" y="3657600"/>
            <a:ext cx="4206240" cy="347472"/>
          </a:xfrm>
          <a:prstGeom prst="rect">
            <a:avLst/>
          </a:prstGeom>
          <a:noFill/>
          <a:ln/>
        </p:spPr>
        <p:txBody>
          <a:bodyPr wrap="square" lIns="0" tIns="0" rIns="0" bIns="0" rtlCol="0" anchor="t"/>
          <a:lstStyle/>
          <a:p>
            <a:pPr indent="0" marL="0">
              <a:buNone/>
            </a:pPr>
            <a:r>
              <a:rPr lang="en-US" sz="1700" b="1" dirty="0">
                <a:solidFill>
                  <a:schemeClr val="tx1"/>
                </a:solidFill>
              </a:rPr>
              <a:t>Items within ±10 %</a:t>
            </a:r>
            <a:endParaRPr lang="en-US" sz="1700" dirty="0"/>
          </a:p>
        </p:txBody>
      </p:sp>
      <p:sp>
        <p:nvSpPr>
          <p:cNvPr id="21" name="reading metric text 3"/>
          <p:cNvSpPr txBox="1"/>
          <p:nvPr/>
        </p:nvSpPr>
        <p:spPr>
          <a:xfrm>
            <a:off x="7406640" y="4023360"/>
            <a:ext cx="4206240" cy="457200"/>
          </a:xfrm>
          <a:prstGeom prst="rect">
            <a:avLst/>
          </a:prstGeom>
          <a:noFill/>
          <a:ln/>
        </p:spPr>
        <p:txBody>
          <a:bodyPr wrap="square" lIns="0" tIns="0" rIns="0" bIns="0" rtlCol="0" anchor="t"/>
          <a:lstStyle/>
          <a:p>
            <a:pPr indent="0" marL="0">
              <a:buNone/>
            </a:pPr>
            <a:r>
              <a:rPr lang="en-US" sz="1350" dirty="0">
                <a:solidFill>
                  <a:schemeClr val="tx2"/>
                </a:solidFill>
              </a:rPr>
              <a:t>how many items are close enough</a:t>
            </a:r>
            <a:endParaRPr lang="en-US" sz="1350" dirty="0"/>
          </a:p>
        </p:txBody>
      </p:sp>
      <p:sp>
        <p:nvSpPr>
          <p:cNvPr id="22" name="reading metric 4 circle"/>
          <p:cNvSpPr/>
          <p:nvPr/>
        </p:nvSpPr>
        <p:spPr>
          <a:xfrm>
            <a:off x="6629400" y="4709160"/>
            <a:ext cx="594360" cy="594360"/>
          </a:xfrm>
          <a:prstGeom prst="ellipse">
            <a:avLst/>
          </a:prstGeom>
          <a:solidFill>
            <a:srgbClr val="F2F4F9"/>
          </a:solidFill>
          <a:ln w="12700">
            <a:solidFill>
              <a:srgbClr val="F2F4F9"/>
            </a:solidFill>
            <a:prstDash val="solid"/>
          </a:ln>
        </p:spPr>
      </p:sp>
      <p:pic>
        <p:nvPicPr>
          <p:cNvPr id="23" name="reading metric 4 icon" descr="preencoded.png">    </p:cNvPr>
          <p:cNvPicPr>
            <a:picLocks noChangeAspect="1"/>
          </p:cNvPicPr>
          <p:nvPr/>
        </p:nvPicPr>
        <p:blipFill>
          <a:blip r:embed="rId4"/>
          <a:stretch>
            <a:fillRect/>
          </a:stretch>
        </p:blipFill>
        <p:spPr>
          <a:xfrm>
            <a:off x="6783934" y="4863694"/>
            <a:ext cx="285293" cy="285293"/>
          </a:xfrm>
          <a:prstGeom prst="rect">
            <a:avLst/>
          </a:prstGeom>
        </p:spPr>
      </p:pic>
      <p:sp>
        <p:nvSpPr>
          <p:cNvPr id="24" name="reading metric title 4"/>
          <p:cNvSpPr txBox="1"/>
          <p:nvPr/>
        </p:nvSpPr>
        <p:spPr>
          <a:xfrm>
            <a:off x="7406640" y="4709160"/>
            <a:ext cx="4206240" cy="347472"/>
          </a:xfrm>
          <a:prstGeom prst="rect">
            <a:avLst/>
          </a:prstGeom>
          <a:noFill/>
          <a:ln/>
        </p:spPr>
        <p:txBody>
          <a:bodyPr wrap="square" lIns="0" tIns="0" rIns="0" bIns="0" rtlCol="0" anchor="t"/>
          <a:lstStyle/>
          <a:p>
            <a:pPr indent="0" marL="0">
              <a:buNone/>
            </a:pPr>
            <a:r>
              <a:rPr lang="en-US" sz="1700" b="1" dirty="0">
                <a:solidFill>
                  <a:schemeClr val="tx1"/>
                </a:solidFill>
              </a:rPr>
              <a:t>Item precision</a:t>
            </a:r>
            <a:endParaRPr lang="en-US" sz="1700" dirty="0"/>
          </a:p>
        </p:txBody>
      </p:sp>
      <p:sp>
        <p:nvSpPr>
          <p:cNvPr id="25" name="reading metric text 4"/>
          <p:cNvSpPr txBox="1"/>
          <p:nvPr/>
        </p:nvSpPr>
        <p:spPr>
          <a:xfrm>
            <a:off x="7406640" y="5074920"/>
            <a:ext cx="4206240" cy="457200"/>
          </a:xfrm>
          <a:prstGeom prst="rect">
            <a:avLst/>
          </a:prstGeom>
          <a:noFill/>
          <a:ln/>
        </p:spPr>
        <p:txBody>
          <a:bodyPr wrap="square" lIns="0" tIns="0" rIns="0" bIns="0" rtlCol="0" anchor="t"/>
          <a:lstStyle/>
          <a:p>
            <a:pPr indent="0" marL="0">
              <a:buNone/>
            </a:pPr>
            <a:r>
              <a:rPr lang="en-US" sz="1350" dirty="0">
                <a:solidFill>
                  <a:schemeClr val="tx2"/>
                </a:solidFill>
              </a:rPr>
              <a:t>of the items we read, how many belong (by count)</a:t>
            </a:r>
            <a:endParaRPr lang="en-US" sz="135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Reading accuracy today: 67.5 % on a real 7-building project</a:t>
            </a:r>
            <a:endParaRPr lang="en-US" sz="3000" dirty="0"/>
          </a:p>
        </p:txBody>
      </p:sp>
      <p:graphicFrame>
        <p:nvGraphicFramePr>
          <p:cNvPr id="4" name="Chart 0" descr=""/>
          <p:cNvGraphicFramePr/>
          <p:nvPr/>
        </p:nvGraphicFramePr>
        <p:xfrm>
          <a:off x="548640" y="1371600"/>
          <a:ext cx="7589520" cy="4526280"/>
        </p:xfrm>
        <a:graphic xmlns:a="http://schemas.openxmlformats.org/drawingml/2006/main">
          <a:graphicData uri="http://schemas.openxmlformats.org/drawingml/2006/chart">
            <c:chart xmlns:c="http://schemas.openxmlformats.org/drawingml/2006/chart" r:id="rId1"/>
          </a:graphicData>
        </a:graphic>
      </p:graphicFrame>
      <p:sp>
        <p:nvSpPr>
          <p:cNvPr id="5" name="reading stat 1"/>
          <p:cNvSpPr/>
          <p:nvPr/>
        </p:nvSpPr>
        <p:spPr>
          <a:xfrm>
            <a:off x="8412480" y="1463040"/>
            <a:ext cx="3200400" cy="1280160"/>
          </a:xfrm>
          <a:prstGeom prst="roundRect">
            <a:avLst>
              <a:gd name="adj" fmla="val 8571"/>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6" name="reading stat value 1"/>
          <p:cNvSpPr txBox="1"/>
          <p:nvPr/>
        </p:nvSpPr>
        <p:spPr>
          <a:xfrm>
            <a:off x="8641080" y="1600200"/>
            <a:ext cx="2834640" cy="54864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67.5 %</a:t>
            </a:r>
            <a:endParaRPr lang="en-US" sz="3000" dirty="0"/>
          </a:p>
        </p:txBody>
      </p:sp>
      <p:sp>
        <p:nvSpPr>
          <p:cNvPr id="7" name="reading stat text 1"/>
          <p:cNvSpPr txBox="1"/>
          <p:nvPr/>
        </p:nvSpPr>
        <p:spPr>
          <a:xfrm>
            <a:off x="8641080" y="2194560"/>
            <a:ext cx="2834640" cy="457200"/>
          </a:xfrm>
          <a:prstGeom prst="rect">
            <a:avLst/>
          </a:prstGeom>
          <a:noFill/>
          <a:ln/>
        </p:spPr>
        <p:txBody>
          <a:bodyPr wrap="square" lIns="0" tIns="0" rIns="0" bIns="0" rtlCol="0" anchor="t"/>
          <a:lstStyle/>
          <a:p>
            <a:pPr indent="0" marL="0">
              <a:buNone/>
            </a:pPr>
            <a:r>
              <a:rPr lang="en-US" sz="1200" dirty="0">
                <a:solidFill>
                  <a:schemeClr val="tx2"/>
                </a:solidFill>
              </a:rPr>
              <a:t>reading score of the delivered bill</a:t>
            </a:r>
            <a:endParaRPr lang="en-US" sz="1200" dirty="0"/>
          </a:p>
        </p:txBody>
      </p:sp>
      <p:sp>
        <p:nvSpPr>
          <p:cNvPr id="8" name="reading stat 2"/>
          <p:cNvSpPr/>
          <p:nvPr/>
        </p:nvSpPr>
        <p:spPr>
          <a:xfrm>
            <a:off x="8412480" y="2926080"/>
            <a:ext cx="3200400" cy="1280160"/>
          </a:xfrm>
          <a:prstGeom prst="roundRect">
            <a:avLst>
              <a:gd name="adj" fmla="val 8571"/>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9" name="reading stat value 2"/>
          <p:cNvSpPr txBox="1"/>
          <p:nvPr/>
        </p:nvSpPr>
        <p:spPr>
          <a:xfrm>
            <a:off x="8641080" y="3063240"/>
            <a:ext cx="2834640" cy="54864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69 %</a:t>
            </a:r>
            <a:endParaRPr lang="en-US" sz="3000" dirty="0"/>
          </a:p>
        </p:txBody>
      </p:sp>
      <p:sp>
        <p:nvSpPr>
          <p:cNvPr id="10" name="reading stat text 2"/>
          <p:cNvSpPr txBox="1"/>
          <p:nvPr/>
        </p:nvSpPr>
        <p:spPr>
          <a:xfrm>
            <a:off x="8641080" y="3657600"/>
            <a:ext cx="2834640" cy="457200"/>
          </a:xfrm>
          <a:prstGeom prst="rect">
            <a:avLst/>
          </a:prstGeom>
          <a:noFill/>
          <a:ln/>
        </p:spPr>
        <p:txBody>
          <a:bodyPr wrap="square" lIns="0" tIns="0" rIns="0" bIns="0" rtlCol="0" anchor="t"/>
          <a:lstStyle/>
          <a:p>
            <a:pPr indent="0" marL="0">
              <a:buNone/>
            </a:pPr>
            <a:r>
              <a:rPr lang="en-US" sz="1200" dirty="0">
                <a:solidFill>
                  <a:schemeClr val="tx2"/>
                </a:solidFill>
              </a:rPr>
              <a:t>of the bill's value is judged as reading</a:t>
            </a:r>
            <a:endParaRPr lang="en-US" sz="1200" dirty="0"/>
          </a:p>
        </p:txBody>
      </p:sp>
      <p:sp>
        <p:nvSpPr>
          <p:cNvPr id="11" name="reading stat 3"/>
          <p:cNvSpPr/>
          <p:nvPr/>
        </p:nvSpPr>
        <p:spPr>
          <a:xfrm>
            <a:off x="8412480" y="4389120"/>
            <a:ext cx="3200400" cy="1280160"/>
          </a:xfrm>
          <a:prstGeom prst="roundRect">
            <a:avLst>
              <a:gd name="adj" fmla="val 8571"/>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2" name="reading stat value 3"/>
          <p:cNvSpPr txBox="1"/>
          <p:nvPr/>
        </p:nvSpPr>
        <p:spPr>
          <a:xfrm>
            <a:off x="8641080" y="4526280"/>
            <a:ext cx="2834640" cy="54864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29 % + 1.6 %</a:t>
            </a:r>
            <a:endParaRPr lang="en-US" sz="2400" dirty="0"/>
          </a:p>
        </p:txBody>
      </p:sp>
      <p:sp>
        <p:nvSpPr>
          <p:cNvPr id="13" name="reading stat text 3"/>
          <p:cNvSpPr txBox="1"/>
          <p:nvPr/>
        </p:nvSpPr>
        <p:spPr>
          <a:xfrm>
            <a:off x="8641080" y="5120640"/>
            <a:ext cx="2834640" cy="457200"/>
          </a:xfrm>
          <a:prstGeom prst="rect">
            <a:avLst/>
          </a:prstGeom>
          <a:noFill/>
          <a:ln/>
        </p:spPr>
        <p:txBody>
          <a:bodyPr wrap="square" lIns="0" tIns="0" rIns="0" bIns="0" rtlCol="0" anchor="t"/>
          <a:lstStyle/>
          <a:p>
            <a:pPr indent="0" marL="0">
              <a:buNone/>
            </a:pPr>
            <a:r>
              <a:rPr lang="en-US" sz="1200" dirty="0">
                <a:solidFill>
                  <a:schemeClr val="tx2"/>
                </a:solidFill>
              </a:rPr>
              <a:t>derived material and allowances — left out, judged later</a:t>
            </a:r>
            <a:endParaRPr lang="en-US" sz="1200" dirty="0"/>
          </a:p>
        </p:txBody>
      </p:sp>
      <p:sp>
        <p:nvSpPr>
          <p:cNvPr id="14" name="source"/>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000" i="1" dirty="0">
                <a:solidFill>
                  <a:schemeClr val="accent6"/>
                </a:solidFill>
              </a:rPr>
              <a:t>Reference = the quantity surveyor's priced bill for the same project — see the next slide for why that is not a perfect answer key.</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The real bill is not a perfect answer key</a:t>
            </a:r>
            <a:endParaRPr lang="en-US" sz="3000" dirty="0"/>
          </a:p>
        </p:txBody>
      </p:sp>
      <p:sp>
        <p:nvSpPr>
          <p:cNvPr id="4" name="evidence card 1"/>
          <p:cNvSpPr/>
          <p:nvPr/>
        </p:nvSpPr>
        <p:spPr>
          <a:xfrm>
            <a:off x="548640" y="1417320"/>
            <a:ext cx="5440680" cy="1143000"/>
          </a:xfrm>
          <a:prstGeom prst="roundRect">
            <a:avLst>
              <a:gd name="adj" fmla="val 9600"/>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5" name="evidence 1 circle"/>
          <p:cNvSpPr/>
          <p:nvPr/>
        </p:nvSpPr>
        <p:spPr>
          <a:xfrm>
            <a:off x="777240" y="1618488"/>
            <a:ext cx="685800" cy="685800"/>
          </a:xfrm>
          <a:prstGeom prst="ellipse">
            <a:avLst/>
          </a:prstGeom>
          <a:solidFill>
            <a:srgbClr val="2E5BE8"/>
          </a:solidFill>
          <a:ln w="12700">
            <a:solidFill>
              <a:srgbClr val="2E5BE8"/>
            </a:solidFill>
            <a:prstDash val="solid"/>
          </a:ln>
        </p:spPr>
      </p:sp>
      <p:pic>
        <p:nvPicPr>
          <p:cNvPr id="6" name="evidence 1 icon" descr="preencoded.png">    </p:cNvPr>
          <p:cNvPicPr>
            <a:picLocks noChangeAspect="1"/>
          </p:cNvPicPr>
          <p:nvPr/>
        </p:nvPicPr>
        <p:blipFill>
          <a:blip r:embed="rId1"/>
          <a:stretch>
            <a:fillRect/>
          </a:stretch>
        </p:blipFill>
        <p:spPr>
          <a:xfrm>
            <a:off x="955548" y="1796796"/>
            <a:ext cx="329184" cy="329184"/>
          </a:xfrm>
          <a:prstGeom prst="rect">
            <a:avLst/>
          </a:prstGeom>
        </p:spPr>
      </p:pic>
      <p:sp>
        <p:nvSpPr>
          <p:cNvPr id="7" name="evidence title 1"/>
          <p:cNvSpPr txBox="1"/>
          <p:nvPr/>
        </p:nvSpPr>
        <p:spPr>
          <a:xfrm>
            <a:off x="1645920" y="1545336"/>
            <a:ext cx="4160520" cy="347472"/>
          </a:xfrm>
          <a:prstGeom prst="rect">
            <a:avLst/>
          </a:prstGeom>
          <a:noFill/>
          <a:ln/>
        </p:spPr>
        <p:txBody>
          <a:bodyPr wrap="square" lIns="0" tIns="0" rIns="0" bIns="0" rtlCol="0" anchor="t"/>
          <a:lstStyle/>
          <a:p>
            <a:pPr indent="0" marL="0">
              <a:buNone/>
            </a:pPr>
            <a:r>
              <a:rPr lang="en-US" sz="1600" b="1" dirty="0">
                <a:solidFill>
                  <a:schemeClr val="tx1"/>
                </a:solidFill>
              </a:rPr>
              <a:t>Written later</a:t>
            </a:r>
            <a:endParaRPr lang="en-US" sz="1600" dirty="0"/>
          </a:p>
        </p:txBody>
      </p:sp>
      <p:sp>
        <p:nvSpPr>
          <p:cNvPr id="8" name="evidence text 1"/>
          <p:cNvSpPr txBox="1"/>
          <p:nvPr/>
        </p:nvSpPr>
        <p:spPr>
          <a:xfrm>
            <a:off x="1645920" y="1892808"/>
            <a:ext cx="4160520" cy="594360"/>
          </a:xfrm>
          <a:prstGeom prst="rect">
            <a:avLst/>
          </a:prstGeom>
          <a:noFill/>
          <a:ln/>
        </p:spPr>
        <p:txBody>
          <a:bodyPr wrap="square" lIns="0" tIns="0" rIns="0" bIns="0" rtlCol="0" anchor="t"/>
          <a:lstStyle/>
          <a:p>
            <a:pPr indent="0" marL="0">
              <a:buNone/>
            </a:pPr>
            <a:r>
              <a:rPr lang="en-US" sz="1250" dirty="0">
                <a:solidFill>
                  <a:schemeClr val="tx2"/>
                </a:solidFill>
              </a:rPr>
              <a:t>Priced about six months after the latest drawings, as a revision — perhaps from an updated design.</a:t>
            </a:r>
            <a:endParaRPr lang="en-US" sz="1250" dirty="0"/>
          </a:p>
        </p:txBody>
      </p:sp>
      <p:sp>
        <p:nvSpPr>
          <p:cNvPr id="9" name="evidence card 2"/>
          <p:cNvSpPr/>
          <p:nvPr/>
        </p:nvSpPr>
        <p:spPr>
          <a:xfrm>
            <a:off x="6172200" y="1417320"/>
            <a:ext cx="5440680" cy="1143000"/>
          </a:xfrm>
          <a:prstGeom prst="roundRect">
            <a:avLst>
              <a:gd name="adj" fmla="val 9600"/>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0" name="evidence 2 circle"/>
          <p:cNvSpPr/>
          <p:nvPr/>
        </p:nvSpPr>
        <p:spPr>
          <a:xfrm>
            <a:off x="6400800" y="1618488"/>
            <a:ext cx="685800" cy="685800"/>
          </a:xfrm>
          <a:prstGeom prst="ellipse">
            <a:avLst/>
          </a:prstGeom>
          <a:solidFill>
            <a:srgbClr val="2E5BE8"/>
          </a:solidFill>
          <a:ln w="12700">
            <a:solidFill>
              <a:srgbClr val="2E5BE8"/>
            </a:solidFill>
            <a:prstDash val="solid"/>
          </a:ln>
        </p:spPr>
      </p:sp>
      <p:pic>
        <p:nvPicPr>
          <p:cNvPr id="11" name="evidence 2 icon" descr="preencoded.png">    </p:cNvPr>
          <p:cNvPicPr>
            <a:picLocks noChangeAspect="1"/>
          </p:cNvPicPr>
          <p:nvPr/>
        </p:nvPicPr>
        <p:blipFill>
          <a:blip r:embed="rId2"/>
          <a:stretch>
            <a:fillRect/>
          </a:stretch>
        </p:blipFill>
        <p:spPr>
          <a:xfrm>
            <a:off x="6579108" y="1796796"/>
            <a:ext cx="329184" cy="329184"/>
          </a:xfrm>
          <a:prstGeom prst="rect">
            <a:avLst/>
          </a:prstGeom>
        </p:spPr>
      </p:pic>
      <p:sp>
        <p:nvSpPr>
          <p:cNvPr id="12" name="evidence title 2"/>
          <p:cNvSpPr txBox="1"/>
          <p:nvPr/>
        </p:nvSpPr>
        <p:spPr>
          <a:xfrm>
            <a:off x="7269480" y="1545336"/>
            <a:ext cx="4160520" cy="347472"/>
          </a:xfrm>
          <a:prstGeom prst="rect">
            <a:avLst/>
          </a:prstGeom>
          <a:noFill/>
          <a:ln/>
        </p:spPr>
        <p:txBody>
          <a:bodyPr wrap="square" lIns="0" tIns="0" rIns="0" bIns="0" rtlCol="0" anchor="t"/>
          <a:lstStyle/>
          <a:p>
            <a:pPr indent="0" marL="0">
              <a:buNone/>
            </a:pPr>
            <a:r>
              <a:rPr lang="en-US" sz="1600" b="1" dirty="0">
                <a:solidFill>
                  <a:schemeClr val="tx1"/>
                </a:solidFill>
              </a:rPr>
              <a:t>Different cable sizes</a:t>
            </a:r>
            <a:endParaRPr lang="en-US" sz="1600" dirty="0"/>
          </a:p>
        </p:txBody>
      </p:sp>
      <p:sp>
        <p:nvSpPr>
          <p:cNvPr id="13" name="evidence text 2"/>
          <p:cNvSpPr txBox="1"/>
          <p:nvPr/>
        </p:nvSpPr>
        <p:spPr>
          <a:xfrm>
            <a:off x="7269480" y="1892808"/>
            <a:ext cx="4160520" cy="594360"/>
          </a:xfrm>
          <a:prstGeom prst="rect">
            <a:avLst/>
          </a:prstGeom>
          <a:noFill/>
          <a:ln/>
        </p:spPr>
        <p:txBody>
          <a:bodyPr wrap="square" lIns="0" tIns="0" rIns="0" bIns="0" rtlCol="0" anchor="t"/>
          <a:lstStyle/>
          <a:p>
            <a:pPr indent="0" marL="0">
              <a:buNone/>
            </a:pPr>
            <a:r>
              <a:rPr lang="en-US" sz="1250" dirty="0">
                <a:solidFill>
                  <a:schemeClr val="tx2"/>
                </a:solidFill>
              </a:rPr>
              <a:t>Several feeder sizes in the bill differ from the sizes written on the PDF and CAD single-line diagrams.</a:t>
            </a:r>
            <a:endParaRPr lang="en-US" sz="1250" dirty="0"/>
          </a:p>
        </p:txBody>
      </p:sp>
      <p:sp>
        <p:nvSpPr>
          <p:cNvPr id="14" name="evidence card 3"/>
          <p:cNvSpPr/>
          <p:nvPr/>
        </p:nvSpPr>
        <p:spPr>
          <a:xfrm>
            <a:off x="548640" y="2715768"/>
            <a:ext cx="5440680" cy="1143000"/>
          </a:xfrm>
          <a:prstGeom prst="roundRect">
            <a:avLst>
              <a:gd name="adj" fmla="val 9600"/>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5" name="evidence 3 circle"/>
          <p:cNvSpPr/>
          <p:nvPr/>
        </p:nvSpPr>
        <p:spPr>
          <a:xfrm>
            <a:off x="777240" y="2916936"/>
            <a:ext cx="685800" cy="685800"/>
          </a:xfrm>
          <a:prstGeom prst="ellipse">
            <a:avLst/>
          </a:prstGeom>
          <a:solidFill>
            <a:srgbClr val="2E5BE8"/>
          </a:solidFill>
          <a:ln w="12700">
            <a:solidFill>
              <a:srgbClr val="2E5BE8"/>
            </a:solidFill>
            <a:prstDash val="solid"/>
          </a:ln>
        </p:spPr>
      </p:sp>
      <p:pic>
        <p:nvPicPr>
          <p:cNvPr id="16" name="evidence 3 icon" descr="preencoded.png">    </p:cNvPr>
          <p:cNvPicPr>
            <a:picLocks noChangeAspect="1"/>
          </p:cNvPicPr>
          <p:nvPr/>
        </p:nvPicPr>
        <p:blipFill>
          <a:blip r:embed="rId3"/>
          <a:stretch>
            <a:fillRect/>
          </a:stretch>
        </p:blipFill>
        <p:spPr>
          <a:xfrm>
            <a:off x="955548" y="3095244"/>
            <a:ext cx="329184" cy="329184"/>
          </a:xfrm>
          <a:prstGeom prst="rect">
            <a:avLst/>
          </a:prstGeom>
        </p:spPr>
      </p:pic>
      <p:sp>
        <p:nvSpPr>
          <p:cNvPr id="17" name="evidence title 3"/>
          <p:cNvSpPr txBox="1"/>
          <p:nvPr/>
        </p:nvSpPr>
        <p:spPr>
          <a:xfrm>
            <a:off x="1645920" y="2843784"/>
            <a:ext cx="4160520" cy="347472"/>
          </a:xfrm>
          <a:prstGeom prst="rect">
            <a:avLst/>
          </a:prstGeom>
          <a:noFill/>
          <a:ln/>
        </p:spPr>
        <p:txBody>
          <a:bodyPr wrap="square" lIns="0" tIns="0" rIns="0" bIns="0" rtlCol="0" anchor="t"/>
          <a:lstStyle/>
          <a:p>
            <a:pPr indent="0" marL="0">
              <a:buNone/>
            </a:pPr>
            <a:r>
              <a:rPr lang="en-US" sz="1600" b="1" dirty="0">
                <a:solidFill>
                  <a:schemeClr val="tx1"/>
                </a:solidFill>
              </a:rPr>
              <a:t>One board, three rows</a:t>
            </a:r>
            <a:endParaRPr lang="en-US" sz="1600" dirty="0"/>
          </a:p>
        </p:txBody>
      </p:sp>
      <p:sp>
        <p:nvSpPr>
          <p:cNvPr id="18" name="evidence text 3"/>
          <p:cNvSpPr txBox="1"/>
          <p:nvPr/>
        </p:nvSpPr>
        <p:spPr>
          <a:xfrm>
            <a:off x="1645920" y="3191256"/>
            <a:ext cx="4160520" cy="594360"/>
          </a:xfrm>
          <a:prstGeom prst="rect">
            <a:avLst/>
          </a:prstGeom>
          <a:noFill/>
          <a:ln/>
        </p:spPr>
        <p:txBody>
          <a:bodyPr wrap="square" lIns="0" tIns="0" rIns="0" bIns="0" rtlCol="0" anchor="t"/>
          <a:lstStyle/>
          <a:p>
            <a:pPr indent="0" marL="0">
              <a:buNone/>
            </a:pPr>
            <a:r>
              <a:rPr lang="en-US" sz="1250" dirty="0">
                <a:solidFill>
                  <a:schemeClr val="tx2"/>
                </a:solidFill>
              </a:rPr>
              <a:t>The same board item is priced on three rows with the same item number.</a:t>
            </a:r>
            <a:endParaRPr lang="en-US" sz="1250" dirty="0"/>
          </a:p>
        </p:txBody>
      </p:sp>
      <p:sp>
        <p:nvSpPr>
          <p:cNvPr id="19" name="evidence card 4"/>
          <p:cNvSpPr/>
          <p:nvPr/>
        </p:nvSpPr>
        <p:spPr>
          <a:xfrm>
            <a:off x="6172200" y="2715768"/>
            <a:ext cx="5440680" cy="1143000"/>
          </a:xfrm>
          <a:prstGeom prst="roundRect">
            <a:avLst>
              <a:gd name="adj" fmla="val 9600"/>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0" name="evidence 4 circle"/>
          <p:cNvSpPr/>
          <p:nvPr/>
        </p:nvSpPr>
        <p:spPr>
          <a:xfrm>
            <a:off x="6400800" y="2916936"/>
            <a:ext cx="685800" cy="685800"/>
          </a:xfrm>
          <a:prstGeom prst="ellipse">
            <a:avLst/>
          </a:prstGeom>
          <a:solidFill>
            <a:srgbClr val="2E5BE8"/>
          </a:solidFill>
          <a:ln w="12700">
            <a:solidFill>
              <a:srgbClr val="2E5BE8"/>
            </a:solidFill>
            <a:prstDash val="solid"/>
          </a:ln>
        </p:spPr>
      </p:sp>
      <p:pic>
        <p:nvPicPr>
          <p:cNvPr id="21" name="evidence 4 icon" descr="preencoded.png">    </p:cNvPr>
          <p:cNvPicPr>
            <a:picLocks noChangeAspect="1"/>
          </p:cNvPicPr>
          <p:nvPr/>
        </p:nvPicPr>
        <p:blipFill>
          <a:blip r:embed="rId4"/>
          <a:stretch>
            <a:fillRect/>
          </a:stretch>
        </p:blipFill>
        <p:spPr>
          <a:xfrm>
            <a:off x="6579108" y="3095244"/>
            <a:ext cx="329184" cy="329184"/>
          </a:xfrm>
          <a:prstGeom prst="rect">
            <a:avLst/>
          </a:prstGeom>
        </p:spPr>
      </p:pic>
      <p:sp>
        <p:nvSpPr>
          <p:cNvPr id="22" name="evidence title 4"/>
          <p:cNvSpPr txBox="1"/>
          <p:nvPr/>
        </p:nvSpPr>
        <p:spPr>
          <a:xfrm>
            <a:off x="7269480" y="2843784"/>
            <a:ext cx="4160520" cy="347472"/>
          </a:xfrm>
          <a:prstGeom prst="rect">
            <a:avLst/>
          </a:prstGeom>
          <a:noFill/>
          <a:ln/>
        </p:spPr>
        <p:txBody>
          <a:bodyPr wrap="square" lIns="0" tIns="0" rIns="0" bIns="0" rtlCol="0" anchor="t"/>
          <a:lstStyle/>
          <a:p>
            <a:pPr indent="0" marL="0">
              <a:buNone/>
            </a:pPr>
            <a:r>
              <a:rPr lang="en-US" sz="1600" b="1" dirty="0">
                <a:solidFill>
                  <a:schemeClr val="tx1"/>
                </a:solidFill>
              </a:rPr>
              <a:t>Unpriced sheets</a:t>
            </a:r>
            <a:endParaRPr lang="en-US" sz="1600" dirty="0"/>
          </a:p>
        </p:txBody>
      </p:sp>
      <p:sp>
        <p:nvSpPr>
          <p:cNvPr id="23" name="evidence text 4"/>
          <p:cNvSpPr txBox="1"/>
          <p:nvPr/>
        </p:nvSpPr>
        <p:spPr>
          <a:xfrm>
            <a:off x="7269480" y="3191256"/>
            <a:ext cx="4160520" cy="594360"/>
          </a:xfrm>
          <a:prstGeom prst="rect">
            <a:avLst/>
          </a:prstGeom>
          <a:noFill/>
          <a:ln/>
        </p:spPr>
        <p:txBody>
          <a:bodyPr wrap="square" lIns="0" tIns="0" rIns="0" bIns="0" rtlCol="0" anchor="t"/>
          <a:lstStyle/>
          <a:p>
            <a:pPr indent="0" marL="0">
              <a:buNone/>
            </a:pPr>
            <a:r>
              <a:rPr lang="en-US" sz="1250" dirty="0">
                <a:solidFill>
                  <a:schemeClr val="tx2"/>
                </a:solidFill>
              </a:rPr>
              <a:t>Two sheets carry quantities at a rate of zero.</a:t>
            </a:r>
            <a:endParaRPr lang="en-US" sz="1250" dirty="0"/>
          </a:p>
        </p:txBody>
      </p:sp>
      <p:sp>
        <p:nvSpPr>
          <p:cNvPr id="24" name="evidence card 5"/>
          <p:cNvSpPr/>
          <p:nvPr/>
        </p:nvSpPr>
        <p:spPr>
          <a:xfrm>
            <a:off x="548640" y="4014216"/>
            <a:ext cx="11064240" cy="1143000"/>
          </a:xfrm>
          <a:prstGeom prst="roundRect">
            <a:avLst>
              <a:gd name="adj" fmla="val 9600"/>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5" name="evidence 5 circle"/>
          <p:cNvSpPr/>
          <p:nvPr/>
        </p:nvSpPr>
        <p:spPr>
          <a:xfrm>
            <a:off x="777240" y="4215384"/>
            <a:ext cx="685800" cy="685800"/>
          </a:xfrm>
          <a:prstGeom prst="ellipse">
            <a:avLst/>
          </a:prstGeom>
          <a:solidFill>
            <a:srgbClr val="2E5BE8"/>
          </a:solidFill>
          <a:ln w="12700">
            <a:solidFill>
              <a:srgbClr val="2E5BE8"/>
            </a:solidFill>
            <a:prstDash val="solid"/>
          </a:ln>
        </p:spPr>
      </p:sp>
      <p:pic>
        <p:nvPicPr>
          <p:cNvPr id="26" name="evidence 5 icon" descr="preencoded.png">    </p:cNvPr>
          <p:cNvPicPr>
            <a:picLocks noChangeAspect="1"/>
          </p:cNvPicPr>
          <p:nvPr/>
        </p:nvPicPr>
        <p:blipFill>
          <a:blip r:embed="rId5"/>
          <a:stretch>
            <a:fillRect/>
          </a:stretch>
        </p:blipFill>
        <p:spPr>
          <a:xfrm>
            <a:off x="955548" y="4393692"/>
            <a:ext cx="329184" cy="329184"/>
          </a:xfrm>
          <a:prstGeom prst="rect">
            <a:avLst/>
          </a:prstGeom>
        </p:spPr>
      </p:pic>
      <p:sp>
        <p:nvSpPr>
          <p:cNvPr id="27" name="evidence title 5"/>
          <p:cNvSpPr txBox="1"/>
          <p:nvPr/>
        </p:nvSpPr>
        <p:spPr>
          <a:xfrm>
            <a:off x="1645920" y="4142232"/>
            <a:ext cx="9784080" cy="347472"/>
          </a:xfrm>
          <a:prstGeom prst="rect">
            <a:avLst/>
          </a:prstGeom>
          <a:noFill/>
          <a:ln/>
        </p:spPr>
        <p:txBody>
          <a:bodyPr wrap="square" lIns="0" tIns="0" rIns="0" bIns="0" rtlCol="0" anchor="t"/>
          <a:lstStyle/>
          <a:p>
            <a:pPr indent="0" marL="0">
              <a:buNone/>
            </a:pPr>
            <a:r>
              <a:rPr lang="en-US" sz="1600" b="1" dirty="0">
                <a:solidFill>
                  <a:schemeClr val="tx1"/>
                </a:solidFill>
              </a:rPr>
              <a:t>Even the drawings' tables</a:t>
            </a:r>
            <a:endParaRPr lang="en-US" sz="1600" dirty="0"/>
          </a:p>
        </p:txBody>
      </p:sp>
      <p:sp>
        <p:nvSpPr>
          <p:cNvPr id="28" name="evidence text 5"/>
          <p:cNvSpPr txBox="1"/>
          <p:nvPr/>
        </p:nvSpPr>
        <p:spPr>
          <a:xfrm>
            <a:off x="1645920" y="4489704"/>
            <a:ext cx="9784080" cy="594360"/>
          </a:xfrm>
          <a:prstGeom prst="rect">
            <a:avLst/>
          </a:prstGeom>
          <a:noFill/>
          <a:ln/>
        </p:spPr>
        <p:txBody>
          <a:bodyPr wrap="square" lIns="0" tIns="0" rIns="0" bIns="0" rtlCol="0" anchor="t"/>
          <a:lstStyle/>
          <a:p>
            <a:pPr indent="0" marL="0">
              <a:buNone/>
            </a:pPr>
            <a:r>
              <a:rPr lang="en-US" sz="1250" dirty="0">
                <a:solidFill>
                  <a:schemeClr val="tx2"/>
                </a:solidFill>
              </a:rPr>
              <a:t>The printed quantity tables are off by one switch on two sheets (checked symbol by symbol).</a:t>
            </a:r>
            <a:endParaRPr lang="en-US" sz="1250" dirty="0"/>
          </a:p>
        </p:txBody>
      </p:sp>
      <p:sp>
        <p:nvSpPr>
          <p:cNvPr id="29" name="answer key note"/>
          <p:cNvSpPr txBox="1"/>
          <p:nvPr/>
        </p:nvSpPr>
        <p:spPr>
          <a:xfrm>
            <a:off x="548640" y="5440680"/>
            <a:ext cx="11064240" cy="457200"/>
          </a:xfrm>
          <a:prstGeom prst="rect">
            <a:avLst/>
          </a:prstGeom>
          <a:noFill/>
          <a:ln/>
        </p:spPr>
        <p:txBody>
          <a:bodyPr wrap="square" lIns="0" tIns="0" rIns="0" bIns="0" rtlCol="0" anchor="t"/>
          <a:lstStyle/>
          <a:p>
            <a:pPr indent="0" marL="0">
              <a:buNone/>
            </a:pPr>
            <a:r>
              <a:rPr lang="en-US" sz="1500" b="1" dirty="0">
                <a:solidFill>
                  <a:schemeClr val="accent1"/>
                </a:solidFill>
              </a:rPr>
              <a:t>So: </a:t>
            </a:r>
            <a:pPr indent="0" marL="0">
              <a:buNone/>
            </a:pPr>
            <a:r>
              <a:rPr lang="en-US" sz="1500" dirty="0">
                <a:solidFill>
                  <a:schemeClr val="accent1"/>
                </a:solidFill>
              </a:rPr>
              <a:t>each reading loss is checked against the drawing and labelled our error · bill differs from drawing · to verify.</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Independent check: Claude read every drawing itself</a:t>
            </a:r>
            <a:endParaRPr lang="en-US" sz="3000" dirty="0"/>
          </a:p>
        </p:txBody>
      </p:sp>
      <p:sp>
        <p:nvSpPr>
          <p:cNvPr id="4" name="check card 1"/>
          <p:cNvSpPr/>
          <p:nvPr/>
        </p:nvSpPr>
        <p:spPr>
          <a:xfrm>
            <a:off x="548640" y="1417320"/>
            <a:ext cx="2587752" cy="3017520"/>
          </a:xfrm>
          <a:prstGeom prst="roundRect">
            <a:avLst>
              <a:gd name="adj" fmla="val 4240"/>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5" name="check 1 circle"/>
          <p:cNvSpPr/>
          <p:nvPr/>
        </p:nvSpPr>
        <p:spPr>
          <a:xfrm>
            <a:off x="822960" y="1645920"/>
            <a:ext cx="640080" cy="640080"/>
          </a:xfrm>
          <a:prstGeom prst="ellipse">
            <a:avLst/>
          </a:prstGeom>
          <a:solidFill>
            <a:srgbClr val="F2F4F9"/>
          </a:solidFill>
          <a:ln w="12700">
            <a:solidFill>
              <a:srgbClr val="F2F4F9"/>
            </a:solidFill>
            <a:prstDash val="solid"/>
          </a:ln>
        </p:spPr>
      </p:sp>
      <p:pic>
        <p:nvPicPr>
          <p:cNvPr id="6" name="check 1 icon" descr="preencoded.png">    </p:cNvPr>
          <p:cNvPicPr>
            <a:picLocks noChangeAspect="1"/>
          </p:cNvPicPr>
          <p:nvPr/>
        </p:nvPicPr>
        <p:blipFill>
          <a:blip r:embed="rId1"/>
          <a:stretch>
            <a:fillRect/>
          </a:stretch>
        </p:blipFill>
        <p:spPr>
          <a:xfrm>
            <a:off x="989381" y="1812341"/>
            <a:ext cx="307238" cy="307238"/>
          </a:xfrm>
          <a:prstGeom prst="rect">
            <a:avLst/>
          </a:prstGeom>
        </p:spPr>
      </p:pic>
      <p:sp>
        <p:nvSpPr>
          <p:cNvPr id="7" name="check value 1"/>
          <p:cNvSpPr txBox="1"/>
          <p:nvPr/>
        </p:nvSpPr>
        <p:spPr>
          <a:xfrm>
            <a:off x="822960" y="2423160"/>
            <a:ext cx="2194560" cy="64008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18 + 17</a:t>
            </a:r>
            <a:endParaRPr lang="en-US" sz="3000" dirty="0"/>
          </a:p>
        </p:txBody>
      </p:sp>
      <p:sp>
        <p:nvSpPr>
          <p:cNvPr id="8" name="check text 1"/>
          <p:cNvSpPr txBox="1"/>
          <p:nvPr/>
        </p:nvSpPr>
        <p:spPr>
          <a:xfrm>
            <a:off x="822960" y="3108960"/>
            <a:ext cx="2148840" cy="1188720"/>
          </a:xfrm>
          <a:prstGeom prst="rect">
            <a:avLst/>
          </a:prstGeom>
          <a:noFill/>
          <a:ln/>
        </p:spPr>
        <p:txBody>
          <a:bodyPr wrap="square" lIns="0" tIns="0" rIns="0" bIns="0" rtlCol="0" anchor="t"/>
          <a:lstStyle/>
          <a:p>
            <a:pPr indent="0" marL="0">
              <a:buNone/>
            </a:pPr>
            <a:r>
              <a:rPr lang="en-US" sz="1300" dirty="0">
                <a:solidFill>
                  <a:schemeClr val="tx2"/>
                </a:solidFill>
              </a:rPr>
              <a:t>PDF pages and CAD files read page by page</a:t>
            </a:r>
            <a:endParaRPr lang="en-US" sz="1300" dirty="0"/>
          </a:p>
        </p:txBody>
      </p:sp>
      <p:sp>
        <p:nvSpPr>
          <p:cNvPr id="9" name="check card 2"/>
          <p:cNvSpPr/>
          <p:nvPr/>
        </p:nvSpPr>
        <p:spPr>
          <a:xfrm>
            <a:off x="3364992" y="1417320"/>
            <a:ext cx="2587752" cy="3017520"/>
          </a:xfrm>
          <a:prstGeom prst="roundRect">
            <a:avLst>
              <a:gd name="adj" fmla="val 4240"/>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0" name="check 2 circle"/>
          <p:cNvSpPr/>
          <p:nvPr/>
        </p:nvSpPr>
        <p:spPr>
          <a:xfrm>
            <a:off x="3639312" y="1645920"/>
            <a:ext cx="640080" cy="640080"/>
          </a:xfrm>
          <a:prstGeom prst="ellipse">
            <a:avLst/>
          </a:prstGeom>
          <a:solidFill>
            <a:srgbClr val="F2F4F9"/>
          </a:solidFill>
          <a:ln w="12700">
            <a:solidFill>
              <a:srgbClr val="F2F4F9"/>
            </a:solidFill>
            <a:prstDash val="solid"/>
          </a:ln>
        </p:spPr>
      </p:sp>
      <p:pic>
        <p:nvPicPr>
          <p:cNvPr id="11" name="check 2 icon" descr="preencoded.png">    </p:cNvPr>
          <p:cNvPicPr>
            <a:picLocks noChangeAspect="1"/>
          </p:cNvPicPr>
          <p:nvPr/>
        </p:nvPicPr>
        <p:blipFill>
          <a:blip r:embed="rId2"/>
          <a:stretch>
            <a:fillRect/>
          </a:stretch>
        </p:blipFill>
        <p:spPr>
          <a:xfrm>
            <a:off x="3805733" y="1812341"/>
            <a:ext cx="307238" cy="307238"/>
          </a:xfrm>
          <a:prstGeom prst="rect">
            <a:avLst/>
          </a:prstGeom>
        </p:spPr>
      </p:pic>
      <p:sp>
        <p:nvSpPr>
          <p:cNvPr id="12" name="check value 2"/>
          <p:cNvSpPr txBox="1"/>
          <p:nvPr/>
        </p:nvSpPr>
        <p:spPr>
          <a:xfrm>
            <a:off x="3639312" y="2423160"/>
            <a:ext cx="2194560" cy="64008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100 %</a:t>
            </a:r>
            <a:endParaRPr lang="en-US" sz="3000" dirty="0"/>
          </a:p>
        </p:txBody>
      </p:sp>
      <p:sp>
        <p:nvSpPr>
          <p:cNvPr id="13" name="check text 2"/>
          <p:cNvSpPr txBox="1"/>
          <p:nvPr/>
        </p:nvSpPr>
        <p:spPr>
          <a:xfrm>
            <a:off x="3639312" y="3108960"/>
            <a:ext cx="2148840" cy="1188720"/>
          </a:xfrm>
          <a:prstGeom prst="rect">
            <a:avLst/>
          </a:prstGeom>
          <a:noFill/>
          <a:ln/>
        </p:spPr>
        <p:txBody>
          <a:bodyPr wrap="square" lIns="0" tIns="0" rIns="0" bIns="0" rtlCol="0" anchor="t"/>
          <a:lstStyle/>
          <a:p>
            <a:pPr indent="0" marL="0">
              <a:buNone/>
            </a:pPr>
            <a:r>
              <a:rPr lang="en-US" sz="1300" dirty="0">
                <a:solidFill>
                  <a:schemeClr val="tx2"/>
                </a:solidFill>
              </a:rPr>
              <a:t>of boards and feeder sizes on the single-line diagrams read correctly</a:t>
            </a:r>
            <a:endParaRPr lang="en-US" sz="1300" dirty="0"/>
          </a:p>
        </p:txBody>
      </p:sp>
      <p:sp>
        <p:nvSpPr>
          <p:cNvPr id="14" name="check card 3"/>
          <p:cNvSpPr/>
          <p:nvPr/>
        </p:nvSpPr>
        <p:spPr>
          <a:xfrm>
            <a:off x="6181344" y="1417320"/>
            <a:ext cx="2587752" cy="3017520"/>
          </a:xfrm>
          <a:prstGeom prst="roundRect">
            <a:avLst>
              <a:gd name="adj" fmla="val 4240"/>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5" name="check 3 circle"/>
          <p:cNvSpPr/>
          <p:nvPr/>
        </p:nvSpPr>
        <p:spPr>
          <a:xfrm>
            <a:off x="6455664" y="1645920"/>
            <a:ext cx="640080" cy="640080"/>
          </a:xfrm>
          <a:prstGeom prst="ellipse">
            <a:avLst/>
          </a:prstGeom>
          <a:solidFill>
            <a:srgbClr val="F2F4F9"/>
          </a:solidFill>
          <a:ln w="12700">
            <a:solidFill>
              <a:srgbClr val="F2F4F9"/>
            </a:solidFill>
            <a:prstDash val="solid"/>
          </a:ln>
        </p:spPr>
      </p:sp>
      <p:pic>
        <p:nvPicPr>
          <p:cNvPr id="16" name="check 3 icon" descr="preencoded.png">    </p:cNvPr>
          <p:cNvPicPr>
            <a:picLocks noChangeAspect="1"/>
          </p:cNvPicPr>
          <p:nvPr/>
        </p:nvPicPr>
        <p:blipFill>
          <a:blip r:embed="rId3"/>
          <a:stretch>
            <a:fillRect/>
          </a:stretch>
        </p:blipFill>
        <p:spPr>
          <a:xfrm>
            <a:off x="6622085" y="1812341"/>
            <a:ext cx="307238" cy="307238"/>
          </a:xfrm>
          <a:prstGeom prst="rect">
            <a:avLst/>
          </a:prstGeom>
        </p:spPr>
      </p:pic>
      <p:sp>
        <p:nvSpPr>
          <p:cNvPr id="17" name="check value 3"/>
          <p:cNvSpPr txBox="1"/>
          <p:nvPr/>
        </p:nvSpPr>
        <p:spPr>
          <a:xfrm>
            <a:off x="6455664" y="2423160"/>
            <a:ext cx="2194560" cy="64008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PDF = CAD</a:t>
            </a:r>
            <a:endParaRPr lang="en-US" sz="3000" dirty="0"/>
          </a:p>
        </p:txBody>
      </p:sp>
      <p:sp>
        <p:nvSpPr>
          <p:cNvPr id="18" name="check text 3"/>
          <p:cNvSpPr txBox="1"/>
          <p:nvPr/>
        </p:nvSpPr>
        <p:spPr>
          <a:xfrm>
            <a:off x="6455664" y="3108960"/>
            <a:ext cx="2148840" cy="1188720"/>
          </a:xfrm>
          <a:prstGeom prst="rect">
            <a:avLst/>
          </a:prstGeom>
          <a:noFill/>
          <a:ln/>
        </p:spPr>
        <p:txBody>
          <a:bodyPr wrap="square" lIns="0" tIns="0" rIns="0" bIns="0" rtlCol="0" anchor="t"/>
          <a:lstStyle/>
          <a:p>
            <a:pPr indent="0" marL="0">
              <a:buNone/>
            </a:pPr>
            <a:r>
              <a:rPr lang="en-US" sz="1300" dirty="0">
                <a:solidFill>
                  <a:schemeClr val="tx2"/>
                </a:solidFill>
              </a:rPr>
              <a:t>every feeder size identical in both versions of the drawings</a:t>
            </a:r>
            <a:endParaRPr lang="en-US" sz="1300" dirty="0"/>
          </a:p>
        </p:txBody>
      </p:sp>
      <p:sp>
        <p:nvSpPr>
          <p:cNvPr id="19" name="check card 4"/>
          <p:cNvSpPr/>
          <p:nvPr/>
        </p:nvSpPr>
        <p:spPr>
          <a:xfrm>
            <a:off x="8997696" y="1417320"/>
            <a:ext cx="2587752" cy="3017520"/>
          </a:xfrm>
          <a:prstGeom prst="roundRect">
            <a:avLst>
              <a:gd name="adj" fmla="val 4240"/>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0" name="check 4 circle"/>
          <p:cNvSpPr/>
          <p:nvPr/>
        </p:nvSpPr>
        <p:spPr>
          <a:xfrm>
            <a:off x="9272016" y="1645920"/>
            <a:ext cx="640080" cy="640080"/>
          </a:xfrm>
          <a:prstGeom prst="ellipse">
            <a:avLst/>
          </a:prstGeom>
          <a:solidFill>
            <a:srgbClr val="F2F4F9"/>
          </a:solidFill>
          <a:ln w="12700">
            <a:solidFill>
              <a:srgbClr val="F2F4F9"/>
            </a:solidFill>
            <a:prstDash val="solid"/>
          </a:ln>
        </p:spPr>
      </p:sp>
      <p:pic>
        <p:nvPicPr>
          <p:cNvPr id="21" name="check 4 icon" descr="preencoded.png">    </p:cNvPr>
          <p:cNvPicPr>
            <a:picLocks noChangeAspect="1"/>
          </p:cNvPicPr>
          <p:nvPr/>
        </p:nvPicPr>
        <p:blipFill>
          <a:blip r:embed="rId4"/>
          <a:stretch>
            <a:fillRect/>
          </a:stretch>
        </p:blipFill>
        <p:spPr>
          <a:xfrm>
            <a:off x="9438437" y="1812341"/>
            <a:ext cx="307238" cy="307238"/>
          </a:xfrm>
          <a:prstGeom prst="rect">
            <a:avLst/>
          </a:prstGeom>
        </p:spPr>
      </p:pic>
      <p:sp>
        <p:nvSpPr>
          <p:cNvPr id="22" name="check value 4"/>
          <p:cNvSpPr txBox="1"/>
          <p:nvPr/>
        </p:nvSpPr>
        <p:spPr>
          <a:xfrm>
            <a:off x="9272016" y="2423160"/>
            <a:ext cx="2194560" cy="64008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10 tables</a:t>
            </a:r>
            <a:endParaRPr lang="en-US" sz="3000" dirty="0"/>
          </a:p>
        </p:txBody>
      </p:sp>
      <p:sp>
        <p:nvSpPr>
          <p:cNvPr id="23" name="check text 4"/>
          <p:cNvSpPr txBox="1"/>
          <p:nvPr/>
        </p:nvSpPr>
        <p:spPr>
          <a:xfrm>
            <a:off x="9272016" y="3108960"/>
            <a:ext cx="2148840" cy="1188720"/>
          </a:xfrm>
          <a:prstGeom prst="rect">
            <a:avLst/>
          </a:prstGeom>
          <a:noFill/>
          <a:ln/>
        </p:spPr>
        <p:txBody>
          <a:bodyPr wrap="square" lIns="0" tIns="0" rIns="0" bIns="0" rtlCol="0" anchor="t"/>
          <a:lstStyle/>
          <a:p>
            <a:pPr indent="0" marL="0">
              <a:buNone/>
            </a:pPr>
            <a:r>
              <a:rPr lang="en-US" sz="1300" dirty="0">
                <a:solidFill>
                  <a:schemeClr val="tx2"/>
                </a:solidFill>
              </a:rPr>
              <a:t>printed quantity tables read; switches checked symbol by symbol</a:t>
            </a:r>
            <a:endParaRPr lang="en-US" sz="1300" dirty="0"/>
          </a:p>
        </p:txBody>
      </p:sp>
      <p:sp>
        <p:nvSpPr>
          <p:cNvPr id="24" name="next check card"/>
          <p:cNvSpPr/>
          <p:nvPr/>
        </p:nvSpPr>
        <p:spPr>
          <a:xfrm>
            <a:off x="548640" y="4663440"/>
            <a:ext cx="11064240" cy="1188720"/>
          </a:xfrm>
          <a:prstGeom prst="roundRect">
            <a:avLst>
              <a:gd name="adj" fmla="val 9231"/>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5" name="next check circle"/>
          <p:cNvSpPr/>
          <p:nvPr/>
        </p:nvSpPr>
        <p:spPr>
          <a:xfrm>
            <a:off x="777240" y="4846320"/>
            <a:ext cx="822960" cy="822960"/>
          </a:xfrm>
          <a:prstGeom prst="ellipse">
            <a:avLst/>
          </a:prstGeom>
          <a:solidFill>
            <a:srgbClr val="F2A900"/>
          </a:solidFill>
          <a:ln w="12700">
            <a:solidFill>
              <a:srgbClr val="F2A900"/>
            </a:solidFill>
            <a:prstDash val="solid"/>
          </a:ln>
        </p:spPr>
      </p:sp>
      <p:pic>
        <p:nvPicPr>
          <p:cNvPr id="26" name="next check icon" descr="preencoded.png">    </p:cNvPr>
          <p:cNvPicPr>
            <a:picLocks noChangeAspect="1"/>
          </p:cNvPicPr>
          <p:nvPr/>
        </p:nvPicPr>
        <p:blipFill>
          <a:blip r:embed="rId5"/>
          <a:stretch>
            <a:fillRect/>
          </a:stretch>
        </p:blipFill>
        <p:spPr>
          <a:xfrm>
            <a:off x="991210" y="5060290"/>
            <a:ext cx="395021" cy="395021"/>
          </a:xfrm>
          <a:prstGeom prst="rect">
            <a:avLst/>
          </a:prstGeom>
        </p:spPr>
      </p:pic>
      <p:sp>
        <p:nvSpPr>
          <p:cNvPr id="27" name="next check text"/>
          <p:cNvSpPr txBox="1"/>
          <p:nvPr/>
        </p:nvSpPr>
        <p:spPr>
          <a:xfrm>
            <a:off x="1828800" y="4800600"/>
            <a:ext cx="9601200" cy="914400"/>
          </a:xfrm>
          <a:prstGeom prst="rect">
            <a:avLst/>
          </a:prstGeom>
          <a:noFill/>
          <a:ln/>
        </p:spPr>
        <p:txBody>
          <a:bodyPr wrap="square" lIns="0" tIns="0" rIns="0" bIns="0" rtlCol="0" anchor="ctr"/>
          <a:lstStyle/>
          <a:p>
            <a:pPr indent="0" marL="0">
              <a:buNone/>
            </a:pPr>
            <a:r>
              <a:rPr lang="en-US" sz="1450" b="1" dirty="0">
                <a:solidFill>
                  <a:schemeClr val="tx1"/>
                </a:solidFill>
              </a:rPr>
              <a:t>Confirmed by a person: 19 of 19. </a:t>
            </a:r>
            <a:pPr indent="0" marL="0">
              <a:buNone/>
            </a:pPr>
            <a:r>
              <a:rPr lang="en-US" sz="1450" dirty="0">
                <a:solidFill>
                  <a:schemeClr val="tx1"/>
                </a:solidFill>
              </a:rPr>
              <a:t>A 20-item sample of Claude's reading was checked on the drawings — 19 correct, none wrong, 1 left blank (a switch count the drawing itself is unclear on).</a:t>
            </a:r>
            <a:endParaRPr lang="en-US" sz="145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What the reader still gets wrong — and the fix</a:t>
            </a:r>
            <a:endParaRPr lang="en-US" sz="3000" dirty="0"/>
          </a:p>
        </p:txBody>
      </p:sp>
      <p:graphicFrame>
        <p:nvGraphicFramePr>
          <p:cNvPr id="29" name="reading gap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11480"/>
                <a:gridCol w="3977640"/>
                <a:gridCol w="2377440"/>
                <a:gridCol w="4297680"/>
              </a:tblGrid>
              <a:tr h="384048">
                <a:tc>
                  <a:txBody>
                    <a:bodyPr/>
                    <a:lstStyle/>
                    <a:p>
                      <a:pPr indent="0" marL="0">
                        <a:buNone/>
                      </a:pPr>
                      <a:r>
                        <a:rPr lang="en-US" sz="1300" b="1" dirty="0">
                          <a:solidFill>
                            <a:schemeClr val="bg1"/>
                          </a:solidFill>
                        </a:rPr>
                        <a:t>#</a:t>
                      </a:r>
                      <a:endParaRPr lang="en-US" sz="13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Reading error (checked on the drawing)</a:t>
                      </a:r>
                      <a:endParaRPr lang="en-US" sz="13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Effect</a:t>
                      </a:r>
                      <a:endParaRPr lang="en-US" sz="13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Fix</a:t>
                      </a:r>
                      <a:endParaRPr lang="en-US" sz="13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solidFill>
                      <a:schemeClr val="tx1"/>
                    </a:solidFill>
                  </a:tcPr>
                </a:tc>
              </a:tr>
              <a:tr h="566928">
                <a:tc>
                  <a:txBody>
                    <a:bodyPr/>
                    <a:lstStyle/>
                    <a:p>
                      <a:pPr indent="0" marL="0">
                        <a:buNone/>
                      </a:pPr>
                      <a:r>
                        <a:rPr lang="en-US" sz="1300" dirty="0">
                          <a:solidFill>
                            <a:schemeClr val="tx1"/>
                          </a:solidFill>
                        </a:rPr>
                        <a:t>1</a:t>
                      </a:r>
                      <a:endParaRPr lang="en-US" sz="13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Same board, two names (layout vs single-line diagram)</a:t>
                      </a:r>
                      <a:endParaRPr lang="en-US" sz="13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Board billed twice</a:t>
                      </a:r>
                      <a:endParaRPr lang="en-US" sz="13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Match board names across drawings; flag for a check</a:t>
                      </a:r>
                      <a:endParaRPr lang="en-US" sz="13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r h="566928">
                <a:tc>
                  <a:txBody>
                    <a:bodyPr/>
                    <a:lstStyle/>
                    <a:p>
                      <a:pPr indent="0" marL="0">
                        <a:buNone/>
                      </a:pPr>
                      <a:r>
                        <a:rPr lang="en-US" sz="1300" dirty="0">
                          <a:solidFill>
                            <a:schemeClr val="tx1"/>
                          </a:solidFill>
                        </a:rPr>
                        <a:t>2</a:t>
                      </a:r>
                      <a:endParaRPr lang="en-US" sz="13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Road-crossing sleeves and manholes on the site plan</a:t>
                      </a:r>
                      <a:endParaRPr lang="en-US" sz="13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Not read</a:t>
                      </a:r>
                      <a:endParaRPr lang="en-US" sz="13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Read crossings of the cable routes and the manhole symbols</a:t>
                      </a:r>
                      <a:endParaRPr lang="en-US" sz="13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r h="566928">
                <a:tc>
                  <a:txBody>
                    <a:bodyPr/>
                    <a:lstStyle/>
                    <a:p>
                      <a:pPr indent="0" marL="0">
                        <a:buNone/>
                      </a:pPr>
                      <a:r>
                        <a:rPr lang="en-US" sz="1300" dirty="0">
                          <a:solidFill>
                            <a:schemeClr val="tx1"/>
                          </a:solidFill>
                        </a:rPr>
                        <a:t>3</a:t>
                      </a:r>
                      <a:endParaRPr lang="en-US" sz="13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Outlets and switches shown on two sheets</a:t>
                      </a:r>
                      <a:endParaRPr lang="en-US" sz="13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Counted twice</a:t>
                      </a:r>
                      <a:endParaRPr lang="en-US" sz="13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Pair lighting and plug sheets; prefer the printed quantity table</a:t>
                      </a:r>
                      <a:endParaRPr lang="en-US" sz="13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r h="566928">
                <a:tc>
                  <a:txBody>
                    <a:bodyPr/>
                    <a:lstStyle/>
                    <a:p>
                      <a:pPr indent="0" marL="0">
                        <a:buNone/>
                      </a:pPr>
                      <a:r>
                        <a:rPr lang="en-US" sz="1300" dirty="0">
                          <a:solidFill>
                            <a:schemeClr val="tx1"/>
                          </a:solidFill>
                        </a:rPr>
                        <a:t>4</a:t>
                      </a:r>
                      <a:endParaRPr lang="en-US" sz="13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Cable route measured on the CAD site plan</a:t>
                      </a:r>
                      <a:endParaRPr lang="en-US" sz="13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 24 % longer than the length written</a:t>
                      </a:r>
                      <a:endParaRPr lang="en-US" sz="13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Use the length written on the drawing when there is one</a:t>
                      </a:r>
                      <a:endParaRPr lang="en-US" sz="13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r h="566928">
                <a:tc>
                  <a:txBody>
                    <a:bodyPr/>
                    <a:lstStyle/>
                    <a:p>
                      <a:pPr indent="0" marL="0">
                        <a:buNone/>
                      </a:pPr>
                      <a:r>
                        <a:rPr lang="en-US" sz="1300" dirty="0">
                          <a:solidFill>
                            <a:schemeClr val="tx1"/>
                          </a:solidFill>
                        </a:rPr>
                        <a:t>5</a:t>
                      </a:r>
                      <a:endParaRPr lang="en-US" sz="13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Lights and sockets in CAD are loose lines, not symbols</a:t>
                      </a:r>
                      <a:endParaRPr lang="en-US" sz="13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Hard to count from CAD</a:t>
                      </a:r>
                      <a:endParaRPr lang="en-US" sz="13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Shape recognition (AI symbol names) or the printed tables</a:t>
                      </a:r>
                      <a:endParaRPr lang="en-US" sz="13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bl>
          </a:graphicData>
        </a:graphic>
      </p:graphicFrame>
      <p:sp>
        <p:nvSpPr>
          <p:cNvPr id="5" name="after reading card"/>
          <p:cNvSpPr/>
          <p:nvPr/>
        </p:nvSpPr>
        <p:spPr>
          <a:xfrm>
            <a:off x="548640" y="4846320"/>
            <a:ext cx="11064240" cy="1005840"/>
          </a:xfrm>
          <a:prstGeom prst="roundRect">
            <a:avLst>
              <a:gd name="adj" fmla="val 10909"/>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6" name="after reading circle"/>
          <p:cNvSpPr/>
          <p:nvPr/>
        </p:nvSpPr>
        <p:spPr>
          <a:xfrm>
            <a:off x="731520" y="5001768"/>
            <a:ext cx="685800" cy="685800"/>
          </a:xfrm>
          <a:prstGeom prst="ellipse">
            <a:avLst/>
          </a:prstGeom>
          <a:solidFill>
            <a:srgbClr val="8A93AB"/>
          </a:solidFill>
          <a:ln w="12700">
            <a:solidFill>
              <a:srgbClr val="8A93AB"/>
            </a:solidFill>
            <a:prstDash val="solid"/>
          </a:ln>
        </p:spPr>
      </p:sp>
      <p:pic>
        <p:nvPicPr>
          <p:cNvPr id="7" name="after reading icon" descr="preencoded.png">    </p:cNvPr>
          <p:cNvPicPr>
            <a:picLocks noChangeAspect="1"/>
          </p:cNvPicPr>
          <p:nvPr/>
        </p:nvPicPr>
        <p:blipFill>
          <a:blip r:embed="rId1"/>
          <a:stretch>
            <a:fillRect/>
          </a:stretch>
        </p:blipFill>
        <p:spPr>
          <a:xfrm>
            <a:off x="909828" y="5180076"/>
            <a:ext cx="329184" cy="329184"/>
          </a:xfrm>
          <a:prstGeom prst="rect">
            <a:avLst/>
          </a:prstGeom>
        </p:spPr>
      </p:pic>
      <p:sp>
        <p:nvSpPr>
          <p:cNvPr id="8" name="after reading text"/>
          <p:cNvSpPr txBox="1"/>
          <p:nvPr/>
        </p:nvSpPr>
        <p:spPr>
          <a:xfrm>
            <a:off x="1600200" y="4937760"/>
            <a:ext cx="9875520" cy="822960"/>
          </a:xfrm>
          <a:prstGeom prst="rect">
            <a:avLst/>
          </a:prstGeom>
          <a:noFill/>
          <a:ln/>
        </p:spPr>
        <p:txBody>
          <a:bodyPr wrap="square" lIns="0" tIns="0" rIns="0" bIns="0" rtlCol="0" anchor="ctr"/>
          <a:lstStyle/>
          <a:p>
            <a:pPr indent="0" marL="0">
              <a:buNone/>
            </a:pPr>
            <a:r>
              <a:rPr lang="en-US" sz="1450" b="1" dirty="0">
                <a:solidFill>
                  <a:schemeClr val="tx1"/>
                </a:solidFill>
              </a:rPr>
              <a:t>After reading: </a:t>
            </a:r>
            <a:pPr indent="0" marL="0">
              <a:buNone/>
            </a:pPr>
            <a:r>
              <a:rPr lang="en-US" sz="1450" dirty="0">
                <a:solidFill>
                  <a:schemeClr val="tx1"/>
                </a:solidFill>
              </a:rPr>
              <a:t>derived material (wire, conduit, trunking, trench) and pricing are the next checks — then more real projects (the data plan).</a:t>
            </a:r>
            <a:endParaRPr lang="en-US" sz="145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Accuracy conclusion: what is proven, what is not yet</a:t>
            </a:r>
            <a:endParaRPr lang="en-US" sz="3000" dirty="0"/>
          </a:p>
        </p:txBody>
      </p:sp>
      <p:sp>
        <p:nvSpPr>
          <p:cNvPr id="4" name="PROVEN card"/>
          <p:cNvSpPr/>
          <p:nvPr/>
        </p:nvSpPr>
        <p:spPr>
          <a:xfrm>
            <a:off x="548640" y="1417320"/>
            <a:ext cx="3566160" cy="3291840"/>
          </a:xfrm>
          <a:prstGeom prst="roundRect">
            <a:avLst>
              <a:gd name="adj" fmla="val 3333"/>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5" name="PROVEN circle"/>
          <p:cNvSpPr/>
          <p:nvPr/>
        </p:nvSpPr>
        <p:spPr>
          <a:xfrm>
            <a:off x="777240" y="1600200"/>
            <a:ext cx="640080" cy="640080"/>
          </a:xfrm>
          <a:prstGeom prst="ellipse">
            <a:avLst/>
          </a:prstGeom>
          <a:solidFill>
            <a:srgbClr val="0F8A5F"/>
          </a:solidFill>
          <a:ln w="12700">
            <a:solidFill>
              <a:srgbClr val="0F8A5F"/>
            </a:solidFill>
            <a:prstDash val="solid"/>
          </a:ln>
        </p:spPr>
      </p:sp>
      <p:pic>
        <p:nvPicPr>
          <p:cNvPr id="6" name="PROVEN icon" descr="preencoded.png">    </p:cNvPr>
          <p:cNvPicPr>
            <a:picLocks noChangeAspect="1"/>
          </p:cNvPicPr>
          <p:nvPr/>
        </p:nvPicPr>
        <p:blipFill>
          <a:blip r:embed="rId1"/>
          <a:stretch>
            <a:fillRect/>
          </a:stretch>
        </p:blipFill>
        <p:spPr>
          <a:xfrm>
            <a:off x="943661" y="1766621"/>
            <a:ext cx="307238" cy="307238"/>
          </a:xfrm>
          <a:prstGeom prst="rect">
            <a:avLst/>
          </a:prstGeom>
        </p:spPr>
      </p:pic>
      <p:sp>
        <p:nvSpPr>
          <p:cNvPr id="7" name="PROVEN tag"/>
          <p:cNvSpPr/>
          <p:nvPr/>
        </p:nvSpPr>
        <p:spPr>
          <a:xfrm>
            <a:off x="1554480" y="1737360"/>
            <a:ext cx="1828800" cy="384048"/>
          </a:xfrm>
          <a:prstGeom prst="roundRect">
            <a:avLst>
              <a:gd name="adj" fmla="val 50000"/>
            </a:avLst>
          </a:prstGeom>
          <a:solidFill>
            <a:srgbClr val="0F8A5F"/>
          </a:solidFill>
          <a:ln w="12700">
            <a:solidFill>
              <a:srgbClr val="0F8A5F"/>
            </a:solidFill>
            <a:prstDash val="solid"/>
          </a:ln>
        </p:spPr>
      </p:sp>
      <p:sp>
        <p:nvSpPr>
          <p:cNvPr id="8" name="PROVEN tag text"/>
          <p:cNvSpPr txBox="1"/>
          <p:nvPr/>
        </p:nvSpPr>
        <p:spPr>
          <a:xfrm>
            <a:off x="1554480" y="1737360"/>
            <a:ext cx="1828800" cy="384048"/>
          </a:xfrm>
          <a:prstGeom prst="rect">
            <a:avLst/>
          </a:prstGeom>
          <a:noFill/>
          <a:ln/>
        </p:spPr>
        <p:txBody>
          <a:bodyPr wrap="square" lIns="0" tIns="0" rIns="0" bIns="0" rtlCol="0" anchor="ctr"/>
          <a:lstStyle/>
          <a:p>
            <a:pPr algn="ctr" indent="0" marL="0">
              <a:buNone/>
            </a:pPr>
            <a:r>
              <a:rPr lang="en-US" sz="1300" b="1" dirty="0">
                <a:solidFill>
                  <a:srgbClr val="FFFFFF"/>
                </a:solidFill>
              </a:rPr>
              <a:t>PROVEN</a:t>
            </a:r>
            <a:endParaRPr lang="en-US" sz="1300" dirty="0"/>
          </a:p>
        </p:txBody>
      </p:sp>
      <p:sp>
        <p:nvSpPr>
          <p:cNvPr id="9" name="PROVEN points"/>
          <p:cNvSpPr txBox="1"/>
          <p:nvPr/>
        </p:nvSpPr>
        <p:spPr>
          <a:xfrm>
            <a:off x="731520" y="2377440"/>
            <a:ext cx="3246120" cy="2286000"/>
          </a:xfrm>
          <a:prstGeom prst="rect">
            <a:avLst/>
          </a:prstGeom>
          <a:noFill/>
          <a:ln/>
        </p:spPr>
        <p:txBody>
          <a:bodyPr wrap="square" lIns="0" tIns="0" rIns="0" bIns="0" rtlCol="0" anchor="t"/>
          <a:lstStyle/>
          <a:p>
            <a:pPr marL="342900" indent="-342900">
              <a:spcAft>
                <a:spcPts val="1200"/>
              </a:spcAft>
              <a:buSzPct val="100000"/>
              <a:buChar char="•"/>
            </a:pPr>
            <a:r>
              <a:rPr lang="en-US" sz="1500" dirty="0">
                <a:solidFill>
                  <a:schemeClr val="tx1"/>
                </a:solidFill>
              </a:rPr>
              <a:t>Single-line diagrams: 13 / 13 boards and 13 / 13 feeder sizes — PDF = CAD</a:t>
            </a:r>
            <a:endParaRPr lang="en-US" sz="1500" dirty="0"/>
          </a:p>
          <a:p>
            <a:pPr marL="342900" indent="-342900">
              <a:spcAft>
                <a:spcPts val="1200"/>
              </a:spcAft>
              <a:buSzPct val="100000"/>
              <a:buChar char="•"/>
            </a:pPr>
            <a:r>
              <a:rPr lang="en-US" sz="1500" dirty="0">
                <a:solidFill>
                  <a:schemeClr val="tx1"/>
                </a:solidFill>
              </a:rPr>
              <a:t>A person checked 20 items: 19 correct, 0 wrong, 1 blank</a:t>
            </a:r>
            <a:endParaRPr lang="en-US" sz="1500" dirty="0"/>
          </a:p>
          <a:p>
            <a:pPr marL="342900" indent="-342900">
              <a:spcAft>
                <a:spcPts val="1200"/>
              </a:spcAft>
              <a:buSzPct val="100000"/>
              <a:buChar char="•"/>
            </a:pPr>
            <a:r>
              <a:rPr lang="en-US" sz="1500" dirty="0">
                <a:solidFill>
                  <a:schemeClr val="tx1"/>
                </a:solidFill>
              </a:rPr>
              <a:t>Every bill line says where it comes from</a:t>
            </a:r>
            <a:endParaRPr lang="en-US" sz="1500" dirty="0"/>
          </a:p>
        </p:txBody>
      </p:sp>
      <p:sp>
        <p:nvSpPr>
          <p:cNvPr id="10" name="NOT YET card"/>
          <p:cNvSpPr/>
          <p:nvPr/>
        </p:nvSpPr>
        <p:spPr>
          <a:xfrm>
            <a:off x="4297680" y="1417320"/>
            <a:ext cx="3566160" cy="3291840"/>
          </a:xfrm>
          <a:prstGeom prst="roundRect">
            <a:avLst>
              <a:gd name="adj" fmla="val 3333"/>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1" name="NOT YET circle"/>
          <p:cNvSpPr/>
          <p:nvPr/>
        </p:nvSpPr>
        <p:spPr>
          <a:xfrm>
            <a:off x="4526280" y="1600200"/>
            <a:ext cx="640080" cy="640080"/>
          </a:xfrm>
          <a:prstGeom prst="ellipse">
            <a:avLst/>
          </a:prstGeom>
          <a:solidFill>
            <a:srgbClr val="F2A900"/>
          </a:solidFill>
          <a:ln w="12700">
            <a:solidFill>
              <a:srgbClr val="F2A900"/>
            </a:solidFill>
            <a:prstDash val="solid"/>
          </a:ln>
        </p:spPr>
      </p:sp>
      <p:pic>
        <p:nvPicPr>
          <p:cNvPr id="12" name="NOT YET icon" descr="preencoded.png">    </p:cNvPr>
          <p:cNvPicPr>
            <a:picLocks noChangeAspect="1"/>
          </p:cNvPicPr>
          <p:nvPr/>
        </p:nvPicPr>
        <p:blipFill>
          <a:blip r:embed="rId2"/>
          <a:stretch>
            <a:fillRect/>
          </a:stretch>
        </p:blipFill>
        <p:spPr>
          <a:xfrm>
            <a:off x="4692701" y="1766621"/>
            <a:ext cx="307238" cy="307238"/>
          </a:xfrm>
          <a:prstGeom prst="rect">
            <a:avLst/>
          </a:prstGeom>
        </p:spPr>
      </p:pic>
      <p:sp>
        <p:nvSpPr>
          <p:cNvPr id="13" name="NOT YET tag"/>
          <p:cNvSpPr/>
          <p:nvPr/>
        </p:nvSpPr>
        <p:spPr>
          <a:xfrm>
            <a:off x="5303520" y="1737360"/>
            <a:ext cx="1828800" cy="384048"/>
          </a:xfrm>
          <a:prstGeom prst="roundRect">
            <a:avLst>
              <a:gd name="adj" fmla="val 50000"/>
            </a:avLst>
          </a:prstGeom>
          <a:solidFill>
            <a:srgbClr val="F2A900"/>
          </a:solidFill>
          <a:ln w="12700">
            <a:solidFill>
              <a:srgbClr val="F2A900"/>
            </a:solidFill>
            <a:prstDash val="solid"/>
          </a:ln>
        </p:spPr>
      </p:sp>
      <p:sp>
        <p:nvSpPr>
          <p:cNvPr id="14" name="NOT YET tag text"/>
          <p:cNvSpPr txBox="1"/>
          <p:nvPr/>
        </p:nvSpPr>
        <p:spPr>
          <a:xfrm>
            <a:off x="5303520" y="1737360"/>
            <a:ext cx="1828800" cy="384048"/>
          </a:xfrm>
          <a:prstGeom prst="rect">
            <a:avLst/>
          </a:prstGeom>
          <a:noFill/>
          <a:ln/>
        </p:spPr>
        <p:txBody>
          <a:bodyPr wrap="square" lIns="0" tIns="0" rIns="0" bIns="0" rtlCol="0" anchor="ctr"/>
          <a:lstStyle/>
          <a:p>
            <a:pPr algn="ctr" indent="0" marL="0">
              <a:buNone/>
            </a:pPr>
            <a:r>
              <a:rPr lang="en-US" sz="1300" b="1" dirty="0">
                <a:solidFill>
                  <a:srgbClr val="101A33"/>
                </a:solidFill>
              </a:rPr>
              <a:t>NOT YET</a:t>
            </a:r>
            <a:endParaRPr lang="en-US" sz="1300" dirty="0"/>
          </a:p>
        </p:txBody>
      </p:sp>
      <p:sp>
        <p:nvSpPr>
          <p:cNvPr id="15" name="NOT YET points"/>
          <p:cNvSpPr txBox="1"/>
          <p:nvPr/>
        </p:nvSpPr>
        <p:spPr>
          <a:xfrm>
            <a:off x="4480560" y="2377440"/>
            <a:ext cx="3246120" cy="2286000"/>
          </a:xfrm>
          <a:prstGeom prst="rect">
            <a:avLst/>
          </a:prstGeom>
          <a:noFill/>
          <a:ln/>
        </p:spPr>
        <p:txBody>
          <a:bodyPr wrap="square" lIns="0" tIns="0" rIns="0" bIns="0" rtlCol="0" anchor="t"/>
          <a:lstStyle/>
          <a:p>
            <a:pPr marL="342900" indent="-342900">
              <a:spcAft>
                <a:spcPts val="1200"/>
              </a:spcAft>
              <a:buSzPct val="100000"/>
              <a:buChar char="•"/>
            </a:pPr>
            <a:r>
              <a:rPr lang="en-US" sz="1500" dirty="0">
                <a:solidFill>
                  <a:schemeClr val="tx1"/>
                </a:solidFill>
              </a:rPr>
              <a:t>Counting symbols on layouts — sockets and switches 1.6× to 4× too many</a:t>
            </a:r>
            <a:endParaRPr lang="en-US" sz="1500" dirty="0"/>
          </a:p>
          <a:p>
            <a:pPr marL="342900" indent="-342900">
              <a:spcAft>
                <a:spcPts val="1200"/>
              </a:spcAft>
              <a:buSzPct val="100000"/>
              <a:buChar char="•"/>
            </a:pPr>
            <a:r>
              <a:rPr lang="en-US" sz="1500" dirty="0">
                <a:solidFill>
                  <a:schemeClr val="tx1"/>
                </a:solidFill>
              </a:rPr>
              <a:t>Cable lengths; sleeves and manholes on the site plan</a:t>
            </a:r>
            <a:endParaRPr lang="en-US" sz="1500" dirty="0"/>
          </a:p>
          <a:p>
            <a:pPr marL="342900" indent="-342900">
              <a:spcAft>
                <a:spcPts val="1200"/>
              </a:spcAft>
              <a:buSzPct val="100000"/>
              <a:buChar char="•"/>
            </a:pPr>
            <a:r>
              <a:rPr lang="en-US" sz="1500" dirty="0">
                <a:solidFill>
                  <a:schemeClr val="tx1"/>
                </a:solidFill>
              </a:rPr>
              <a:t>Tested on one real project only</a:t>
            </a:r>
            <a:endParaRPr lang="en-US" sz="1500" dirty="0"/>
          </a:p>
        </p:txBody>
      </p:sp>
      <p:sp>
        <p:nvSpPr>
          <p:cNvPr id="16" name="NOT JUDGED card"/>
          <p:cNvSpPr/>
          <p:nvPr/>
        </p:nvSpPr>
        <p:spPr>
          <a:xfrm>
            <a:off x="8046720" y="1417320"/>
            <a:ext cx="3566160" cy="3291840"/>
          </a:xfrm>
          <a:prstGeom prst="roundRect">
            <a:avLst>
              <a:gd name="adj" fmla="val 3333"/>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7" name="NOT JUDGED circle"/>
          <p:cNvSpPr/>
          <p:nvPr/>
        </p:nvSpPr>
        <p:spPr>
          <a:xfrm>
            <a:off x="8275320" y="1600200"/>
            <a:ext cx="640080" cy="640080"/>
          </a:xfrm>
          <a:prstGeom prst="ellipse">
            <a:avLst/>
          </a:prstGeom>
          <a:solidFill>
            <a:srgbClr val="8A93AB"/>
          </a:solidFill>
          <a:ln w="12700">
            <a:solidFill>
              <a:srgbClr val="8A93AB"/>
            </a:solidFill>
            <a:prstDash val="solid"/>
          </a:ln>
        </p:spPr>
      </p:sp>
      <p:pic>
        <p:nvPicPr>
          <p:cNvPr id="18" name="NOT JUDGED icon" descr="preencoded.png">    </p:cNvPr>
          <p:cNvPicPr>
            <a:picLocks noChangeAspect="1"/>
          </p:cNvPicPr>
          <p:nvPr/>
        </p:nvPicPr>
        <p:blipFill>
          <a:blip r:embed="rId3"/>
          <a:stretch>
            <a:fillRect/>
          </a:stretch>
        </p:blipFill>
        <p:spPr>
          <a:xfrm>
            <a:off x="8441741" y="1766621"/>
            <a:ext cx="307238" cy="307238"/>
          </a:xfrm>
          <a:prstGeom prst="rect">
            <a:avLst/>
          </a:prstGeom>
        </p:spPr>
      </p:pic>
      <p:sp>
        <p:nvSpPr>
          <p:cNvPr id="19" name="NOT JUDGED tag"/>
          <p:cNvSpPr/>
          <p:nvPr/>
        </p:nvSpPr>
        <p:spPr>
          <a:xfrm>
            <a:off x="9052560" y="1737360"/>
            <a:ext cx="1828800" cy="384048"/>
          </a:xfrm>
          <a:prstGeom prst="roundRect">
            <a:avLst>
              <a:gd name="adj" fmla="val 50000"/>
            </a:avLst>
          </a:prstGeom>
          <a:solidFill>
            <a:srgbClr val="8A93AB"/>
          </a:solidFill>
          <a:ln w="12700">
            <a:solidFill>
              <a:srgbClr val="8A93AB"/>
            </a:solidFill>
            <a:prstDash val="solid"/>
          </a:ln>
        </p:spPr>
      </p:sp>
      <p:sp>
        <p:nvSpPr>
          <p:cNvPr id="20" name="NOT JUDGED tag text"/>
          <p:cNvSpPr txBox="1"/>
          <p:nvPr/>
        </p:nvSpPr>
        <p:spPr>
          <a:xfrm>
            <a:off x="9052560" y="1737360"/>
            <a:ext cx="1828800" cy="384048"/>
          </a:xfrm>
          <a:prstGeom prst="rect">
            <a:avLst/>
          </a:prstGeom>
          <a:noFill/>
          <a:ln/>
        </p:spPr>
        <p:txBody>
          <a:bodyPr wrap="square" lIns="0" tIns="0" rIns="0" bIns="0" rtlCol="0" anchor="ctr"/>
          <a:lstStyle/>
          <a:p>
            <a:pPr algn="ctr" indent="0" marL="0">
              <a:buNone/>
            </a:pPr>
            <a:r>
              <a:rPr lang="en-US" sz="1300" b="1" dirty="0">
                <a:solidFill>
                  <a:srgbClr val="FFFFFF"/>
                </a:solidFill>
              </a:rPr>
              <a:t>NOT JUDGED</a:t>
            </a:r>
            <a:endParaRPr lang="en-US" sz="1300" dirty="0"/>
          </a:p>
        </p:txBody>
      </p:sp>
      <p:sp>
        <p:nvSpPr>
          <p:cNvPr id="21" name="NOT JUDGED points"/>
          <p:cNvSpPr txBox="1"/>
          <p:nvPr/>
        </p:nvSpPr>
        <p:spPr>
          <a:xfrm>
            <a:off x="8229600" y="2377440"/>
            <a:ext cx="3246120" cy="2286000"/>
          </a:xfrm>
          <a:prstGeom prst="rect">
            <a:avLst/>
          </a:prstGeom>
          <a:noFill/>
          <a:ln/>
        </p:spPr>
        <p:txBody>
          <a:bodyPr wrap="square" lIns="0" tIns="0" rIns="0" bIns="0" rtlCol="0" anchor="t"/>
          <a:lstStyle/>
          <a:p>
            <a:pPr marL="342900" indent="-342900">
              <a:spcAft>
                <a:spcPts val="1200"/>
              </a:spcAft>
              <a:buSzPct val="100000"/>
              <a:buChar char="•"/>
            </a:pPr>
            <a:r>
              <a:rPr lang="en-US" sz="1500" dirty="0">
                <a:solidFill>
                  <a:schemeClr val="tx1"/>
                </a:solidFill>
              </a:rPr>
              <a:t>Derived material (wire, conduit, trench) — about 29 % of the bill's value</a:t>
            </a:r>
            <a:endParaRPr lang="en-US" sz="1500" dirty="0"/>
          </a:p>
          <a:p>
            <a:pPr marL="342900" indent="-342900">
              <a:spcAft>
                <a:spcPts val="1200"/>
              </a:spcAft>
              <a:buSzPct val="100000"/>
              <a:buChar char="•"/>
            </a:pPr>
            <a:r>
              <a:rPr lang="en-US" sz="1500" dirty="0">
                <a:solidFill>
                  <a:schemeClr val="tx1"/>
                </a:solidFill>
              </a:rPr>
              <a:t>Pricing — against the AACE Class 1 range, next</a:t>
            </a:r>
            <a:endParaRPr lang="en-US" sz="1500" dirty="0"/>
          </a:p>
          <a:p>
            <a:pPr marL="342900" indent="-342900">
              <a:spcAft>
                <a:spcPts val="1200"/>
              </a:spcAft>
              <a:buSzPct val="100000"/>
              <a:buChar char="•"/>
            </a:pPr>
            <a:r>
              <a:rPr lang="en-US" sz="1500" dirty="0">
                <a:solidFill>
                  <a:schemeClr val="tx1"/>
                </a:solidFill>
              </a:rPr>
              <a:t>Allowances — about 1.6 %</a:t>
            </a:r>
            <a:endParaRPr lang="en-US" sz="1500" dirty="0"/>
          </a:p>
        </p:txBody>
      </p:sp>
      <p:sp>
        <p:nvSpPr>
          <p:cNvPr id="22" name="verdict card"/>
          <p:cNvSpPr/>
          <p:nvPr/>
        </p:nvSpPr>
        <p:spPr>
          <a:xfrm>
            <a:off x="548640" y="4937760"/>
            <a:ext cx="11064240" cy="822960"/>
          </a:xfrm>
          <a:prstGeom prst="roundRect">
            <a:avLst>
              <a:gd name="adj" fmla="val 13333"/>
            </a:avLst>
          </a:prstGeom>
          <a:solidFill>
            <a:schemeClr val="tx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3" name="verdict text"/>
          <p:cNvSpPr txBox="1"/>
          <p:nvPr/>
        </p:nvSpPr>
        <p:spPr>
          <a:xfrm>
            <a:off x="777240" y="5001768"/>
            <a:ext cx="10698480" cy="685800"/>
          </a:xfrm>
          <a:prstGeom prst="rect">
            <a:avLst/>
          </a:prstGeom>
          <a:noFill/>
          <a:ln/>
        </p:spPr>
        <p:txBody>
          <a:bodyPr wrap="square" lIns="0" tIns="0" rIns="0" bIns="0" rtlCol="0" anchor="ctr"/>
          <a:lstStyle/>
          <a:p>
            <a:pPr indent="0" marL="0">
              <a:buNone/>
            </a:pPr>
            <a:r>
              <a:rPr lang="en-US" sz="1650" b="1" dirty="0">
                <a:solidFill>
                  <a:schemeClr val="accent2"/>
                </a:solidFill>
              </a:rPr>
              <a:t>Verdict: </a:t>
            </a:r>
            <a:pPr indent="0" marL="0">
              <a:buNone/>
            </a:pPr>
            <a:r>
              <a:rPr lang="en-US" sz="1650" dirty="0">
                <a:solidFill>
                  <a:schemeClr val="bg1"/>
                </a:solidFill>
              </a:rPr>
              <a:t>a traceable first draft that an estimator reviews — ready for pilots, not yet for an unchecked tender total.</a:t>
            </a:r>
            <a:endParaRPr lang="en-US" sz="165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More data, more accuracy — one reader for every company</a:t>
            </a:r>
            <a:endParaRPr lang="en-US" sz="3000" dirty="0"/>
          </a:p>
        </p:txBody>
      </p:sp>
      <p:graphicFrame>
        <p:nvGraphicFramePr>
          <p:cNvPr id="31" name="what varies table"/>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377440"/>
                <a:gridCol w="2834640"/>
                <a:gridCol w="2103120"/>
                <a:gridCol w="3749040"/>
              </a:tblGrid>
              <a:tr h="411480">
                <a:tc>
                  <a:txBody>
                    <a:bodyPr/>
                    <a:lstStyle/>
                    <a:p>
                      <a:pPr indent="0" marL="0">
                        <a:buNone/>
                      </a:pPr>
                      <a:r>
                        <a:rPr lang="en-US" sz="1400" b="1" dirty="0">
                          <a:solidFill>
                            <a:schemeClr val="bg1"/>
                          </a:solidFill>
                        </a:rPr>
                        <a:t>What varies</a:t>
                      </a:r>
                      <a:endParaRPr lang="en-US" sz="1400" dirty="0"/>
                    </a:p>
                  </a:txBody>
                  <a:tcPr marL="91440" marR="91440" marT="45720" marB="45720"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Who decides it</a:t>
                      </a:r>
                      <a:endParaRPr lang="en-US" sz="1400" dirty="0"/>
                    </a:p>
                  </a:txBody>
                  <a:tcPr marL="91440" marR="91440" marT="45720" marB="45720"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Changes per company?</a:t>
                      </a:r>
                      <a:endParaRPr lang="en-US" sz="1400" dirty="0"/>
                    </a:p>
                  </a:txBody>
                  <a:tcPr marL="91440" marR="91440" marT="45720" marB="45720"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How AfriPlan handles it</a:t>
                      </a:r>
                      <a:endParaRPr lang="en-US" sz="1400" dirty="0"/>
                    </a:p>
                  </a:txBody>
                  <a:tcPr marL="91440" marR="91440" marT="45720" marB="45720"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solidFill>
                      <a:schemeClr val="tx1"/>
                    </a:solidFill>
                  </a:tcPr>
                </a:tc>
              </a:tr>
              <a:tr h="777240">
                <a:tc>
                  <a:txBody>
                    <a:bodyPr/>
                    <a:lstStyle/>
                    <a:p>
                      <a:pPr indent="0" marL="0">
                        <a:buNone/>
                      </a:pPr>
                      <a:r>
                        <a:rPr lang="en-US" sz="1400" b="1" dirty="0">
                          <a:solidFill>
                            <a:schemeClr val="accent1"/>
                          </a:solidFill>
                        </a:rPr>
                        <a:t>Symbols and notation</a:t>
                      </a:r>
                      <a:endParaRPr lang="en-US" sz="1400" dirty="0"/>
                    </a:p>
                  </a:txBody>
                  <a:tcPr marL="91440" marR="91440" marT="45720" marB="45720"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400" dirty="0">
                          <a:solidFill>
                            <a:schemeClr val="tx1"/>
                          </a:solidFill>
                        </a:rPr>
                        <a:t>The consulting engineer who draws the set</a:t>
                      </a:r>
                      <a:endParaRPr lang="en-US" sz="1400" dirty="0"/>
                    </a:p>
                  </a:txBody>
                  <a:tcPr marL="91440" marR="91440" marT="45720" marB="45720"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400" dirty="0">
                          <a:solidFill>
                            <a:schemeClr val="tx1"/>
                          </a:solidFill>
                        </a:rPr>
                        <a:t>Per drawing set</a:t>
                      </a:r>
                      <a:endParaRPr lang="en-US" sz="1400" dirty="0"/>
                    </a:p>
                  </a:txBody>
                  <a:tcPr marL="91440" marR="91440" marT="45720" marB="45720"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400" dirty="0">
                          <a:solidFill>
                            <a:schemeClr val="tx1"/>
                          </a:solidFill>
                        </a:rPr>
                        <a:t>Reads each set's own legend first; new symbols learned once, shared by all</a:t>
                      </a:r>
                      <a:endParaRPr lang="en-US" sz="1400" dirty="0"/>
                    </a:p>
                  </a:txBody>
                  <a:tcPr marL="91440" marR="91440" marT="45720" marB="45720"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r h="777240">
                <a:tc>
                  <a:txBody>
                    <a:bodyPr/>
                    <a:lstStyle/>
                    <a:p>
                      <a:pPr indent="0" marL="0">
                        <a:buNone/>
                      </a:pPr>
                      <a:r>
                        <a:rPr lang="en-US" sz="1400" b="1" dirty="0">
                          <a:solidFill>
                            <a:schemeClr val="accent1"/>
                          </a:solidFill>
                        </a:rPr>
                        <a:t>Electrical rules</a:t>
                      </a:r>
                      <a:endParaRPr lang="en-US" sz="1400" dirty="0"/>
                    </a:p>
                  </a:txBody>
                  <a:tcPr marL="91440" marR="91440" marT="45720" marB="45720"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400" dirty="0">
                          <a:solidFill>
                            <a:schemeClr val="tx1"/>
                          </a:solidFill>
                        </a:rPr>
                        <a:t>SANS 10142-1 and estimating practice</a:t>
                      </a:r>
                      <a:endParaRPr lang="en-US" sz="1400" dirty="0"/>
                    </a:p>
                  </a:txBody>
                  <a:tcPr marL="91440" marR="91440" marT="45720" marB="45720"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400" dirty="0">
                          <a:solidFill>
                            <a:schemeClr val="tx1"/>
                          </a:solidFill>
                        </a:rPr>
                        <a:t>Mostly the same for all</a:t>
                      </a:r>
                      <a:endParaRPr lang="en-US" sz="1400" dirty="0"/>
                    </a:p>
                  </a:txBody>
                  <a:tcPr marL="91440" marR="91440" marT="45720" marB="45720"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400" dirty="0">
                          <a:solidFill>
                            <a:schemeClr val="tx1"/>
                          </a:solidFill>
                        </a:rPr>
                        <a:t>Shared rules for points, cables and derived material — built once</a:t>
                      </a:r>
                      <a:endParaRPr lang="en-US" sz="1400" dirty="0"/>
                    </a:p>
                  </a:txBody>
                  <a:tcPr marL="91440" marR="91440" marT="45720" marB="45720"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r h="777240">
                <a:tc>
                  <a:txBody>
                    <a:bodyPr/>
                    <a:lstStyle/>
                    <a:p>
                      <a:pPr indent="0" marL="0">
                        <a:buNone/>
                      </a:pPr>
                      <a:r>
                        <a:rPr lang="en-US" sz="1400" b="1" dirty="0">
                          <a:solidFill>
                            <a:schemeClr val="accent1"/>
                          </a:solidFill>
                        </a:rPr>
                        <a:t>Bill layout, rates, markup</a:t>
                      </a:r>
                      <a:endParaRPr lang="en-US" sz="1400" dirty="0"/>
                    </a:p>
                  </a:txBody>
                  <a:tcPr marL="91440" marR="91440" marT="45720" marB="45720"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400" dirty="0">
                          <a:solidFill>
                            <a:schemeClr val="tx1"/>
                          </a:solidFill>
                        </a:rPr>
                        <a:t>Each contractor</a:t>
                      </a:r>
                      <a:endParaRPr lang="en-US" sz="1400" dirty="0"/>
                    </a:p>
                  </a:txBody>
                  <a:tcPr marL="91440" marR="91440" marT="45720" marB="45720"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400" dirty="0">
                          <a:solidFill>
                            <a:schemeClr val="tx1"/>
                          </a:solidFill>
                        </a:rPr>
                        <a:t>Yes</a:t>
                      </a:r>
                      <a:endParaRPr lang="en-US" sz="1400" dirty="0"/>
                    </a:p>
                  </a:txBody>
                  <a:tcPr marL="91440" marR="91440" marT="45720" marB="45720"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400" dirty="0">
                          <a:solidFill>
                            <a:schemeClr val="tx1"/>
                          </a:solidFill>
                        </a:rPr>
                        <a:t>A company profile — settings, not new code</a:t>
                      </a:r>
                      <a:endParaRPr lang="en-US" sz="1400" dirty="0"/>
                    </a:p>
                  </a:txBody>
                  <a:tcPr marL="91440" marR="91440" marT="45720" marB="45720"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bl>
          </a:graphicData>
        </a:graphic>
      </p:graphicFrame>
      <p:sp>
        <p:nvSpPr>
          <p:cNvPr id="5" name="one reader card"/>
          <p:cNvSpPr/>
          <p:nvPr/>
        </p:nvSpPr>
        <p:spPr>
          <a:xfrm>
            <a:off x="548640" y="4572000"/>
            <a:ext cx="11064240" cy="1234440"/>
          </a:xfrm>
          <a:prstGeom prst="roundRect">
            <a:avLst>
              <a:gd name="adj" fmla="val 8889"/>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6" name="one reader circle"/>
          <p:cNvSpPr/>
          <p:nvPr/>
        </p:nvSpPr>
        <p:spPr>
          <a:xfrm>
            <a:off x="777240" y="4754880"/>
            <a:ext cx="822960" cy="822960"/>
          </a:xfrm>
          <a:prstGeom prst="ellipse">
            <a:avLst/>
          </a:prstGeom>
          <a:solidFill>
            <a:srgbClr val="2E5BE8"/>
          </a:solidFill>
          <a:ln w="12700">
            <a:solidFill>
              <a:srgbClr val="2E5BE8"/>
            </a:solidFill>
            <a:prstDash val="solid"/>
          </a:ln>
        </p:spPr>
      </p:sp>
      <p:pic>
        <p:nvPicPr>
          <p:cNvPr id="7" name="one reader icon" descr="preencoded.png">    </p:cNvPr>
          <p:cNvPicPr>
            <a:picLocks noChangeAspect="1"/>
          </p:cNvPicPr>
          <p:nvPr/>
        </p:nvPicPr>
        <p:blipFill>
          <a:blip r:embed="rId1"/>
          <a:stretch>
            <a:fillRect/>
          </a:stretch>
        </p:blipFill>
        <p:spPr>
          <a:xfrm>
            <a:off x="991210" y="4968850"/>
            <a:ext cx="395021" cy="395021"/>
          </a:xfrm>
          <a:prstGeom prst="rect">
            <a:avLst/>
          </a:prstGeom>
        </p:spPr>
      </p:pic>
      <p:sp>
        <p:nvSpPr>
          <p:cNvPr id="8" name="one reader text"/>
          <p:cNvSpPr txBox="1"/>
          <p:nvPr/>
        </p:nvSpPr>
        <p:spPr>
          <a:xfrm>
            <a:off x="1828800" y="4709160"/>
            <a:ext cx="9601200" cy="960120"/>
          </a:xfrm>
          <a:prstGeom prst="rect">
            <a:avLst/>
          </a:prstGeom>
          <a:noFill/>
          <a:ln/>
        </p:spPr>
        <p:txBody>
          <a:bodyPr wrap="square" lIns="0" tIns="0" rIns="0" bIns="0" rtlCol="0" anchor="ctr"/>
          <a:lstStyle/>
          <a:p>
            <a:pPr indent="0" marL="0">
              <a:buNone/>
            </a:pPr>
            <a:r>
              <a:rPr lang="en-US" sz="1500" b="1" dirty="0">
                <a:solidFill>
                  <a:schemeClr val="tx1"/>
                </a:solidFill>
              </a:rPr>
              <a:t>One shared reader that improves with every project </a:t>
            </a:r>
            <a:pPr indent="0" marL="0">
              <a:buNone/>
            </a:pPr>
            <a:r>
              <a:rPr lang="en-US" sz="1500" dirty="0">
                <a:solidFill>
                  <a:schemeClr val="tx1"/>
                </a:solidFill>
              </a:rPr>
              <a:t>+ a small profile per company. Setting up a new company is onboarding (rates, layout, markup) — hours, not months.</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The data plan: what each new project adds</a:t>
            </a:r>
            <a:endParaRPr lang="en-US" sz="3000" dirty="0"/>
          </a:p>
        </p:txBody>
      </p:sp>
      <p:sp>
        <p:nvSpPr>
          <p:cNvPr id="4" name="adds card 1"/>
          <p:cNvSpPr/>
          <p:nvPr/>
        </p:nvSpPr>
        <p:spPr>
          <a:xfrm>
            <a:off x="548640" y="1417320"/>
            <a:ext cx="5669280" cy="932688"/>
          </a:xfrm>
          <a:prstGeom prst="roundRect">
            <a:avLst>
              <a:gd name="adj" fmla="val 11765"/>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5" name="adds 1 circle"/>
          <p:cNvSpPr/>
          <p:nvPr/>
        </p:nvSpPr>
        <p:spPr>
          <a:xfrm>
            <a:off x="731520" y="1563624"/>
            <a:ext cx="640080" cy="640080"/>
          </a:xfrm>
          <a:prstGeom prst="ellipse">
            <a:avLst/>
          </a:prstGeom>
          <a:solidFill>
            <a:srgbClr val="2E5BE8"/>
          </a:solidFill>
          <a:ln w="12700">
            <a:solidFill>
              <a:srgbClr val="2E5BE8"/>
            </a:solidFill>
            <a:prstDash val="solid"/>
          </a:ln>
        </p:spPr>
      </p:sp>
      <p:pic>
        <p:nvPicPr>
          <p:cNvPr id="6" name="adds 1 icon" descr="preencoded.png">    </p:cNvPr>
          <p:cNvPicPr>
            <a:picLocks noChangeAspect="1"/>
          </p:cNvPicPr>
          <p:nvPr/>
        </p:nvPicPr>
        <p:blipFill>
          <a:blip r:embed="rId1"/>
          <a:stretch>
            <a:fillRect/>
          </a:stretch>
        </p:blipFill>
        <p:spPr>
          <a:xfrm>
            <a:off x="897941" y="1730045"/>
            <a:ext cx="307238" cy="307238"/>
          </a:xfrm>
          <a:prstGeom prst="rect">
            <a:avLst/>
          </a:prstGeom>
        </p:spPr>
      </p:pic>
      <p:sp>
        <p:nvSpPr>
          <p:cNvPr id="7" name="adds title 1"/>
          <p:cNvSpPr txBox="1"/>
          <p:nvPr/>
        </p:nvSpPr>
        <p:spPr>
          <a:xfrm>
            <a:off x="1554480" y="1508760"/>
            <a:ext cx="4480560" cy="365760"/>
          </a:xfrm>
          <a:prstGeom prst="rect">
            <a:avLst/>
          </a:prstGeom>
          <a:noFill/>
          <a:ln/>
        </p:spPr>
        <p:txBody>
          <a:bodyPr wrap="square" lIns="0" tIns="0" rIns="0" bIns="0" rtlCol="0" anchor="t"/>
          <a:lstStyle/>
          <a:p>
            <a:pPr indent="0" marL="0">
              <a:buNone/>
            </a:pPr>
            <a:r>
              <a:rPr lang="en-US" sz="1600" b="1" dirty="0">
                <a:solidFill>
                  <a:schemeClr val="tx1"/>
                </a:solidFill>
              </a:rPr>
              <a:t>A test</a:t>
            </a:r>
            <a:endParaRPr lang="en-US" sz="1600" dirty="0"/>
          </a:p>
        </p:txBody>
      </p:sp>
      <p:sp>
        <p:nvSpPr>
          <p:cNvPr id="8" name="adds text 1"/>
          <p:cNvSpPr txBox="1"/>
          <p:nvPr/>
        </p:nvSpPr>
        <p:spPr>
          <a:xfrm>
            <a:off x="1554480" y="1874520"/>
            <a:ext cx="4480560" cy="411480"/>
          </a:xfrm>
          <a:prstGeom prst="rect">
            <a:avLst/>
          </a:prstGeom>
          <a:noFill/>
          <a:ln/>
        </p:spPr>
        <p:txBody>
          <a:bodyPr wrap="square" lIns="0" tIns="0" rIns="0" bIns="0" rtlCol="0" anchor="t"/>
          <a:lstStyle/>
          <a:p>
            <a:pPr indent="0" marL="0">
              <a:buNone/>
            </a:pPr>
            <a:r>
              <a:rPr lang="en-US" sz="1300" dirty="0">
                <a:solidFill>
                  <a:schemeClr val="tx2"/>
                </a:solidFill>
              </a:rPr>
              <a:t>every fix is re-checked on every project — no silent regressions</a:t>
            </a:r>
            <a:endParaRPr lang="en-US" sz="1300" dirty="0"/>
          </a:p>
        </p:txBody>
      </p:sp>
      <p:sp>
        <p:nvSpPr>
          <p:cNvPr id="9" name="adds card 2"/>
          <p:cNvSpPr/>
          <p:nvPr/>
        </p:nvSpPr>
        <p:spPr>
          <a:xfrm>
            <a:off x="548640" y="2496312"/>
            <a:ext cx="5669280" cy="932688"/>
          </a:xfrm>
          <a:prstGeom prst="roundRect">
            <a:avLst>
              <a:gd name="adj" fmla="val 11765"/>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0" name="adds 2 circle"/>
          <p:cNvSpPr/>
          <p:nvPr/>
        </p:nvSpPr>
        <p:spPr>
          <a:xfrm>
            <a:off x="731520" y="2642616"/>
            <a:ext cx="640080" cy="640080"/>
          </a:xfrm>
          <a:prstGeom prst="ellipse">
            <a:avLst/>
          </a:prstGeom>
          <a:solidFill>
            <a:srgbClr val="2E5BE8"/>
          </a:solidFill>
          <a:ln w="12700">
            <a:solidFill>
              <a:srgbClr val="2E5BE8"/>
            </a:solidFill>
            <a:prstDash val="solid"/>
          </a:ln>
        </p:spPr>
      </p:sp>
      <p:pic>
        <p:nvPicPr>
          <p:cNvPr id="11" name="adds 2 icon" descr="preencoded.png">    </p:cNvPr>
          <p:cNvPicPr>
            <a:picLocks noChangeAspect="1"/>
          </p:cNvPicPr>
          <p:nvPr/>
        </p:nvPicPr>
        <p:blipFill>
          <a:blip r:embed="rId2"/>
          <a:stretch>
            <a:fillRect/>
          </a:stretch>
        </p:blipFill>
        <p:spPr>
          <a:xfrm>
            <a:off x="897941" y="2809037"/>
            <a:ext cx="307238" cy="307238"/>
          </a:xfrm>
          <a:prstGeom prst="rect">
            <a:avLst/>
          </a:prstGeom>
        </p:spPr>
      </p:pic>
      <p:sp>
        <p:nvSpPr>
          <p:cNvPr id="12" name="adds title 2"/>
          <p:cNvSpPr txBox="1"/>
          <p:nvPr/>
        </p:nvSpPr>
        <p:spPr>
          <a:xfrm>
            <a:off x="1554480" y="2587752"/>
            <a:ext cx="4480560" cy="365760"/>
          </a:xfrm>
          <a:prstGeom prst="rect">
            <a:avLst/>
          </a:prstGeom>
          <a:noFill/>
          <a:ln/>
        </p:spPr>
        <p:txBody>
          <a:bodyPr wrap="square" lIns="0" tIns="0" rIns="0" bIns="0" rtlCol="0" anchor="t"/>
          <a:lstStyle/>
          <a:p>
            <a:pPr indent="0" marL="0">
              <a:buNone/>
            </a:pPr>
            <a:r>
              <a:rPr lang="en-US" sz="1600" b="1" dirty="0">
                <a:solidFill>
                  <a:schemeClr val="tx1"/>
                </a:solidFill>
              </a:rPr>
              <a:t>New symbols</a:t>
            </a:r>
            <a:endParaRPr lang="en-US" sz="1600" dirty="0"/>
          </a:p>
        </p:txBody>
      </p:sp>
      <p:sp>
        <p:nvSpPr>
          <p:cNvPr id="13" name="adds text 2"/>
          <p:cNvSpPr txBox="1"/>
          <p:nvPr/>
        </p:nvSpPr>
        <p:spPr>
          <a:xfrm>
            <a:off x="1554480" y="2953512"/>
            <a:ext cx="4480560" cy="411480"/>
          </a:xfrm>
          <a:prstGeom prst="rect">
            <a:avLst/>
          </a:prstGeom>
          <a:noFill/>
          <a:ln/>
        </p:spPr>
        <p:txBody>
          <a:bodyPr wrap="square" lIns="0" tIns="0" rIns="0" bIns="0" rtlCol="0" anchor="t"/>
          <a:lstStyle/>
          <a:p>
            <a:pPr indent="0" marL="0">
              <a:buNone/>
            </a:pPr>
            <a:r>
              <a:rPr lang="en-US" sz="1300" dirty="0">
                <a:solidFill>
                  <a:schemeClr val="tx2"/>
                </a:solidFill>
              </a:rPr>
              <a:t>each new variant is learned once and works for everyone</a:t>
            </a:r>
            <a:endParaRPr lang="en-US" sz="1300" dirty="0"/>
          </a:p>
        </p:txBody>
      </p:sp>
      <p:sp>
        <p:nvSpPr>
          <p:cNvPr id="14" name="adds card 3"/>
          <p:cNvSpPr/>
          <p:nvPr/>
        </p:nvSpPr>
        <p:spPr>
          <a:xfrm>
            <a:off x="548640" y="3575304"/>
            <a:ext cx="5669280" cy="932688"/>
          </a:xfrm>
          <a:prstGeom prst="roundRect">
            <a:avLst>
              <a:gd name="adj" fmla="val 11765"/>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5" name="adds 3 circle"/>
          <p:cNvSpPr/>
          <p:nvPr/>
        </p:nvSpPr>
        <p:spPr>
          <a:xfrm>
            <a:off x="731520" y="3721608"/>
            <a:ext cx="640080" cy="640080"/>
          </a:xfrm>
          <a:prstGeom prst="ellipse">
            <a:avLst/>
          </a:prstGeom>
          <a:solidFill>
            <a:srgbClr val="2E5BE8"/>
          </a:solidFill>
          <a:ln w="12700">
            <a:solidFill>
              <a:srgbClr val="2E5BE8"/>
            </a:solidFill>
            <a:prstDash val="solid"/>
          </a:ln>
        </p:spPr>
      </p:sp>
      <p:pic>
        <p:nvPicPr>
          <p:cNvPr id="16" name="adds 3 icon" descr="preencoded.png">    </p:cNvPr>
          <p:cNvPicPr>
            <a:picLocks noChangeAspect="1"/>
          </p:cNvPicPr>
          <p:nvPr/>
        </p:nvPicPr>
        <p:blipFill>
          <a:blip r:embed="rId3"/>
          <a:stretch>
            <a:fillRect/>
          </a:stretch>
        </p:blipFill>
        <p:spPr>
          <a:xfrm>
            <a:off x="897941" y="3888029"/>
            <a:ext cx="307238" cy="307238"/>
          </a:xfrm>
          <a:prstGeom prst="rect">
            <a:avLst/>
          </a:prstGeom>
        </p:spPr>
      </p:pic>
      <p:sp>
        <p:nvSpPr>
          <p:cNvPr id="17" name="adds title 3"/>
          <p:cNvSpPr txBox="1"/>
          <p:nvPr/>
        </p:nvSpPr>
        <p:spPr>
          <a:xfrm>
            <a:off x="1554480" y="3666744"/>
            <a:ext cx="4480560" cy="365760"/>
          </a:xfrm>
          <a:prstGeom prst="rect">
            <a:avLst/>
          </a:prstGeom>
          <a:noFill/>
          <a:ln/>
        </p:spPr>
        <p:txBody>
          <a:bodyPr wrap="square" lIns="0" tIns="0" rIns="0" bIns="0" rtlCol="0" anchor="t"/>
          <a:lstStyle/>
          <a:p>
            <a:pPr indent="0" marL="0">
              <a:buNone/>
            </a:pPr>
            <a:r>
              <a:rPr lang="en-US" sz="1600" b="1" dirty="0">
                <a:solidFill>
                  <a:schemeClr val="tx1"/>
                </a:solidFill>
              </a:rPr>
              <a:t>Calibrated rules</a:t>
            </a:r>
            <a:endParaRPr lang="en-US" sz="1600" dirty="0"/>
          </a:p>
        </p:txBody>
      </p:sp>
      <p:sp>
        <p:nvSpPr>
          <p:cNvPr id="18" name="adds text 3"/>
          <p:cNvSpPr txBox="1"/>
          <p:nvPr/>
        </p:nvSpPr>
        <p:spPr>
          <a:xfrm>
            <a:off x="1554480" y="4032504"/>
            <a:ext cx="4480560" cy="411480"/>
          </a:xfrm>
          <a:prstGeom prst="rect">
            <a:avLst/>
          </a:prstGeom>
          <a:noFill/>
          <a:ln/>
        </p:spPr>
        <p:txBody>
          <a:bodyPr wrap="square" lIns="0" tIns="0" rIns="0" bIns="0" rtlCol="0" anchor="t"/>
          <a:lstStyle/>
          <a:p>
            <a:pPr indent="0" marL="0">
              <a:buNone/>
            </a:pPr>
            <a:r>
              <a:rPr lang="en-US" sz="1300" dirty="0">
                <a:solidFill>
                  <a:schemeClr val="tx2"/>
                </a:solidFill>
              </a:rPr>
              <a:t>wire per point, trench per metre — an average, not a guess</a:t>
            </a:r>
            <a:endParaRPr lang="en-US" sz="1300" dirty="0"/>
          </a:p>
        </p:txBody>
      </p:sp>
      <p:sp>
        <p:nvSpPr>
          <p:cNvPr id="19" name="adds card 4"/>
          <p:cNvSpPr/>
          <p:nvPr/>
        </p:nvSpPr>
        <p:spPr>
          <a:xfrm>
            <a:off x="548640" y="4654296"/>
            <a:ext cx="5669280" cy="932688"/>
          </a:xfrm>
          <a:prstGeom prst="roundRect">
            <a:avLst>
              <a:gd name="adj" fmla="val 11765"/>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0" name="adds 4 circle"/>
          <p:cNvSpPr/>
          <p:nvPr/>
        </p:nvSpPr>
        <p:spPr>
          <a:xfrm>
            <a:off x="731520" y="4800600"/>
            <a:ext cx="640080" cy="640080"/>
          </a:xfrm>
          <a:prstGeom prst="ellipse">
            <a:avLst/>
          </a:prstGeom>
          <a:solidFill>
            <a:srgbClr val="2E5BE8"/>
          </a:solidFill>
          <a:ln w="12700">
            <a:solidFill>
              <a:srgbClr val="2E5BE8"/>
            </a:solidFill>
            <a:prstDash val="solid"/>
          </a:ln>
        </p:spPr>
      </p:sp>
      <p:pic>
        <p:nvPicPr>
          <p:cNvPr id="21" name="adds 4 icon" descr="preencoded.png">    </p:cNvPr>
          <p:cNvPicPr>
            <a:picLocks noChangeAspect="1"/>
          </p:cNvPicPr>
          <p:nvPr/>
        </p:nvPicPr>
        <p:blipFill>
          <a:blip r:embed="rId4"/>
          <a:stretch>
            <a:fillRect/>
          </a:stretch>
        </p:blipFill>
        <p:spPr>
          <a:xfrm>
            <a:off x="897941" y="4967021"/>
            <a:ext cx="307238" cy="307238"/>
          </a:xfrm>
          <a:prstGeom prst="rect">
            <a:avLst/>
          </a:prstGeom>
        </p:spPr>
      </p:pic>
      <p:sp>
        <p:nvSpPr>
          <p:cNvPr id="22" name="adds title 4"/>
          <p:cNvSpPr txBox="1"/>
          <p:nvPr/>
        </p:nvSpPr>
        <p:spPr>
          <a:xfrm>
            <a:off x="1554480" y="4745736"/>
            <a:ext cx="4480560" cy="365760"/>
          </a:xfrm>
          <a:prstGeom prst="rect">
            <a:avLst/>
          </a:prstGeom>
          <a:noFill/>
          <a:ln/>
        </p:spPr>
        <p:txBody>
          <a:bodyPr wrap="square" lIns="0" tIns="0" rIns="0" bIns="0" rtlCol="0" anchor="t"/>
          <a:lstStyle/>
          <a:p>
            <a:pPr indent="0" marL="0">
              <a:buNone/>
            </a:pPr>
            <a:r>
              <a:rPr lang="en-US" sz="1600" b="1" dirty="0">
                <a:solidFill>
                  <a:schemeClr val="tx1"/>
                </a:solidFill>
              </a:rPr>
              <a:t>Proof it generalises</a:t>
            </a:r>
            <a:endParaRPr lang="en-US" sz="1600" dirty="0"/>
          </a:p>
        </p:txBody>
      </p:sp>
      <p:sp>
        <p:nvSpPr>
          <p:cNvPr id="23" name="adds text 4"/>
          <p:cNvSpPr txBox="1"/>
          <p:nvPr/>
        </p:nvSpPr>
        <p:spPr>
          <a:xfrm>
            <a:off x="1554480" y="5111496"/>
            <a:ext cx="4480560" cy="411480"/>
          </a:xfrm>
          <a:prstGeom prst="rect">
            <a:avLst/>
          </a:prstGeom>
          <a:noFill/>
          <a:ln/>
        </p:spPr>
        <p:txBody>
          <a:bodyPr wrap="square" lIns="0" tIns="0" rIns="0" bIns="0" rtlCol="0" anchor="t"/>
          <a:lstStyle/>
          <a:p>
            <a:pPr indent="0" marL="0">
              <a:buNone/>
            </a:pPr>
            <a:r>
              <a:rPr lang="en-US" sz="1300" dirty="0">
                <a:solidFill>
                  <a:schemeClr val="tx2"/>
                </a:solidFill>
              </a:rPr>
              <a:t>a score across projects, not an anecdote from one</a:t>
            </a:r>
            <a:endParaRPr lang="en-US" sz="1300" dirty="0"/>
          </a:p>
        </p:txBody>
      </p:sp>
      <p:sp>
        <p:nvSpPr>
          <p:cNvPr id="24" name="plan card"/>
          <p:cNvSpPr/>
          <p:nvPr/>
        </p:nvSpPr>
        <p:spPr>
          <a:xfrm>
            <a:off x="6446520" y="1417320"/>
            <a:ext cx="5166360" cy="4169664"/>
          </a:xfrm>
          <a:prstGeom prst="roundRect">
            <a:avLst>
              <a:gd name="adj" fmla="val 2632"/>
            </a:avLst>
          </a:prstGeom>
          <a:solidFill>
            <a:schemeClr val="tx1"/>
          </a:solidFill>
          <a:ln w="12700">
            <a:solidFill>
              <a:schemeClr val="tx1"/>
            </a:solidFill>
            <a:prstDash val="solid"/>
          </a:ln>
        </p:spPr>
      </p:sp>
      <p:sp>
        <p:nvSpPr>
          <p:cNvPr id="25" name="plan title"/>
          <p:cNvSpPr txBox="1"/>
          <p:nvPr/>
        </p:nvSpPr>
        <p:spPr>
          <a:xfrm>
            <a:off x="6720840" y="1600200"/>
            <a:ext cx="4663440" cy="411480"/>
          </a:xfrm>
          <a:prstGeom prst="rect">
            <a:avLst/>
          </a:prstGeom>
          <a:noFill/>
          <a:ln/>
        </p:spPr>
        <p:txBody>
          <a:bodyPr wrap="square" lIns="0" tIns="0" rIns="0" bIns="0" rtlCol="0" anchor="t"/>
          <a:lstStyle/>
          <a:p>
            <a:pPr indent="0" marL="0">
              <a:buNone/>
            </a:pPr>
            <a:r>
              <a:rPr lang="en-US" sz="1800" b="1" dirty="0">
                <a:solidFill>
                  <a:schemeClr val="accent2"/>
                </a:solidFill>
              </a:rPr>
              <a:t>Recommendation</a:t>
            </a:r>
            <a:endParaRPr lang="en-US" sz="1800" dirty="0"/>
          </a:p>
        </p:txBody>
      </p:sp>
      <p:sp>
        <p:nvSpPr>
          <p:cNvPr id="26" name="plan text"/>
          <p:cNvSpPr txBox="1"/>
          <p:nvPr/>
        </p:nvSpPr>
        <p:spPr>
          <a:xfrm>
            <a:off x="6720840" y="2103120"/>
            <a:ext cx="4663440" cy="3383280"/>
          </a:xfrm>
          <a:prstGeom prst="rect">
            <a:avLst/>
          </a:prstGeom>
          <a:noFill/>
          <a:ln/>
        </p:spPr>
        <p:txBody>
          <a:bodyPr wrap="square" lIns="0" tIns="0" rIns="0" bIns="0" rtlCol="0" anchor="t"/>
          <a:lstStyle/>
          <a:p>
            <a:pPr indent="0" marL="0">
              <a:spcAft>
                <a:spcPts val="800"/>
              </a:spcAft>
              <a:buNone/>
            </a:pPr>
            <a:r>
              <a:rPr lang="en-US" sz="1400" b="1" dirty="0">
                <a:solidFill>
                  <a:schemeClr val="bg1"/>
                </a:solidFill>
              </a:rPr>
              <a:t>5 real projects from 3+ consulting firms</a:t>
            </a:r>
            <a:endParaRPr lang="en-US" sz="1400" dirty="0"/>
          </a:p>
          <a:p>
            <a:pPr marL="342900" indent="-342900">
              <a:spcAft>
                <a:spcPts val="800"/>
              </a:spcAft>
              <a:buSzPct val="100000"/>
              <a:buChar char="•"/>
            </a:pPr>
            <a:r>
              <a:rPr lang="en-US" sz="1400" dirty="0">
                <a:solidFill>
                  <a:schemeClr val="bg1"/>
                </a:solidFill>
              </a:rPr>
              <a:t>Each with: PDF + DWG drawings, the priced bill, a 20-item check by a person (≈ 30 min)</a:t>
            </a:r>
            <a:endParaRPr lang="en-US" sz="1400" dirty="0"/>
          </a:p>
          <a:p>
            <a:pPr marL="342900" indent="-342900">
              <a:spcAft>
                <a:spcPts val="800"/>
              </a:spcAft>
              <a:buSzPct val="100000"/>
              <a:buChar char="•"/>
            </a:pPr>
            <a:r>
              <a:rPr lang="en-US" sz="1400" dirty="0">
                <a:solidFill>
                  <a:schemeClr val="bg1"/>
                </a:solidFill>
              </a:rPr>
              <a:t>From pilot partners — a reduced price in exchange for a past project</a:t>
            </a:r>
            <a:endParaRPr lang="en-US" sz="1400" dirty="0"/>
          </a:p>
          <a:p>
            <a:pPr marL="342900" indent="-342900">
              <a:spcAft>
                <a:spcPts val="800"/>
              </a:spcAft>
              <a:buSzPct val="100000"/>
              <a:buChar char="•"/>
            </a:pPr>
            <a:r>
              <a:rPr lang="en-US" sz="1400" dirty="0">
                <a:solidFill>
                  <a:schemeClr val="bg1"/>
                </a:solidFill>
              </a:rPr>
              <a:t>Estimator corrections saved: drawing facts for all, preferences per company</a:t>
            </a:r>
            <a:endParaRPr lang="en-US" sz="1400" dirty="0"/>
          </a:p>
          <a:p>
            <a:pPr marL="342900" indent="-342900">
              <a:spcAft>
                <a:spcPts val="800"/>
              </a:spcAft>
              <a:buSzPct val="100000"/>
              <a:buChar char="•"/>
            </a:pPr>
            <a:r>
              <a:rPr lang="en-US" sz="1400" dirty="0">
                <a:solidFill>
                  <a:schemeClr val="bg1"/>
                </a:solidFill>
              </a:rPr>
              <a:t>Report the reading score on every project — up or down</a:t>
            </a:r>
            <a:endParaRPr lang="en-US" sz="1400" dirty="0"/>
          </a:p>
        </p:txBody>
      </p:sp>
      <p:sp>
        <p:nvSpPr>
          <p:cNvPr id="27" name="source"/>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000" i="1" dirty="0">
                <a:solidFill>
                  <a:schemeClr val="accent6"/>
                </a:solidFill>
              </a:rPr>
              <a:t>Today every accuracy number comes from one reference project (Wedela, 7 buildings).</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What it is worth to a consulting engineer, in numbers</a:t>
            </a:r>
            <a:endParaRPr lang="en-US" sz="3000" dirty="0"/>
          </a:p>
        </p:txBody>
      </p:sp>
      <p:sp>
        <p:nvSpPr>
          <p:cNvPr id="4" name="value card 1"/>
          <p:cNvSpPr/>
          <p:nvPr/>
        </p:nvSpPr>
        <p:spPr>
          <a:xfrm>
            <a:off x="548640" y="1371600"/>
            <a:ext cx="3566160" cy="1508760"/>
          </a:xfrm>
          <a:prstGeom prst="roundRect">
            <a:avLst>
              <a:gd name="adj" fmla="val 7273"/>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5" name="value 1 circle"/>
          <p:cNvSpPr/>
          <p:nvPr/>
        </p:nvSpPr>
        <p:spPr>
          <a:xfrm>
            <a:off x="777240" y="1600200"/>
            <a:ext cx="594360" cy="594360"/>
          </a:xfrm>
          <a:prstGeom prst="ellipse">
            <a:avLst/>
          </a:prstGeom>
          <a:solidFill>
            <a:srgbClr val="2E5BE8"/>
          </a:solidFill>
          <a:ln w="12700">
            <a:solidFill>
              <a:srgbClr val="2E5BE8"/>
            </a:solidFill>
            <a:prstDash val="solid"/>
          </a:ln>
        </p:spPr>
      </p:sp>
      <p:pic>
        <p:nvPicPr>
          <p:cNvPr id="6" name="value 1 icon" descr="preencoded.png">    </p:cNvPr>
          <p:cNvPicPr>
            <a:picLocks noChangeAspect="1"/>
          </p:cNvPicPr>
          <p:nvPr/>
        </p:nvPicPr>
        <p:blipFill>
          <a:blip r:embed="rId1"/>
          <a:stretch>
            <a:fillRect/>
          </a:stretch>
        </p:blipFill>
        <p:spPr>
          <a:xfrm>
            <a:off x="931774" y="1754734"/>
            <a:ext cx="285293" cy="285293"/>
          </a:xfrm>
          <a:prstGeom prst="rect">
            <a:avLst/>
          </a:prstGeom>
        </p:spPr>
      </p:pic>
      <p:sp>
        <p:nvSpPr>
          <p:cNvPr id="7" name="value number 1"/>
          <p:cNvSpPr txBox="1"/>
          <p:nvPr/>
        </p:nvSpPr>
        <p:spPr>
          <a:xfrm>
            <a:off x="1508760" y="1508760"/>
            <a:ext cx="2514600" cy="64008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1–2 min</a:t>
            </a:r>
            <a:endParaRPr lang="en-US" sz="3000" dirty="0"/>
          </a:p>
        </p:txBody>
      </p:sp>
      <p:sp>
        <p:nvSpPr>
          <p:cNvPr id="8" name="value text 1"/>
          <p:cNvSpPr txBox="1"/>
          <p:nvPr/>
        </p:nvSpPr>
        <p:spPr>
          <a:xfrm>
            <a:off x="1508760" y="2148840"/>
            <a:ext cx="2514600" cy="658368"/>
          </a:xfrm>
          <a:prstGeom prst="rect">
            <a:avLst/>
          </a:prstGeom>
          <a:noFill/>
          <a:ln/>
        </p:spPr>
        <p:txBody>
          <a:bodyPr wrap="square" lIns="0" tIns="0" rIns="0" bIns="0" rtlCol="0" anchor="t"/>
          <a:lstStyle/>
          <a:p>
            <a:pPr indent="0" marL="0">
              <a:buNone/>
            </a:pPr>
            <a:r>
              <a:rPr lang="en-US" sz="1250" dirty="0">
                <a:solidFill>
                  <a:schemeClr val="tx2"/>
                </a:solidFill>
              </a:rPr>
              <a:t>CAD set (DWG/DXF) to a draft BoQ</a:t>
            </a:r>
            <a:endParaRPr lang="en-US" sz="1250" dirty="0"/>
          </a:p>
        </p:txBody>
      </p:sp>
      <p:sp>
        <p:nvSpPr>
          <p:cNvPr id="9" name="value card 2"/>
          <p:cNvSpPr/>
          <p:nvPr/>
        </p:nvSpPr>
        <p:spPr>
          <a:xfrm>
            <a:off x="4297680" y="1371600"/>
            <a:ext cx="3566160" cy="1508760"/>
          </a:xfrm>
          <a:prstGeom prst="roundRect">
            <a:avLst>
              <a:gd name="adj" fmla="val 7273"/>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0" name="value 2 circle"/>
          <p:cNvSpPr/>
          <p:nvPr/>
        </p:nvSpPr>
        <p:spPr>
          <a:xfrm>
            <a:off x="4526280" y="1600200"/>
            <a:ext cx="594360" cy="594360"/>
          </a:xfrm>
          <a:prstGeom prst="ellipse">
            <a:avLst/>
          </a:prstGeom>
          <a:solidFill>
            <a:srgbClr val="2E5BE8"/>
          </a:solidFill>
          <a:ln w="12700">
            <a:solidFill>
              <a:srgbClr val="2E5BE8"/>
            </a:solidFill>
            <a:prstDash val="solid"/>
          </a:ln>
        </p:spPr>
      </p:sp>
      <p:pic>
        <p:nvPicPr>
          <p:cNvPr id="11" name="value 2 icon" descr="preencoded.png">    </p:cNvPr>
          <p:cNvPicPr>
            <a:picLocks noChangeAspect="1"/>
          </p:cNvPicPr>
          <p:nvPr/>
        </p:nvPicPr>
        <p:blipFill>
          <a:blip r:embed="rId2"/>
          <a:stretch>
            <a:fillRect/>
          </a:stretch>
        </p:blipFill>
        <p:spPr>
          <a:xfrm>
            <a:off x="4680814" y="1754734"/>
            <a:ext cx="285293" cy="285293"/>
          </a:xfrm>
          <a:prstGeom prst="rect">
            <a:avLst/>
          </a:prstGeom>
        </p:spPr>
      </p:pic>
      <p:sp>
        <p:nvSpPr>
          <p:cNvPr id="12" name="value number 2"/>
          <p:cNvSpPr txBox="1"/>
          <p:nvPr/>
        </p:nvSpPr>
        <p:spPr>
          <a:xfrm>
            <a:off x="5257800" y="1508760"/>
            <a:ext cx="2514600" cy="64008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 5 min</a:t>
            </a:r>
            <a:endParaRPr lang="en-US" sz="3000" dirty="0"/>
          </a:p>
        </p:txBody>
      </p:sp>
      <p:sp>
        <p:nvSpPr>
          <p:cNvPr id="13" name="value text 2"/>
          <p:cNvSpPr txBox="1"/>
          <p:nvPr/>
        </p:nvSpPr>
        <p:spPr>
          <a:xfrm>
            <a:off x="5257800" y="2148840"/>
            <a:ext cx="2514600" cy="658368"/>
          </a:xfrm>
          <a:prstGeom prst="rect">
            <a:avLst/>
          </a:prstGeom>
          <a:noFill/>
          <a:ln/>
        </p:spPr>
        <p:txBody>
          <a:bodyPr wrap="square" lIns="0" tIns="0" rIns="0" bIns="0" rtlCol="0" anchor="t"/>
          <a:lstStyle/>
          <a:p>
            <a:pPr indent="0" marL="0">
              <a:buNone/>
            </a:pPr>
            <a:r>
              <a:rPr lang="en-US" sz="1250" dirty="0">
                <a:solidFill>
                  <a:schemeClr val="tx2"/>
                </a:solidFill>
              </a:rPr>
              <a:t>18 PDF pages read by Claude</a:t>
            </a:r>
            <a:endParaRPr lang="en-US" sz="1250" dirty="0"/>
          </a:p>
        </p:txBody>
      </p:sp>
      <p:sp>
        <p:nvSpPr>
          <p:cNvPr id="14" name="value card 3"/>
          <p:cNvSpPr/>
          <p:nvPr/>
        </p:nvSpPr>
        <p:spPr>
          <a:xfrm>
            <a:off x="8046720" y="1371600"/>
            <a:ext cx="3566160" cy="1508760"/>
          </a:xfrm>
          <a:prstGeom prst="roundRect">
            <a:avLst>
              <a:gd name="adj" fmla="val 7273"/>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5" name="value 3 circle"/>
          <p:cNvSpPr/>
          <p:nvPr/>
        </p:nvSpPr>
        <p:spPr>
          <a:xfrm>
            <a:off x="8275320" y="1600200"/>
            <a:ext cx="594360" cy="594360"/>
          </a:xfrm>
          <a:prstGeom prst="ellipse">
            <a:avLst/>
          </a:prstGeom>
          <a:solidFill>
            <a:srgbClr val="2E5BE8"/>
          </a:solidFill>
          <a:ln w="12700">
            <a:solidFill>
              <a:srgbClr val="2E5BE8"/>
            </a:solidFill>
            <a:prstDash val="solid"/>
          </a:ln>
        </p:spPr>
      </p:sp>
      <p:pic>
        <p:nvPicPr>
          <p:cNvPr id="16" name="value 3 icon" descr="preencoded.png">    </p:cNvPr>
          <p:cNvPicPr>
            <a:picLocks noChangeAspect="1"/>
          </p:cNvPicPr>
          <p:nvPr/>
        </p:nvPicPr>
        <p:blipFill>
          <a:blip r:embed="rId3"/>
          <a:stretch>
            <a:fillRect/>
          </a:stretch>
        </p:blipFill>
        <p:spPr>
          <a:xfrm>
            <a:off x="8429854" y="1754734"/>
            <a:ext cx="285293" cy="285293"/>
          </a:xfrm>
          <a:prstGeom prst="rect">
            <a:avLst/>
          </a:prstGeom>
        </p:spPr>
      </p:pic>
      <p:sp>
        <p:nvSpPr>
          <p:cNvPr id="17" name="value number 3"/>
          <p:cNvSpPr txBox="1"/>
          <p:nvPr/>
        </p:nvSpPr>
        <p:spPr>
          <a:xfrm>
            <a:off x="9006840" y="1508760"/>
            <a:ext cx="2514600" cy="64008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 R2.50</a:t>
            </a:r>
            <a:endParaRPr lang="en-US" sz="3000" dirty="0"/>
          </a:p>
        </p:txBody>
      </p:sp>
      <p:sp>
        <p:nvSpPr>
          <p:cNvPr id="18" name="value text 3"/>
          <p:cNvSpPr txBox="1"/>
          <p:nvPr/>
        </p:nvSpPr>
        <p:spPr>
          <a:xfrm>
            <a:off x="9006840" y="2148840"/>
            <a:ext cx="2514600" cy="658368"/>
          </a:xfrm>
          <a:prstGeom prst="rect">
            <a:avLst/>
          </a:prstGeom>
          <a:noFill/>
          <a:ln/>
        </p:spPr>
        <p:txBody>
          <a:bodyPr wrap="square" lIns="0" tIns="0" rIns="0" bIns="0" rtlCol="0" anchor="t"/>
          <a:lstStyle/>
          <a:p>
            <a:pPr indent="0" marL="0">
              <a:buNone/>
            </a:pPr>
            <a:r>
              <a:rPr lang="en-US" sz="1250" dirty="0">
                <a:solidFill>
                  <a:schemeClr val="tx2"/>
                </a:solidFill>
              </a:rPr>
              <a:t>per PDF page with Claude — DWG and Gemini free</a:t>
            </a:r>
            <a:endParaRPr lang="en-US" sz="1250" dirty="0"/>
          </a:p>
        </p:txBody>
      </p:sp>
      <p:sp>
        <p:nvSpPr>
          <p:cNvPr id="19" name="value card 4"/>
          <p:cNvSpPr/>
          <p:nvPr/>
        </p:nvSpPr>
        <p:spPr>
          <a:xfrm>
            <a:off x="548640" y="3063240"/>
            <a:ext cx="3566160" cy="1508760"/>
          </a:xfrm>
          <a:prstGeom prst="roundRect">
            <a:avLst>
              <a:gd name="adj" fmla="val 7273"/>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0" name="value 4 circle"/>
          <p:cNvSpPr/>
          <p:nvPr/>
        </p:nvSpPr>
        <p:spPr>
          <a:xfrm>
            <a:off x="777240" y="3291840"/>
            <a:ext cx="594360" cy="594360"/>
          </a:xfrm>
          <a:prstGeom prst="ellipse">
            <a:avLst/>
          </a:prstGeom>
          <a:solidFill>
            <a:srgbClr val="2E5BE8"/>
          </a:solidFill>
          <a:ln w="12700">
            <a:solidFill>
              <a:srgbClr val="2E5BE8"/>
            </a:solidFill>
            <a:prstDash val="solid"/>
          </a:ln>
        </p:spPr>
      </p:sp>
      <p:pic>
        <p:nvPicPr>
          <p:cNvPr id="21" name="value 4 icon" descr="preencoded.png">    </p:cNvPr>
          <p:cNvPicPr>
            <a:picLocks noChangeAspect="1"/>
          </p:cNvPicPr>
          <p:nvPr/>
        </p:nvPicPr>
        <p:blipFill>
          <a:blip r:embed="rId4"/>
          <a:stretch>
            <a:fillRect/>
          </a:stretch>
        </p:blipFill>
        <p:spPr>
          <a:xfrm>
            <a:off x="931774" y="3446374"/>
            <a:ext cx="285293" cy="285293"/>
          </a:xfrm>
          <a:prstGeom prst="rect">
            <a:avLst/>
          </a:prstGeom>
        </p:spPr>
      </p:pic>
      <p:sp>
        <p:nvSpPr>
          <p:cNvPr id="22" name="value number 4"/>
          <p:cNvSpPr txBox="1"/>
          <p:nvPr/>
        </p:nvSpPr>
        <p:spPr>
          <a:xfrm>
            <a:off x="1508760" y="3200400"/>
            <a:ext cx="2514600" cy="64008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7</a:t>
            </a:r>
            <a:endParaRPr lang="en-US" sz="3000" dirty="0"/>
          </a:p>
        </p:txBody>
      </p:sp>
      <p:sp>
        <p:nvSpPr>
          <p:cNvPr id="23" name="value text 4"/>
          <p:cNvSpPr txBox="1"/>
          <p:nvPr/>
        </p:nvSpPr>
        <p:spPr>
          <a:xfrm>
            <a:off x="1508760" y="3840480"/>
            <a:ext cx="2514600" cy="658368"/>
          </a:xfrm>
          <a:prstGeom prst="rect">
            <a:avLst/>
          </a:prstGeom>
          <a:noFill/>
          <a:ln/>
        </p:spPr>
        <p:txBody>
          <a:bodyPr wrap="square" lIns="0" tIns="0" rIns="0" bIns="0" rtlCol="0" anchor="t"/>
          <a:lstStyle/>
          <a:p>
            <a:pPr indent="0" marL="0">
              <a:buNone/>
            </a:pPr>
            <a:r>
              <a:rPr lang="en-US" sz="1250" dirty="0">
                <a:solidFill>
                  <a:schemeClr val="tx2"/>
                </a:solidFill>
              </a:rPr>
              <a:t>inconsistencies flagged in one real drawing set before tender</a:t>
            </a:r>
            <a:endParaRPr lang="en-US" sz="1250" dirty="0"/>
          </a:p>
        </p:txBody>
      </p:sp>
      <p:sp>
        <p:nvSpPr>
          <p:cNvPr id="24" name="value card 5"/>
          <p:cNvSpPr/>
          <p:nvPr/>
        </p:nvSpPr>
        <p:spPr>
          <a:xfrm>
            <a:off x="4297680" y="3063240"/>
            <a:ext cx="3566160" cy="1508760"/>
          </a:xfrm>
          <a:prstGeom prst="roundRect">
            <a:avLst>
              <a:gd name="adj" fmla="val 7273"/>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5" name="value 5 circle"/>
          <p:cNvSpPr/>
          <p:nvPr/>
        </p:nvSpPr>
        <p:spPr>
          <a:xfrm>
            <a:off x="4526280" y="3291840"/>
            <a:ext cx="594360" cy="594360"/>
          </a:xfrm>
          <a:prstGeom prst="ellipse">
            <a:avLst/>
          </a:prstGeom>
          <a:solidFill>
            <a:srgbClr val="2E5BE8"/>
          </a:solidFill>
          <a:ln w="12700">
            <a:solidFill>
              <a:srgbClr val="2E5BE8"/>
            </a:solidFill>
            <a:prstDash val="solid"/>
          </a:ln>
        </p:spPr>
      </p:sp>
      <p:pic>
        <p:nvPicPr>
          <p:cNvPr id="26" name="value 5 icon" descr="preencoded.png">    </p:cNvPr>
          <p:cNvPicPr>
            <a:picLocks noChangeAspect="1"/>
          </p:cNvPicPr>
          <p:nvPr/>
        </p:nvPicPr>
        <p:blipFill>
          <a:blip r:embed="rId5"/>
          <a:stretch>
            <a:fillRect/>
          </a:stretch>
        </p:blipFill>
        <p:spPr>
          <a:xfrm>
            <a:off x="4680814" y="3446374"/>
            <a:ext cx="285293" cy="285293"/>
          </a:xfrm>
          <a:prstGeom prst="rect">
            <a:avLst/>
          </a:prstGeom>
        </p:spPr>
      </p:pic>
      <p:sp>
        <p:nvSpPr>
          <p:cNvPr id="27" name="value number 5"/>
          <p:cNvSpPr txBox="1"/>
          <p:nvPr/>
        </p:nvSpPr>
        <p:spPr>
          <a:xfrm>
            <a:off x="5257800" y="3200400"/>
            <a:ext cx="2514600" cy="64008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7</a:t>
            </a:r>
            <a:endParaRPr lang="en-US" sz="3000" dirty="0"/>
          </a:p>
        </p:txBody>
      </p:sp>
      <p:sp>
        <p:nvSpPr>
          <p:cNvPr id="28" name="value text 5"/>
          <p:cNvSpPr txBox="1"/>
          <p:nvPr/>
        </p:nvSpPr>
        <p:spPr>
          <a:xfrm>
            <a:off x="5257800" y="3840480"/>
            <a:ext cx="2514600" cy="658368"/>
          </a:xfrm>
          <a:prstGeom prst="rect">
            <a:avLst/>
          </a:prstGeom>
          <a:noFill/>
          <a:ln/>
        </p:spPr>
        <p:txBody>
          <a:bodyPr wrap="square" lIns="0" tIns="0" rIns="0" bIns="0" rtlCol="0" anchor="t"/>
          <a:lstStyle/>
          <a:p>
            <a:pPr indent="0" marL="0">
              <a:buNone/>
            </a:pPr>
            <a:r>
              <a:rPr lang="en-US" sz="1250" dirty="0">
                <a:solidFill>
                  <a:schemeClr val="tx2"/>
                </a:solidFill>
              </a:rPr>
              <a:t>places a priced bill differs from the drawings (bill audit)</a:t>
            </a:r>
            <a:endParaRPr lang="en-US" sz="1250" dirty="0"/>
          </a:p>
        </p:txBody>
      </p:sp>
      <p:sp>
        <p:nvSpPr>
          <p:cNvPr id="29" name="value card 6"/>
          <p:cNvSpPr/>
          <p:nvPr/>
        </p:nvSpPr>
        <p:spPr>
          <a:xfrm>
            <a:off x="8046720" y="3063240"/>
            <a:ext cx="3566160" cy="1508760"/>
          </a:xfrm>
          <a:prstGeom prst="roundRect">
            <a:avLst>
              <a:gd name="adj" fmla="val 7273"/>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30" name="value 6 circle"/>
          <p:cNvSpPr/>
          <p:nvPr/>
        </p:nvSpPr>
        <p:spPr>
          <a:xfrm>
            <a:off x="8275320" y="3291840"/>
            <a:ext cx="594360" cy="594360"/>
          </a:xfrm>
          <a:prstGeom prst="ellipse">
            <a:avLst/>
          </a:prstGeom>
          <a:solidFill>
            <a:srgbClr val="2E5BE8"/>
          </a:solidFill>
          <a:ln w="12700">
            <a:solidFill>
              <a:srgbClr val="2E5BE8"/>
            </a:solidFill>
            <a:prstDash val="solid"/>
          </a:ln>
        </p:spPr>
      </p:sp>
      <p:pic>
        <p:nvPicPr>
          <p:cNvPr id="31" name="value 6 icon" descr="preencoded.png">    </p:cNvPr>
          <p:cNvPicPr>
            <a:picLocks noChangeAspect="1"/>
          </p:cNvPicPr>
          <p:nvPr/>
        </p:nvPicPr>
        <p:blipFill>
          <a:blip r:embed="rId6"/>
          <a:stretch>
            <a:fillRect/>
          </a:stretch>
        </p:blipFill>
        <p:spPr>
          <a:xfrm>
            <a:off x="8429854" y="3446374"/>
            <a:ext cx="285293" cy="285293"/>
          </a:xfrm>
          <a:prstGeom prst="rect">
            <a:avLst/>
          </a:prstGeom>
        </p:spPr>
      </p:pic>
      <p:sp>
        <p:nvSpPr>
          <p:cNvPr id="32" name="value number 6"/>
          <p:cNvSpPr txBox="1"/>
          <p:nvPr/>
        </p:nvSpPr>
        <p:spPr>
          <a:xfrm>
            <a:off x="9006840" y="3200400"/>
            <a:ext cx="2514600" cy="64008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100 %</a:t>
            </a:r>
            <a:endParaRPr lang="en-US" sz="3000" dirty="0"/>
          </a:p>
        </p:txBody>
      </p:sp>
      <p:sp>
        <p:nvSpPr>
          <p:cNvPr id="33" name="value text 6"/>
          <p:cNvSpPr txBox="1"/>
          <p:nvPr/>
        </p:nvSpPr>
        <p:spPr>
          <a:xfrm>
            <a:off x="9006840" y="3840480"/>
            <a:ext cx="2514600" cy="658368"/>
          </a:xfrm>
          <a:prstGeom prst="rect">
            <a:avLst/>
          </a:prstGeom>
          <a:noFill/>
          <a:ln/>
        </p:spPr>
        <p:txBody>
          <a:bodyPr wrap="square" lIns="0" tIns="0" rIns="0" bIns="0" rtlCol="0" anchor="t"/>
          <a:lstStyle/>
          <a:p>
            <a:pPr indent="0" marL="0">
              <a:buNone/>
            </a:pPr>
            <a:r>
              <a:rPr lang="en-US" sz="1250" dirty="0">
                <a:solidFill>
                  <a:schemeClr val="tx2"/>
                </a:solidFill>
              </a:rPr>
              <a:t>of bill lines say where they come from</a:t>
            </a:r>
            <a:endParaRPr lang="en-US" sz="1250" dirty="0"/>
          </a:p>
        </p:txBody>
      </p:sp>
      <p:sp>
        <p:nvSpPr>
          <p:cNvPr id="34" name="use chip 1"/>
          <p:cNvSpPr/>
          <p:nvPr/>
        </p:nvSpPr>
        <p:spPr>
          <a:xfrm>
            <a:off x="548640" y="4846320"/>
            <a:ext cx="3566160" cy="566928"/>
          </a:xfrm>
          <a:prstGeom prst="roundRect">
            <a:avLst>
              <a:gd name="adj" fmla="val 50000"/>
            </a:avLst>
          </a:prstGeom>
          <a:solidFill>
            <a:schemeClr val="tx1"/>
          </a:solidFill>
          <a:ln w="12700">
            <a:solidFill>
              <a:schemeClr val="tx1"/>
            </a:solidFill>
            <a:prstDash val="solid"/>
          </a:ln>
        </p:spPr>
      </p:sp>
      <p:sp>
        <p:nvSpPr>
          <p:cNvPr id="35" name="use text 1"/>
          <p:cNvSpPr txBox="1"/>
          <p:nvPr/>
        </p:nvSpPr>
        <p:spPr>
          <a:xfrm>
            <a:off x="548640" y="4846320"/>
            <a:ext cx="3566160" cy="566928"/>
          </a:xfrm>
          <a:prstGeom prst="rect">
            <a:avLst/>
          </a:prstGeom>
          <a:noFill/>
          <a:ln/>
        </p:spPr>
        <p:txBody>
          <a:bodyPr wrap="square" lIns="0" tIns="0" rIns="0" bIns="0" rtlCol="0" anchor="ctr"/>
          <a:lstStyle/>
          <a:p>
            <a:pPr algn="ctr" indent="0" marL="0">
              <a:buNone/>
            </a:pPr>
            <a:r>
              <a:rPr lang="en-US" sz="1350" b="1" dirty="0">
                <a:solidFill>
                  <a:schemeClr val="bg1"/>
                </a:solidFill>
              </a:rPr>
              <a:t>Check your own drawing set before issue</a:t>
            </a:r>
            <a:endParaRPr lang="en-US" sz="1350" dirty="0"/>
          </a:p>
        </p:txBody>
      </p:sp>
      <p:sp>
        <p:nvSpPr>
          <p:cNvPr id="36" name="use chip 2"/>
          <p:cNvSpPr/>
          <p:nvPr/>
        </p:nvSpPr>
        <p:spPr>
          <a:xfrm>
            <a:off x="4297680" y="4846320"/>
            <a:ext cx="3566160" cy="566928"/>
          </a:xfrm>
          <a:prstGeom prst="roundRect">
            <a:avLst>
              <a:gd name="adj" fmla="val 50000"/>
            </a:avLst>
          </a:prstGeom>
          <a:solidFill>
            <a:schemeClr val="tx1"/>
          </a:solidFill>
          <a:ln w="12700">
            <a:solidFill>
              <a:schemeClr val="tx1"/>
            </a:solidFill>
            <a:prstDash val="solid"/>
          </a:ln>
        </p:spPr>
      </p:sp>
      <p:sp>
        <p:nvSpPr>
          <p:cNvPr id="37" name="use text 2"/>
          <p:cNvSpPr txBox="1"/>
          <p:nvPr/>
        </p:nvSpPr>
        <p:spPr>
          <a:xfrm>
            <a:off x="4297680" y="4846320"/>
            <a:ext cx="3566160" cy="566928"/>
          </a:xfrm>
          <a:prstGeom prst="rect">
            <a:avLst/>
          </a:prstGeom>
          <a:noFill/>
          <a:ln/>
        </p:spPr>
        <p:txBody>
          <a:bodyPr wrap="square" lIns="0" tIns="0" rIns="0" bIns="0" rtlCol="0" anchor="ctr"/>
          <a:lstStyle/>
          <a:p>
            <a:pPr algn="ctr" indent="0" marL="0">
              <a:buNone/>
            </a:pPr>
            <a:r>
              <a:rPr lang="en-US" sz="1350" b="1" dirty="0">
                <a:solidFill>
                  <a:schemeClr val="bg1"/>
                </a:solidFill>
              </a:rPr>
              <a:t>Produce the tender BoQ from your drawings</a:t>
            </a:r>
            <a:endParaRPr lang="en-US" sz="1350" dirty="0"/>
          </a:p>
        </p:txBody>
      </p:sp>
      <p:sp>
        <p:nvSpPr>
          <p:cNvPr id="38" name="use chip 3"/>
          <p:cNvSpPr/>
          <p:nvPr/>
        </p:nvSpPr>
        <p:spPr>
          <a:xfrm>
            <a:off x="8046720" y="4846320"/>
            <a:ext cx="3566160" cy="566928"/>
          </a:xfrm>
          <a:prstGeom prst="roundRect">
            <a:avLst>
              <a:gd name="adj" fmla="val 50000"/>
            </a:avLst>
          </a:prstGeom>
          <a:solidFill>
            <a:schemeClr val="tx1"/>
          </a:solidFill>
          <a:ln w="12700">
            <a:solidFill>
              <a:schemeClr val="tx1"/>
            </a:solidFill>
            <a:prstDash val="solid"/>
          </a:ln>
        </p:spPr>
      </p:sp>
      <p:sp>
        <p:nvSpPr>
          <p:cNvPr id="39" name="use text 3"/>
          <p:cNvSpPr txBox="1"/>
          <p:nvPr/>
        </p:nvSpPr>
        <p:spPr>
          <a:xfrm>
            <a:off x="8046720" y="4846320"/>
            <a:ext cx="3566160" cy="566928"/>
          </a:xfrm>
          <a:prstGeom prst="rect">
            <a:avLst/>
          </a:prstGeom>
          <a:noFill/>
          <a:ln/>
        </p:spPr>
        <p:txBody>
          <a:bodyPr wrap="square" lIns="0" tIns="0" rIns="0" bIns="0" rtlCol="0" anchor="ctr"/>
          <a:lstStyle/>
          <a:p>
            <a:pPr algn="ctr" indent="0" marL="0">
              <a:buNone/>
            </a:pPr>
            <a:r>
              <a:rPr lang="en-US" sz="1350" b="1" dirty="0">
                <a:solidFill>
                  <a:schemeClr val="bg1"/>
                </a:solidFill>
              </a:rPr>
              <a:t>Audit contractors' priced bills</a:t>
            </a:r>
            <a:endParaRPr lang="en-US" sz="1350" dirty="0"/>
          </a:p>
        </p:txBody>
      </p:sp>
      <p:sp>
        <p:nvSpPr>
          <p:cNvPr id="40" name="source"/>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000" i="1" dirty="0">
                <a:solidFill>
                  <a:schemeClr val="accent6"/>
                </a:solidFill>
              </a:rPr>
              <a:t>Measured on the Wedela reference project (7 buildings, 18 PDF pages, 17 CAD files), October 2026. Claude cost per page as on the Upload slide.</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What a faster first draft is worth — a worked example</a:t>
            </a:r>
            <a:endParaRPr lang="en-US" sz="3000" dirty="0"/>
          </a:p>
        </p:txBody>
      </p:sp>
      <p:sp>
        <p:nvSpPr>
          <p:cNvPr id="4" name="flow card 1"/>
          <p:cNvSpPr/>
          <p:nvPr/>
        </p:nvSpPr>
        <p:spPr>
          <a:xfrm>
            <a:off x="548640" y="1417320"/>
            <a:ext cx="2560320" cy="2057400"/>
          </a:xfrm>
          <a:prstGeom prst="roundRect">
            <a:avLst>
              <a:gd name="adj" fmla="val 5333"/>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5" name="flow label 1"/>
          <p:cNvSpPr txBox="1"/>
          <p:nvPr/>
        </p:nvSpPr>
        <p:spPr>
          <a:xfrm>
            <a:off x="731520" y="1554480"/>
            <a:ext cx="2194560" cy="365760"/>
          </a:xfrm>
          <a:prstGeom prst="rect">
            <a:avLst/>
          </a:prstGeom>
          <a:noFill/>
          <a:ln/>
        </p:spPr>
        <p:txBody>
          <a:bodyPr wrap="square" lIns="0" tIns="0" rIns="0" bIns="0" rtlCol="0" anchor="t"/>
          <a:lstStyle/>
          <a:p>
            <a:pPr indent="0" marL="0">
              <a:buNone/>
            </a:pPr>
            <a:r>
              <a:rPr lang="en-US" sz="1400" b="1" dirty="0">
                <a:solidFill>
                  <a:schemeClr val="tx2"/>
                </a:solidFill>
              </a:rPr>
              <a:t>Example tender</a:t>
            </a:r>
            <a:endParaRPr lang="en-US" sz="1400" dirty="0"/>
          </a:p>
        </p:txBody>
      </p:sp>
      <p:sp>
        <p:nvSpPr>
          <p:cNvPr id="6" name="flow value 1"/>
          <p:cNvSpPr txBox="1"/>
          <p:nvPr/>
        </p:nvSpPr>
        <p:spPr>
          <a:xfrm>
            <a:off x="731520" y="2011680"/>
            <a:ext cx="2240280" cy="68580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R10 m</a:t>
            </a:r>
            <a:endParaRPr lang="en-US" sz="3000" dirty="0"/>
          </a:p>
        </p:txBody>
      </p:sp>
      <p:sp>
        <p:nvSpPr>
          <p:cNvPr id="7" name="flow text 1"/>
          <p:cNvSpPr txBox="1"/>
          <p:nvPr/>
        </p:nvSpPr>
        <p:spPr>
          <a:xfrm>
            <a:off x="731520" y="2743200"/>
            <a:ext cx="2240280" cy="594360"/>
          </a:xfrm>
          <a:prstGeom prst="rect">
            <a:avLst/>
          </a:prstGeom>
          <a:noFill/>
          <a:ln/>
        </p:spPr>
        <p:txBody>
          <a:bodyPr wrap="square" lIns="0" tIns="0" rIns="0" bIns="0" rtlCol="0" anchor="t"/>
          <a:lstStyle/>
          <a:p>
            <a:pPr indent="0" marL="0">
              <a:buNone/>
            </a:pPr>
            <a:r>
              <a:rPr lang="en-US" sz="1250" dirty="0">
                <a:solidFill>
                  <a:schemeClr val="tx2"/>
                </a:solidFill>
              </a:rPr>
              <a:t>electrical package</a:t>
            </a:r>
            <a:endParaRPr lang="en-US" sz="1250" dirty="0"/>
          </a:p>
        </p:txBody>
      </p:sp>
      <p:sp>
        <p:nvSpPr>
          <p:cNvPr id="8" name="Shape 5"/>
          <p:cNvSpPr/>
          <p:nvPr/>
        </p:nvSpPr>
        <p:spPr>
          <a:xfrm>
            <a:off x="3127248" y="2441448"/>
            <a:ext cx="237744" cy="0"/>
          </a:xfrm>
          <a:prstGeom prst="line">
            <a:avLst/>
          </a:prstGeom>
          <a:noFill/>
          <a:ln w="25400">
            <a:solidFill>
              <a:srgbClr val="8A93AB"/>
            </a:solidFill>
            <a:prstDash val="solid"/>
            <a:tailEnd type="triangle"/>
          </a:ln>
        </p:spPr>
      </p:sp>
      <p:sp>
        <p:nvSpPr>
          <p:cNvPr id="9" name="flow card 2"/>
          <p:cNvSpPr/>
          <p:nvPr/>
        </p:nvSpPr>
        <p:spPr>
          <a:xfrm>
            <a:off x="3383280" y="1417320"/>
            <a:ext cx="2560320" cy="2057400"/>
          </a:xfrm>
          <a:prstGeom prst="roundRect">
            <a:avLst>
              <a:gd name="adj" fmla="val 5333"/>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0" name="flow label 2"/>
          <p:cNvSpPr txBox="1"/>
          <p:nvPr/>
        </p:nvSpPr>
        <p:spPr>
          <a:xfrm>
            <a:off x="3566160" y="1554480"/>
            <a:ext cx="2194560" cy="365760"/>
          </a:xfrm>
          <a:prstGeom prst="rect">
            <a:avLst/>
          </a:prstGeom>
          <a:noFill/>
          <a:ln/>
        </p:spPr>
        <p:txBody>
          <a:bodyPr wrap="square" lIns="0" tIns="0" rIns="0" bIns="0" rtlCol="0" anchor="t"/>
          <a:lstStyle/>
          <a:p>
            <a:pPr indent="0" marL="0">
              <a:buNone/>
            </a:pPr>
            <a:r>
              <a:rPr lang="en-US" sz="1400" b="1" dirty="0">
                <a:solidFill>
                  <a:schemeClr val="tx2"/>
                </a:solidFill>
              </a:rPr>
              <a:t>Preparation cost</a:t>
            </a:r>
            <a:endParaRPr lang="en-US" sz="1400" dirty="0"/>
          </a:p>
        </p:txBody>
      </p:sp>
      <p:sp>
        <p:nvSpPr>
          <p:cNvPr id="11" name="flow value 2"/>
          <p:cNvSpPr txBox="1"/>
          <p:nvPr/>
        </p:nvSpPr>
        <p:spPr>
          <a:xfrm>
            <a:off x="3566160" y="2011680"/>
            <a:ext cx="2240280" cy="68580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 R33 000</a:t>
            </a:r>
            <a:endParaRPr lang="en-US" sz="3000" dirty="0"/>
          </a:p>
        </p:txBody>
      </p:sp>
      <p:sp>
        <p:nvSpPr>
          <p:cNvPr id="12" name="flow text 2"/>
          <p:cNvSpPr txBox="1"/>
          <p:nvPr/>
        </p:nvSpPr>
        <p:spPr>
          <a:xfrm>
            <a:off x="3566160" y="2743200"/>
            <a:ext cx="2240280" cy="594360"/>
          </a:xfrm>
          <a:prstGeom prst="rect">
            <a:avLst/>
          </a:prstGeom>
          <a:noFill/>
          <a:ln/>
        </p:spPr>
        <p:txBody>
          <a:bodyPr wrap="square" lIns="0" tIns="0" rIns="0" bIns="0" rtlCol="0" anchor="t"/>
          <a:lstStyle/>
          <a:p>
            <a:pPr indent="0" marL="0">
              <a:buNone/>
            </a:pPr>
            <a:r>
              <a:rPr lang="en-US" sz="1250" dirty="0">
                <a:solidFill>
                  <a:schemeClr val="tx2"/>
                </a:solidFill>
              </a:rPr>
              <a:t>0.33 % of value — research average</a:t>
            </a:r>
            <a:endParaRPr lang="en-US" sz="1250" dirty="0"/>
          </a:p>
        </p:txBody>
      </p:sp>
      <p:sp>
        <p:nvSpPr>
          <p:cNvPr id="13" name="Shape 10"/>
          <p:cNvSpPr/>
          <p:nvPr/>
        </p:nvSpPr>
        <p:spPr>
          <a:xfrm>
            <a:off x="5961888" y="2441448"/>
            <a:ext cx="237744" cy="0"/>
          </a:xfrm>
          <a:prstGeom prst="line">
            <a:avLst/>
          </a:prstGeom>
          <a:noFill/>
          <a:ln w="25400">
            <a:solidFill>
              <a:srgbClr val="8A93AB"/>
            </a:solidFill>
            <a:prstDash val="solid"/>
            <a:tailEnd type="triangle"/>
          </a:ln>
        </p:spPr>
      </p:sp>
      <p:sp>
        <p:nvSpPr>
          <p:cNvPr id="14" name="flow card 3"/>
          <p:cNvSpPr/>
          <p:nvPr/>
        </p:nvSpPr>
        <p:spPr>
          <a:xfrm>
            <a:off x="6217920" y="1417320"/>
            <a:ext cx="2560320" cy="2057400"/>
          </a:xfrm>
          <a:prstGeom prst="roundRect">
            <a:avLst>
              <a:gd name="adj" fmla="val 5333"/>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5" name="flow label 3"/>
          <p:cNvSpPr txBox="1"/>
          <p:nvPr/>
        </p:nvSpPr>
        <p:spPr>
          <a:xfrm>
            <a:off x="6400800" y="1554480"/>
            <a:ext cx="2194560" cy="365760"/>
          </a:xfrm>
          <a:prstGeom prst="rect">
            <a:avLst/>
          </a:prstGeom>
          <a:noFill/>
          <a:ln/>
        </p:spPr>
        <p:txBody>
          <a:bodyPr wrap="square" lIns="0" tIns="0" rIns="0" bIns="0" rtlCol="0" anchor="t"/>
          <a:lstStyle/>
          <a:p>
            <a:pPr indent="0" marL="0">
              <a:buNone/>
            </a:pPr>
            <a:r>
              <a:rPr lang="en-US" sz="1400" b="1" dirty="0">
                <a:solidFill>
                  <a:schemeClr val="tx2"/>
                </a:solidFill>
              </a:rPr>
              <a:t>Each 10 % of effort saved</a:t>
            </a:r>
            <a:endParaRPr lang="en-US" sz="1400" dirty="0"/>
          </a:p>
        </p:txBody>
      </p:sp>
      <p:sp>
        <p:nvSpPr>
          <p:cNvPr id="16" name="flow value 3"/>
          <p:cNvSpPr txBox="1"/>
          <p:nvPr/>
        </p:nvSpPr>
        <p:spPr>
          <a:xfrm>
            <a:off x="6400800" y="2011680"/>
            <a:ext cx="2240280" cy="68580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 R3 300</a:t>
            </a:r>
            <a:endParaRPr lang="en-US" sz="3000" dirty="0"/>
          </a:p>
        </p:txBody>
      </p:sp>
      <p:sp>
        <p:nvSpPr>
          <p:cNvPr id="17" name="flow text 3"/>
          <p:cNvSpPr txBox="1"/>
          <p:nvPr/>
        </p:nvSpPr>
        <p:spPr>
          <a:xfrm>
            <a:off x="6400800" y="2743200"/>
            <a:ext cx="2240280" cy="594360"/>
          </a:xfrm>
          <a:prstGeom prst="rect">
            <a:avLst/>
          </a:prstGeom>
          <a:noFill/>
          <a:ln/>
        </p:spPr>
        <p:txBody>
          <a:bodyPr wrap="square" lIns="0" tIns="0" rIns="0" bIns="0" rtlCol="0" anchor="t"/>
          <a:lstStyle/>
          <a:p>
            <a:pPr indent="0" marL="0">
              <a:buNone/>
            </a:pPr>
            <a:r>
              <a:rPr lang="en-US" sz="1250" dirty="0">
                <a:solidFill>
                  <a:schemeClr val="tx2"/>
                </a:solidFill>
              </a:rPr>
              <a:t>per tender</a:t>
            </a:r>
            <a:endParaRPr lang="en-US" sz="1250" dirty="0"/>
          </a:p>
        </p:txBody>
      </p:sp>
      <p:sp>
        <p:nvSpPr>
          <p:cNvPr id="18" name="Shape 15"/>
          <p:cNvSpPr/>
          <p:nvPr/>
        </p:nvSpPr>
        <p:spPr>
          <a:xfrm>
            <a:off x="8796528" y="2441448"/>
            <a:ext cx="237744" cy="0"/>
          </a:xfrm>
          <a:prstGeom prst="line">
            <a:avLst/>
          </a:prstGeom>
          <a:noFill/>
          <a:ln w="25400">
            <a:solidFill>
              <a:srgbClr val="8A93AB"/>
            </a:solidFill>
            <a:prstDash val="solid"/>
            <a:tailEnd type="triangle"/>
          </a:ln>
        </p:spPr>
      </p:sp>
      <p:sp>
        <p:nvSpPr>
          <p:cNvPr id="19" name="flow card 4"/>
          <p:cNvSpPr/>
          <p:nvPr/>
        </p:nvSpPr>
        <p:spPr>
          <a:xfrm>
            <a:off x="9052560" y="1417320"/>
            <a:ext cx="2560320" cy="2057400"/>
          </a:xfrm>
          <a:prstGeom prst="roundRect">
            <a:avLst>
              <a:gd name="adj" fmla="val 5333"/>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0" name="flow label 4"/>
          <p:cNvSpPr txBox="1"/>
          <p:nvPr/>
        </p:nvSpPr>
        <p:spPr>
          <a:xfrm>
            <a:off x="9235440" y="1554480"/>
            <a:ext cx="2194560" cy="365760"/>
          </a:xfrm>
          <a:prstGeom prst="rect">
            <a:avLst/>
          </a:prstGeom>
          <a:noFill/>
          <a:ln/>
        </p:spPr>
        <p:txBody>
          <a:bodyPr wrap="square" lIns="0" tIns="0" rIns="0" bIns="0" rtlCol="0" anchor="t"/>
          <a:lstStyle/>
          <a:p>
            <a:pPr indent="0" marL="0">
              <a:buNone/>
            </a:pPr>
            <a:r>
              <a:rPr lang="en-US" sz="1400" b="1" dirty="0">
                <a:solidFill>
                  <a:schemeClr val="tx2"/>
                </a:solidFill>
              </a:rPr>
              <a:t>4 tenders a month</a:t>
            </a:r>
            <a:endParaRPr lang="en-US" sz="1400" dirty="0"/>
          </a:p>
        </p:txBody>
      </p:sp>
      <p:sp>
        <p:nvSpPr>
          <p:cNvPr id="21" name="flow value 4"/>
          <p:cNvSpPr txBox="1"/>
          <p:nvPr/>
        </p:nvSpPr>
        <p:spPr>
          <a:xfrm>
            <a:off x="9235440" y="2011680"/>
            <a:ext cx="2240280" cy="68580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 R13 200</a:t>
            </a:r>
            <a:endParaRPr lang="en-US" sz="3000" dirty="0"/>
          </a:p>
        </p:txBody>
      </p:sp>
      <p:sp>
        <p:nvSpPr>
          <p:cNvPr id="22" name="flow text 4"/>
          <p:cNvSpPr txBox="1"/>
          <p:nvPr/>
        </p:nvSpPr>
        <p:spPr>
          <a:xfrm>
            <a:off x="9235440" y="2743200"/>
            <a:ext cx="2240280" cy="594360"/>
          </a:xfrm>
          <a:prstGeom prst="rect">
            <a:avLst/>
          </a:prstGeom>
          <a:noFill/>
          <a:ln/>
        </p:spPr>
        <p:txBody>
          <a:bodyPr wrap="square" lIns="0" tIns="0" rIns="0" bIns="0" rtlCol="0" anchor="t"/>
          <a:lstStyle/>
          <a:p>
            <a:pPr indent="0" marL="0">
              <a:buNone/>
            </a:pPr>
            <a:r>
              <a:rPr lang="en-US" sz="1250" dirty="0">
                <a:solidFill>
                  <a:schemeClr val="tx2"/>
                </a:solidFill>
              </a:rPr>
              <a:t>a month, per 10 % saved</a:t>
            </a:r>
            <a:endParaRPr lang="en-US" sz="1250" dirty="0"/>
          </a:p>
        </p:txBody>
      </p:sp>
      <p:sp>
        <p:nvSpPr>
          <p:cNvPr id="23" name="compare card 1"/>
          <p:cNvSpPr/>
          <p:nvPr/>
        </p:nvSpPr>
        <p:spPr>
          <a:xfrm>
            <a:off x="548640" y="3703320"/>
            <a:ext cx="11064240" cy="731520"/>
          </a:xfrm>
          <a:prstGeom prst="roundRect">
            <a:avLst>
              <a:gd name="adj" fmla="val 15000"/>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4" name="compare 1 circle"/>
          <p:cNvSpPr/>
          <p:nvPr/>
        </p:nvSpPr>
        <p:spPr>
          <a:xfrm>
            <a:off x="713232" y="3794760"/>
            <a:ext cx="548640" cy="548640"/>
          </a:xfrm>
          <a:prstGeom prst="ellipse">
            <a:avLst/>
          </a:prstGeom>
          <a:solidFill>
            <a:srgbClr val="0F8A5F"/>
          </a:solidFill>
          <a:ln w="12700">
            <a:solidFill>
              <a:srgbClr val="0F8A5F"/>
            </a:solidFill>
            <a:prstDash val="solid"/>
          </a:ln>
        </p:spPr>
      </p:sp>
      <p:pic>
        <p:nvPicPr>
          <p:cNvPr id="25" name="compare 1 icon" descr="preencoded.png">    </p:cNvPr>
          <p:cNvPicPr>
            <a:picLocks noChangeAspect="1"/>
          </p:cNvPicPr>
          <p:nvPr/>
        </p:nvPicPr>
        <p:blipFill>
          <a:blip r:embed="rId1"/>
          <a:stretch>
            <a:fillRect/>
          </a:stretch>
        </p:blipFill>
        <p:spPr>
          <a:xfrm>
            <a:off x="855878" y="3937406"/>
            <a:ext cx="263347" cy="263347"/>
          </a:xfrm>
          <a:prstGeom prst="rect">
            <a:avLst/>
          </a:prstGeom>
        </p:spPr>
      </p:pic>
      <p:sp>
        <p:nvSpPr>
          <p:cNvPr id="26" name="compare text 1"/>
          <p:cNvSpPr txBox="1"/>
          <p:nvPr/>
        </p:nvSpPr>
        <p:spPr>
          <a:xfrm>
            <a:off x="1463040" y="3749040"/>
            <a:ext cx="9966960" cy="640080"/>
          </a:xfrm>
          <a:prstGeom prst="rect">
            <a:avLst/>
          </a:prstGeom>
          <a:noFill/>
          <a:ln/>
        </p:spPr>
        <p:txBody>
          <a:bodyPr wrap="square" lIns="0" tIns="0" rIns="0" bIns="0" rtlCol="0" anchor="ctr"/>
          <a:lstStyle/>
          <a:p>
            <a:pPr indent="0" marL="0">
              <a:buNone/>
            </a:pPr>
            <a:r>
              <a:rPr lang="en-US" sz="1450" b="1" dirty="0">
                <a:solidFill>
                  <a:schemeClr val="tx1"/>
                </a:solidFill>
              </a:rPr>
              <a:t>AfriPlan on this tender:  </a:t>
            </a:r>
            <a:pPr indent="0" marL="0">
              <a:buNone/>
            </a:pPr>
            <a:r>
              <a:rPr lang="en-US" sz="1450" dirty="0">
                <a:solidFill>
                  <a:schemeClr val="tx1"/>
                </a:solidFill>
              </a:rPr>
              <a:t>≈ R45 to read 18 PDF pages with Claude · R0 for DWG/DXF or Gemini</a:t>
            </a:r>
            <a:endParaRPr lang="en-US" sz="1450" dirty="0"/>
          </a:p>
        </p:txBody>
      </p:sp>
      <p:sp>
        <p:nvSpPr>
          <p:cNvPr id="27" name="compare card 2"/>
          <p:cNvSpPr/>
          <p:nvPr/>
        </p:nvSpPr>
        <p:spPr>
          <a:xfrm>
            <a:off x="548640" y="4572000"/>
            <a:ext cx="11064240" cy="731520"/>
          </a:xfrm>
          <a:prstGeom prst="roundRect">
            <a:avLst>
              <a:gd name="adj" fmla="val 15000"/>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8" name="compare 2 circle"/>
          <p:cNvSpPr/>
          <p:nvPr/>
        </p:nvSpPr>
        <p:spPr>
          <a:xfrm>
            <a:off x="713232" y="4663440"/>
            <a:ext cx="548640" cy="548640"/>
          </a:xfrm>
          <a:prstGeom prst="ellipse">
            <a:avLst/>
          </a:prstGeom>
          <a:solidFill>
            <a:srgbClr val="8A93AB"/>
          </a:solidFill>
          <a:ln w="12700">
            <a:solidFill>
              <a:srgbClr val="8A93AB"/>
            </a:solidFill>
            <a:prstDash val="solid"/>
          </a:ln>
        </p:spPr>
      </p:sp>
      <p:pic>
        <p:nvPicPr>
          <p:cNvPr id="29" name="compare 2 icon" descr="preencoded.png">    </p:cNvPr>
          <p:cNvPicPr>
            <a:picLocks noChangeAspect="1"/>
          </p:cNvPicPr>
          <p:nvPr/>
        </p:nvPicPr>
        <p:blipFill>
          <a:blip r:embed="rId2"/>
          <a:stretch>
            <a:fillRect/>
          </a:stretch>
        </p:blipFill>
        <p:spPr>
          <a:xfrm>
            <a:off x="855878" y="4806086"/>
            <a:ext cx="263347" cy="263347"/>
          </a:xfrm>
          <a:prstGeom prst="rect">
            <a:avLst/>
          </a:prstGeom>
        </p:spPr>
      </p:pic>
      <p:sp>
        <p:nvSpPr>
          <p:cNvPr id="30" name="compare text 2"/>
          <p:cNvSpPr txBox="1"/>
          <p:nvPr/>
        </p:nvSpPr>
        <p:spPr>
          <a:xfrm>
            <a:off x="1463040" y="4617720"/>
            <a:ext cx="9966960" cy="640080"/>
          </a:xfrm>
          <a:prstGeom prst="rect">
            <a:avLst/>
          </a:prstGeom>
          <a:noFill/>
          <a:ln/>
        </p:spPr>
        <p:txBody>
          <a:bodyPr wrap="square" lIns="0" tIns="0" rIns="0" bIns="0" rtlCol="0" anchor="ctr"/>
          <a:lstStyle/>
          <a:p>
            <a:pPr indent="0" marL="0">
              <a:buNone/>
            </a:pPr>
            <a:r>
              <a:rPr lang="en-US" sz="1450" b="1" dirty="0">
                <a:solidFill>
                  <a:schemeClr val="tx1"/>
                </a:solidFill>
              </a:rPr>
              <a:t>Take-off software today:  </a:t>
            </a:r>
            <a:pPr indent="0" marL="0">
              <a:buNone/>
            </a:pPr>
            <a:r>
              <a:rPr lang="en-US" sz="1450" dirty="0">
                <a:solidFill>
                  <a:schemeClr val="tx1"/>
                </a:solidFill>
              </a:rPr>
              <a:t>Bluebeam ≈ R4 650–10 560 per user a year · Togal.AI ≈ R5 350 per user a month</a:t>
            </a:r>
            <a:endParaRPr lang="en-US" sz="1450" dirty="0"/>
          </a:p>
        </p:txBody>
      </p:sp>
      <p:sp>
        <p:nvSpPr>
          <p:cNvPr id="31" name="worked example note"/>
          <p:cNvSpPr txBox="1"/>
          <p:nvPr/>
        </p:nvSpPr>
        <p:spPr>
          <a:xfrm>
            <a:off x="548640" y="5486400"/>
            <a:ext cx="11064240" cy="365760"/>
          </a:xfrm>
          <a:prstGeom prst="rect">
            <a:avLst/>
          </a:prstGeom>
          <a:noFill/>
          <a:ln/>
        </p:spPr>
        <p:txBody>
          <a:bodyPr wrap="square" lIns="0" tIns="0" rIns="0" bIns="0" rtlCol="0" anchor="t"/>
          <a:lstStyle/>
          <a:p>
            <a:pPr indent="0" marL="0">
              <a:buNone/>
            </a:pPr>
            <a:r>
              <a:rPr lang="en-US" sz="1400" i="1" dirty="0">
                <a:solidFill>
                  <a:schemeClr val="accent1"/>
                </a:solidFill>
              </a:rPr>
              <a:t>Illustration — replace the tender value, tenders per month and share of time saved with your own figures.</a:t>
            </a:r>
            <a:endParaRPr lang="en-US" sz="1400" dirty="0"/>
          </a:p>
        </p:txBody>
      </p:sp>
      <p:sp>
        <p:nvSpPr>
          <p:cNvPr id="32" name="source"/>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000" i="1" dirty="0">
                <a:solidFill>
                  <a:schemeClr val="accent6"/>
                </a:solidFill>
              </a:rPr>
              <a:t>Tender cost: Ameyaw, Abaitey &amp; Mensah (2021), 14 public tenders, Ghana — small sample. Vendor prices read 5 Oct 2026 at R17.9 / USD. No study measures SA electrical take-off hours.</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l" indent="0" marL="0">
              <a:buNone/>
            </a:pPr>
            <a:r>
              <a:rPr lang="en-US" sz="3200" b="1" dirty="0">
                <a:solidFill>
                  <a:schemeClr val="bg1"/>
                </a:solidFill>
              </a:rPr>
              <a:t>Conclusion: what to remember</a:t>
            </a:r>
            <a:endParaRPr lang="en-US" sz="3200" dirty="0"/>
          </a:p>
        </p:txBody>
      </p:sp>
      <p:sp>
        <p:nvSpPr>
          <p:cNvPr id="4" name="takeaway card 1"/>
          <p:cNvSpPr/>
          <p:nvPr/>
        </p:nvSpPr>
        <p:spPr>
          <a:xfrm>
            <a:off x="548640" y="1600200"/>
            <a:ext cx="5440680" cy="1828800"/>
          </a:xfrm>
          <a:prstGeom prst="roundRect">
            <a:avLst>
              <a:gd name="adj" fmla="val 6000"/>
            </a:avLst>
          </a:prstGeom>
          <a:solidFill>
            <a:schemeClr val="tx2"/>
          </a:solidFill>
          <a:ln w="12700">
            <a:solidFill>
              <a:srgbClr val="1E2B4F"/>
            </a:solidFill>
            <a:prstDash val="solid"/>
          </a:ln>
        </p:spPr>
      </p:sp>
      <p:sp>
        <p:nvSpPr>
          <p:cNvPr id="5" name="takeaway 1 circle"/>
          <p:cNvSpPr/>
          <p:nvPr/>
        </p:nvSpPr>
        <p:spPr>
          <a:xfrm>
            <a:off x="822960" y="1920240"/>
            <a:ext cx="777240" cy="777240"/>
          </a:xfrm>
          <a:prstGeom prst="ellipse">
            <a:avLst/>
          </a:prstGeom>
          <a:solidFill>
            <a:srgbClr val="F2A900"/>
          </a:solidFill>
          <a:ln w="12700">
            <a:solidFill>
              <a:srgbClr val="F2A900"/>
            </a:solidFill>
            <a:prstDash val="solid"/>
          </a:ln>
        </p:spPr>
      </p:sp>
      <p:pic>
        <p:nvPicPr>
          <p:cNvPr id="6" name="takeaway 1 icon" descr="preencoded.png">    </p:cNvPr>
          <p:cNvPicPr>
            <a:picLocks noChangeAspect="1"/>
          </p:cNvPicPr>
          <p:nvPr/>
        </p:nvPicPr>
        <p:blipFill>
          <a:blip r:embed="rId1"/>
          <a:stretch>
            <a:fillRect/>
          </a:stretch>
        </p:blipFill>
        <p:spPr>
          <a:xfrm>
            <a:off x="1025042" y="2122322"/>
            <a:ext cx="373075" cy="373075"/>
          </a:xfrm>
          <a:prstGeom prst="rect">
            <a:avLst/>
          </a:prstGeom>
        </p:spPr>
      </p:pic>
      <p:sp>
        <p:nvSpPr>
          <p:cNvPr id="7" name="takeaway title 1"/>
          <p:cNvSpPr txBox="1"/>
          <p:nvPr/>
        </p:nvSpPr>
        <p:spPr>
          <a:xfrm>
            <a:off x="1828800" y="1920240"/>
            <a:ext cx="3977640" cy="457200"/>
          </a:xfrm>
          <a:prstGeom prst="rect">
            <a:avLst/>
          </a:prstGeom>
          <a:noFill/>
          <a:ln/>
        </p:spPr>
        <p:txBody>
          <a:bodyPr wrap="square" lIns="0" tIns="0" rIns="0" bIns="0" rtlCol="0" anchor="t"/>
          <a:lstStyle/>
          <a:p>
            <a:pPr indent="0" marL="0">
              <a:buNone/>
            </a:pPr>
            <a:r>
              <a:rPr lang="en-US" sz="1900" b="1" dirty="0">
                <a:solidFill>
                  <a:schemeClr val="bg1"/>
                </a:solidFill>
              </a:rPr>
              <a:t>Reads the core reliably</a:t>
            </a:r>
            <a:endParaRPr lang="en-US" sz="1900" dirty="0"/>
          </a:p>
        </p:txBody>
      </p:sp>
      <p:sp>
        <p:nvSpPr>
          <p:cNvPr id="8" name="takeaway text 1"/>
          <p:cNvSpPr txBox="1"/>
          <p:nvPr/>
        </p:nvSpPr>
        <p:spPr>
          <a:xfrm>
            <a:off x="1828800" y="2423160"/>
            <a:ext cx="3977640" cy="1097280"/>
          </a:xfrm>
          <a:prstGeom prst="rect">
            <a:avLst/>
          </a:prstGeom>
          <a:noFill/>
          <a:ln/>
        </p:spPr>
        <p:txBody>
          <a:bodyPr wrap="square" lIns="0" tIns="0" rIns="0" bIns="0" rtlCol="0" anchor="t"/>
          <a:lstStyle/>
          <a:p>
            <a:pPr indent="0" marL="0">
              <a:buNone/>
            </a:pPr>
            <a:r>
              <a:rPr lang="en-US" sz="1400" dirty="0">
                <a:solidFill>
                  <a:srgbClr val="CADCFC"/>
                </a:solidFill>
              </a:rPr>
              <a:t>every board and feeder size on the single-line diagrams — a person confirmed 19 of 19 checked items</a:t>
            </a:r>
            <a:endParaRPr lang="en-US" sz="1400" dirty="0"/>
          </a:p>
        </p:txBody>
      </p:sp>
      <p:sp>
        <p:nvSpPr>
          <p:cNvPr id="9" name="takeaway card 2"/>
          <p:cNvSpPr/>
          <p:nvPr/>
        </p:nvSpPr>
        <p:spPr>
          <a:xfrm>
            <a:off x="6172200" y="1600200"/>
            <a:ext cx="5440680" cy="1828800"/>
          </a:xfrm>
          <a:prstGeom prst="roundRect">
            <a:avLst>
              <a:gd name="adj" fmla="val 6000"/>
            </a:avLst>
          </a:prstGeom>
          <a:solidFill>
            <a:schemeClr val="tx2"/>
          </a:solidFill>
          <a:ln w="12700">
            <a:solidFill>
              <a:srgbClr val="1E2B4F"/>
            </a:solidFill>
            <a:prstDash val="solid"/>
          </a:ln>
        </p:spPr>
      </p:sp>
      <p:sp>
        <p:nvSpPr>
          <p:cNvPr id="10" name="takeaway 2 circle"/>
          <p:cNvSpPr/>
          <p:nvPr/>
        </p:nvSpPr>
        <p:spPr>
          <a:xfrm>
            <a:off x="6446520" y="1920240"/>
            <a:ext cx="777240" cy="777240"/>
          </a:xfrm>
          <a:prstGeom prst="ellipse">
            <a:avLst/>
          </a:prstGeom>
          <a:solidFill>
            <a:srgbClr val="F2A900"/>
          </a:solidFill>
          <a:ln w="12700">
            <a:solidFill>
              <a:srgbClr val="F2A900"/>
            </a:solidFill>
            <a:prstDash val="solid"/>
          </a:ln>
        </p:spPr>
      </p:sp>
      <p:pic>
        <p:nvPicPr>
          <p:cNvPr id="11" name="takeaway 2 icon" descr="preencoded.png">    </p:cNvPr>
          <p:cNvPicPr>
            <a:picLocks noChangeAspect="1"/>
          </p:cNvPicPr>
          <p:nvPr/>
        </p:nvPicPr>
        <p:blipFill>
          <a:blip r:embed="rId2"/>
          <a:stretch>
            <a:fillRect/>
          </a:stretch>
        </p:blipFill>
        <p:spPr>
          <a:xfrm>
            <a:off x="6648602" y="2122322"/>
            <a:ext cx="373075" cy="373075"/>
          </a:xfrm>
          <a:prstGeom prst="rect">
            <a:avLst/>
          </a:prstGeom>
        </p:spPr>
      </p:pic>
      <p:sp>
        <p:nvSpPr>
          <p:cNvPr id="12" name="takeaway title 2"/>
          <p:cNvSpPr txBox="1"/>
          <p:nvPr/>
        </p:nvSpPr>
        <p:spPr>
          <a:xfrm>
            <a:off x="7452360" y="1920240"/>
            <a:ext cx="3977640" cy="457200"/>
          </a:xfrm>
          <a:prstGeom prst="rect">
            <a:avLst/>
          </a:prstGeom>
          <a:noFill/>
          <a:ln/>
        </p:spPr>
        <p:txBody>
          <a:bodyPr wrap="square" lIns="0" tIns="0" rIns="0" bIns="0" rtlCol="0" anchor="t"/>
          <a:lstStyle/>
          <a:p>
            <a:pPr indent="0" marL="0">
              <a:buNone/>
            </a:pPr>
            <a:r>
              <a:rPr lang="en-US" sz="1900" b="1" dirty="0">
                <a:solidFill>
                  <a:schemeClr val="bg1"/>
                </a:solidFill>
              </a:rPr>
              <a:t>67.5 % reading score today</a:t>
            </a:r>
            <a:endParaRPr lang="en-US" sz="1900" dirty="0"/>
          </a:p>
        </p:txBody>
      </p:sp>
      <p:sp>
        <p:nvSpPr>
          <p:cNvPr id="13" name="takeaway text 2"/>
          <p:cNvSpPr txBox="1"/>
          <p:nvPr/>
        </p:nvSpPr>
        <p:spPr>
          <a:xfrm>
            <a:off x="7452360" y="2423160"/>
            <a:ext cx="3977640" cy="1097280"/>
          </a:xfrm>
          <a:prstGeom prst="rect">
            <a:avLst/>
          </a:prstGeom>
          <a:noFill/>
          <a:ln/>
        </p:spPr>
        <p:txBody>
          <a:bodyPr wrap="square" lIns="0" tIns="0" rIns="0" bIns="0" rtlCol="0" anchor="t"/>
          <a:lstStyle/>
          <a:p>
            <a:pPr indent="0" marL="0">
              <a:buNone/>
            </a:pPr>
            <a:r>
              <a:rPr lang="en-US" sz="1400" dirty="0">
                <a:solidFill>
                  <a:srgbClr val="CADCFC"/>
                </a:solidFill>
              </a:rPr>
              <a:t>against a real bill that itself differs from the drawings in places</a:t>
            </a:r>
            <a:endParaRPr lang="en-US" sz="1400" dirty="0"/>
          </a:p>
        </p:txBody>
      </p:sp>
      <p:sp>
        <p:nvSpPr>
          <p:cNvPr id="14" name="takeaway card 3"/>
          <p:cNvSpPr/>
          <p:nvPr/>
        </p:nvSpPr>
        <p:spPr>
          <a:xfrm>
            <a:off x="548640" y="3703320"/>
            <a:ext cx="5440680" cy="1828800"/>
          </a:xfrm>
          <a:prstGeom prst="roundRect">
            <a:avLst>
              <a:gd name="adj" fmla="val 6000"/>
            </a:avLst>
          </a:prstGeom>
          <a:solidFill>
            <a:schemeClr val="tx2"/>
          </a:solidFill>
          <a:ln w="12700">
            <a:solidFill>
              <a:srgbClr val="1E2B4F"/>
            </a:solidFill>
            <a:prstDash val="solid"/>
          </a:ln>
        </p:spPr>
      </p:sp>
      <p:sp>
        <p:nvSpPr>
          <p:cNvPr id="15" name="takeaway 3 circle"/>
          <p:cNvSpPr/>
          <p:nvPr/>
        </p:nvSpPr>
        <p:spPr>
          <a:xfrm>
            <a:off x="822960" y="4023360"/>
            <a:ext cx="777240" cy="777240"/>
          </a:xfrm>
          <a:prstGeom prst="ellipse">
            <a:avLst/>
          </a:prstGeom>
          <a:solidFill>
            <a:srgbClr val="F2A900"/>
          </a:solidFill>
          <a:ln w="12700">
            <a:solidFill>
              <a:srgbClr val="F2A900"/>
            </a:solidFill>
            <a:prstDash val="solid"/>
          </a:ln>
        </p:spPr>
      </p:sp>
      <p:pic>
        <p:nvPicPr>
          <p:cNvPr id="16" name="takeaway 3 icon" descr="preencoded.png">    </p:cNvPr>
          <p:cNvPicPr>
            <a:picLocks noChangeAspect="1"/>
          </p:cNvPicPr>
          <p:nvPr/>
        </p:nvPicPr>
        <p:blipFill>
          <a:blip r:embed="rId3"/>
          <a:stretch>
            <a:fillRect/>
          </a:stretch>
        </p:blipFill>
        <p:spPr>
          <a:xfrm>
            <a:off x="1025042" y="4225442"/>
            <a:ext cx="373075" cy="373075"/>
          </a:xfrm>
          <a:prstGeom prst="rect">
            <a:avLst/>
          </a:prstGeom>
        </p:spPr>
      </p:pic>
      <p:sp>
        <p:nvSpPr>
          <p:cNvPr id="17" name="takeaway title 3"/>
          <p:cNvSpPr txBox="1"/>
          <p:nvPr/>
        </p:nvSpPr>
        <p:spPr>
          <a:xfrm>
            <a:off x="1828800" y="4023360"/>
            <a:ext cx="3977640" cy="457200"/>
          </a:xfrm>
          <a:prstGeom prst="rect">
            <a:avLst/>
          </a:prstGeom>
          <a:noFill/>
          <a:ln/>
        </p:spPr>
        <p:txBody>
          <a:bodyPr wrap="square" lIns="0" tIns="0" rIns="0" bIns="0" rtlCol="0" anchor="t"/>
          <a:lstStyle/>
          <a:p>
            <a:pPr indent="0" marL="0">
              <a:buNone/>
            </a:pPr>
            <a:r>
              <a:rPr lang="en-US" sz="1900" b="1" dirty="0">
                <a:solidFill>
                  <a:schemeClr val="bg1"/>
                </a:solidFill>
              </a:rPr>
              <a:t>A first draft, reviewed</a:t>
            </a:r>
            <a:endParaRPr lang="en-US" sz="1900" dirty="0"/>
          </a:p>
        </p:txBody>
      </p:sp>
      <p:sp>
        <p:nvSpPr>
          <p:cNvPr id="18" name="takeaway text 3"/>
          <p:cNvSpPr txBox="1"/>
          <p:nvPr/>
        </p:nvSpPr>
        <p:spPr>
          <a:xfrm>
            <a:off x="1828800" y="4526280"/>
            <a:ext cx="3977640" cy="1097280"/>
          </a:xfrm>
          <a:prstGeom prst="rect">
            <a:avLst/>
          </a:prstGeom>
          <a:noFill/>
          <a:ln/>
        </p:spPr>
        <p:txBody>
          <a:bodyPr wrap="square" lIns="0" tIns="0" rIns="0" bIns="0" rtlCol="0" anchor="t"/>
          <a:lstStyle/>
          <a:p>
            <a:pPr indent="0" marL="0">
              <a:buNone/>
            </a:pPr>
            <a:r>
              <a:rPr lang="en-US" sz="1400" dirty="0">
                <a:solidFill>
                  <a:srgbClr val="CADCFC"/>
                </a:solidFill>
              </a:rPr>
              <a:t>every line says where it comes from — start with “Guessed – check” and MUST FIX</a:t>
            </a:r>
            <a:endParaRPr lang="en-US" sz="1400" dirty="0"/>
          </a:p>
        </p:txBody>
      </p:sp>
      <p:sp>
        <p:nvSpPr>
          <p:cNvPr id="19" name="takeaway card 4"/>
          <p:cNvSpPr/>
          <p:nvPr/>
        </p:nvSpPr>
        <p:spPr>
          <a:xfrm>
            <a:off x="6172200" y="3703320"/>
            <a:ext cx="5440680" cy="1828800"/>
          </a:xfrm>
          <a:prstGeom prst="roundRect">
            <a:avLst>
              <a:gd name="adj" fmla="val 6000"/>
            </a:avLst>
          </a:prstGeom>
          <a:solidFill>
            <a:schemeClr val="tx2"/>
          </a:solidFill>
          <a:ln w="12700">
            <a:solidFill>
              <a:srgbClr val="1E2B4F"/>
            </a:solidFill>
            <a:prstDash val="solid"/>
          </a:ln>
        </p:spPr>
      </p:sp>
      <p:sp>
        <p:nvSpPr>
          <p:cNvPr id="20" name="takeaway 4 circle"/>
          <p:cNvSpPr/>
          <p:nvPr/>
        </p:nvSpPr>
        <p:spPr>
          <a:xfrm>
            <a:off x="6446520" y="4023360"/>
            <a:ext cx="777240" cy="777240"/>
          </a:xfrm>
          <a:prstGeom prst="ellipse">
            <a:avLst/>
          </a:prstGeom>
          <a:solidFill>
            <a:srgbClr val="F2A900"/>
          </a:solidFill>
          <a:ln w="12700">
            <a:solidFill>
              <a:srgbClr val="F2A900"/>
            </a:solidFill>
            <a:prstDash val="solid"/>
          </a:ln>
        </p:spPr>
      </p:sp>
      <p:pic>
        <p:nvPicPr>
          <p:cNvPr id="21" name="takeaway 4 icon" descr="preencoded.png">    </p:cNvPr>
          <p:cNvPicPr>
            <a:picLocks noChangeAspect="1"/>
          </p:cNvPicPr>
          <p:nvPr/>
        </p:nvPicPr>
        <p:blipFill>
          <a:blip r:embed="rId4"/>
          <a:stretch>
            <a:fillRect/>
          </a:stretch>
        </p:blipFill>
        <p:spPr>
          <a:xfrm>
            <a:off x="6648602" y="4225442"/>
            <a:ext cx="373075" cy="373075"/>
          </a:xfrm>
          <a:prstGeom prst="rect">
            <a:avLst/>
          </a:prstGeom>
        </p:spPr>
      </p:pic>
      <p:sp>
        <p:nvSpPr>
          <p:cNvPr id="22" name="takeaway title 4"/>
          <p:cNvSpPr txBox="1"/>
          <p:nvPr/>
        </p:nvSpPr>
        <p:spPr>
          <a:xfrm>
            <a:off x="7452360" y="4023360"/>
            <a:ext cx="3977640" cy="457200"/>
          </a:xfrm>
          <a:prstGeom prst="rect">
            <a:avLst/>
          </a:prstGeom>
          <a:noFill/>
          <a:ln/>
        </p:spPr>
        <p:txBody>
          <a:bodyPr wrap="square" lIns="0" tIns="0" rIns="0" bIns="0" rtlCol="0" anchor="t"/>
          <a:lstStyle/>
          <a:p>
            <a:pPr indent="0" marL="0">
              <a:buNone/>
            </a:pPr>
            <a:r>
              <a:rPr lang="en-US" sz="1900" b="1" dirty="0">
                <a:solidFill>
                  <a:schemeClr val="bg1"/>
                </a:solidFill>
              </a:rPr>
              <a:t>Next: rules, then more data</a:t>
            </a:r>
            <a:endParaRPr lang="en-US" sz="1900" dirty="0"/>
          </a:p>
        </p:txBody>
      </p:sp>
      <p:sp>
        <p:nvSpPr>
          <p:cNvPr id="23" name="takeaway text 4"/>
          <p:cNvSpPr txBox="1"/>
          <p:nvPr/>
        </p:nvSpPr>
        <p:spPr>
          <a:xfrm>
            <a:off x="7452360" y="4526280"/>
            <a:ext cx="3977640" cy="1097280"/>
          </a:xfrm>
          <a:prstGeom prst="rect">
            <a:avLst/>
          </a:prstGeom>
          <a:noFill/>
          <a:ln/>
        </p:spPr>
        <p:txBody>
          <a:bodyPr wrap="square" lIns="0" tIns="0" rIns="0" bIns="0" rtlCol="0" anchor="t"/>
          <a:lstStyle/>
          <a:p>
            <a:pPr indent="0" marL="0">
              <a:buNone/>
            </a:pPr>
            <a:r>
              <a:rPr lang="en-US" sz="1400" dirty="0">
                <a:solidFill>
                  <a:srgbClr val="CADCFC"/>
                </a:solidFill>
              </a:rPr>
              <a:t>fix the reader gaps with an electrical engineer, then 5 real projects from 3+ firms, then pricing</a:t>
            </a:r>
            <a:endParaRPr lang="en-US" sz="1400" dirty="0"/>
          </a:p>
        </p:txBody>
      </p:sp>
      <p:sp>
        <p:nvSpPr>
          <p:cNvPr id="24" name="closing pointers"/>
          <p:cNvSpPr txBox="1"/>
          <p:nvPr/>
        </p:nvSpPr>
        <p:spPr>
          <a:xfrm>
            <a:off x="548640" y="6263640"/>
            <a:ext cx="11064240" cy="320040"/>
          </a:xfrm>
          <a:prstGeom prst="rect">
            <a:avLst/>
          </a:prstGeom>
          <a:noFill/>
          <a:ln/>
        </p:spPr>
        <p:txBody>
          <a:bodyPr wrap="square" lIns="0" tIns="0" rIns="0" bIns="0" rtlCol="0" anchor="t"/>
          <a:lstStyle/>
          <a:p>
            <a:pPr indent="0" marL="0">
              <a:buNone/>
            </a:pPr>
            <a:r>
              <a:rPr lang="en-US" sz="1100" dirty="0">
                <a:solidFill>
                  <a:schemeClr val="accent6"/>
                </a:solidFill>
              </a:rPr>
              <a:t>Try it: https://afriplan.onrender.com  ·  metric details: docs/accuracy-metrics.md  ·  evidence: docs/research/evidence-register.md</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References</a:t>
            </a:r>
            <a:endParaRPr lang="en-US" sz="3000" dirty="0"/>
          </a:p>
        </p:txBody>
      </p:sp>
      <p:sp>
        <p:nvSpPr>
          <p:cNvPr id="4" name="references left"/>
          <p:cNvSpPr txBox="1"/>
          <p:nvPr/>
        </p:nvSpPr>
        <p:spPr>
          <a:xfrm>
            <a:off x="548640" y="1325880"/>
            <a:ext cx="5440680" cy="4846320"/>
          </a:xfrm>
          <a:prstGeom prst="rect">
            <a:avLst/>
          </a:prstGeom>
          <a:noFill/>
          <a:ln/>
        </p:spPr>
        <p:txBody>
          <a:bodyPr wrap="square" lIns="0" tIns="0" rIns="0" bIns="0" rtlCol="0" anchor="t"/>
          <a:lstStyle/>
          <a:p>
            <a:pPr indent="0" marL="0">
              <a:spcAft>
                <a:spcPts val="500"/>
              </a:spcAft>
              <a:buNone/>
            </a:pPr>
            <a:r>
              <a:rPr lang="en-US" sz="1000" dirty="0">
                <a:solidFill>
                  <a:schemeClr val="tx2"/>
                </a:solidFill>
              </a:rPr>
              <a:t>Akampurira, E., &amp; Windapo, A. (2019). Key quality attributes of design documentation: South African perspective. Journal of Engineering, Design and Technology, 17(2), 362–382. https://doi.org/10.1108/jedt-08-2018-0137</a:t>
            </a:r>
            <a:endParaRPr lang="en-US" sz="1000" dirty="0"/>
          </a:p>
          <a:p>
            <a:pPr indent="0" marL="0">
              <a:spcAft>
                <a:spcPts val="500"/>
              </a:spcAft>
              <a:buNone/>
            </a:pPr>
            <a:r>
              <a:rPr lang="en-US" sz="1000" dirty="0">
                <a:solidFill>
                  <a:schemeClr val="tx2"/>
                </a:solidFill>
              </a:rPr>
              <a:t>Alkhateeb, A. M., Hyari, K. H., &amp; Hiyassat, M. (2020). Analyzing bidding competitiveness and success rate of contractors competing for public construction projects. Construction Innovation, 21(4), 576–591. https://doi.org/10.1108/ci-04-2020-0060</a:t>
            </a:r>
            <a:endParaRPr lang="en-US" sz="1000" dirty="0"/>
          </a:p>
          <a:p>
            <a:pPr indent="0" marL="0">
              <a:spcAft>
                <a:spcPts val="500"/>
              </a:spcAft>
              <a:buNone/>
            </a:pPr>
            <a:r>
              <a:rPr lang="en-US" sz="1000" dirty="0">
                <a:solidFill>
                  <a:schemeClr val="tx2"/>
                </a:solidFill>
              </a:rPr>
              <a:t>Ameyaw, C., Abaitey, B. A., &amp; Mensah, S. (2021). Assessing the cost of competitive tendering in Ghana using transaction cost theory. Built Environment Project and Asset Management, 11(5), 835–850. https://doi.org/10.1108/bepam-05-2020-0095</a:t>
            </a:r>
            <a:endParaRPr lang="en-US" sz="1000" dirty="0"/>
          </a:p>
          <a:p>
            <a:pPr indent="0" marL="0">
              <a:spcAft>
                <a:spcPts val="500"/>
              </a:spcAft>
              <a:buNone/>
            </a:pPr>
            <a:r>
              <a:rPr lang="en-US" sz="1000" dirty="0">
                <a:solidFill>
                  <a:schemeClr val="tx2"/>
                </a:solidFill>
              </a:rPr>
              <a:t>Elyan, E., Jamieson, L., &amp; Ali-Gombe, A. (2020). Deep learning for symbols detection and classification in engineering drawings. Neural Networks, 129, 91–102. https://doi.org/10.1016/j.neunet.2020.05.025</a:t>
            </a:r>
            <a:endParaRPr lang="en-US" sz="1000" dirty="0"/>
          </a:p>
          <a:p>
            <a:pPr indent="0" marL="0">
              <a:spcAft>
                <a:spcPts val="500"/>
              </a:spcAft>
              <a:buNone/>
            </a:pPr>
            <a:r>
              <a:rPr lang="en-US" sz="1000" dirty="0">
                <a:solidFill>
                  <a:schemeClr val="tx2"/>
                </a:solidFill>
              </a:rPr>
              <a:t>Govender, N., Laryea, S., &amp; Watermeyer, R. (2022). A framework for assessing quality of tender documents. Built Environment Project and Asset Management, 12(4), 573–589. https://doi.org/10.1108/bepam-07-2021-0094</a:t>
            </a:r>
            <a:endParaRPr lang="en-US" sz="1000" dirty="0"/>
          </a:p>
          <a:p>
            <a:pPr indent="0" marL="0">
              <a:spcAft>
                <a:spcPts val="500"/>
              </a:spcAft>
              <a:buNone/>
            </a:pPr>
            <a:r>
              <a:rPr lang="en-US" sz="1000" dirty="0">
                <a:solidFill>
                  <a:schemeClr val="tx2"/>
                </a:solidFill>
              </a:rPr>
              <a:t>Jamieson, L., Moreno-García, C. F., &amp; Elyan, E. (2024). A review of deep learning methods for digitisation of complex documents and engineering diagrams. Artificial Intelligence Review, 57(6). https://doi.org/10.1007/s10462-024-10779-2</a:t>
            </a:r>
            <a:endParaRPr lang="en-US" sz="1000" dirty="0"/>
          </a:p>
          <a:p>
            <a:pPr indent="0" marL="0">
              <a:spcAft>
                <a:spcPts val="500"/>
              </a:spcAft>
              <a:buNone/>
            </a:pPr>
            <a:r>
              <a:rPr lang="en-US" sz="1000" dirty="0">
                <a:solidFill>
                  <a:schemeClr val="tx2"/>
                </a:solidFill>
              </a:rPr>
              <a:t>Morena, M., &amp; Amoah, C. (2021). Assessment of the mitigating measures for cost overruns in the South African construction industry. IOP Conference Series: Earth and Environmental Science, 654, 012003. https://doi.org/10.1088/1755-1315/654/1/012003</a:t>
            </a:r>
            <a:endParaRPr lang="en-US" sz="1000" dirty="0"/>
          </a:p>
        </p:txBody>
      </p:sp>
      <p:sp>
        <p:nvSpPr>
          <p:cNvPr id="5" name="references right"/>
          <p:cNvSpPr txBox="1"/>
          <p:nvPr/>
        </p:nvSpPr>
        <p:spPr>
          <a:xfrm>
            <a:off x="6172200" y="1325880"/>
            <a:ext cx="5440680" cy="4846320"/>
          </a:xfrm>
          <a:prstGeom prst="rect">
            <a:avLst/>
          </a:prstGeom>
          <a:noFill/>
          <a:ln/>
        </p:spPr>
        <p:txBody>
          <a:bodyPr wrap="square" lIns="0" tIns="0" rIns="0" bIns="0" rtlCol="0" anchor="t"/>
          <a:lstStyle/>
          <a:p>
            <a:pPr indent="0" marL="0">
              <a:spcAft>
                <a:spcPts val="500"/>
              </a:spcAft>
              <a:buNone/>
            </a:pPr>
            <a:r>
              <a:rPr lang="en-US" sz="1000" dirty="0">
                <a:solidFill>
                  <a:schemeClr val="tx2"/>
                </a:solidFill>
              </a:rPr>
              <a:t>Murwira, D., &amp; Bekker, M. C. (2017). Building an infrastructure project performance in the North-West Province Department of Public Works and Roads. Acta Structilia, 24(2), 128–145. https://doi.org/10.18820/24150487/as24i2.5</a:t>
            </a:r>
            <a:endParaRPr lang="en-US" sz="1000" dirty="0"/>
          </a:p>
          <a:p>
            <a:pPr indent="0" marL="0">
              <a:spcAft>
                <a:spcPts val="500"/>
              </a:spcAft>
              <a:buNone/>
            </a:pPr>
            <a:r>
              <a:rPr lang="en-US" sz="1000" dirty="0">
                <a:solidFill>
                  <a:schemeClr val="tx2"/>
                </a:solidFill>
              </a:rPr>
              <a:t>Construction Industry Development Board. (2025). Strategic and annual performance plan (presented to Parliament, 25 June 2025). https://pmg.org.za/files/250625_DPWI_CIDB__Strategic_and_Annual_Performance_Plan.pdf</a:t>
            </a:r>
            <a:endParaRPr lang="en-US" sz="1000" dirty="0"/>
          </a:p>
          <a:p>
            <a:pPr indent="0" marL="0">
              <a:spcAft>
                <a:spcPts val="500"/>
              </a:spcAft>
              <a:buNone/>
            </a:pPr>
            <a:r>
              <a:rPr lang="en-US" sz="1000" dirty="0">
                <a:solidFill>
                  <a:schemeClr val="tx2"/>
                </a:solidFill>
              </a:rPr>
              <a:t>National Treasury. (2026). Budget review 2026, Annexure D: Public-sector infrastructure. https://www.treasury.gov.za/documents/National%20Budget/2026/review/Annexure%20D.pdf</a:t>
            </a:r>
            <a:endParaRPr lang="en-US" sz="1000" dirty="0"/>
          </a:p>
          <a:p>
            <a:pPr indent="0" marL="0">
              <a:spcAft>
                <a:spcPts val="500"/>
              </a:spcAft>
              <a:buNone/>
            </a:pPr>
            <a:r>
              <a:rPr lang="en-US" sz="1000" dirty="0">
                <a:solidFill>
                  <a:schemeClr val="tx2"/>
                </a:solidFill>
              </a:rPr>
              <a:t>Statistics South Africa. (2026). Construction industry, 2024 (Report 50-02-01). https://www.statssa.gov.za/publications/Report-50-02-01/Report-50-02-012024.pdf</a:t>
            </a:r>
            <a:endParaRPr lang="en-US" sz="1000" dirty="0"/>
          </a:p>
          <a:p>
            <a:pPr indent="0" marL="0">
              <a:spcAft>
                <a:spcPts val="500"/>
              </a:spcAft>
              <a:buNone/>
            </a:pPr>
            <a:r>
              <a:rPr lang="en-US" sz="1000" dirty="0">
                <a:solidFill>
                  <a:schemeClr val="tx2"/>
                </a:solidFill>
              </a:rPr>
              <a:t>Statistics South Africa. (2026). Key shifts in the construction industry. https://www.statssa.gov.za/?p=19701</a:t>
            </a:r>
            <a:endParaRPr lang="en-US" sz="1000" dirty="0"/>
          </a:p>
          <a:p>
            <a:pPr indent="0" marL="0">
              <a:spcAft>
                <a:spcPts val="500"/>
              </a:spcAft>
              <a:buNone/>
            </a:pPr>
            <a:r>
              <a:rPr lang="en-US" sz="1000" dirty="0">
                <a:solidFill>
                  <a:schemeClr val="tx2"/>
                </a:solidFill>
              </a:rPr>
              <a:t>GreenCape. (n.d.). Understanding the municipal procurement process (Municipal SCM Regulations, reg. 22). https://greencape.co.za/assets/municipalprocurementguideREPRO.pdf</a:t>
            </a:r>
            <a:endParaRPr lang="en-US" sz="1000" dirty="0"/>
          </a:p>
          <a:p>
            <a:pPr indent="0" marL="0">
              <a:spcAft>
                <a:spcPts val="500"/>
              </a:spcAft>
              <a:buNone/>
            </a:pPr>
            <a:r>
              <a:rPr lang="en-US" sz="1000" dirty="0">
                <a:solidFill>
                  <a:schemeClr val="tx2"/>
                </a:solidFill>
              </a:rPr>
              <a:t>Engineering News. (2026, June 19). Capacity of rooftop solar installed in South Africa has passed 8 GW mark. Vendor pages read 5 Oct 2026: bluebeam.com/pricing · togal.ai/pricing · civils.ai/blog/ai-for-electrical-takeoffs</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References — AI Operating System, tools and standards</a:t>
            </a:r>
            <a:endParaRPr lang="en-US" sz="3000" dirty="0"/>
          </a:p>
        </p:txBody>
      </p:sp>
      <p:sp>
        <p:nvSpPr>
          <p:cNvPr id="4" name="references2 left"/>
          <p:cNvSpPr txBox="1"/>
          <p:nvPr/>
        </p:nvSpPr>
        <p:spPr>
          <a:xfrm>
            <a:off x="548640" y="1371600"/>
            <a:ext cx="5440680" cy="4754880"/>
          </a:xfrm>
          <a:prstGeom prst="rect">
            <a:avLst/>
          </a:prstGeom>
          <a:noFill/>
          <a:ln/>
        </p:spPr>
        <p:txBody>
          <a:bodyPr wrap="square" lIns="0" tIns="0" rIns="0" bIns="0" rtlCol="0" anchor="t"/>
          <a:lstStyle/>
          <a:p>
            <a:pPr indent="0" marL="0">
              <a:spcAft>
                <a:spcPts val="700"/>
              </a:spcAft>
              <a:buNone/>
            </a:pPr>
            <a:r>
              <a:rPr lang="en-US" sz="1050" dirty="0">
                <a:solidFill>
                  <a:schemeClr val="tx2"/>
                </a:solidFill>
              </a:rPr>
              <a:t>[1] Anthropic. Agent Skills — overview. Claude Platform Docs. https://platform.claude.com/docs/en/agents-and-tools/agent-skills/overview</a:t>
            </a:r>
            <a:endParaRPr lang="en-US" sz="1050" dirty="0"/>
          </a:p>
          <a:p>
            <a:pPr indent="0" marL="0">
              <a:spcAft>
                <a:spcPts val="700"/>
              </a:spcAft>
              <a:buNone/>
            </a:pPr>
            <a:r>
              <a:rPr lang="en-US" sz="1050" dirty="0">
                <a:solidFill>
                  <a:schemeClr val="tx2"/>
                </a:solidFill>
              </a:rPr>
              <a:t>[2] Anthropic. How Claude remembers your project (CLAUDE.md, auto memory). Claude Code Docs. https://code.claude.com/docs/en/memory</a:t>
            </a:r>
            <a:endParaRPr lang="en-US" sz="1050" dirty="0"/>
          </a:p>
          <a:p>
            <a:pPr indent="0" marL="0">
              <a:spcAft>
                <a:spcPts val="700"/>
              </a:spcAft>
              <a:buNone/>
            </a:pPr>
            <a:r>
              <a:rPr lang="en-US" sz="1050" dirty="0">
                <a:solidFill>
                  <a:schemeClr val="tx2"/>
                </a:solidFill>
              </a:rPr>
              <a:t>[3] Anthropic. Use Claude Code with your Pro or Max plan. Claude Help Center. https://support.claude.com/en/articles/11145838-use-claude-code-with-your-pro-or-max-plan</a:t>
            </a:r>
            <a:endParaRPr lang="en-US" sz="1050" dirty="0"/>
          </a:p>
          <a:p>
            <a:pPr indent="0" marL="0">
              <a:spcAft>
                <a:spcPts val="700"/>
              </a:spcAft>
              <a:buNone/>
            </a:pPr>
            <a:r>
              <a:rPr lang="en-US" sz="1050" dirty="0">
                <a:solidFill>
                  <a:schemeClr val="tx2"/>
                </a:solidFill>
              </a:rPr>
              <a:t>[4] Anthropic. Claude Code for VS Code (extension, agentic features, subagents). https://marketplace.visualstudio.com/items?itemName=anthropic.claude-code · https://code.claude.com/docs/en/vs-code</a:t>
            </a:r>
            <a:endParaRPr lang="en-US" sz="1050" dirty="0"/>
          </a:p>
          <a:p>
            <a:pPr indent="0" marL="0">
              <a:spcAft>
                <a:spcPts val="700"/>
              </a:spcAft>
              <a:buNone/>
            </a:pPr>
            <a:r>
              <a:rPr lang="en-US" sz="1050" dirty="0">
                <a:solidFill>
                  <a:schemeClr val="tx2"/>
                </a:solidFill>
              </a:rPr>
              <a:t>[5] AfriPlan. ADR-0002 (the AI reads, Python computes) and ADR-0008 (one bill from both readers, one pricer). docs/adr/</a:t>
            </a:r>
            <a:endParaRPr lang="en-US" sz="1050" dirty="0"/>
          </a:p>
          <a:p>
            <a:pPr indent="0" marL="0">
              <a:spcAft>
                <a:spcPts val="700"/>
              </a:spcAft>
              <a:buNone/>
            </a:pPr>
            <a:r>
              <a:rPr lang="en-US" sz="1050" dirty="0">
                <a:solidFill>
                  <a:schemeClr val="tx2"/>
                </a:solidFill>
              </a:rPr>
              <a:t>[6] Anthropic. The Complete Guide to Building Skills for Claude. https://resources.anthropic.com/hubfs/The-Complete-Guide-to-Building-Skill-for-Claude.pdf</a:t>
            </a:r>
            <a:endParaRPr lang="en-US" sz="1050" dirty="0"/>
          </a:p>
        </p:txBody>
      </p:sp>
      <p:sp>
        <p:nvSpPr>
          <p:cNvPr id="5" name="references2 right"/>
          <p:cNvSpPr txBox="1"/>
          <p:nvPr/>
        </p:nvSpPr>
        <p:spPr>
          <a:xfrm>
            <a:off x="6172200" y="1371600"/>
            <a:ext cx="5440680" cy="4754880"/>
          </a:xfrm>
          <a:prstGeom prst="rect">
            <a:avLst/>
          </a:prstGeom>
          <a:noFill/>
          <a:ln/>
        </p:spPr>
        <p:txBody>
          <a:bodyPr wrap="square" lIns="0" tIns="0" rIns="0" bIns="0" rtlCol="0" anchor="t"/>
          <a:lstStyle/>
          <a:p>
            <a:pPr indent="0" marL="0">
              <a:spcAft>
                <a:spcPts val="700"/>
              </a:spcAft>
              <a:buNone/>
            </a:pPr>
            <a:r>
              <a:rPr lang="en-US" sz="1050" dirty="0">
                <a:solidFill>
                  <a:schemeClr val="tx2"/>
                </a:solidFill>
              </a:rPr>
              <a:t>[7] AfriPlan. README — set up and run the web app. README.md</a:t>
            </a:r>
            <a:endParaRPr lang="en-US" sz="1050" dirty="0"/>
          </a:p>
          <a:p>
            <a:pPr indent="0" marL="0">
              <a:spcAft>
                <a:spcPts val="700"/>
              </a:spcAft>
              <a:buNone/>
            </a:pPr>
            <a:r>
              <a:rPr lang="en-US" sz="1050" dirty="0">
                <a:solidFill>
                  <a:schemeClr val="tx2"/>
                </a:solidFill>
              </a:rPr>
              <a:t>[8] Anthropic. Plans &amp; Pricing (Claude Code included in paid plans; API billed per use). https://claude.com/pricing</a:t>
            </a:r>
            <a:endParaRPr lang="en-US" sz="1050" dirty="0"/>
          </a:p>
          <a:p>
            <a:pPr indent="0" marL="0">
              <a:spcAft>
                <a:spcPts val="700"/>
              </a:spcAft>
              <a:buNone/>
            </a:pPr>
            <a:r>
              <a:rPr lang="en-US" sz="1050" dirty="0">
                <a:solidFill>
                  <a:schemeClr val="tx2"/>
                </a:solidFill>
              </a:rPr>
              <a:t>[9] Google. Gemini API rate limits (free tier, per-minute and per-day). https://ai.google.dev/gemini-api/docs/rate-limits</a:t>
            </a:r>
            <a:endParaRPr lang="en-US" sz="1050" dirty="0"/>
          </a:p>
          <a:p>
            <a:pPr indent="0" marL="0">
              <a:spcAft>
                <a:spcPts val="700"/>
              </a:spcAft>
              <a:buNone/>
            </a:pPr>
            <a:r>
              <a:rPr lang="en-US" sz="1050" dirty="0">
                <a:solidFill>
                  <a:schemeClr val="tx2"/>
                </a:solidFill>
              </a:rPr>
              <a:t>[10] AfriPlan. Live run progress on the Take-off page. src/components/ui/RunProgress.jsx</a:t>
            </a:r>
            <a:endParaRPr lang="en-US" sz="1050" dirty="0"/>
          </a:p>
          <a:p>
            <a:pPr indent="0" marL="0">
              <a:spcAft>
                <a:spcPts val="700"/>
              </a:spcAft>
              <a:buNone/>
            </a:pPr>
            <a:r>
              <a:rPr lang="en-US" sz="1050" dirty="0">
                <a:solidFill>
                  <a:schemeClr val="tx2"/>
                </a:solidFill>
              </a:rPr>
              <a:t>[11] AfriPlan. Baselines and accuracy method — reports/baselines/README.md, docs/accuracy-metrics.md</a:t>
            </a:r>
            <a:endParaRPr lang="en-US" sz="1050" dirty="0"/>
          </a:p>
          <a:p>
            <a:pPr indent="0" marL="0">
              <a:spcAft>
                <a:spcPts val="700"/>
              </a:spcAft>
              <a:buNone/>
            </a:pPr>
            <a:r>
              <a:rPr lang="en-US" sz="1050" dirty="0">
                <a:solidFill>
                  <a:schemeClr val="tx2"/>
                </a:solidFill>
              </a:rPr>
              <a:t>[12] AACE International (2020). Recommended Practice 56R-08: Cost estimate classification system — building and general construction. https://web.aacei.org/docs/default-source/toc/toc_56r-08.pdf</a:t>
            </a:r>
            <a:endParaRPr lang="en-US" sz="105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36</a:t>
            </a:fld>
            <a:endParaRPr lang="en-US"/>
          </a:p>
        </p:txBody>
      </p:sp>
    </p:spTree>
  </p:cSld>
  <p:clrMapOvr>
    <a:masterClrMapping/>
  </p:clrMapOvr>
</p:sld>
</file>

<file path=ppt/theme/theme1.xml><?xml version="1.0" encoding="utf-8"?>
<a:theme xmlns:a="http://schemas.openxmlformats.org/drawingml/2006/main" name="AfriPlan Electrical">
  <a:themeElements>
    <a:clrScheme name="AfriPlan Electrical">
      <a:dk1>
        <a:srgbClr val="101A33"/>
      </a:dk1>
      <a:lt1>
        <a:srgbClr val="FFFFFF"/>
      </a:lt1>
      <a:dk2>
        <a:srgbClr val="1E2B4F"/>
      </a:dk2>
      <a:lt2>
        <a:srgbClr val="F2F4F9"/>
      </a:lt2>
      <a:accent1>
        <a:srgbClr val="2E5BE8"/>
      </a:accent1>
      <a:accent2>
        <a:srgbClr val="F2A900"/>
      </a:accent2>
      <a:accent3>
        <a:srgbClr val="0F8A5F"/>
      </a:accent3>
      <a:accent4>
        <a:srgbClr val="C6423C"/>
      </a:accent4>
      <a:accent5>
        <a:srgbClr val="0E9BB8"/>
      </a:accent5>
      <a:accent6>
        <a:srgbClr val="8A93AB"/>
      </a:accent6>
      <a:hlink>
        <a:srgbClr val="2E5BE8"/>
      </a:hlink>
      <a:folHlink>
        <a:srgbClr val="1B3FB8"/>
      </a:folHlink>
    </a:clrScheme>
    <a:fontScheme name="AfriPlan Electric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AfriPlan Electrical — user guide</dc:title>
  <dc:subject>PptxGenJS Presentation</dc:subject>
  <dc:creator>JLWanalytics</dc:creator>
  <cp:lastModifiedBy>JLWanalytics</cp:lastModifiedBy>
  <cp:revision>1</cp:revision>
  <dcterms:created xsi:type="dcterms:W3CDTF">2026-10-06T10:00:18Z</dcterms:created>
  <dcterms:modified xsi:type="dcterms:W3CDTF">2026-10-06T10:00:18Z</dcterms:modified>
</cp:coreProperties>
</file>