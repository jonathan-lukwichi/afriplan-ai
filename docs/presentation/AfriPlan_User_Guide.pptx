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6e2727-9a83-e509-8a5e-cddfebc06497}">
          <p14:sldIdLst>
            <p14:sldId id="256"/>
          </p14:sldIdLst>
        </p14:section>
        <p14:section name="The problem" id="{b651bc9a-680e-3ee5-998e-90b49a17410b}">
          <p14:sldIdLst>
            <p14:sldId id="257"/>
            <p14:sldId id="258"/>
            <p14:sldId id="259"/>
            <p14:sldId id="260"/>
          </p14:sldIdLst>
        </p14:section>
        <p14:section name="How AfriPlan works" id="{dbe6770e-e588-9d39-d8dc-605d04759571}">
          <p14:sldIdLst>
            <p14:sldId id="261"/>
            <p14:sldId id="262"/>
            <p14:sldId id="263"/>
          </p14:sldIdLst>
        </p14:section>
        <p14:section name="Using the web app" id="{76161ecb-16ff-b5ea-ad2d-d84eacbc1abb}">
          <p14:sldIdLst>
            <p14:sldId id="264"/>
            <p14:sldId id="265"/>
            <p14:sldId id="266"/>
            <p14:sldId id="267"/>
          </p14:sldIdLst>
        </p14:section>
        <p14:section name="The DOE workflow" id="{63e5ded8-1c9e-59af-882f-2947b455ec1c}">
          <p14:sldIdLst>
            <p14:sldId id="268"/>
            <p14:sldId id="269"/>
          </p14:sldIdLst>
        </p14:section>
        <p14:section name="How accurate is it" id="{72f2f469-e976-0a72-65a5-c69fa37cccfe}">
          <p14:sldIdLst>
            <p14:sldId id="270"/>
            <p14:sldId id="271"/>
            <p14:sldId id="272"/>
            <p14:sldId id="273"/>
          </p14:sldIdLst>
        </p14:section>
        <p14:section name="Conclusion" id="{baf684b1-0b78-c4ae-a0a4-46b2bc1cd8ad}">
          <p14:sldIdLst>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A33"/>
                </a:solidFill>
                <a:latin typeface="+mn-lt"/>
              </a:defRPr>
            </a:pPr>
            <a:r>
              <a:rPr sz="1400" b="0" i="0" u="none" strike="noStrike">
                <a:solidFill>
                  <a:srgbClr val="101A33"/>
                </a:solidFill>
                <a:latin typeface="+mn-lt"/>
              </a:rPr>
              <a:t>CIDB register, end 2024 — active contractors</a:t>
            </a:r>
          </a:p>
        </c:rich>
      </c:tx>
      <c:layout/>
      <c:overlay val="0"/>
    </c:title>
    <c:autoTitleDeleted val="0"/>
    <c:plotArea>
      <c:layout/>
      <c:barChart>
        <c:barDir val="bar"/>
        <c:grouping val="clustered"/>
        <c:varyColors val="0"/>
        <c:ser>
          <c:idx val="0"/>
          <c:order val="0"/>
          <c:tx>
            <c:strRef>
              <c:f>Sheet1!$B$1</c:f>
              <c:strCache>
                <c:ptCount val="1"/>
                <c:pt idx="0">
                  <c:v>Active contractors</c:v>
                </c:pt>
              </c:strCache>
            </c:strRef>
          </c:tx>
          <c:spPr>
            <a:solidFill>
              <a:srgbClr val="2E5BE8"/>
            </a:solidFill>
            <a:effectLst/>
          </c:spPr>
          <c:invertIfNegative val="0"/>
          <c:dLbls>
            <c:numFmt formatCode="#,##0" sourceLinked="0"/>
            <c:txPr>
              <a:bodyPr/>
              <a:lstStyle/>
              <a:p>
                <a:pPr>
                  <a:defRPr b="0" i="0" strike="noStrike" sz="1200" u="none">
                    <a:solidFill>
                      <a:srgbClr val="101A33"/>
                    </a:solidFill>
                    <a:latin typeface="+mn-lt"/>
                  </a:defRPr>
                </a:pPr>
              </a:p>
            </c:txPr>
            <c:showLegendKey val="0"/>
            <c:showVal val="1"/>
            <c:showCatName val="0"/>
            <c:showSerName val="0"/>
            <c:showPercent val="0"/>
            <c:showBubbleSize val="0"/>
            <c:showLeaderLines val="0"/>
          </c:dLbls>
          <c:dPt>
            <c:idx val="0"/>
            <c:invertIfNegative val="0"/>
            <c:bubble3D val="0"/>
            <c:spPr>
              <a:solidFill>
                <a:srgbClr val="2E5BE8"/>
              </a:solidFill>
              <a:effectLst/>
            </c:spPr>
          </c:dPt>
          <c:dPt>
            <c:idx val="1"/>
            <c:invertIfNegative val="0"/>
            <c:bubble3D val="0"/>
            <c:spPr>
              <a:solidFill>
                <a:srgbClr val="0E9BB8"/>
              </a:solidFill>
              <a:effectLst/>
            </c:spPr>
          </c:dPt>
          <c:dPt>
            <c:idx val="2"/>
            <c:invertIfNegative val="0"/>
            <c:bubble3D val="0"/>
            <c:spPr>
              <a:solidFill>
                <a:srgbClr val="8A93AB"/>
              </a:solidFill>
              <a:effectLst/>
            </c:spPr>
          </c:dPt>
          <c:cat>
            <c:multiLvlStrRef>
              <c:f>Sheet1!$A$2:$A$4</c:f>
              <c:multiLvlStrCache>
                <c:ptCount val="3"/>
                <c:lvl>
                  <c:pt idx="0">
                    <c:v>Grade 1</c:v>
                  </c:pt>
                  <c:pt idx="1">
                    <c:v>Grades 2–4</c:v>
                  </c:pt>
                  <c:pt idx="2">
                    <c:v>Grades 5–9</c:v>
                  </c:pt>
                </c:lvl>
              </c:multiLvlStrCache>
            </c:multiLvlStrRef>
          </c:cat>
          <c:val>
            <c:numRef>
              <c:f>Sheet1!$B$2:$B$4</c:f>
              <c:numCache>
                <c:formatCode>General</c:formatCode>
                <c:ptCount val="3"/>
                <c:pt idx="0">
                  <c:v>108224</c:v>
                </c:pt>
                <c:pt idx="1">
                  <c:v>12647</c:v>
                </c:pt>
                <c:pt idx="2">
                  <c:v>8684</c:v>
                </c:pt>
              </c:numCache>
            </c:numRef>
          </c:val>
        </c:ser>
        <c:dLbls>
          <c:numFmt formatCode="#,##0" sourceLinked="0"/>
          <c:txPr>
            <a:bodyPr/>
            <a:lstStyle/>
            <a:p>
              <a:pPr>
                <a:defRPr b="0" i="0" strike="noStrike" sz="1200" u="none">
                  <a:solidFill>
                    <a:srgbClr val="101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01A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Share of bill value</c:v>
                </c:pt>
              </c:strCache>
            </c:strRef>
          </c:tx>
          <c:spPr>
            <a:solidFill>
              <a:schemeClr val="accent1"/>
            </a:solidFill>
            <a:ln w="9525" cap="flat">
              <a:solidFill>
                <a:srgbClr val="F9F9F9"/>
              </a:solidFill>
              <a:prstDash val="solid"/>
              <a:round/>
            </a:ln>
            <a:effectLst/>
          </c:spPr>
          <c:dPt>
            <c:idx val="0"/>
            <c:bubble3D val="0"/>
            <c:spPr>
              <a:solidFill>
                <a:srgbClr val="2E5BE8"/>
              </a:solidFill>
              <a:effectLst/>
            </c:spPr>
          </c:dPt>
          <c:dPt>
            <c:idx val="1"/>
            <c:bubble3D val="0"/>
            <c:spPr>
              <a:solidFill>
                <a:srgbClr val="F2A900"/>
              </a:solidFill>
              <a:effectLst/>
            </c:spPr>
          </c:dPt>
          <c:dPt>
            <c:idx val="2"/>
            <c:bubble3D val="0"/>
            <c:spPr>
              <a:solidFill>
                <a:srgbClr val="0E9BB8"/>
              </a:solidFill>
              <a:effectLst/>
            </c:spPr>
          </c:dPt>
          <c:dPt>
            <c:idx val="3"/>
            <c:bubble3D val="0"/>
            <c:spPr>
              <a:solidFill>
                <a:srgbClr val="0F8A5F"/>
              </a:solidFill>
              <a:effectLst/>
            </c:spPr>
          </c:dPt>
          <c:dPt>
            <c:idx val="4"/>
            <c:bubble3D val="0"/>
            <c:spPr>
              <a:solidFill>
                <a:srgbClr val="8A93AB"/>
              </a:solidFill>
              <a:effectLst/>
            </c:spPr>
          </c:dPt>
          <c:dLbls>
            <c:dLbl>
              <c:idx val="0"/>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A · Boards, feeders, trenches</c:v>
                </c:pt>
                <c:pt idx="1">
                  <c:v>D · Lighting</c:v>
                </c:pt>
                <c:pt idx="2">
                  <c:v>B · Wiring &amp; trunking</c:v>
                </c:pt>
                <c:pt idx="3">
                  <c:v>C · Outlets</c:v>
                </c:pt>
                <c:pt idx="4">
                  <c:v>F · Bulk supply (kiosk)</c:v>
                </c:pt>
              </c:strCache>
            </c:strRef>
          </c:cat>
          <c:val>
            <c:numRef>
              <c:f>Sheet1!$B$2:$B$6</c:f>
              <c:numCache>
                <c:ptCount val="5"/>
                <c:pt idx="0">
                  <c:v>60.5</c:v>
                </c:pt>
                <c:pt idx="1">
                  <c:v>21.3</c:v>
                </c:pt>
                <c:pt idx="2">
                  <c:v>10.1</c:v>
                </c:pt>
                <c:pt idx="3">
                  <c:v>4.1</c:v>
                </c:pt>
                <c:pt idx="4">
                  <c:v>4</c:v>
                </c:pt>
              </c:numCache>
            </c:numRef>
          </c:val>
        </c:ser>
        <c:firstSliceAng val="0"/>
        <c:holeSize val="55"/>
      </c:doughnutChart>
      <c:spPr>
        <a:noFill/>
        <a:ln>
          <a:noFill/>
        </a:ln>
        <a:effectLst/>
      </c:spPr>
    </c:plotArea>
    <c:legend>
      <c:legendPos val="r"/>
      <c:overlay val="0"/>
      <c:txPr>
        <a:bodyPr/>
        <a:lstStyle/>
        <a:p>
          <a:pPr>
            <a:defRPr sz="1200">
              <a:solidFill>
                <a:srgbClr val="101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A33"/>
                </a:solidFill>
                <a:latin typeface="+mn-lt"/>
              </a:defRPr>
            </a:pPr>
            <a:r>
              <a:rPr sz="1400" b="0" i="0" u="none" strike="noStrike">
                <a:solidFill>
                  <a:srgbClr val="101A33"/>
                </a:solidFill>
                <a:latin typeface="+mn-lt"/>
              </a:rPr>
              <a:t>Best Reproduction Score by date (%)</a:t>
            </a:r>
          </a:p>
        </c:rich>
      </c:tx>
      <c:layout/>
      <c:overlay val="0"/>
    </c:title>
    <c:autoTitleDeleted val="0"/>
    <c:plotArea>
      <c:layout/>
      <c:barChart>
        <c:barDir val="col"/>
        <c:grouping val="clustered"/>
        <c:varyColors val="0"/>
        <c:ser>
          <c:idx val="0"/>
          <c:order val="0"/>
          <c:tx>
            <c:strRef>
              <c:f>Sheet1!$B$1</c:f>
              <c:strCache>
                <c:ptCount val="1"/>
                <c:pt idx="0">
                  <c:v>Best Reproduction Score</c:v>
                </c:pt>
              </c:strCache>
            </c:strRef>
          </c:tx>
          <c:spPr>
            <a:solidFill>
              <a:srgbClr val="8A93AB"/>
            </a:solidFill>
            <a:effectLst/>
          </c:spPr>
          <c:invertIfNegative val="0"/>
          <c:dLbls>
            <c:numFmt formatCode="0.0" sourceLinked="0"/>
            <c:txPr>
              <a:bodyPr/>
              <a:lstStyle/>
              <a:p>
                <a:pPr>
                  <a:defRPr b="0" i="0" strike="noStrike" sz="1200" u="none">
                    <a:solidFill>
                      <a:srgbClr val="101A33"/>
                    </a:solidFill>
                    <a:latin typeface="+mn-lt"/>
                  </a:defRPr>
                </a:pPr>
              </a:p>
            </c:txPr>
            <c:showLegendKey val="0"/>
            <c:showVal val="1"/>
            <c:showCatName val="0"/>
            <c:showSerName val="0"/>
            <c:showPercent val="0"/>
            <c:showBubbleSize val="0"/>
            <c:showLeaderLines val="0"/>
          </c:dLbls>
          <c:dPt>
            <c:idx val="0"/>
            <c:invertIfNegative val="0"/>
            <c:bubble3D val="0"/>
            <c:spPr>
              <a:solidFill>
                <a:srgbClr val="8A93AB"/>
              </a:solidFill>
              <a:effectLst/>
            </c:spPr>
          </c:dPt>
          <c:dPt>
            <c:idx val="1"/>
            <c:invertIfNegative val="0"/>
            <c:bubble3D val="0"/>
            <c:spPr>
              <a:solidFill>
                <a:srgbClr val="8A93AB"/>
              </a:solidFill>
              <a:effectLst/>
            </c:spPr>
          </c:dPt>
          <c:dPt>
            <c:idx val="2"/>
            <c:invertIfNegative val="0"/>
            <c:bubble3D val="0"/>
            <c:spPr>
              <a:solidFill>
                <a:srgbClr val="2E5BE8"/>
              </a:solidFill>
              <a:effectLst/>
            </c:spPr>
          </c:dPt>
          <c:dPt>
            <c:idx val="3"/>
            <c:invertIfNegative val="0"/>
            <c:bubble3D val="0"/>
            <c:spPr>
              <a:solidFill>
                <a:srgbClr val="2E5BE8"/>
              </a:solidFill>
              <a:effectLst/>
            </c:spPr>
          </c:dPt>
          <c:dPt>
            <c:idx val="4"/>
            <c:invertIfNegative val="0"/>
            <c:bubble3D val="0"/>
            <c:spPr>
              <a:solidFill>
                <a:srgbClr val="2E5BE8"/>
              </a:solidFill>
              <a:effectLst/>
            </c:spPr>
          </c:dPt>
          <c:dPt>
            <c:idx val="5"/>
            <c:invertIfNegative val="0"/>
            <c:bubble3D val="0"/>
            <c:spPr>
              <a:solidFill>
                <a:srgbClr val="F2A900"/>
              </a:solidFill>
              <a:effectLst/>
            </c:spPr>
          </c:dPt>
          <c:cat>
            <c:multiLvlStrRef>
              <c:f>Sheet1!$A$2:$A$7</c:f>
              <c:multiLvlStrCache>
                <c:ptCount val="6"/>
                <c:lvl>
                  <c:pt idx="0">
                    <c:v>23 Sep</c:v>
                  </c:pt>
                  <c:pt idx="1">
                    <c:v>26 Sep</c:v>
                  </c:pt>
                  <c:pt idx="2">
                    <c:v>27 Sep</c:v>
                  </c:pt>
                  <c:pt idx="3">
                    <c:v>28 Sep</c:v>
                  </c:pt>
                  <c:pt idx="4">
                    <c:v>2 Oct</c:v>
                  </c:pt>
                  <c:pt idx="5">
                    <c:v>2 Oct (forms)</c:v>
                  </c:pt>
                </c:lvl>
              </c:multiLvlStrCache>
            </c:multiLvlStrRef>
          </c:cat>
          <c:val>
            <c:numRef>
              <c:f>Sheet1!$B$2:$B$7</c:f>
              <c:numCache>
                <c:formatCode>General</c:formatCode>
                <c:ptCount val="6"/>
                <c:pt idx="0">
                  <c:v>16.9</c:v>
                </c:pt>
                <c:pt idx="1">
                  <c:v>17.8</c:v>
                </c:pt>
                <c:pt idx="2">
                  <c:v>44.6</c:v>
                </c:pt>
                <c:pt idx="3">
                  <c:v>47.2</c:v>
                </c:pt>
                <c:pt idx="4">
                  <c:v>55.8</c:v>
                </c:pt>
                <c:pt idx="5">
                  <c:v>58.5</c:v>
                </c:pt>
              </c:numCache>
            </c:numRef>
          </c:val>
        </c:ser>
        <c:dLbls>
          <c:numFmt formatCode="0.0" sourceLinked="0"/>
          <c:txPr>
            <a:bodyPr/>
            <a:lstStyle/>
            <a:p>
              <a:pPr>
                <a:defRPr b="0" i="0" strike="noStrike" sz="1200" u="none">
                  <a:solidFill>
                    <a:srgbClr val="101A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1A33"/>
                </a:solidFill>
                <a:latin typeface="+mn-lt"/>
              </a:defRPr>
            </a:pPr>
            <a:endParaRPr lang="en-US"/>
          </a:p>
        </c:txPr>
        <c:crossAx val="2094734552"/>
        <c:crosses val="autoZero"/>
        <c:auto val="1"/>
        <c:lblAlgn val="ctr"/>
        <c:noMultiLvlLbl val="1"/>
      </c:catAx>
      <c:valAx>
        <c:axId val="2094734552"/>
        <c:scaling>
          <c:orientation val="minMax"/>
          <c:max val="7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A33"/>
                </a:solidFill>
                <a:latin typeface="+mn-lt"/>
              </a:defRPr>
            </a:pPr>
            <a:r>
              <a:rPr sz="1400" b="0" i="0" u="none" strike="noStrike">
                <a:solidFill>
                  <a:srgbClr val="101A33"/>
                </a:solidFill>
                <a:latin typeface="+mn-lt"/>
              </a:rPr>
              <a:t>Today's DOE run, by reader (%)</a:t>
            </a:r>
          </a:p>
        </c:rich>
      </c:tx>
      <c:layout/>
      <c:overlay val="0"/>
    </c:title>
    <c:autoTitleDeleted val="0"/>
    <c:plotArea>
      <c:layout/>
      <c:barChart>
        <c:barDir val="col"/>
        <c:grouping val="clustered"/>
        <c:varyColors val="0"/>
        <c:ser>
          <c:idx val="0"/>
          <c:order val="0"/>
          <c:tx>
            <c:strRef>
              <c:f>Sheet1!$B$1</c:f>
              <c:strCache>
                <c:ptCount val="1"/>
                <c:pt idx="0">
                  <c:v>RS</c:v>
                </c:pt>
              </c:strCache>
            </c:strRef>
          </c:tx>
          <c:spPr>
            <a:solidFill>
              <a:srgbClr val="F2A900"/>
            </a:solidFill>
            <a:effectLst/>
          </c:spPr>
          <c:invertIfNegative val="0"/>
          <c:dLbls>
            <c:numFmt formatCode="0" sourceLinked="0"/>
            <c:txPr>
              <a:bodyPr/>
              <a:lstStyle/>
              <a:p>
                <a:pPr>
                  <a:defRPr b="0" i="0" strike="noStrike" sz="900" u="none">
                    <a:solidFill>
                      <a:srgbClr val="10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CAD alone</c:v>
                  </c:pt>
                  <c:pt idx="1">
                    <c:v>PDF alone</c:v>
                  </c:pt>
                  <c:pt idx="2">
                    <c:v>Combined</c:v>
                  </c:pt>
                </c:lvl>
              </c:multiLvlStrCache>
            </c:multiLvlStrRef>
          </c:cat>
          <c:val>
            <c:numRef>
              <c:f>Sheet1!$B$2:$B$4</c:f>
              <c:numCache>
                <c:formatCode>General</c:formatCode>
                <c:ptCount val="3"/>
                <c:pt idx="0">
                  <c:v>48.7</c:v>
                </c:pt>
                <c:pt idx="1">
                  <c:v>50.6</c:v>
                </c:pt>
                <c:pt idx="2">
                  <c:v>58.5</c:v>
                </c:pt>
              </c:numCache>
            </c:numRef>
          </c:val>
        </c:ser>
        <c:ser>
          <c:idx val="1"/>
          <c:order val="1"/>
          <c:tx>
            <c:strRef>
              <c:f>Sheet1!$C$1</c:f>
              <c:strCache>
                <c:ptCount val="1"/>
                <c:pt idx="0">
                  <c:v>Coverage</c:v>
                </c:pt>
              </c:strCache>
            </c:strRef>
          </c:tx>
          <c:spPr>
            <a:solidFill>
              <a:srgbClr val="2E5BE8"/>
            </a:solidFill>
            <a:effectLst/>
          </c:spPr>
          <c:invertIfNegative val="0"/>
          <c:dLbls>
            <c:numFmt formatCode="0" sourceLinked="0"/>
            <c:txPr>
              <a:bodyPr/>
              <a:lstStyle/>
              <a:p>
                <a:pPr>
                  <a:defRPr b="0" i="0" strike="noStrike" sz="900" u="none">
                    <a:solidFill>
                      <a:srgbClr val="10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CAD alone</c:v>
                  </c:pt>
                  <c:pt idx="1">
                    <c:v>PDF alone</c:v>
                  </c:pt>
                  <c:pt idx="2">
                    <c:v>Combined</c:v>
                  </c:pt>
                </c:lvl>
              </c:multiLvlStrCache>
            </c:multiLvlStrRef>
          </c:cat>
          <c:val>
            <c:numRef>
              <c:f>Sheet1!$C$2:$C$4</c:f>
              <c:numCache>
                <c:formatCode>General</c:formatCode>
                <c:ptCount val="3"/>
                <c:pt idx="0">
                  <c:v>66.1</c:v>
                </c:pt>
                <c:pt idx="1">
                  <c:v>82.8</c:v>
                </c:pt>
                <c:pt idx="2">
                  <c:v>83</c:v>
                </c:pt>
              </c:numCache>
            </c:numRef>
          </c:val>
        </c:ser>
        <c:ser>
          <c:idx val="2"/>
          <c:order val="2"/>
          <c:tx>
            <c:strRef>
              <c:f>Sheet1!$D$1</c:f>
              <c:strCache>
                <c:ptCount val="1"/>
                <c:pt idx="0">
                  <c:v>Precision</c:v>
                </c:pt>
              </c:strCache>
            </c:strRef>
          </c:tx>
          <c:spPr>
            <a:solidFill>
              <a:srgbClr val="0E9BB8"/>
            </a:solidFill>
            <a:effectLst/>
          </c:spPr>
          <c:invertIfNegative val="0"/>
          <c:dLbls>
            <c:numFmt formatCode="0" sourceLinked="0"/>
            <c:txPr>
              <a:bodyPr/>
              <a:lstStyle/>
              <a:p>
                <a:pPr>
                  <a:defRPr b="0" i="0" strike="noStrike" sz="900" u="none">
                    <a:solidFill>
                      <a:srgbClr val="10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CAD alone</c:v>
                  </c:pt>
                  <c:pt idx="1">
                    <c:v>PDF alone</c:v>
                  </c:pt>
                  <c:pt idx="2">
                    <c:v>Combined</c:v>
                  </c:pt>
                </c:lvl>
              </c:multiLvlStrCache>
            </c:multiLvlStrRef>
          </c:cat>
          <c:val>
            <c:numRef>
              <c:f>Sheet1!$D$2:$D$4</c:f>
              <c:numCache>
                <c:formatCode>General</c:formatCode>
                <c:ptCount val="3"/>
                <c:pt idx="0">
                  <c:v>89.5</c:v>
                </c:pt>
                <c:pt idx="1">
                  <c:v>89.4</c:v>
                </c:pt>
                <c:pt idx="2">
                  <c:v>89.4</c:v>
                </c:pt>
              </c:numCache>
            </c:numRef>
          </c:val>
        </c:ser>
        <c:ser>
          <c:idx val="3"/>
          <c:order val="3"/>
          <c:tx>
            <c:strRef>
              <c:f>Sheet1!$E$1</c:f>
              <c:strCache>
                <c:ptCount val="1"/>
                <c:pt idx="0">
                  <c:v>Qty accuracy</c:v>
                </c:pt>
              </c:strCache>
            </c:strRef>
          </c:tx>
          <c:spPr>
            <a:solidFill>
              <a:srgbClr val="8A93AB"/>
            </a:solidFill>
            <a:effectLst/>
          </c:spPr>
          <c:invertIfNegative val="0"/>
          <c:dLbls>
            <c:numFmt formatCode="0" sourceLinked="0"/>
            <c:txPr>
              <a:bodyPr/>
              <a:lstStyle/>
              <a:p>
                <a:pPr>
                  <a:defRPr b="0" i="0" strike="noStrike" sz="900" u="none">
                    <a:solidFill>
                      <a:srgbClr val="101A33"/>
                    </a:solidFill>
                    <a:latin typeface="+mn-lt"/>
                  </a:defRPr>
                </a:pPr>
              </a:p>
            </c:txPr>
            <c:showLegendKey val="0"/>
            <c:showVal val="1"/>
            <c:showCatName val="0"/>
            <c:showSerName val="0"/>
            <c:showPercent val="0"/>
            <c:showBubbleSize val="0"/>
            <c:showLeaderLines val="0"/>
          </c:dLbls>
          <c:cat>
            <c:multiLvlStrRef>
              <c:f>Sheet1!$A$2:$A$4</c:f>
              <c:multiLvlStrCache>
                <c:ptCount val="3"/>
                <c:lvl>
                  <c:pt idx="0">
                    <c:v>CAD alone</c:v>
                  </c:pt>
                  <c:pt idx="1">
                    <c:v>PDF alone</c:v>
                  </c:pt>
                  <c:pt idx="2">
                    <c:v>Combined</c:v>
                  </c:pt>
                </c:lvl>
              </c:multiLvlStrCache>
            </c:multiLvlStrRef>
          </c:cat>
          <c:val>
            <c:numRef>
              <c:f>Sheet1!$E$2:$E$4</c:f>
              <c:numCache>
                <c:formatCode>General</c:formatCode>
                <c:ptCount val="3"/>
                <c:pt idx="0">
                  <c:v>73.6</c:v>
                </c:pt>
                <c:pt idx="1">
                  <c:v>61.2</c:v>
                </c:pt>
                <c:pt idx="2">
                  <c:v>70.5</c:v>
                </c:pt>
              </c:numCache>
            </c:numRef>
          </c:val>
        </c:ser>
        <c:dLbls>
          <c:numFmt formatCode="0" sourceLinked="0"/>
          <c:txPr>
            <a:bodyPr/>
            <a:lstStyle/>
            <a:p>
              <a:pPr>
                <a:defRPr b="0" i="0" strike="noStrike" sz="900" u="none">
                  <a:solidFill>
                    <a:srgbClr val="101A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01A3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01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01A33"/>
                </a:solidFill>
                <a:latin typeface="+mn-lt"/>
              </a:defRPr>
            </a:pPr>
            <a:r>
              <a:rPr sz="1400" b="0" i="0" u="none" strike="noStrike">
                <a:solidFill>
                  <a:srgbClr val="101A33"/>
                </a:solidFill>
                <a:latin typeface="+mn-lt"/>
              </a:rPr>
              <a:t>Points lost by bill section and cause</a:t>
            </a:r>
          </a:p>
        </c:rich>
      </c:tx>
      <c:layout/>
      <c:overlay val="0"/>
    </c:title>
    <c:autoTitleDeleted val="0"/>
    <c:plotArea>
      <c:layout/>
      <c:barChart>
        <c:barDir val="bar"/>
        <c:grouping val="stacked"/>
        <c:varyColors val="0"/>
        <c:ser>
          <c:idx val="0"/>
          <c:order val="0"/>
          <c:tx>
            <c:strRef>
              <c:f>Sheet1!$B$1</c:f>
              <c:strCache>
                <c:ptCount val="1"/>
                <c:pt idx="0">
                  <c:v>Never produced</c:v>
                </c:pt>
              </c:strCache>
            </c:strRef>
          </c:tx>
          <c:spPr>
            <a:solidFill>
              <a:srgbClr val="C6423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 · Boards, feeders, trenches</c:v>
                  </c:pt>
                  <c:pt idx="1">
                    <c:v>B · Wiring &amp; trunking</c:v>
                  </c:pt>
                  <c:pt idx="2">
                    <c:v>C · Outlets</c:v>
                  </c:pt>
                  <c:pt idx="3">
                    <c:v>F · Bulk supply</c:v>
                  </c:pt>
                  <c:pt idx="4">
                    <c:v>D · Lighting</c:v>
                  </c:pt>
                </c:lvl>
              </c:multiLvlStrCache>
            </c:multiLvlStrRef>
          </c:cat>
          <c:val>
            <c:numRef>
              <c:f>Sheet1!$B$2:$B$6</c:f>
              <c:numCache>
                <c:formatCode>General</c:formatCode>
                <c:ptCount val="5"/>
                <c:pt idx="0">
                  <c:v>5.7</c:v>
                </c:pt>
                <c:pt idx="1">
                  <c:v>5.7</c:v>
                </c:pt>
                <c:pt idx="2">
                  <c:v>3.6</c:v>
                </c:pt>
                <c:pt idx="3">
                  <c:v>2</c:v>
                </c:pt>
                <c:pt idx="4">
                  <c:v>0</c:v>
                </c:pt>
              </c:numCache>
            </c:numRef>
          </c:val>
        </c:ser>
        <c:ser>
          <c:idx val="1"/>
          <c:order val="1"/>
          <c:tx>
            <c:strRef>
              <c:f>Sheet1!$C$1</c:f>
              <c:strCache>
                <c:ptCount val="1"/>
                <c:pt idx="0">
                  <c:v>Quantity too low</c:v>
                </c:pt>
              </c:strCache>
            </c:strRef>
          </c:tx>
          <c:spPr>
            <a:solidFill>
              <a:srgbClr val="F2A90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 · Boards, feeders, trenches</c:v>
                  </c:pt>
                  <c:pt idx="1">
                    <c:v>B · Wiring &amp; trunking</c:v>
                  </c:pt>
                  <c:pt idx="2">
                    <c:v>C · Outlets</c:v>
                  </c:pt>
                  <c:pt idx="3">
                    <c:v>F · Bulk supply</c:v>
                  </c:pt>
                  <c:pt idx="4">
                    <c:v>D · Lighting</c:v>
                  </c:pt>
                </c:lvl>
              </c:multiLvlStrCache>
            </c:multiLvlStrRef>
          </c:cat>
          <c:val>
            <c:numRef>
              <c:f>Sheet1!$C$2:$C$6</c:f>
              <c:numCache>
                <c:formatCode>General</c:formatCode>
                <c:ptCount val="5"/>
                <c:pt idx="0">
                  <c:v>10.2</c:v>
                </c:pt>
                <c:pt idx="1">
                  <c:v>1.9</c:v>
                </c:pt>
                <c:pt idx="2">
                  <c:v>0</c:v>
                </c:pt>
                <c:pt idx="3">
                  <c:v>0</c:v>
                </c:pt>
                <c:pt idx="4">
                  <c:v>0</c:v>
                </c:pt>
              </c:numCache>
            </c:numRef>
          </c:val>
        </c:ser>
        <c:ser>
          <c:idx val="2"/>
          <c:order val="2"/>
          <c:tx>
            <c:strRef>
              <c:f>Sheet1!$D$1</c:f>
              <c:strCache>
                <c:ptCount val="1"/>
                <c:pt idx="0">
                  <c:v>Quantity too high</c:v>
                </c:pt>
              </c:strCache>
            </c:strRef>
          </c:tx>
          <c:spPr>
            <a:solidFill>
              <a:srgbClr val="2E5BE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A · Boards, feeders, trenches</c:v>
                  </c:pt>
                  <c:pt idx="1">
                    <c:v>B · Wiring &amp; trunking</c:v>
                  </c:pt>
                  <c:pt idx="2">
                    <c:v>C · Outlets</c:v>
                  </c:pt>
                  <c:pt idx="3">
                    <c:v>F · Bulk supply</c:v>
                  </c:pt>
                  <c:pt idx="4">
                    <c:v>D · Lighting</c:v>
                  </c:pt>
                </c:lvl>
              </c:multiLvlStrCache>
            </c:multiLvlStrRef>
          </c:cat>
          <c:val>
            <c:numRef>
              <c:f>Sheet1!$D$2:$D$6</c:f>
              <c:numCache>
                <c:formatCode>General</c:formatCode>
                <c:ptCount val="5"/>
                <c:pt idx="0">
                  <c:v>10.6</c:v>
                </c:pt>
                <c:pt idx="1">
                  <c:v>0</c:v>
                </c:pt>
                <c:pt idx="2">
                  <c:v>0.4</c:v>
                </c:pt>
                <c:pt idx="3">
                  <c:v>0</c:v>
                </c:pt>
                <c:pt idx="4">
                  <c:v>1.4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01A33"/>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6350" cap="flat">
              <a:solidFill>
                <a:srgbClr val="E3E7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8A93AB"/>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101A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AfriPlan turns a set of electrical drawings — PDF, DWG/DXF or both — into a priced, SANS-style Bill of Quantities. This deck covers the problem it solves, how it works, how to use the web app and the Claude Code (DOE) workflow, and how accurate it is today, measured against a real human-priced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tenders close in 14 to 30 days (municipal SCM regulations; national/provincial minimum 21 days), and clarifications close 5 working days before. Stats SA puts the construction industry's 2024 profit margin at 4.8%. The only independent bid-cost data is Irish (CIF/IDIRO 2022): contractors win about 1 in 5 public tenders and each bid costs about 1% of project value. So most estimating effort is spent on bids that are lost, and a single missed feeder or board can wipe out a job's profit.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CIDB register, end of 2024: 108,224 active Grade 1 contractors and 21,331 in Grades 2–9, of which 12,647 are Grades 2–4 — about 93% of roughly 130,000 contractors are Grade 1–4. Small and micro firms earned 32.2% of construction income in 2024 (25.0% in 2014) and gave 55.3% of construction jobs (Stats SA). Demand for electrical work grows: R1.07 trillion public infrastructure over three years (Budget 2026) and 8.3 GW of rooftop solar by June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tool families exist. Generic take-off tools measure but a person clicks every symbol and prices in Excel. US electrical estimators run on US labour units with no rand pricing or SANS logic. AI take-off tools count symbols on PDFs but their own vendors admit weakness on cable routing and single-line diagrams. SA tender apps price an existing BoQ. Rand prices are conversions at R17.9/USD. No tool found reads a DWG set and a PDF set together, prices at SA rates and audits a supplied BoQ — an absence-of-evidence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of the real bill's value by bill section on the 7-building reference project. Section A — distribution boards, main feeder cables, trenching and earthing — is about 60% of the value. Lighting is about 21%. The fittings, outlets and switches that symbol counters handle well are a small part: a perfect symbol counter alone would score below 10%. That is why AfriPlan reads single-line diagrams and measures feeder routes on the site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readers state findings with their evidence — measured beats counted beats written beats seen beats assumed. The PDF reader uses an AI as its eyes (Claude API, Gemini, or Claude Code on your subscription); the CAD reader is pure geometry: it counts symbols, reads single-line diagram text and measures feeder routes on the electrical site plan. Combining pairs PDF pages with their CAD sheet by the words both print; the stronger evidence wins and nothing is counted twice. One pricer turns findings into lines with the SA rate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are enforced in code and tests, not just in documentation. Every estimated quantity carries a tag and an assumption and appears in the gap report, so an estimator always knows what to check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app is for contractors and demos: upload in the browser, see the take-off, price, export. The DOE workflow runs inside VS Code with Claude Code: point it at a project folder and Claude reads the PDF pages on your subscription, so there is no API bill — and it gives the best scores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 in (demo login, pre-filled). Upload the drawings and choose the engine. The Take-off page shows progress and then the drawing set, legend, coverage and gaps. The BoQ page lists every line with its evidence. Pricing requests supplier quotes. Export produces the tender Excel and PDF and can email them. Audit a BoQ checks any bill, including one you did not make with AfriPlan.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DXF/DWG: select the whole set at once — single-line diagrams, lighting and plug layouts and the electrical site plan — so feeders are measured on the site plan; an older revision of a sheet is skipped automatically. Optional AI symbol names cost about R1–2 per set. PDF: an AI reads every page; Claude API costs about R2.50 a page and about 5 minutes for 18 pages; Gemini is free but limited per minute and per day. Both: runs the two engines and shows where they agree and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a PDF run works, the Take-off page shows the step (sort pages, read drawings, measure and price), pages done of total, the time so far and the AI provider's wait notes — so a slow free-tier run no longer looks dead. If it fails, the page says why, for example that Gemini's free daily limit is used up and what to do. When it passes: the drawing set panel, the legend, coverage and the gap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BoQ lists every line with its quantity, rate and evidence tag. The gap report lists what to check, most serious first. Live Pricing requests quotes from suppliers and applies the one you pick. Export produces the tender Excel and PDF, with an email option. Audit a BoQ checks any bill — arithmetic, unpriced or untotalled lines, duplicates, roll-ups and contingencies, orphan sheets, missing companion items — and says which drawings a complete BoQ still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AfriPlan folder in VS Code with Claude Code and say: estimate the project in &lt;folder&gt;. Step 1 and step 3 are deterministic Python; only step 2 uses the AI, and it runs on your Claude subscription. Python renders every PDF page (whole page, zoomed quarters, the legend table, the text layer) and writes the form instructions; Claude Code reads each page and fills one strict form per page; Python checks every form — a missing or invalid form stops the run — reads the CAD set, combines both readers and prices once. The forms are saved, so every result can be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Git, Python 3.12 or newer and Node.js 20 or newer. LibreDWG is optional and only needed for .dwg uploads (macOS: brew install libredwg). Claude Code is needed only for the DOE workflow. Then clone the repository and run setup once; start runs the backend and the app together. API keys are optional and go in api/.env, which is never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bill is compared line by line with the quantity surveyor's priced Excel bill, matched by building and item type, so different wordings of the same item match. Every item is weighted by its rand value in the real bill. The headline is the Reproduction Score: the share of the real bill's value we reproduced with the right quantity. Coverage says whether we produced the item at all, precision whether what we priced belongs, quantity accuracy how close the quantities are. Rates are reported separately because they come from our pricing policy, not from reading drawings. Total accuracy can look good by luck when misses and extras cancel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best Reproduction Score on each date, all on the same reference project with the same frozen scorer (23 Sep PDF 16.9%; 26 Sep 17.8%; 27 Sep DXF as one project with site-plan routes 44.6%; 28 Sep combined DWG + PDF 47.2%; 2 Oct DOE combined 55.8%, then 58.5% with new form boxes). Right: today's DOE run by reader — CAD alone 48.7%, PDF read by Claude Code 50.6%, combined 58.5%. Coverage of the combined bill is 83%, precision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missing points add up exactly to 100 minus the Reproduction Score. Section A — boards, feeders and trenches — loses 26.5 of the 41.5 points: 5.7 never produced, 10.2 with quantities too low, 10.6 too high. Wiring and trunking (B) loses 7.6, mostly never produced. Lighting loses only 1.4. By cause: 17.0 points are items never produced, 12.1 quantities too low and 12.4 too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Ranked by points to win. 1: feeder network, about 19 points — our total cable length is close to the real one but the cable sizes per feeder differ from the bill; the earth cable, trench and sleeves follow the feeders; the trench is measured per feeder instead of once per shared route; sleeves and manholes are never produced. 2: derived installation material, about 9 points — trunking, conduit and wire never produced; the completer already adds 2 to 3 points but is not yet used on the delivered bill. 3: boards counted twice, 6.2 points. 4: connection fee, 1.5 points — never on a drawing. 5: fittings counted on two sheets, about 1.4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AfriPlan already reproduces 58.5% of a real human-priced bill (83% coverage, 89% precision) from the drawings alone, and every doubt is listed. It is a fast, honest first draft that an estimator reviews, not a replacement for one. The next gains are known and ranked: feeder sizes and routes, installation material, board de-duplication, the connection-fee rule, and a second reference project to prove the numbers hold beyond one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29000"/>
            <a:ext cx="6766560" cy="1188720"/>
          </a:xfrm>
          <a:prstGeom prst="rect">
            <a:avLst/>
          </a:prstGeom>
          <a:noFill/>
          <a:ln/>
        </p:spPr>
        <p:txBody>
          <a:bodyPr wrap="square" rtlCol="0"/>
          <a:lstStyle>
            <a:lvl1pPr indent="0" marL="0">
              <a:buNone/>
              <a:defRPr lang="en-US" sz="2000" dirty="0">
                <a:solidFill>
                  <a:schemeClr val="accent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AfriPlan Electrical  ·  user guide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3.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3.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1463040"/>
          </a:xfrm>
          <a:prstGeom prst="rect">
            <a:avLst/>
          </a:prstGeom>
          <a:noFill/>
          <a:ln/>
        </p:spPr>
        <p:txBody>
          <a:bodyPr wrap="square" lIns="0" tIns="0" rIns="0" bIns="0" rtlCol="0" anchor="b"/>
          <a:lstStyle/>
          <a:p>
            <a:pPr algn="l" indent="0" marL="0">
              <a:buNone/>
            </a:pPr>
            <a:r>
              <a:rPr lang="en-US" sz="4400" b="1" dirty="0">
                <a:solidFill>
                  <a:schemeClr val="bg1"/>
                </a:solidFill>
              </a:rPr>
              <a:t>AfriPlan Electrical</a:t>
            </a:r>
            <a:endParaRPr lang="en-US" sz="4400" dirty="0"/>
          </a:p>
        </p:txBody>
      </p:sp>
      <p:sp>
        <p:nvSpPr>
          <p:cNvPr id="3" name="Text 0"/>
          <p:cNvSpPr/>
          <p:nvPr>
            <p:ph idx="101" type="body" hasCustomPrompt="1"/>
          </p:nvPr>
        </p:nvSpPr>
        <p:spPr>
          <a:xfrm>
            <a:off x="640080" y="3429000"/>
            <a:ext cx="6766560" cy="1188720"/>
          </a:xfrm>
          <a:prstGeom prst="rect">
            <a:avLst/>
          </a:prstGeom>
          <a:noFill/>
          <a:ln/>
        </p:spPr>
        <p:txBody>
          <a:bodyPr wrap="square" lIns="0" tIns="0" rIns="0" bIns="0" rtlCol="0" anchor="t"/>
          <a:lstStyle/>
          <a:p>
            <a:pPr indent="0" marL="0">
              <a:buNone/>
            </a:pPr>
            <a:r>
              <a:rPr lang="en-US" sz="2000" dirty="0">
                <a:solidFill>
                  <a:schemeClr val="accent2"/>
                </a:solidFill>
              </a:rPr>
              <a:t>Drawings in, priced Bill of Quantities out — a user guide</a:t>
            </a:r>
            <a:endParaRPr lang="en-US" sz="2000" dirty="0"/>
          </a:p>
        </p:txBody>
      </p:sp>
      <p:sp>
        <p:nvSpPr>
          <p:cNvPr id="4" name="audience"/>
          <p:cNvSpPr txBox="1"/>
          <p:nvPr/>
        </p:nvSpPr>
        <p:spPr>
          <a:xfrm>
            <a:off x="640080" y="4892040"/>
            <a:ext cx="6766560" cy="365760"/>
          </a:xfrm>
          <a:prstGeom prst="rect">
            <a:avLst/>
          </a:prstGeom>
          <a:noFill/>
          <a:ln/>
        </p:spPr>
        <p:txBody>
          <a:bodyPr wrap="square" lIns="0" tIns="0" rIns="0" bIns="0" rtlCol="0" anchor="t"/>
          <a:lstStyle/>
          <a:p>
            <a:pPr indent="0" marL="0">
              <a:buNone/>
            </a:pPr>
            <a:r>
              <a:rPr lang="en-US" sz="1400" dirty="0">
                <a:solidFill>
                  <a:schemeClr val="accent6"/>
                </a:solidFill>
              </a:rPr>
              <a:t>For South African electrical contractors, estimators and engineers  ·  October 2026</a:t>
            </a:r>
            <a:endParaRPr lang="en-US" sz="1400" dirty="0"/>
          </a:p>
        </p:txBody>
      </p:sp>
      <p:sp>
        <p:nvSpPr>
          <p:cNvPr id="5" name="title step 1 circle"/>
          <p:cNvSpPr/>
          <p:nvPr/>
        </p:nvSpPr>
        <p:spPr>
          <a:xfrm>
            <a:off x="8503920" y="1234440"/>
            <a:ext cx="822960" cy="822960"/>
          </a:xfrm>
          <a:prstGeom prst="ellipse">
            <a:avLst/>
          </a:prstGeom>
          <a:solidFill>
            <a:srgbClr val="1E2B4F"/>
          </a:solidFill>
          <a:ln w="12700">
            <a:solidFill>
              <a:srgbClr val="1E2B4F"/>
            </a:solidFill>
            <a:prstDash val="solid"/>
          </a:ln>
        </p:spPr>
      </p:sp>
      <p:pic>
        <p:nvPicPr>
          <p:cNvPr id="6" name="title step 1 icon" descr="preencoded.png">    </p:cNvPr>
          <p:cNvPicPr>
            <a:picLocks noChangeAspect="1"/>
          </p:cNvPicPr>
          <p:nvPr/>
        </p:nvPicPr>
        <p:blipFill>
          <a:blip r:embed="rId1"/>
          <a:stretch>
            <a:fillRect/>
          </a:stretch>
        </p:blipFill>
        <p:spPr>
          <a:xfrm>
            <a:off x="8717890" y="1448410"/>
            <a:ext cx="395021" cy="395021"/>
          </a:xfrm>
          <a:prstGeom prst="rect">
            <a:avLst/>
          </a:prstGeom>
        </p:spPr>
      </p:pic>
      <p:sp>
        <p:nvSpPr>
          <p:cNvPr id="7" name="title step label 1"/>
          <p:cNvSpPr txBox="1"/>
          <p:nvPr/>
        </p:nvSpPr>
        <p:spPr>
          <a:xfrm>
            <a:off x="9509760" y="1481328"/>
            <a:ext cx="2377440" cy="365760"/>
          </a:xfrm>
          <a:prstGeom prst="rect">
            <a:avLst/>
          </a:prstGeom>
          <a:noFill/>
          <a:ln/>
        </p:spPr>
        <p:txBody>
          <a:bodyPr wrap="square" lIns="0" tIns="0" rIns="0" bIns="0" rtlCol="0" anchor="t"/>
          <a:lstStyle/>
          <a:p>
            <a:pPr indent="0" marL="0">
              <a:buNone/>
            </a:pPr>
            <a:r>
              <a:rPr lang="en-US" sz="1600" dirty="0">
                <a:solidFill>
                  <a:schemeClr val="bg1"/>
                </a:solidFill>
              </a:rPr>
              <a:t>PDF &amp; DWG drawings</a:t>
            </a:r>
            <a:endParaRPr lang="en-US" sz="1600" dirty="0"/>
          </a:p>
        </p:txBody>
      </p:sp>
      <p:sp>
        <p:nvSpPr>
          <p:cNvPr id="8" name="Shape 5"/>
          <p:cNvSpPr/>
          <p:nvPr/>
        </p:nvSpPr>
        <p:spPr>
          <a:xfrm>
            <a:off x="8915400" y="2103120"/>
            <a:ext cx="0" cy="274320"/>
          </a:xfrm>
          <a:prstGeom prst="line">
            <a:avLst/>
          </a:prstGeom>
          <a:noFill/>
          <a:ln w="25400">
            <a:solidFill>
              <a:srgbClr val="F2A900"/>
            </a:solidFill>
            <a:prstDash val="solid"/>
            <a:tailEnd type="triangle"/>
          </a:ln>
        </p:spPr>
      </p:sp>
      <p:sp>
        <p:nvSpPr>
          <p:cNvPr id="9" name="title step 2 circle"/>
          <p:cNvSpPr/>
          <p:nvPr/>
        </p:nvSpPr>
        <p:spPr>
          <a:xfrm>
            <a:off x="8503920" y="2423160"/>
            <a:ext cx="822960" cy="822960"/>
          </a:xfrm>
          <a:prstGeom prst="ellipse">
            <a:avLst/>
          </a:prstGeom>
          <a:solidFill>
            <a:srgbClr val="1E2B4F"/>
          </a:solidFill>
          <a:ln w="12700">
            <a:solidFill>
              <a:srgbClr val="1E2B4F"/>
            </a:solidFill>
            <a:prstDash val="solid"/>
          </a:ln>
        </p:spPr>
      </p:sp>
      <p:pic>
        <p:nvPicPr>
          <p:cNvPr id="10" name="title step 2 icon" descr="preencoded.png">    </p:cNvPr>
          <p:cNvPicPr>
            <a:picLocks noChangeAspect="1"/>
          </p:cNvPicPr>
          <p:nvPr/>
        </p:nvPicPr>
        <p:blipFill>
          <a:blip r:embed="rId2"/>
          <a:stretch>
            <a:fillRect/>
          </a:stretch>
        </p:blipFill>
        <p:spPr>
          <a:xfrm>
            <a:off x="8717890" y="2637130"/>
            <a:ext cx="395021" cy="395021"/>
          </a:xfrm>
          <a:prstGeom prst="rect">
            <a:avLst/>
          </a:prstGeom>
        </p:spPr>
      </p:pic>
      <p:sp>
        <p:nvSpPr>
          <p:cNvPr id="11" name="title step label 2"/>
          <p:cNvSpPr txBox="1"/>
          <p:nvPr/>
        </p:nvSpPr>
        <p:spPr>
          <a:xfrm>
            <a:off x="9509760" y="2670048"/>
            <a:ext cx="2377440" cy="365760"/>
          </a:xfrm>
          <a:prstGeom prst="rect">
            <a:avLst/>
          </a:prstGeom>
          <a:noFill/>
          <a:ln/>
        </p:spPr>
        <p:txBody>
          <a:bodyPr wrap="square" lIns="0" tIns="0" rIns="0" bIns="0" rtlCol="0" anchor="t"/>
          <a:lstStyle/>
          <a:p>
            <a:pPr indent="0" marL="0">
              <a:buNone/>
            </a:pPr>
            <a:r>
              <a:rPr lang="en-US" sz="1600" dirty="0">
                <a:solidFill>
                  <a:schemeClr val="bg1"/>
                </a:solidFill>
              </a:rPr>
              <a:t>Read &amp; measure</a:t>
            </a:r>
            <a:endParaRPr lang="en-US" sz="1600" dirty="0"/>
          </a:p>
        </p:txBody>
      </p:sp>
      <p:sp>
        <p:nvSpPr>
          <p:cNvPr id="12" name="Shape 8"/>
          <p:cNvSpPr/>
          <p:nvPr/>
        </p:nvSpPr>
        <p:spPr>
          <a:xfrm>
            <a:off x="8915400" y="3291840"/>
            <a:ext cx="0" cy="274320"/>
          </a:xfrm>
          <a:prstGeom prst="line">
            <a:avLst/>
          </a:prstGeom>
          <a:noFill/>
          <a:ln w="25400">
            <a:solidFill>
              <a:srgbClr val="F2A900"/>
            </a:solidFill>
            <a:prstDash val="solid"/>
            <a:tailEnd type="triangle"/>
          </a:ln>
        </p:spPr>
      </p:sp>
      <p:sp>
        <p:nvSpPr>
          <p:cNvPr id="13" name="title step 3 circle"/>
          <p:cNvSpPr/>
          <p:nvPr/>
        </p:nvSpPr>
        <p:spPr>
          <a:xfrm>
            <a:off x="8503920" y="3611880"/>
            <a:ext cx="822960" cy="822960"/>
          </a:xfrm>
          <a:prstGeom prst="ellipse">
            <a:avLst/>
          </a:prstGeom>
          <a:solidFill>
            <a:srgbClr val="1E2B4F"/>
          </a:solidFill>
          <a:ln w="12700">
            <a:solidFill>
              <a:srgbClr val="1E2B4F"/>
            </a:solidFill>
            <a:prstDash val="solid"/>
          </a:ln>
        </p:spPr>
      </p:sp>
      <p:pic>
        <p:nvPicPr>
          <p:cNvPr id="14" name="title step 3 icon" descr="preencoded.png">    </p:cNvPr>
          <p:cNvPicPr>
            <a:picLocks noChangeAspect="1"/>
          </p:cNvPicPr>
          <p:nvPr/>
        </p:nvPicPr>
        <p:blipFill>
          <a:blip r:embed="rId3"/>
          <a:stretch>
            <a:fillRect/>
          </a:stretch>
        </p:blipFill>
        <p:spPr>
          <a:xfrm>
            <a:off x="8717890" y="3825850"/>
            <a:ext cx="395021" cy="395021"/>
          </a:xfrm>
          <a:prstGeom prst="rect">
            <a:avLst/>
          </a:prstGeom>
        </p:spPr>
      </p:pic>
      <p:sp>
        <p:nvSpPr>
          <p:cNvPr id="15" name="title step label 3"/>
          <p:cNvSpPr txBox="1"/>
          <p:nvPr/>
        </p:nvSpPr>
        <p:spPr>
          <a:xfrm>
            <a:off x="9509760" y="3858768"/>
            <a:ext cx="2377440" cy="365760"/>
          </a:xfrm>
          <a:prstGeom prst="rect">
            <a:avLst/>
          </a:prstGeom>
          <a:noFill/>
          <a:ln/>
        </p:spPr>
        <p:txBody>
          <a:bodyPr wrap="square" lIns="0" tIns="0" rIns="0" bIns="0" rtlCol="0" anchor="t"/>
          <a:lstStyle/>
          <a:p>
            <a:pPr indent="0" marL="0">
              <a:buNone/>
            </a:pPr>
            <a:r>
              <a:rPr lang="en-US" sz="1600" dirty="0">
                <a:solidFill>
                  <a:schemeClr val="bg1"/>
                </a:solidFill>
              </a:rPr>
              <a:t>Price at SA rates</a:t>
            </a:r>
            <a:endParaRPr lang="en-US" sz="1600" dirty="0"/>
          </a:p>
        </p:txBody>
      </p:sp>
      <p:sp>
        <p:nvSpPr>
          <p:cNvPr id="16" name="Shape 11"/>
          <p:cNvSpPr/>
          <p:nvPr/>
        </p:nvSpPr>
        <p:spPr>
          <a:xfrm>
            <a:off x="8915400" y="4480560"/>
            <a:ext cx="0" cy="274320"/>
          </a:xfrm>
          <a:prstGeom prst="line">
            <a:avLst/>
          </a:prstGeom>
          <a:noFill/>
          <a:ln w="25400">
            <a:solidFill>
              <a:srgbClr val="F2A900"/>
            </a:solidFill>
            <a:prstDash val="solid"/>
            <a:tailEnd type="triangle"/>
          </a:ln>
        </p:spPr>
      </p:sp>
      <p:sp>
        <p:nvSpPr>
          <p:cNvPr id="17" name="title step 4 circle"/>
          <p:cNvSpPr/>
          <p:nvPr/>
        </p:nvSpPr>
        <p:spPr>
          <a:xfrm>
            <a:off x="8503920" y="4800600"/>
            <a:ext cx="822960" cy="822960"/>
          </a:xfrm>
          <a:prstGeom prst="ellipse">
            <a:avLst/>
          </a:prstGeom>
          <a:solidFill>
            <a:srgbClr val="F2A900"/>
          </a:solidFill>
          <a:ln w="12700">
            <a:solidFill>
              <a:srgbClr val="F2A900"/>
            </a:solidFill>
            <a:prstDash val="solid"/>
          </a:ln>
        </p:spPr>
      </p:sp>
      <p:pic>
        <p:nvPicPr>
          <p:cNvPr id="18" name="title step 4 icon" descr="preencoded.png">    </p:cNvPr>
          <p:cNvPicPr>
            <a:picLocks noChangeAspect="1"/>
          </p:cNvPicPr>
          <p:nvPr/>
        </p:nvPicPr>
        <p:blipFill>
          <a:blip r:embed="rId4"/>
          <a:stretch>
            <a:fillRect/>
          </a:stretch>
        </p:blipFill>
        <p:spPr>
          <a:xfrm>
            <a:off x="8717890" y="5014570"/>
            <a:ext cx="395021" cy="395021"/>
          </a:xfrm>
          <a:prstGeom prst="rect">
            <a:avLst/>
          </a:prstGeom>
        </p:spPr>
      </p:pic>
      <p:sp>
        <p:nvSpPr>
          <p:cNvPr id="19" name="title step label 4"/>
          <p:cNvSpPr txBox="1"/>
          <p:nvPr/>
        </p:nvSpPr>
        <p:spPr>
          <a:xfrm>
            <a:off x="9509760" y="5047488"/>
            <a:ext cx="2377440" cy="365760"/>
          </a:xfrm>
          <a:prstGeom prst="rect">
            <a:avLst/>
          </a:prstGeom>
          <a:noFill/>
          <a:ln/>
        </p:spPr>
        <p:txBody>
          <a:bodyPr wrap="square" lIns="0" tIns="0" rIns="0" bIns="0" rtlCol="0" anchor="t"/>
          <a:lstStyle/>
          <a:p>
            <a:pPr indent="0" marL="0">
              <a:buNone/>
            </a:pPr>
            <a:r>
              <a:rPr lang="en-US" sz="1600" dirty="0">
                <a:solidFill>
                  <a:schemeClr val="bg1"/>
                </a:solidFill>
              </a:rPr>
              <a:t>Tender BoQ</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Every tender is priced against the clock, on a thin margin</a:t>
            </a:r>
            <a:endParaRPr lang="en-US" sz="3000" dirty="0"/>
          </a:p>
        </p:txBody>
      </p:sp>
      <p:sp>
        <p:nvSpPr>
          <p:cNvPr id="4" name="stat card 1"/>
          <p:cNvSpPr/>
          <p:nvPr/>
        </p:nvSpPr>
        <p:spPr>
          <a:xfrm>
            <a:off x="548640" y="1508760"/>
            <a:ext cx="2587752" cy="4206240"/>
          </a:xfrm>
          <a:prstGeom prst="roundRect">
            <a:avLst>
              <a:gd name="adj" fmla="val 4240"/>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stat 1 circle"/>
          <p:cNvSpPr/>
          <p:nvPr/>
        </p:nvSpPr>
        <p:spPr>
          <a:xfrm>
            <a:off x="822960" y="1783080"/>
            <a:ext cx="685800" cy="685800"/>
          </a:xfrm>
          <a:prstGeom prst="ellipse">
            <a:avLst/>
          </a:prstGeom>
          <a:solidFill>
            <a:srgbClr val="F2F4F9"/>
          </a:solidFill>
          <a:ln w="12700">
            <a:solidFill>
              <a:srgbClr val="F2F4F9"/>
            </a:solidFill>
            <a:prstDash val="solid"/>
          </a:ln>
        </p:spPr>
      </p:sp>
      <p:pic>
        <p:nvPicPr>
          <p:cNvPr id="6" name="stat 1 icon" descr="preencoded.png">    </p:cNvPr>
          <p:cNvPicPr>
            <a:picLocks noChangeAspect="1"/>
          </p:cNvPicPr>
          <p:nvPr/>
        </p:nvPicPr>
        <p:blipFill>
          <a:blip r:embed="rId1"/>
          <a:stretch>
            <a:fillRect/>
          </a:stretch>
        </p:blipFill>
        <p:spPr>
          <a:xfrm>
            <a:off x="1001268" y="1961388"/>
            <a:ext cx="329184" cy="329184"/>
          </a:xfrm>
          <a:prstGeom prst="rect">
            <a:avLst/>
          </a:prstGeom>
        </p:spPr>
      </p:pic>
      <p:sp>
        <p:nvSpPr>
          <p:cNvPr id="7" name="stat value 1"/>
          <p:cNvSpPr txBox="1"/>
          <p:nvPr/>
        </p:nvSpPr>
        <p:spPr>
          <a:xfrm>
            <a:off x="822960" y="2697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14–30</a:t>
            </a:r>
            <a:endParaRPr lang="en-US" sz="4800" dirty="0"/>
          </a:p>
        </p:txBody>
      </p:sp>
      <p:sp>
        <p:nvSpPr>
          <p:cNvPr id="8" name="stat unit 1"/>
          <p:cNvSpPr txBox="1"/>
          <p:nvPr/>
        </p:nvSpPr>
        <p:spPr>
          <a:xfrm>
            <a:off x="822960" y="3566160"/>
            <a:ext cx="2103120" cy="320040"/>
          </a:xfrm>
          <a:prstGeom prst="rect">
            <a:avLst/>
          </a:prstGeom>
          <a:noFill/>
          <a:ln/>
        </p:spPr>
        <p:txBody>
          <a:bodyPr wrap="square" lIns="0" tIns="0" rIns="0" bIns="0" rtlCol="0" anchor="t"/>
          <a:lstStyle/>
          <a:p>
            <a:pPr indent="0" marL="0">
              <a:buNone/>
            </a:pPr>
            <a:r>
              <a:rPr lang="en-US" sz="1600" b="1" dirty="0">
                <a:solidFill>
                  <a:schemeClr val="tx1"/>
                </a:solidFill>
              </a:rPr>
              <a:t>days</a:t>
            </a:r>
            <a:endParaRPr lang="en-US" sz="1600" dirty="0"/>
          </a:p>
        </p:txBody>
      </p:sp>
      <p:sp>
        <p:nvSpPr>
          <p:cNvPr id="9" name="stat text 1"/>
          <p:cNvSpPr txBox="1"/>
          <p:nvPr/>
        </p:nvSpPr>
        <p:spPr>
          <a:xfrm>
            <a:off x="822960" y="3977640"/>
            <a:ext cx="2103120" cy="1005840"/>
          </a:xfrm>
          <a:prstGeom prst="rect">
            <a:avLst/>
          </a:prstGeom>
          <a:noFill/>
          <a:ln/>
        </p:spPr>
        <p:txBody>
          <a:bodyPr wrap="square" lIns="0" tIns="0" rIns="0" bIns="0" rtlCol="0" anchor="t"/>
          <a:lstStyle/>
          <a:p>
            <a:pPr indent="0" marL="0">
              <a:buNone/>
            </a:pPr>
            <a:r>
              <a:rPr lang="en-US" sz="1400" dirty="0">
                <a:solidFill>
                  <a:schemeClr val="tx2"/>
                </a:solidFill>
              </a:rPr>
              <a:t>to price a public tender — clarifications close 5 working days earlier</a:t>
            </a:r>
            <a:endParaRPr lang="en-US" sz="1400" dirty="0"/>
          </a:p>
        </p:txBody>
      </p:sp>
      <p:sp>
        <p:nvSpPr>
          <p:cNvPr id="10" name="stat source 1"/>
          <p:cNvSpPr txBox="1"/>
          <p:nvPr/>
        </p:nvSpPr>
        <p:spPr>
          <a:xfrm>
            <a:off x="822960" y="5166360"/>
            <a:ext cx="2103120" cy="411480"/>
          </a:xfrm>
          <a:prstGeom prst="rect">
            <a:avLst/>
          </a:prstGeom>
          <a:noFill/>
          <a:ln/>
        </p:spPr>
        <p:txBody>
          <a:bodyPr wrap="square" lIns="0" tIns="0" rIns="0" bIns="0" rtlCol="0" anchor="t"/>
          <a:lstStyle/>
          <a:p>
            <a:pPr indent="0" marL="0">
              <a:buNone/>
            </a:pPr>
            <a:r>
              <a:rPr lang="en-US" sz="1000" i="1" dirty="0">
                <a:solidFill>
                  <a:schemeClr val="accent6"/>
                </a:solidFill>
              </a:rPr>
              <a:t>Official · MFMA SCM Regs, CIDB</a:t>
            </a:r>
            <a:endParaRPr lang="en-US" sz="1000" dirty="0"/>
          </a:p>
        </p:txBody>
      </p:sp>
      <p:sp>
        <p:nvSpPr>
          <p:cNvPr id="11" name="stat card 2"/>
          <p:cNvSpPr/>
          <p:nvPr/>
        </p:nvSpPr>
        <p:spPr>
          <a:xfrm>
            <a:off x="3364992" y="1508760"/>
            <a:ext cx="2587752" cy="4206240"/>
          </a:xfrm>
          <a:prstGeom prst="roundRect">
            <a:avLst>
              <a:gd name="adj" fmla="val 4240"/>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2" name="stat 2 circle"/>
          <p:cNvSpPr/>
          <p:nvPr/>
        </p:nvSpPr>
        <p:spPr>
          <a:xfrm>
            <a:off x="3639312" y="1783080"/>
            <a:ext cx="685800" cy="685800"/>
          </a:xfrm>
          <a:prstGeom prst="ellipse">
            <a:avLst/>
          </a:prstGeom>
          <a:solidFill>
            <a:srgbClr val="F2F4F9"/>
          </a:solidFill>
          <a:ln w="12700">
            <a:solidFill>
              <a:srgbClr val="F2F4F9"/>
            </a:solidFill>
            <a:prstDash val="solid"/>
          </a:ln>
        </p:spPr>
      </p:sp>
      <p:pic>
        <p:nvPicPr>
          <p:cNvPr id="13" name="stat 2 icon" descr="preencoded.png">    </p:cNvPr>
          <p:cNvPicPr>
            <a:picLocks noChangeAspect="1"/>
          </p:cNvPicPr>
          <p:nvPr/>
        </p:nvPicPr>
        <p:blipFill>
          <a:blip r:embed="rId2"/>
          <a:stretch>
            <a:fillRect/>
          </a:stretch>
        </p:blipFill>
        <p:spPr>
          <a:xfrm>
            <a:off x="3817620" y="1961388"/>
            <a:ext cx="329184" cy="329184"/>
          </a:xfrm>
          <a:prstGeom prst="rect">
            <a:avLst/>
          </a:prstGeom>
        </p:spPr>
      </p:pic>
      <p:sp>
        <p:nvSpPr>
          <p:cNvPr id="14" name="stat value 2"/>
          <p:cNvSpPr txBox="1"/>
          <p:nvPr/>
        </p:nvSpPr>
        <p:spPr>
          <a:xfrm>
            <a:off x="3639312" y="2697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4.8%</a:t>
            </a:r>
            <a:endParaRPr lang="en-US" sz="4800" dirty="0"/>
          </a:p>
        </p:txBody>
      </p:sp>
      <p:sp>
        <p:nvSpPr>
          <p:cNvPr id="15" name="stat unit 2"/>
          <p:cNvSpPr txBox="1"/>
          <p:nvPr/>
        </p:nvSpPr>
        <p:spPr>
          <a:xfrm>
            <a:off x="3639312" y="3566160"/>
            <a:ext cx="2103120" cy="320040"/>
          </a:xfrm>
          <a:prstGeom prst="rect">
            <a:avLst/>
          </a:prstGeom>
          <a:noFill/>
          <a:ln/>
        </p:spPr>
        <p:txBody>
          <a:bodyPr wrap="square" lIns="0" tIns="0" rIns="0" bIns="0" rtlCol="0" anchor="t"/>
          <a:lstStyle/>
          <a:p>
            <a:pPr indent="0" marL="0">
              <a:buNone/>
            </a:pPr>
            <a:r>
              <a:rPr lang="en-US" sz="1600" b="1" dirty="0">
                <a:solidFill>
                  <a:schemeClr val="tx1"/>
                </a:solidFill>
              </a:rPr>
              <a:t>margin</a:t>
            </a:r>
            <a:endParaRPr lang="en-US" sz="1600" dirty="0"/>
          </a:p>
        </p:txBody>
      </p:sp>
      <p:sp>
        <p:nvSpPr>
          <p:cNvPr id="16" name="stat text 2"/>
          <p:cNvSpPr txBox="1"/>
          <p:nvPr/>
        </p:nvSpPr>
        <p:spPr>
          <a:xfrm>
            <a:off x="3639312" y="3977640"/>
            <a:ext cx="2103120" cy="1005840"/>
          </a:xfrm>
          <a:prstGeom prst="rect">
            <a:avLst/>
          </a:prstGeom>
          <a:noFill/>
          <a:ln/>
        </p:spPr>
        <p:txBody>
          <a:bodyPr wrap="square" lIns="0" tIns="0" rIns="0" bIns="0" rtlCol="0" anchor="t"/>
          <a:lstStyle/>
          <a:p>
            <a:pPr indent="0" marL="0">
              <a:buNone/>
            </a:pPr>
            <a:r>
              <a:rPr lang="en-US" sz="1400" dirty="0">
                <a:solidFill>
                  <a:schemeClr val="tx2"/>
                </a:solidFill>
              </a:rPr>
              <a:t>SA construction profit margin in 2024 — one missed item can erase it</a:t>
            </a:r>
            <a:endParaRPr lang="en-US" sz="1400" dirty="0"/>
          </a:p>
        </p:txBody>
      </p:sp>
      <p:sp>
        <p:nvSpPr>
          <p:cNvPr id="17" name="stat source 2"/>
          <p:cNvSpPr txBox="1"/>
          <p:nvPr/>
        </p:nvSpPr>
        <p:spPr>
          <a:xfrm>
            <a:off x="3639312" y="5166360"/>
            <a:ext cx="2103120" cy="411480"/>
          </a:xfrm>
          <a:prstGeom prst="rect">
            <a:avLst/>
          </a:prstGeom>
          <a:noFill/>
          <a:ln/>
        </p:spPr>
        <p:txBody>
          <a:bodyPr wrap="square" lIns="0" tIns="0" rIns="0" bIns="0" rtlCol="0" anchor="t"/>
          <a:lstStyle/>
          <a:p>
            <a:pPr indent="0" marL="0">
              <a:buNone/>
            </a:pPr>
            <a:r>
              <a:rPr lang="en-US" sz="1000" i="1" dirty="0">
                <a:solidFill>
                  <a:schemeClr val="accent6"/>
                </a:solidFill>
              </a:rPr>
              <a:t>Official · Stats SA via TimesLIVE</a:t>
            </a:r>
            <a:endParaRPr lang="en-US" sz="1000" dirty="0"/>
          </a:p>
        </p:txBody>
      </p:sp>
      <p:sp>
        <p:nvSpPr>
          <p:cNvPr id="18" name="stat card 3"/>
          <p:cNvSpPr/>
          <p:nvPr/>
        </p:nvSpPr>
        <p:spPr>
          <a:xfrm>
            <a:off x="6181344" y="1508760"/>
            <a:ext cx="2587752" cy="4206240"/>
          </a:xfrm>
          <a:prstGeom prst="roundRect">
            <a:avLst>
              <a:gd name="adj" fmla="val 4240"/>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9" name="stat 3 circle"/>
          <p:cNvSpPr/>
          <p:nvPr/>
        </p:nvSpPr>
        <p:spPr>
          <a:xfrm>
            <a:off x="6455664" y="1783080"/>
            <a:ext cx="685800" cy="685800"/>
          </a:xfrm>
          <a:prstGeom prst="ellipse">
            <a:avLst/>
          </a:prstGeom>
          <a:solidFill>
            <a:srgbClr val="F2F4F9"/>
          </a:solidFill>
          <a:ln w="12700">
            <a:solidFill>
              <a:srgbClr val="F2F4F9"/>
            </a:solidFill>
            <a:prstDash val="solid"/>
          </a:ln>
        </p:spPr>
      </p:sp>
      <p:pic>
        <p:nvPicPr>
          <p:cNvPr id="20" name="stat 3 icon" descr="preencoded.png">    </p:cNvPr>
          <p:cNvPicPr>
            <a:picLocks noChangeAspect="1"/>
          </p:cNvPicPr>
          <p:nvPr/>
        </p:nvPicPr>
        <p:blipFill>
          <a:blip r:embed="rId3"/>
          <a:stretch>
            <a:fillRect/>
          </a:stretch>
        </p:blipFill>
        <p:spPr>
          <a:xfrm>
            <a:off x="6633972" y="1961388"/>
            <a:ext cx="329184" cy="329184"/>
          </a:xfrm>
          <a:prstGeom prst="rect">
            <a:avLst/>
          </a:prstGeom>
        </p:spPr>
      </p:pic>
      <p:sp>
        <p:nvSpPr>
          <p:cNvPr id="21" name="stat value 3"/>
          <p:cNvSpPr txBox="1"/>
          <p:nvPr/>
        </p:nvSpPr>
        <p:spPr>
          <a:xfrm>
            <a:off x="6455664" y="2697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 in 5</a:t>
            </a:r>
            <a:endParaRPr lang="en-US" sz="4800" dirty="0"/>
          </a:p>
        </p:txBody>
      </p:sp>
      <p:sp>
        <p:nvSpPr>
          <p:cNvPr id="22" name="stat unit 3"/>
          <p:cNvSpPr txBox="1"/>
          <p:nvPr/>
        </p:nvSpPr>
        <p:spPr>
          <a:xfrm>
            <a:off x="6455664" y="3566160"/>
            <a:ext cx="2103120" cy="320040"/>
          </a:xfrm>
          <a:prstGeom prst="rect">
            <a:avLst/>
          </a:prstGeom>
          <a:noFill/>
          <a:ln/>
        </p:spPr>
        <p:txBody>
          <a:bodyPr wrap="square" lIns="0" tIns="0" rIns="0" bIns="0" rtlCol="0" anchor="t"/>
          <a:lstStyle/>
          <a:p>
            <a:pPr indent="0" marL="0">
              <a:buNone/>
            </a:pPr>
            <a:r>
              <a:rPr lang="en-US" sz="1600" b="1" dirty="0">
                <a:solidFill>
                  <a:schemeClr val="tx1"/>
                </a:solidFill>
              </a:rPr>
              <a:t>tenders won</a:t>
            </a:r>
            <a:endParaRPr lang="en-US" sz="1600" dirty="0"/>
          </a:p>
        </p:txBody>
      </p:sp>
      <p:sp>
        <p:nvSpPr>
          <p:cNvPr id="23" name="stat text 3"/>
          <p:cNvSpPr txBox="1"/>
          <p:nvPr/>
        </p:nvSpPr>
        <p:spPr>
          <a:xfrm>
            <a:off x="6455664" y="3977640"/>
            <a:ext cx="2103120" cy="1005840"/>
          </a:xfrm>
          <a:prstGeom prst="rect">
            <a:avLst/>
          </a:prstGeom>
          <a:noFill/>
          <a:ln/>
        </p:spPr>
        <p:txBody>
          <a:bodyPr wrap="square" lIns="0" tIns="0" rIns="0" bIns="0" rtlCol="0" anchor="t"/>
          <a:lstStyle/>
          <a:p>
            <a:pPr indent="0" marL="0">
              <a:buNone/>
            </a:pPr>
            <a:r>
              <a:rPr lang="en-US" sz="1400" dirty="0">
                <a:solidFill>
                  <a:schemeClr val="tx2"/>
                </a:solidFill>
              </a:rPr>
              <a:t>about four of every five estimates earn nothing directly</a:t>
            </a:r>
            <a:endParaRPr lang="en-US" sz="1400" dirty="0"/>
          </a:p>
        </p:txBody>
      </p:sp>
      <p:sp>
        <p:nvSpPr>
          <p:cNvPr id="24" name="stat source 3"/>
          <p:cNvSpPr txBox="1"/>
          <p:nvPr/>
        </p:nvSpPr>
        <p:spPr>
          <a:xfrm>
            <a:off x="6455664" y="5166360"/>
            <a:ext cx="2103120" cy="411480"/>
          </a:xfrm>
          <a:prstGeom prst="rect">
            <a:avLst/>
          </a:prstGeom>
          <a:noFill/>
          <a:ln/>
        </p:spPr>
        <p:txBody>
          <a:bodyPr wrap="square" lIns="0" tIns="0" rIns="0" bIns="0" rtlCol="0" anchor="t"/>
          <a:lstStyle/>
          <a:p>
            <a:pPr indent="0" marL="0">
              <a:buNone/>
            </a:pPr>
            <a:r>
              <a:rPr lang="en-US" sz="1000" i="1" dirty="0">
                <a:solidFill>
                  <a:schemeClr val="accent6"/>
                </a:solidFill>
              </a:rPr>
              <a:t>Independent · Ireland, CIF/IDIRO 2022</a:t>
            </a:r>
            <a:endParaRPr lang="en-US" sz="1000" dirty="0"/>
          </a:p>
        </p:txBody>
      </p:sp>
      <p:sp>
        <p:nvSpPr>
          <p:cNvPr id="25" name="stat card 4"/>
          <p:cNvSpPr/>
          <p:nvPr/>
        </p:nvSpPr>
        <p:spPr>
          <a:xfrm>
            <a:off x="8997696" y="1508760"/>
            <a:ext cx="2587752" cy="4206240"/>
          </a:xfrm>
          <a:prstGeom prst="roundRect">
            <a:avLst>
              <a:gd name="adj" fmla="val 4240"/>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6" name="stat 4 circle"/>
          <p:cNvSpPr/>
          <p:nvPr/>
        </p:nvSpPr>
        <p:spPr>
          <a:xfrm>
            <a:off x="9272016" y="1783080"/>
            <a:ext cx="685800" cy="685800"/>
          </a:xfrm>
          <a:prstGeom prst="ellipse">
            <a:avLst/>
          </a:prstGeom>
          <a:solidFill>
            <a:srgbClr val="F2F4F9"/>
          </a:solidFill>
          <a:ln w="12700">
            <a:solidFill>
              <a:srgbClr val="F2F4F9"/>
            </a:solidFill>
            <a:prstDash val="solid"/>
          </a:ln>
        </p:spPr>
      </p:sp>
      <p:pic>
        <p:nvPicPr>
          <p:cNvPr id="27" name="stat 4 icon" descr="preencoded.png">    </p:cNvPr>
          <p:cNvPicPr>
            <a:picLocks noChangeAspect="1"/>
          </p:cNvPicPr>
          <p:nvPr/>
        </p:nvPicPr>
        <p:blipFill>
          <a:blip r:embed="rId4"/>
          <a:stretch>
            <a:fillRect/>
          </a:stretch>
        </p:blipFill>
        <p:spPr>
          <a:xfrm>
            <a:off x="9450324" y="1961388"/>
            <a:ext cx="329184" cy="329184"/>
          </a:xfrm>
          <a:prstGeom prst="rect">
            <a:avLst/>
          </a:prstGeom>
        </p:spPr>
      </p:pic>
      <p:sp>
        <p:nvSpPr>
          <p:cNvPr id="28" name="stat value 4"/>
          <p:cNvSpPr txBox="1"/>
          <p:nvPr/>
        </p:nvSpPr>
        <p:spPr>
          <a:xfrm>
            <a:off x="9272016" y="2697480"/>
            <a:ext cx="2103120" cy="86868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29" name="stat unit 4"/>
          <p:cNvSpPr txBox="1"/>
          <p:nvPr/>
        </p:nvSpPr>
        <p:spPr>
          <a:xfrm>
            <a:off x="9272016" y="3566160"/>
            <a:ext cx="2103120" cy="320040"/>
          </a:xfrm>
          <a:prstGeom prst="rect">
            <a:avLst/>
          </a:prstGeom>
          <a:noFill/>
          <a:ln/>
        </p:spPr>
        <p:txBody>
          <a:bodyPr wrap="square" lIns="0" tIns="0" rIns="0" bIns="0" rtlCol="0" anchor="t"/>
          <a:lstStyle/>
          <a:p>
            <a:pPr indent="0" marL="0">
              <a:buNone/>
            </a:pPr>
            <a:r>
              <a:rPr lang="en-US" sz="1600" b="1" dirty="0">
                <a:solidFill>
                  <a:schemeClr val="tx1"/>
                </a:solidFill>
              </a:rPr>
              <a:t>of value per bid</a:t>
            </a:r>
            <a:endParaRPr lang="en-US" sz="1600" dirty="0"/>
          </a:p>
        </p:txBody>
      </p:sp>
      <p:sp>
        <p:nvSpPr>
          <p:cNvPr id="30" name="stat text 4"/>
          <p:cNvSpPr txBox="1"/>
          <p:nvPr/>
        </p:nvSpPr>
        <p:spPr>
          <a:xfrm>
            <a:off x="9272016" y="3977640"/>
            <a:ext cx="2103120" cy="1005840"/>
          </a:xfrm>
          <a:prstGeom prst="rect">
            <a:avLst/>
          </a:prstGeom>
          <a:noFill/>
          <a:ln/>
        </p:spPr>
        <p:txBody>
          <a:bodyPr wrap="square" lIns="0" tIns="0" rIns="0" bIns="0" rtlCol="0" anchor="t"/>
          <a:lstStyle/>
          <a:p>
            <a:pPr indent="0" marL="0">
              <a:buNone/>
            </a:pPr>
            <a:r>
              <a:rPr lang="en-US" sz="1400" dirty="0">
                <a:solidFill>
                  <a:schemeClr val="tx2"/>
                </a:solidFill>
              </a:rPr>
              <a:t>spent on each bid — paid again on every bid that is lost</a:t>
            </a:r>
            <a:endParaRPr lang="en-US" sz="1400" dirty="0"/>
          </a:p>
        </p:txBody>
      </p:sp>
      <p:sp>
        <p:nvSpPr>
          <p:cNvPr id="31" name="stat source 4"/>
          <p:cNvSpPr txBox="1"/>
          <p:nvPr/>
        </p:nvSpPr>
        <p:spPr>
          <a:xfrm>
            <a:off x="9272016" y="5166360"/>
            <a:ext cx="2103120" cy="411480"/>
          </a:xfrm>
          <a:prstGeom prst="rect">
            <a:avLst/>
          </a:prstGeom>
          <a:noFill/>
          <a:ln/>
        </p:spPr>
        <p:txBody>
          <a:bodyPr wrap="square" lIns="0" tIns="0" rIns="0" bIns="0" rtlCol="0" anchor="t"/>
          <a:lstStyle/>
          <a:p>
            <a:pPr indent="0" marL="0">
              <a:buNone/>
            </a:pPr>
            <a:r>
              <a:rPr lang="en-US" sz="1000" i="1" dirty="0">
                <a:solidFill>
                  <a:schemeClr val="accent6"/>
                </a:solidFill>
              </a:rPr>
              <a:t>Independent · Ireland, CIF/IDIRO 2022</a:t>
            </a:r>
            <a:endParaRPr lang="en-US" sz="1000" dirty="0"/>
          </a:p>
        </p:txBody>
      </p:sp>
      <p:sp>
        <p:nvSpPr>
          <p:cNvPr id="32" name="source"/>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6"/>
                </a:solidFill>
              </a:rPr>
              <a:t>No study measures SA electrical take-off hours, SA win rates or manual take-off error rates — figures above are the best independent evidence (research report, Oct 2026).</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Work is moving to small firms that cannot carry an estimator</a:t>
            </a:r>
            <a:endParaRPr lang="en-US" sz="3000" dirty="0"/>
          </a:p>
        </p:txBody>
      </p:sp>
      <p:graphicFrame>
        <p:nvGraphicFramePr>
          <p:cNvPr id="4" name="Chart 0" descr=""/>
          <p:cNvGraphicFramePr/>
          <p:nvPr/>
        </p:nvGraphicFramePr>
        <p:xfrm>
          <a:off x="548640" y="141732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market card 1"/>
          <p:cNvSpPr/>
          <p:nvPr/>
        </p:nvSpPr>
        <p:spPr>
          <a:xfrm>
            <a:off x="6583680" y="1417320"/>
            <a:ext cx="2377440" cy="1920240"/>
          </a:xfrm>
          <a:prstGeom prst="roundRect">
            <a:avLst>
              <a:gd name="adj" fmla="val 5714"/>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6" name="market 1 circle"/>
          <p:cNvSpPr/>
          <p:nvPr/>
        </p:nvSpPr>
        <p:spPr>
          <a:xfrm>
            <a:off x="6784848" y="1618488"/>
            <a:ext cx="502920" cy="502920"/>
          </a:xfrm>
          <a:prstGeom prst="ellipse">
            <a:avLst/>
          </a:prstGeom>
          <a:solidFill>
            <a:srgbClr val="F2F4F9"/>
          </a:solidFill>
          <a:ln w="12700">
            <a:solidFill>
              <a:srgbClr val="F2F4F9"/>
            </a:solidFill>
            <a:prstDash val="solid"/>
          </a:ln>
        </p:spPr>
      </p:sp>
      <p:pic>
        <p:nvPicPr>
          <p:cNvPr id="7" name="market 1 icon" descr="preencoded.png">    </p:cNvPr>
          <p:cNvPicPr>
            <a:picLocks noChangeAspect="1"/>
          </p:cNvPicPr>
          <p:nvPr/>
        </p:nvPicPr>
        <p:blipFill>
          <a:blip r:embed="rId2"/>
          <a:stretch>
            <a:fillRect/>
          </a:stretch>
        </p:blipFill>
        <p:spPr>
          <a:xfrm>
            <a:off x="6915607" y="1749247"/>
            <a:ext cx="241402" cy="241402"/>
          </a:xfrm>
          <a:prstGeom prst="rect">
            <a:avLst/>
          </a:prstGeom>
        </p:spPr>
      </p:pic>
      <p:sp>
        <p:nvSpPr>
          <p:cNvPr id="8" name="market value 1"/>
          <p:cNvSpPr txBox="1"/>
          <p:nvPr/>
        </p:nvSpPr>
        <p:spPr>
          <a:xfrm>
            <a:off x="6784848" y="2167128"/>
            <a:ext cx="201168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93%</a:t>
            </a:r>
            <a:endParaRPr lang="en-US" sz="2600" dirty="0"/>
          </a:p>
        </p:txBody>
      </p:sp>
      <p:sp>
        <p:nvSpPr>
          <p:cNvPr id="9" name="market text 1"/>
          <p:cNvSpPr txBox="1"/>
          <p:nvPr/>
        </p:nvSpPr>
        <p:spPr>
          <a:xfrm>
            <a:off x="6784848" y="2624328"/>
            <a:ext cx="2011680" cy="502920"/>
          </a:xfrm>
          <a:prstGeom prst="rect">
            <a:avLst/>
          </a:prstGeom>
          <a:noFill/>
          <a:ln/>
        </p:spPr>
        <p:txBody>
          <a:bodyPr wrap="square" lIns="0" tIns="0" rIns="0" bIns="0" rtlCol="0" anchor="t"/>
          <a:lstStyle/>
          <a:p>
            <a:pPr indent="0" marL="0">
              <a:buNone/>
            </a:pPr>
            <a:r>
              <a:rPr lang="en-US" sz="1150" dirty="0">
                <a:solidFill>
                  <a:schemeClr val="tx2"/>
                </a:solidFill>
              </a:rPr>
              <a:t>of ~130,000 CIDB contractors are Grade 1–4</a:t>
            </a:r>
            <a:endParaRPr lang="en-US" sz="1150" dirty="0"/>
          </a:p>
        </p:txBody>
      </p:sp>
      <p:sp>
        <p:nvSpPr>
          <p:cNvPr id="10" name="market card 2"/>
          <p:cNvSpPr/>
          <p:nvPr/>
        </p:nvSpPr>
        <p:spPr>
          <a:xfrm>
            <a:off x="9189720" y="1417320"/>
            <a:ext cx="2377440" cy="1920240"/>
          </a:xfrm>
          <a:prstGeom prst="roundRect">
            <a:avLst>
              <a:gd name="adj" fmla="val 5714"/>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1" name="market 2 circle"/>
          <p:cNvSpPr/>
          <p:nvPr/>
        </p:nvSpPr>
        <p:spPr>
          <a:xfrm>
            <a:off x="9390888" y="1618488"/>
            <a:ext cx="502920" cy="502920"/>
          </a:xfrm>
          <a:prstGeom prst="ellipse">
            <a:avLst/>
          </a:prstGeom>
          <a:solidFill>
            <a:srgbClr val="F2F4F9"/>
          </a:solidFill>
          <a:ln w="12700">
            <a:solidFill>
              <a:srgbClr val="F2F4F9"/>
            </a:solidFill>
            <a:prstDash val="solid"/>
          </a:ln>
        </p:spPr>
      </p:sp>
      <p:pic>
        <p:nvPicPr>
          <p:cNvPr id="12" name="market 2 icon" descr="preencoded.png">    </p:cNvPr>
          <p:cNvPicPr>
            <a:picLocks noChangeAspect="1"/>
          </p:cNvPicPr>
          <p:nvPr/>
        </p:nvPicPr>
        <p:blipFill>
          <a:blip r:embed="rId3"/>
          <a:stretch>
            <a:fillRect/>
          </a:stretch>
        </p:blipFill>
        <p:spPr>
          <a:xfrm>
            <a:off x="9521647" y="1749247"/>
            <a:ext cx="241402" cy="241402"/>
          </a:xfrm>
          <a:prstGeom prst="rect">
            <a:avLst/>
          </a:prstGeom>
        </p:spPr>
      </p:pic>
      <p:sp>
        <p:nvSpPr>
          <p:cNvPr id="13" name="market value 2"/>
          <p:cNvSpPr txBox="1"/>
          <p:nvPr/>
        </p:nvSpPr>
        <p:spPr>
          <a:xfrm>
            <a:off x="9390888" y="2167128"/>
            <a:ext cx="201168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32.2%</a:t>
            </a:r>
            <a:endParaRPr lang="en-US" sz="2600" dirty="0"/>
          </a:p>
        </p:txBody>
      </p:sp>
      <p:sp>
        <p:nvSpPr>
          <p:cNvPr id="14" name="market text 2"/>
          <p:cNvSpPr txBox="1"/>
          <p:nvPr/>
        </p:nvSpPr>
        <p:spPr>
          <a:xfrm>
            <a:off x="9390888" y="2624328"/>
            <a:ext cx="2011680" cy="502920"/>
          </a:xfrm>
          <a:prstGeom prst="rect">
            <a:avLst/>
          </a:prstGeom>
          <a:noFill/>
          <a:ln/>
        </p:spPr>
        <p:txBody>
          <a:bodyPr wrap="square" lIns="0" tIns="0" rIns="0" bIns="0" rtlCol="0" anchor="t"/>
          <a:lstStyle/>
          <a:p>
            <a:pPr indent="0" marL="0">
              <a:buNone/>
            </a:pPr>
            <a:r>
              <a:rPr lang="en-US" sz="1150" dirty="0">
                <a:solidFill>
                  <a:schemeClr val="tx2"/>
                </a:solidFill>
              </a:rPr>
              <a:t>of construction income earned by small &amp; micro firms (2024)</a:t>
            </a:r>
            <a:endParaRPr lang="en-US" sz="1150" dirty="0"/>
          </a:p>
        </p:txBody>
      </p:sp>
      <p:sp>
        <p:nvSpPr>
          <p:cNvPr id="15" name="market card 3"/>
          <p:cNvSpPr/>
          <p:nvPr/>
        </p:nvSpPr>
        <p:spPr>
          <a:xfrm>
            <a:off x="6583680" y="3566160"/>
            <a:ext cx="2377440" cy="1920240"/>
          </a:xfrm>
          <a:prstGeom prst="roundRect">
            <a:avLst>
              <a:gd name="adj" fmla="val 5714"/>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6" name="market 3 circle"/>
          <p:cNvSpPr/>
          <p:nvPr/>
        </p:nvSpPr>
        <p:spPr>
          <a:xfrm>
            <a:off x="6784848" y="3767328"/>
            <a:ext cx="502920" cy="502920"/>
          </a:xfrm>
          <a:prstGeom prst="ellipse">
            <a:avLst/>
          </a:prstGeom>
          <a:solidFill>
            <a:srgbClr val="F2F4F9"/>
          </a:solidFill>
          <a:ln w="12700">
            <a:solidFill>
              <a:srgbClr val="F2F4F9"/>
            </a:solidFill>
            <a:prstDash val="solid"/>
          </a:ln>
        </p:spPr>
      </p:sp>
      <p:pic>
        <p:nvPicPr>
          <p:cNvPr id="17" name="market 3 icon" descr="preencoded.png">    </p:cNvPr>
          <p:cNvPicPr>
            <a:picLocks noChangeAspect="1"/>
          </p:cNvPicPr>
          <p:nvPr/>
        </p:nvPicPr>
        <p:blipFill>
          <a:blip r:embed="rId4"/>
          <a:stretch>
            <a:fillRect/>
          </a:stretch>
        </p:blipFill>
        <p:spPr>
          <a:xfrm>
            <a:off x="6915607" y="3898087"/>
            <a:ext cx="241402" cy="241402"/>
          </a:xfrm>
          <a:prstGeom prst="rect">
            <a:avLst/>
          </a:prstGeom>
        </p:spPr>
      </p:pic>
      <p:sp>
        <p:nvSpPr>
          <p:cNvPr id="18" name="market value 3"/>
          <p:cNvSpPr txBox="1"/>
          <p:nvPr/>
        </p:nvSpPr>
        <p:spPr>
          <a:xfrm>
            <a:off x="6784848" y="4315968"/>
            <a:ext cx="201168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R1.07 tn</a:t>
            </a:r>
            <a:endParaRPr lang="en-US" sz="2600" dirty="0"/>
          </a:p>
        </p:txBody>
      </p:sp>
      <p:sp>
        <p:nvSpPr>
          <p:cNvPr id="19" name="market text 3"/>
          <p:cNvSpPr txBox="1"/>
          <p:nvPr/>
        </p:nvSpPr>
        <p:spPr>
          <a:xfrm>
            <a:off x="6784848" y="4773168"/>
            <a:ext cx="2011680" cy="502920"/>
          </a:xfrm>
          <a:prstGeom prst="rect">
            <a:avLst/>
          </a:prstGeom>
          <a:noFill/>
          <a:ln/>
        </p:spPr>
        <p:txBody>
          <a:bodyPr wrap="square" lIns="0" tIns="0" rIns="0" bIns="0" rtlCol="0" anchor="t"/>
          <a:lstStyle/>
          <a:p>
            <a:pPr indent="0" marL="0">
              <a:buNone/>
            </a:pPr>
            <a:r>
              <a:rPr lang="en-US" sz="1150" dirty="0">
                <a:solidFill>
                  <a:schemeClr val="tx2"/>
                </a:solidFill>
              </a:rPr>
              <a:t>public infrastructure planned over three years</a:t>
            </a:r>
            <a:endParaRPr lang="en-US" sz="1150" dirty="0"/>
          </a:p>
        </p:txBody>
      </p:sp>
      <p:sp>
        <p:nvSpPr>
          <p:cNvPr id="20" name="market card 4"/>
          <p:cNvSpPr/>
          <p:nvPr/>
        </p:nvSpPr>
        <p:spPr>
          <a:xfrm>
            <a:off x="9189720" y="3566160"/>
            <a:ext cx="2377440" cy="1920240"/>
          </a:xfrm>
          <a:prstGeom prst="roundRect">
            <a:avLst>
              <a:gd name="adj" fmla="val 5714"/>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1" name="market 4 circle"/>
          <p:cNvSpPr/>
          <p:nvPr/>
        </p:nvSpPr>
        <p:spPr>
          <a:xfrm>
            <a:off x="9390888" y="3767328"/>
            <a:ext cx="502920" cy="502920"/>
          </a:xfrm>
          <a:prstGeom prst="ellipse">
            <a:avLst/>
          </a:prstGeom>
          <a:solidFill>
            <a:srgbClr val="F2F4F9"/>
          </a:solidFill>
          <a:ln w="12700">
            <a:solidFill>
              <a:srgbClr val="F2F4F9"/>
            </a:solidFill>
            <a:prstDash val="solid"/>
          </a:ln>
        </p:spPr>
      </p:sp>
      <p:pic>
        <p:nvPicPr>
          <p:cNvPr id="22" name="market 4 icon" descr="preencoded.png">    </p:cNvPr>
          <p:cNvPicPr>
            <a:picLocks noChangeAspect="1"/>
          </p:cNvPicPr>
          <p:nvPr/>
        </p:nvPicPr>
        <p:blipFill>
          <a:blip r:embed="rId5"/>
          <a:stretch>
            <a:fillRect/>
          </a:stretch>
        </p:blipFill>
        <p:spPr>
          <a:xfrm>
            <a:off x="9521647" y="3898087"/>
            <a:ext cx="241402" cy="241402"/>
          </a:xfrm>
          <a:prstGeom prst="rect">
            <a:avLst/>
          </a:prstGeom>
        </p:spPr>
      </p:pic>
      <p:sp>
        <p:nvSpPr>
          <p:cNvPr id="23" name="market value 4"/>
          <p:cNvSpPr txBox="1"/>
          <p:nvPr/>
        </p:nvSpPr>
        <p:spPr>
          <a:xfrm>
            <a:off x="9390888" y="4315968"/>
            <a:ext cx="2011680" cy="45720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8.3 GW</a:t>
            </a:r>
            <a:endParaRPr lang="en-US" sz="2600" dirty="0"/>
          </a:p>
        </p:txBody>
      </p:sp>
      <p:sp>
        <p:nvSpPr>
          <p:cNvPr id="24" name="market text 4"/>
          <p:cNvSpPr txBox="1"/>
          <p:nvPr/>
        </p:nvSpPr>
        <p:spPr>
          <a:xfrm>
            <a:off x="9390888" y="4773168"/>
            <a:ext cx="2011680" cy="502920"/>
          </a:xfrm>
          <a:prstGeom prst="rect">
            <a:avLst/>
          </a:prstGeom>
          <a:noFill/>
          <a:ln/>
        </p:spPr>
        <p:txBody>
          <a:bodyPr wrap="square" lIns="0" tIns="0" rIns="0" bIns="0" rtlCol="0" anchor="t"/>
          <a:lstStyle/>
          <a:p>
            <a:pPr indent="0" marL="0">
              <a:buNone/>
            </a:pPr>
            <a:r>
              <a:rPr lang="en-US" sz="1150" dirty="0">
                <a:solidFill>
                  <a:schemeClr val="tx2"/>
                </a:solidFill>
              </a:rPr>
              <a:t>rooftop solar installed by June 2026</a:t>
            </a:r>
            <a:endParaRPr lang="en-US" sz="1150" dirty="0"/>
          </a:p>
        </p:txBody>
      </p:sp>
      <p:sp>
        <p:nvSpPr>
          <p:cNvPr id="25" name="source"/>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6"/>
                </a:solidFill>
              </a:rPr>
              <a:t>Sources: CIDB Annual Performance Plan (via PMG), Stats SA construction industry 2024, Budget 2026 (IOL), Engineering News. No official count of electrical contractors exists; ECA(SA) reports 3,000–4,000 members.</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Today's tools leave the expensive part of the bill to a person</a:t>
            </a:r>
            <a:endParaRPr lang="en-US" sz="3000" dirty="0"/>
          </a:p>
        </p:txBody>
      </p:sp>
      <p:graphicFrame>
        <p:nvGraphicFramePr>
          <p:cNvPr id="5" name="tools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2651760"/>
                <a:gridCol w="1828800"/>
                <a:gridCol w="4480560"/>
              </a:tblGrid>
              <a:tr h="41148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Tool family</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Examples</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Cost (≈ R / year)</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Where it falls short for SA electrical work</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Generic take-off</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Bluebeam, PlanSwift, CostX, WinQS</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R4.6k – R36k</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 person still clicks every symbol and prices in Excel; no electrical logic</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US electrical estimators</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Accubid, McCormick, ConEst</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R25k – R270k / seat</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US labour units and products; no rand pricing, no SANS 10142-1</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AI take-off</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Togal, Kreo Pro, Beam AI</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R37k – R64k / user</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Counts symbols on PDFs; weak on cable routes and single-line diagrams (vendors' own words)</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566928">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SA tender apps</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TenderSmart, TenderProSA</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from R699 / month</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Price or manage an existing BoQ; no evidence they read drawings</a:t>
                      </a:r>
                      <a:endParaRPr lang="en-US" sz="1300" dirty="0">
                        <a:latin typeface="Calibri" charset="0"/>
                        <a:ea typeface="Calibri" charset="0"/>
                        <a:cs typeface="Calibri" charset="0"/>
                      </a:endParaRPr>
                    </a:p>
                  </a:txBody>
                  <a:tcPr marL="91440" marR="91440"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bl>
          </a:graphicData>
        </a:graphic>
      </p:graphicFrame>
      <p:sp>
        <p:nvSpPr>
          <p:cNvPr id="5" name="afriplan answer card"/>
          <p:cNvSpPr/>
          <p:nvPr/>
        </p:nvSpPr>
        <p:spPr>
          <a:xfrm>
            <a:off x="548640" y="4572000"/>
            <a:ext cx="11064240" cy="1234440"/>
          </a:xfrm>
          <a:prstGeom prst="roundRect">
            <a:avLst>
              <a:gd name="adj" fmla="val 8889"/>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6" name="answer circle"/>
          <p:cNvSpPr/>
          <p:nvPr/>
        </p:nvSpPr>
        <p:spPr>
          <a:xfrm>
            <a:off x="777240" y="4800600"/>
            <a:ext cx="777240" cy="777240"/>
          </a:xfrm>
          <a:prstGeom prst="ellipse">
            <a:avLst/>
          </a:prstGeom>
          <a:solidFill>
            <a:srgbClr val="F2A900"/>
          </a:solidFill>
          <a:ln w="12700">
            <a:solidFill>
              <a:srgbClr val="F2A900"/>
            </a:solidFill>
            <a:prstDash val="solid"/>
          </a:ln>
        </p:spPr>
      </p:sp>
      <p:pic>
        <p:nvPicPr>
          <p:cNvPr id="7" name="answer icon" descr="preencoded.png">    </p:cNvPr>
          <p:cNvPicPr>
            <a:picLocks noChangeAspect="1"/>
          </p:cNvPicPr>
          <p:nvPr/>
        </p:nvPicPr>
        <p:blipFill>
          <a:blip r:embed="rId1"/>
          <a:stretch>
            <a:fillRect/>
          </a:stretch>
        </p:blipFill>
        <p:spPr>
          <a:xfrm>
            <a:off x="979322" y="5002682"/>
            <a:ext cx="373075" cy="373075"/>
          </a:xfrm>
          <a:prstGeom prst="rect">
            <a:avLst/>
          </a:prstGeom>
        </p:spPr>
      </p:pic>
      <p:sp>
        <p:nvSpPr>
          <p:cNvPr id="8" name="answer text"/>
          <p:cNvSpPr txBox="1"/>
          <p:nvPr/>
        </p:nvSpPr>
        <p:spPr>
          <a:xfrm>
            <a:off x="1783080" y="4846320"/>
            <a:ext cx="9601200" cy="777240"/>
          </a:xfrm>
          <a:prstGeom prst="rect">
            <a:avLst/>
          </a:prstGeom>
          <a:noFill/>
          <a:ln/>
        </p:spPr>
        <p:txBody>
          <a:bodyPr wrap="square" lIns="0" tIns="0" rIns="0" bIns="0" rtlCol="0" anchor="ctr"/>
          <a:lstStyle/>
          <a:p>
            <a:pPr indent="0" marL="0">
              <a:buNone/>
            </a:pPr>
            <a:r>
              <a:rPr lang="en-US" sz="1500" b="1" dirty="0">
                <a:solidFill>
                  <a:schemeClr val="tx1"/>
                </a:solidFill>
              </a:rPr>
              <a:t>AfriPlan reads what the others hand back: </a:t>
            </a:r>
            <a:pPr indent="0" marL="0">
              <a:buNone/>
            </a:pPr>
            <a:r>
              <a:rPr lang="en-US" sz="1500" dirty="0">
                <a:solidFill>
                  <a:schemeClr val="tx1"/>
                </a:solidFill>
              </a:rPr>
              <a:t>single-line diagrams, feeder lengths measured on the site plan, DWG and PDF of the same project together, SA rates in rand — and it audits a supplied BoQ.</a:t>
            </a:r>
            <a:endParaRPr lang="en-US" sz="1500" dirty="0"/>
          </a:p>
        </p:txBody>
      </p:sp>
      <p:sp>
        <p:nvSpPr>
          <p:cNvPr id="9" name="source"/>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6"/>
                </a:solidFill>
              </a:rPr>
              <a:t>Vendor pricing pages 2025–2026 converted at R17.9/USD; vendor accuracy claims ("98–99%", "70–90% faster") are unverified and not used here.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The bill's value sits in boards, feeders and trenches</a:t>
            </a:r>
            <a:endParaRPr lang="en-US" sz="3000" dirty="0"/>
          </a:p>
        </p:txBody>
      </p:sp>
      <p:graphicFrame>
        <p:nvGraphicFramePr>
          <p:cNvPr id="4" name="Chart 0" descr=""/>
          <p:cNvGraphicFramePr/>
          <p:nvPr/>
        </p:nvGraphicFramePr>
        <p:xfrm>
          <a:off x="548640" y="1371600"/>
          <a:ext cx="5852160" cy="4572000"/>
        </p:xfrm>
        <a:graphic xmlns:a="http://schemas.openxmlformats.org/drawingml/2006/main">
          <a:graphicData uri="http://schemas.openxmlformats.org/drawingml/2006/chart">
            <c:chart xmlns:c="http://schemas.openxmlformats.org/drawingml/2006/chart" r:id="rId1"/>
          </a:graphicData>
        </a:graphic>
      </p:graphicFrame>
      <p:sp>
        <p:nvSpPr>
          <p:cNvPr id="5" name="value point 1 circle"/>
          <p:cNvSpPr/>
          <p:nvPr/>
        </p:nvSpPr>
        <p:spPr>
          <a:xfrm>
            <a:off x="6766560" y="1554480"/>
            <a:ext cx="685800" cy="685800"/>
          </a:xfrm>
          <a:prstGeom prst="ellipse">
            <a:avLst/>
          </a:prstGeom>
          <a:solidFill>
            <a:srgbClr val="2E5BE8"/>
          </a:solidFill>
          <a:ln w="12700">
            <a:solidFill>
              <a:srgbClr val="2E5BE8"/>
            </a:solidFill>
            <a:prstDash val="solid"/>
          </a:ln>
        </p:spPr>
      </p:sp>
      <p:pic>
        <p:nvPicPr>
          <p:cNvPr id="6" name="value point 1 icon" descr="preencoded.png">    </p:cNvPr>
          <p:cNvPicPr>
            <a:picLocks noChangeAspect="1"/>
          </p:cNvPicPr>
          <p:nvPr/>
        </p:nvPicPr>
        <p:blipFill>
          <a:blip r:embed="rId2"/>
          <a:stretch>
            <a:fillRect/>
          </a:stretch>
        </p:blipFill>
        <p:spPr>
          <a:xfrm>
            <a:off x="6944868" y="1732788"/>
            <a:ext cx="329184" cy="329184"/>
          </a:xfrm>
          <a:prstGeom prst="rect">
            <a:avLst/>
          </a:prstGeom>
        </p:spPr>
      </p:pic>
      <p:sp>
        <p:nvSpPr>
          <p:cNvPr id="7" name="value point title 1"/>
          <p:cNvSpPr txBox="1"/>
          <p:nvPr/>
        </p:nvSpPr>
        <p:spPr>
          <a:xfrm>
            <a:off x="7680960" y="1554480"/>
            <a:ext cx="3931920" cy="365760"/>
          </a:xfrm>
          <a:prstGeom prst="rect">
            <a:avLst/>
          </a:prstGeom>
          <a:noFill/>
          <a:ln/>
        </p:spPr>
        <p:txBody>
          <a:bodyPr wrap="square" lIns="0" tIns="0" rIns="0" bIns="0" rtlCol="0" anchor="t"/>
          <a:lstStyle/>
          <a:p>
            <a:pPr indent="0" marL="0">
              <a:buNone/>
            </a:pPr>
            <a:r>
              <a:rPr lang="en-US" sz="1700" b="1" dirty="0">
                <a:solidFill>
                  <a:schemeClr val="tx1"/>
                </a:solidFill>
              </a:rPr>
              <a:t>Feeders &amp; trenches</a:t>
            </a:r>
            <a:endParaRPr lang="en-US" sz="1700" dirty="0"/>
          </a:p>
        </p:txBody>
      </p:sp>
      <p:sp>
        <p:nvSpPr>
          <p:cNvPr id="8" name="value point text 1"/>
          <p:cNvSpPr txBox="1"/>
          <p:nvPr/>
        </p:nvSpPr>
        <p:spPr>
          <a:xfrm>
            <a:off x="7680960" y="1938528"/>
            <a:ext cx="3931920" cy="822960"/>
          </a:xfrm>
          <a:prstGeom prst="rect">
            <a:avLst/>
          </a:prstGeom>
          <a:noFill/>
          <a:ln/>
        </p:spPr>
        <p:txBody>
          <a:bodyPr wrap="square" lIns="0" tIns="0" rIns="0" bIns="0" rtlCol="0" anchor="t"/>
          <a:lstStyle/>
          <a:p>
            <a:pPr indent="0" marL="0">
              <a:buNone/>
            </a:pPr>
            <a:r>
              <a:rPr lang="en-US" sz="1400" dirty="0">
                <a:solidFill>
                  <a:schemeClr val="tx2"/>
                </a:solidFill>
              </a:rPr>
              <a:t>Cable size from the single-line diagram, length measured on the electrical site plan.</a:t>
            </a:r>
            <a:endParaRPr lang="en-US" sz="1400" dirty="0"/>
          </a:p>
        </p:txBody>
      </p:sp>
      <p:sp>
        <p:nvSpPr>
          <p:cNvPr id="9" name="value point 2 circle"/>
          <p:cNvSpPr/>
          <p:nvPr/>
        </p:nvSpPr>
        <p:spPr>
          <a:xfrm>
            <a:off x="6766560" y="3017520"/>
            <a:ext cx="685800" cy="685800"/>
          </a:xfrm>
          <a:prstGeom prst="ellipse">
            <a:avLst/>
          </a:prstGeom>
          <a:solidFill>
            <a:srgbClr val="2E5BE8"/>
          </a:solidFill>
          <a:ln w="12700">
            <a:solidFill>
              <a:srgbClr val="2E5BE8"/>
            </a:solidFill>
            <a:prstDash val="solid"/>
          </a:ln>
        </p:spPr>
      </p:sp>
      <p:pic>
        <p:nvPicPr>
          <p:cNvPr id="10" name="value point 2 icon" descr="preencoded.png">    </p:cNvPr>
          <p:cNvPicPr>
            <a:picLocks noChangeAspect="1"/>
          </p:cNvPicPr>
          <p:nvPr/>
        </p:nvPicPr>
        <p:blipFill>
          <a:blip r:embed="rId3"/>
          <a:stretch>
            <a:fillRect/>
          </a:stretch>
        </p:blipFill>
        <p:spPr>
          <a:xfrm>
            <a:off x="6944868" y="3195828"/>
            <a:ext cx="329184" cy="329184"/>
          </a:xfrm>
          <a:prstGeom prst="rect">
            <a:avLst/>
          </a:prstGeom>
        </p:spPr>
      </p:pic>
      <p:sp>
        <p:nvSpPr>
          <p:cNvPr id="11" name="value point title 2"/>
          <p:cNvSpPr txBox="1"/>
          <p:nvPr/>
        </p:nvSpPr>
        <p:spPr>
          <a:xfrm>
            <a:off x="7680960" y="3017520"/>
            <a:ext cx="3931920" cy="365760"/>
          </a:xfrm>
          <a:prstGeom prst="rect">
            <a:avLst/>
          </a:prstGeom>
          <a:noFill/>
          <a:ln/>
        </p:spPr>
        <p:txBody>
          <a:bodyPr wrap="square" lIns="0" tIns="0" rIns="0" bIns="0" rtlCol="0" anchor="t"/>
          <a:lstStyle/>
          <a:p>
            <a:pPr indent="0" marL="0">
              <a:buNone/>
            </a:pPr>
            <a:r>
              <a:rPr lang="en-US" sz="1700" b="1" dirty="0">
                <a:solidFill>
                  <a:schemeClr val="tx1"/>
                </a:solidFill>
              </a:rPr>
              <a:t>Distribution boards</a:t>
            </a:r>
            <a:endParaRPr lang="en-US" sz="1700" dirty="0"/>
          </a:p>
        </p:txBody>
      </p:sp>
      <p:sp>
        <p:nvSpPr>
          <p:cNvPr id="12" name="value point text 2"/>
          <p:cNvSpPr txBox="1"/>
          <p:nvPr/>
        </p:nvSpPr>
        <p:spPr>
          <a:xfrm>
            <a:off x="7680960" y="3401568"/>
            <a:ext cx="3931920" cy="822960"/>
          </a:xfrm>
          <a:prstGeom prst="rect">
            <a:avLst/>
          </a:prstGeom>
          <a:noFill/>
          <a:ln/>
        </p:spPr>
        <p:txBody>
          <a:bodyPr wrap="square" lIns="0" tIns="0" rIns="0" bIns="0" rtlCol="0" anchor="t"/>
          <a:lstStyle/>
          <a:p>
            <a:pPr indent="0" marL="0">
              <a:buNone/>
            </a:pPr>
            <a:r>
              <a:rPr lang="en-US" sz="1400" dirty="0">
                <a:solidFill>
                  <a:schemeClr val="tx2"/>
                </a:solidFill>
              </a:rPr>
              <a:t>One per board, never twice across sheets; priced from its contents.</a:t>
            </a:r>
            <a:endParaRPr lang="en-US" sz="1400" dirty="0"/>
          </a:p>
        </p:txBody>
      </p:sp>
      <p:sp>
        <p:nvSpPr>
          <p:cNvPr id="13" name="value point 3 circle"/>
          <p:cNvSpPr/>
          <p:nvPr/>
        </p:nvSpPr>
        <p:spPr>
          <a:xfrm>
            <a:off x="6766560" y="4480560"/>
            <a:ext cx="685800" cy="685800"/>
          </a:xfrm>
          <a:prstGeom prst="ellipse">
            <a:avLst/>
          </a:prstGeom>
          <a:solidFill>
            <a:srgbClr val="F2F4F9"/>
          </a:solidFill>
          <a:ln w="12700">
            <a:solidFill>
              <a:srgbClr val="F2F4F9"/>
            </a:solidFill>
            <a:prstDash val="solid"/>
          </a:ln>
        </p:spPr>
      </p:sp>
      <p:pic>
        <p:nvPicPr>
          <p:cNvPr id="14" name="value point 3 icon" descr="preencoded.png">    </p:cNvPr>
          <p:cNvPicPr>
            <a:picLocks noChangeAspect="1"/>
          </p:cNvPicPr>
          <p:nvPr/>
        </p:nvPicPr>
        <p:blipFill>
          <a:blip r:embed="rId4"/>
          <a:stretch>
            <a:fillRect/>
          </a:stretch>
        </p:blipFill>
        <p:spPr>
          <a:xfrm>
            <a:off x="6944868" y="4658868"/>
            <a:ext cx="329184" cy="329184"/>
          </a:xfrm>
          <a:prstGeom prst="rect">
            <a:avLst/>
          </a:prstGeom>
        </p:spPr>
      </p:pic>
      <p:sp>
        <p:nvSpPr>
          <p:cNvPr id="15" name="value point title 3"/>
          <p:cNvSpPr txBox="1"/>
          <p:nvPr/>
        </p:nvSpPr>
        <p:spPr>
          <a:xfrm>
            <a:off x="7680960" y="4480560"/>
            <a:ext cx="3931920" cy="365760"/>
          </a:xfrm>
          <a:prstGeom prst="rect">
            <a:avLst/>
          </a:prstGeom>
          <a:noFill/>
          <a:ln/>
        </p:spPr>
        <p:txBody>
          <a:bodyPr wrap="square" lIns="0" tIns="0" rIns="0" bIns="0" rtlCol="0" anchor="t"/>
          <a:lstStyle/>
          <a:p>
            <a:pPr indent="0" marL="0">
              <a:buNone/>
            </a:pPr>
            <a:r>
              <a:rPr lang="en-US" sz="1700" b="1" dirty="0">
                <a:solidFill>
                  <a:schemeClr val="tx1"/>
                </a:solidFill>
              </a:rPr>
              <a:t>Symbols are the small part</a:t>
            </a:r>
            <a:endParaRPr lang="en-US" sz="1700" dirty="0"/>
          </a:p>
        </p:txBody>
      </p:sp>
      <p:sp>
        <p:nvSpPr>
          <p:cNvPr id="16" name="value point text 3"/>
          <p:cNvSpPr txBox="1"/>
          <p:nvPr/>
        </p:nvSpPr>
        <p:spPr>
          <a:xfrm>
            <a:off x="7680960" y="4864608"/>
            <a:ext cx="3931920" cy="822960"/>
          </a:xfrm>
          <a:prstGeom prst="rect">
            <a:avLst/>
          </a:prstGeom>
          <a:noFill/>
          <a:ln/>
        </p:spPr>
        <p:txBody>
          <a:bodyPr wrap="square" lIns="0" tIns="0" rIns="0" bIns="0" rtlCol="0" anchor="t"/>
          <a:lstStyle/>
          <a:p>
            <a:pPr indent="0" marL="0">
              <a:buNone/>
            </a:pPr>
            <a:r>
              <a:rPr lang="en-US" sz="1400" dirty="0">
                <a:solidFill>
                  <a:schemeClr val="tx2"/>
                </a:solidFill>
              </a:rPr>
              <a:t>Fittings, outlets and switches: a perfect symbol counter alone scores below 10%.</a:t>
            </a:r>
            <a:endParaRPr lang="en-US" sz="1400" dirty="0"/>
          </a:p>
        </p:txBody>
      </p:sp>
      <p:sp>
        <p:nvSpPr>
          <p:cNvPr id="17" name="source"/>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6"/>
                </a:solidFill>
              </a:rPr>
              <a:t>Measured on a real, human-priced 7-building reference bill (priced building lines; contingency, VAT and P&amp;Gs excluded).</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Two readers, one set of findings, one pricer</a:t>
            </a:r>
            <a:endParaRPr lang="en-US" sz="3000" dirty="0"/>
          </a:p>
        </p:txBody>
      </p:sp>
      <p:sp>
        <p:nvSpPr>
          <p:cNvPr id="4" name="input 1"/>
          <p:cNvSpPr/>
          <p:nvPr/>
        </p:nvSpPr>
        <p:spPr>
          <a:xfrm>
            <a:off x="548640" y="1600200"/>
            <a:ext cx="2148840" cy="1417320"/>
          </a:xfrm>
          <a:prstGeom prst="roundRect">
            <a:avLst>
              <a:gd name="adj" fmla="val 7742"/>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input 1 circle"/>
          <p:cNvSpPr/>
          <p:nvPr/>
        </p:nvSpPr>
        <p:spPr>
          <a:xfrm>
            <a:off x="749808" y="1828800"/>
            <a:ext cx="548640" cy="548640"/>
          </a:xfrm>
          <a:prstGeom prst="ellipse">
            <a:avLst/>
          </a:prstGeom>
          <a:solidFill>
            <a:srgbClr val="F2F4F9"/>
          </a:solidFill>
          <a:ln w="12700">
            <a:solidFill>
              <a:srgbClr val="F2F4F9"/>
            </a:solidFill>
            <a:prstDash val="solid"/>
          </a:ln>
        </p:spPr>
      </p:sp>
      <p:pic>
        <p:nvPicPr>
          <p:cNvPr id="6" name="input 1 icon" descr="preencoded.png">    </p:cNvPr>
          <p:cNvPicPr>
            <a:picLocks noChangeAspect="1"/>
          </p:cNvPicPr>
          <p:nvPr/>
        </p:nvPicPr>
        <p:blipFill>
          <a:blip r:embed="rId1"/>
          <a:stretch>
            <a:fillRect/>
          </a:stretch>
        </p:blipFill>
        <p:spPr>
          <a:xfrm>
            <a:off x="892454" y="1971446"/>
            <a:ext cx="263347" cy="263347"/>
          </a:xfrm>
          <a:prstGeom prst="rect">
            <a:avLst/>
          </a:prstGeom>
        </p:spPr>
      </p:pic>
      <p:sp>
        <p:nvSpPr>
          <p:cNvPr id="7" name="input title 1"/>
          <p:cNvSpPr txBox="1"/>
          <p:nvPr/>
        </p:nvSpPr>
        <p:spPr>
          <a:xfrm>
            <a:off x="749808" y="2441448"/>
            <a:ext cx="1828800" cy="274320"/>
          </a:xfrm>
          <a:prstGeom prst="rect">
            <a:avLst/>
          </a:prstGeom>
          <a:noFill/>
          <a:ln/>
        </p:spPr>
        <p:txBody>
          <a:bodyPr wrap="square" lIns="0" tIns="0" rIns="0" bIns="0" rtlCol="0" anchor="t"/>
          <a:lstStyle/>
          <a:p>
            <a:pPr indent="0" marL="0">
              <a:buNone/>
            </a:pPr>
            <a:r>
              <a:rPr lang="en-US" sz="1400" b="1" dirty="0">
                <a:solidFill>
                  <a:schemeClr val="tx1"/>
                </a:solidFill>
              </a:rPr>
              <a:t>PDF drawings</a:t>
            </a:r>
            <a:endParaRPr lang="en-US" sz="1400" dirty="0"/>
          </a:p>
        </p:txBody>
      </p:sp>
      <p:sp>
        <p:nvSpPr>
          <p:cNvPr id="8" name="input text 1"/>
          <p:cNvSpPr txBox="1"/>
          <p:nvPr/>
        </p:nvSpPr>
        <p:spPr>
          <a:xfrm>
            <a:off x="749808" y="2697480"/>
            <a:ext cx="1828800" cy="274320"/>
          </a:xfrm>
          <a:prstGeom prst="rect">
            <a:avLst/>
          </a:prstGeom>
          <a:noFill/>
          <a:ln/>
        </p:spPr>
        <p:txBody>
          <a:bodyPr wrap="square" lIns="0" tIns="0" rIns="0" bIns="0" rtlCol="0" anchor="t"/>
          <a:lstStyle/>
          <a:p>
            <a:pPr indent="0" marL="0">
              <a:buNone/>
            </a:pPr>
            <a:r>
              <a:rPr lang="en-US" sz="1100" dirty="0">
                <a:solidFill>
                  <a:schemeClr val="tx2"/>
                </a:solidFill>
              </a:rPr>
              <a:t>scanned or exported</a:t>
            </a:r>
            <a:endParaRPr lang="en-US" sz="1100" dirty="0"/>
          </a:p>
        </p:txBody>
      </p:sp>
      <p:sp>
        <p:nvSpPr>
          <p:cNvPr id="9" name="Shape 5"/>
          <p:cNvSpPr/>
          <p:nvPr/>
        </p:nvSpPr>
        <p:spPr>
          <a:xfrm>
            <a:off x="2743200" y="2313432"/>
            <a:ext cx="365760" cy="0"/>
          </a:xfrm>
          <a:prstGeom prst="line">
            <a:avLst/>
          </a:prstGeom>
          <a:noFill/>
          <a:ln w="25400">
            <a:solidFill>
              <a:srgbClr val="8A93AB"/>
            </a:solidFill>
            <a:prstDash val="solid"/>
            <a:tailEnd type="triangle"/>
          </a:ln>
        </p:spPr>
      </p:sp>
      <p:sp>
        <p:nvSpPr>
          <p:cNvPr id="10" name="reader 1"/>
          <p:cNvSpPr/>
          <p:nvPr/>
        </p:nvSpPr>
        <p:spPr>
          <a:xfrm>
            <a:off x="3154680" y="1600200"/>
            <a:ext cx="2377440" cy="1417320"/>
          </a:xfrm>
          <a:prstGeom prst="roundRect">
            <a:avLst>
              <a:gd name="adj" fmla="val 7742"/>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1" name="reader 1 circle"/>
          <p:cNvSpPr/>
          <p:nvPr/>
        </p:nvSpPr>
        <p:spPr>
          <a:xfrm>
            <a:off x="3355848" y="1828800"/>
            <a:ext cx="548640" cy="548640"/>
          </a:xfrm>
          <a:prstGeom prst="ellipse">
            <a:avLst/>
          </a:prstGeom>
          <a:solidFill>
            <a:srgbClr val="2E5BE8"/>
          </a:solidFill>
          <a:ln w="12700">
            <a:solidFill>
              <a:srgbClr val="2E5BE8"/>
            </a:solidFill>
            <a:prstDash val="solid"/>
          </a:ln>
        </p:spPr>
      </p:sp>
      <p:pic>
        <p:nvPicPr>
          <p:cNvPr id="12" name="reader 1 icon" descr="preencoded.png">    </p:cNvPr>
          <p:cNvPicPr>
            <a:picLocks noChangeAspect="1"/>
          </p:cNvPicPr>
          <p:nvPr/>
        </p:nvPicPr>
        <p:blipFill>
          <a:blip r:embed="rId2"/>
          <a:stretch>
            <a:fillRect/>
          </a:stretch>
        </p:blipFill>
        <p:spPr>
          <a:xfrm>
            <a:off x="3498494" y="1971446"/>
            <a:ext cx="263347" cy="263347"/>
          </a:xfrm>
          <a:prstGeom prst="rect">
            <a:avLst/>
          </a:prstGeom>
        </p:spPr>
      </p:pic>
      <p:sp>
        <p:nvSpPr>
          <p:cNvPr id="13" name="reader title 1"/>
          <p:cNvSpPr txBox="1"/>
          <p:nvPr/>
        </p:nvSpPr>
        <p:spPr>
          <a:xfrm>
            <a:off x="4023360" y="1901952"/>
            <a:ext cx="1463040" cy="365760"/>
          </a:xfrm>
          <a:prstGeom prst="rect">
            <a:avLst/>
          </a:prstGeom>
          <a:noFill/>
          <a:ln/>
        </p:spPr>
        <p:txBody>
          <a:bodyPr wrap="square" lIns="0" tIns="0" rIns="0" bIns="0" rtlCol="0" anchor="t"/>
          <a:lstStyle/>
          <a:p>
            <a:pPr indent="0" marL="0">
              <a:buNone/>
            </a:pPr>
            <a:r>
              <a:rPr lang="en-US" sz="1500" b="1" dirty="0">
                <a:solidFill>
                  <a:schemeClr val="tx1"/>
                </a:solidFill>
              </a:rPr>
              <a:t>PDF reader</a:t>
            </a:r>
            <a:endParaRPr lang="en-US" sz="1500" dirty="0"/>
          </a:p>
        </p:txBody>
      </p:sp>
      <p:sp>
        <p:nvSpPr>
          <p:cNvPr id="14" name="reader text 1"/>
          <p:cNvSpPr txBox="1"/>
          <p:nvPr/>
        </p:nvSpPr>
        <p:spPr>
          <a:xfrm>
            <a:off x="3355848" y="2468880"/>
            <a:ext cx="2057400" cy="502920"/>
          </a:xfrm>
          <a:prstGeom prst="rect">
            <a:avLst/>
          </a:prstGeom>
          <a:noFill/>
          <a:ln/>
        </p:spPr>
        <p:txBody>
          <a:bodyPr wrap="square" lIns="0" tIns="0" rIns="0" bIns="0" rtlCol="0" anchor="t"/>
          <a:lstStyle/>
          <a:p>
            <a:pPr indent="0" marL="0">
              <a:buNone/>
            </a:pPr>
            <a:r>
              <a:rPr lang="en-US" sz="1150" dirty="0">
                <a:solidFill>
                  <a:schemeClr val="tx2"/>
                </a:solidFill>
              </a:rPr>
              <a:t>AI reads each page into strict forms</a:t>
            </a:r>
            <a:endParaRPr lang="en-US" sz="1150" dirty="0"/>
          </a:p>
        </p:txBody>
      </p:sp>
      <p:sp>
        <p:nvSpPr>
          <p:cNvPr id="15" name="Shape 10"/>
          <p:cNvSpPr/>
          <p:nvPr/>
        </p:nvSpPr>
        <p:spPr>
          <a:xfrm>
            <a:off x="5577840" y="2313432"/>
            <a:ext cx="365760" cy="0"/>
          </a:xfrm>
          <a:prstGeom prst="line">
            <a:avLst/>
          </a:prstGeom>
          <a:noFill/>
          <a:ln w="25400">
            <a:solidFill>
              <a:srgbClr val="8A93AB"/>
            </a:solidFill>
            <a:prstDash val="solid"/>
            <a:tailEnd type="triangle"/>
          </a:ln>
        </p:spPr>
      </p:sp>
      <p:sp>
        <p:nvSpPr>
          <p:cNvPr id="16" name="input 2"/>
          <p:cNvSpPr/>
          <p:nvPr/>
        </p:nvSpPr>
        <p:spPr>
          <a:xfrm>
            <a:off x="548640" y="3794760"/>
            <a:ext cx="2148840" cy="1417320"/>
          </a:xfrm>
          <a:prstGeom prst="roundRect">
            <a:avLst>
              <a:gd name="adj" fmla="val 7742"/>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7" name="input 2 circle"/>
          <p:cNvSpPr/>
          <p:nvPr/>
        </p:nvSpPr>
        <p:spPr>
          <a:xfrm>
            <a:off x="749808" y="4023360"/>
            <a:ext cx="548640" cy="548640"/>
          </a:xfrm>
          <a:prstGeom prst="ellipse">
            <a:avLst/>
          </a:prstGeom>
          <a:solidFill>
            <a:srgbClr val="F2F4F9"/>
          </a:solidFill>
          <a:ln w="12700">
            <a:solidFill>
              <a:srgbClr val="F2F4F9"/>
            </a:solidFill>
            <a:prstDash val="solid"/>
          </a:ln>
        </p:spPr>
      </p:sp>
      <p:pic>
        <p:nvPicPr>
          <p:cNvPr id="18" name="input 2 icon" descr="preencoded.png">    </p:cNvPr>
          <p:cNvPicPr>
            <a:picLocks noChangeAspect="1"/>
          </p:cNvPicPr>
          <p:nvPr/>
        </p:nvPicPr>
        <p:blipFill>
          <a:blip r:embed="rId3"/>
          <a:stretch>
            <a:fillRect/>
          </a:stretch>
        </p:blipFill>
        <p:spPr>
          <a:xfrm>
            <a:off x="892454" y="4166006"/>
            <a:ext cx="263347" cy="263347"/>
          </a:xfrm>
          <a:prstGeom prst="rect">
            <a:avLst/>
          </a:prstGeom>
        </p:spPr>
      </p:pic>
      <p:sp>
        <p:nvSpPr>
          <p:cNvPr id="19" name="input title 2"/>
          <p:cNvSpPr txBox="1"/>
          <p:nvPr/>
        </p:nvSpPr>
        <p:spPr>
          <a:xfrm>
            <a:off x="749808" y="4636008"/>
            <a:ext cx="1828800" cy="274320"/>
          </a:xfrm>
          <a:prstGeom prst="rect">
            <a:avLst/>
          </a:prstGeom>
          <a:noFill/>
          <a:ln/>
        </p:spPr>
        <p:txBody>
          <a:bodyPr wrap="square" lIns="0" tIns="0" rIns="0" bIns="0" rtlCol="0" anchor="t"/>
          <a:lstStyle/>
          <a:p>
            <a:pPr indent="0" marL="0">
              <a:buNone/>
            </a:pPr>
            <a:r>
              <a:rPr lang="en-US" sz="1400" b="1" dirty="0">
                <a:solidFill>
                  <a:schemeClr val="tx1"/>
                </a:solidFill>
              </a:rPr>
              <a:t>DWG / DXF drawings</a:t>
            </a:r>
            <a:endParaRPr lang="en-US" sz="1400" dirty="0"/>
          </a:p>
        </p:txBody>
      </p:sp>
      <p:sp>
        <p:nvSpPr>
          <p:cNvPr id="20" name="input text 2"/>
          <p:cNvSpPr txBox="1"/>
          <p:nvPr/>
        </p:nvSpPr>
        <p:spPr>
          <a:xfrm>
            <a:off x="749808" y="4892040"/>
            <a:ext cx="1828800" cy="274320"/>
          </a:xfrm>
          <a:prstGeom prst="rect">
            <a:avLst/>
          </a:prstGeom>
          <a:noFill/>
          <a:ln/>
        </p:spPr>
        <p:txBody>
          <a:bodyPr wrap="square" lIns="0" tIns="0" rIns="0" bIns="0" rtlCol="0" anchor="t"/>
          <a:lstStyle/>
          <a:p>
            <a:pPr indent="0" marL="0">
              <a:buNone/>
            </a:pPr>
            <a:r>
              <a:rPr lang="en-US" sz="1100" dirty="0">
                <a:solidFill>
                  <a:schemeClr val="tx2"/>
                </a:solidFill>
              </a:rPr>
              <a:t>the CAD set</a:t>
            </a:r>
            <a:endParaRPr lang="en-US" sz="1100" dirty="0"/>
          </a:p>
        </p:txBody>
      </p:sp>
      <p:sp>
        <p:nvSpPr>
          <p:cNvPr id="21" name="Shape 15"/>
          <p:cNvSpPr/>
          <p:nvPr/>
        </p:nvSpPr>
        <p:spPr>
          <a:xfrm>
            <a:off x="2743200" y="4507992"/>
            <a:ext cx="365760" cy="0"/>
          </a:xfrm>
          <a:prstGeom prst="line">
            <a:avLst/>
          </a:prstGeom>
          <a:noFill/>
          <a:ln w="25400">
            <a:solidFill>
              <a:srgbClr val="8A93AB"/>
            </a:solidFill>
            <a:prstDash val="solid"/>
            <a:tailEnd type="triangle"/>
          </a:ln>
        </p:spPr>
      </p:sp>
      <p:sp>
        <p:nvSpPr>
          <p:cNvPr id="22" name="reader 2"/>
          <p:cNvSpPr/>
          <p:nvPr/>
        </p:nvSpPr>
        <p:spPr>
          <a:xfrm>
            <a:off x="3154680" y="3794760"/>
            <a:ext cx="2377440" cy="1417320"/>
          </a:xfrm>
          <a:prstGeom prst="roundRect">
            <a:avLst>
              <a:gd name="adj" fmla="val 7742"/>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3" name="reader 2 circle"/>
          <p:cNvSpPr/>
          <p:nvPr/>
        </p:nvSpPr>
        <p:spPr>
          <a:xfrm>
            <a:off x="3355848" y="4023360"/>
            <a:ext cx="548640" cy="548640"/>
          </a:xfrm>
          <a:prstGeom prst="ellipse">
            <a:avLst/>
          </a:prstGeom>
          <a:solidFill>
            <a:srgbClr val="2E5BE8"/>
          </a:solidFill>
          <a:ln w="12700">
            <a:solidFill>
              <a:srgbClr val="2E5BE8"/>
            </a:solidFill>
            <a:prstDash val="solid"/>
          </a:ln>
        </p:spPr>
      </p:sp>
      <p:pic>
        <p:nvPicPr>
          <p:cNvPr id="24" name="reader 2 icon" descr="preencoded.png">    </p:cNvPr>
          <p:cNvPicPr>
            <a:picLocks noChangeAspect="1"/>
          </p:cNvPicPr>
          <p:nvPr/>
        </p:nvPicPr>
        <p:blipFill>
          <a:blip r:embed="rId4"/>
          <a:stretch>
            <a:fillRect/>
          </a:stretch>
        </p:blipFill>
        <p:spPr>
          <a:xfrm>
            <a:off x="3498494" y="4166006"/>
            <a:ext cx="263347" cy="263347"/>
          </a:xfrm>
          <a:prstGeom prst="rect">
            <a:avLst/>
          </a:prstGeom>
        </p:spPr>
      </p:pic>
      <p:sp>
        <p:nvSpPr>
          <p:cNvPr id="25" name="reader title 2"/>
          <p:cNvSpPr txBox="1"/>
          <p:nvPr/>
        </p:nvSpPr>
        <p:spPr>
          <a:xfrm>
            <a:off x="4023360" y="4096512"/>
            <a:ext cx="1463040" cy="365760"/>
          </a:xfrm>
          <a:prstGeom prst="rect">
            <a:avLst/>
          </a:prstGeom>
          <a:noFill/>
          <a:ln/>
        </p:spPr>
        <p:txBody>
          <a:bodyPr wrap="square" lIns="0" tIns="0" rIns="0" bIns="0" rtlCol="0" anchor="t"/>
          <a:lstStyle/>
          <a:p>
            <a:pPr indent="0" marL="0">
              <a:buNone/>
            </a:pPr>
            <a:r>
              <a:rPr lang="en-US" sz="1500" b="1" dirty="0">
                <a:solidFill>
                  <a:schemeClr val="tx1"/>
                </a:solidFill>
              </a:rPr>
              <a:t>CAD reader</a:t>
            </a:r>
            <a:endParaRPr lang="en-US" sz="1500" dirty="0"/>
          </a:p>
        </p:txBody>
      </p:sp>
      <p:sp>
        <p:nvSpPr>
          <p:cNvPr id="26" name="reader text 2"/>
          <p:cNvSpPr txBox="1"/>
          <p:nvPr/>
        </p:nvSpPr>
        <p:spPr>
          <a:xfrm>
            <a:off x="3355848" y="4663440"/>
            <a:ext cx="2057400" cy="502920"/>
          </a:xfrm>
          <a:prstGeom prst="rect">
            <a:avLst/>
          </a:prstGeom>
          <a:noFill/>
          <a:ln/>
        </p:spPr>
        <p:txBody>
          <a:bodyPr wrap="square" lIns="0" tIns="0" rIns="0" bIns="0" rtlCol="0" anchor="t"/>
          <a:lstStyle/>
          <a:p>
            <a:pPr indent="0" marL="0">
              <a:buNone/>
            </a:pPr>
            <a:r>
              <a:rPr lang="en-US" sz="1150" dirty="0">
                <a:solidFill>
                  <a:schemeClr val="tx2"/>
                </a:solidFill>
              </a:rPr>
              <a:t>counts symbols, reads SLDs, measures routes</a:t>
            </a:r>
            <a:endParaRPr lang="en-US" sz="1150" dirty="0"/>
          </a:p>
        </p:txBody>
      </p:sp>
      <p:sp>
        <p:nvSpPr>
          <p:cNvPr id="27" name="Shape 20"/>
          <p:cNvSpPr/>
          <p:nvPr/>
        </p:nvSpPr>
        <p:spPr>
          <a:xfrm>
            <a:off x="5577840" y="4507992"/>
            <a:ext cx="365760" cy="0"/>
          </a:xfrm>
          <a:prstGeom prst="line">
            <a:avLst/>
          </a:prstGeom>
          <a:noFill/>
          <a:ln w="25400">
            <a:solidFill>
              <a:srgbClr val="8A93AB"/>
            </a:solidFill>
            <a:prstDash val="solid"/>
            <a:tailEnd type="triangle"/>
          </a:ln>
        </p:spPr>
      </p:sp>
      <p:sp>
        <p:nvSpPr>
          <p:cNvPr id="28" name="findings"/>
          <p:cNvSpPr/>
          <p:nvPr/>
        </p:nvSpPr>
        <p:spPr>
          <a:xfrm>
            <a:off x="5989320" y="1600200"/>
            <a:ext cx="1828800" cy="3611880"/>
          </a:xfrm>
          <a:prstGeom prst="roundRect">
            <a:avLst>
              <a:gd name="adj" fmla="val 6000"/>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9" name="findings circle"/>
          <p:cNvSpPr/>
          <p:nvPr/>
        </p:nvSpPr>
        <p:spPr>
          <a:xfrm>
            <a:off x="6583680" y="1783080"/>
            <a:ext cx="640080" cy="640080"/>
          </a:xfrm>
          <a:prstGeom prst="ellipse">
            <a:avLst/>
          </a:prstGeom>
          <a:solidFill>
            <a:srgbClr val="F2A900"/>
          </a:solidFill>
          <a:ln w="12700">
            <a:solidFill>
              <a:srgbClr val="F2A900"/>
            </a:solidFill>
            <a:prstDash val="solid"/>
          </a:ln>
        </p:spPr>
      </p:sp>
      <p:pic>
        <p:nvPicPr>
          <p:cNvPr id="30" name="findings icon" descr="preencoded.png">    </p:cNvPr>
          <p:cNvPicPr>
            <a:picLocks noChangeAspect="1"/>
          </p:cNvPicPr>
          <p:nvPr/>
        </p:nvPicPr>
        <p:blipFill>
          <a:blip r:embed="rId5"/>
          <a:stretch>
            <a:fillRect/>
          </a:stretch>
        </p:blipFill>
        <p:spPr>
          <a:xfrm>
            <a:off x="6750101" y="1949501"/>
            <a:ext cx="307238" cy="307238"/>
          </a:xfrm>
          <a:prstGeom prst="rect">
            <a:avLst/>
          </a:prstGeom>
        </p:spPr>
      </p:pic>
      <p:sp>
        <p:nvSpPr>
          <p:cNvPr id="31" name="findings title"/>
          <p:cNvSpPr txBox="1"/>
          <p:nvPr/>
        </p:nvSpPr>
        <p:spPr>
          <a:xfrm>
            <a:off x="6172200" y="2514600"/>
            <a:ext cx="1463040" cy="320040"/>
          </a:xfrm>
          <a:prstGeom prst="rect">
            <a:avLst/>
          </a:prstGeom>
          <a:noFill/>
          <a:ln/>
        </p:spPr>
        <p:txBody>
          <a:bodyPr wrap="square" lIns="0" tIns="0" rIns="0" bIns="0" rtlCol="0" anchor="t"/>
          <a:lstStyle/>
          <a:p>
            <a:pPr algn="ctr" indent="0" marL="0">
              <a:buNone/>
            </a:pPr>
            <a:r>
              <a:rPr lang="en-US" sz="1500" b="1" dirty="0">
                <a:solidFill>
                  <a:schemeClr val="tx1"/>
                </a:solidFill>
              </a:rPr>
              <a:t>Findings</a:t>
            </a:r>
            <a:endParaRPr lang="en-US" sz="1500" dirty="0"/>
          </a:p>
        </p:txBody>
      </p:sp>
      <p:sp>
        <p:nvSpPr>
          <p:cNvPr id="32" name="findings evidence"/>
          <p:cNvSpPr txBox="1"/>
          <p:nvPr/>
        </p:nvSpPr>
        <p:spPr>
          <a:xfrm>
            <a:off x="6172200" y="2880360"/>
            <a:ext cx="1463040" cy="2103120"/>
          </a:xfrm>
          <a:prstGeom prst="rect">
            <a:avLst/>
          </a:prstGeom>
          <a:noFill/>
          <a:ln/>
        </p:spPr>
        <p:txBody>
          <a:bodyPr wrap="square" lIns="0" tIns="0" rIns="0" bIns="0" rtlCol="0" anchor="t"/>
          <a:lstStyle/>
          <a:p>
            <a:pPr algn="ctr" indent="0" marL="0">
              <a:buNone/>
            </a:pPr>
            <a:r>
              <a:rPr lang="en-US" sz="1250" dirty="0">
                <a:solidFill>
                  <a:schemeClr val="tx2"/>
                </a:solidFill>
              </a:rPr>
              <a:t>with evidence</a:t>
            </a:r>
            <a:endParaRPr lang="en-US" sz="1250" dirty="0"/>
          </a:p>
          <a:p>
            <a:pPr algn="ctr" indent="0" marL="0">
              <a:buNone/>
            </a:pPr>
            <a:r>
              <a:rPr lang="en-US" sz="1250" b="1" dirty="0">
                <a:solidFill>
                  <a:schemeClr val="accent3"/>
                </a:solidFill>
              </a:rPr>
              <a:t>measured</a:t>
            </a:r>
            <a:endParaRPr lang="en-US" sz="1250" dirty="0"/>
          </a:p>
          <a:p>
            <a:pPr algn="ctr" indent="0" marL="0">
              <a:buNone/>
            </a:pPr>
            <a:r>
              <a:rPr lang="en-US" sz="1250" dirty="0">
                <a:solidFill>
                  <a:schemeClr val="tx1"/>
                </a:solidFill>
              </a:rPr>
              <a:t>› counted</a:t>
            </a:r>
            <a:endParaRPr lang="en-US" sz="1250" dirty="0"/>
          </a:p>
          <a:p>
            <a:pPr algn="ctr" indent="0" marL="0">
              <a:buNone/>
            </a:pPr>
            <a:r>
              <a:rPr lang="en-US" sz="1250" dirty="0">
                <a:solidFill>
                  <a:schemeClr val="tx1"/>
                </a:solidFill>
              </a:rPr>
              <a:t>› written</a:t>
            </a:r>
            <a:endParaRPr lang="en-US" sz="1250" dirty="0"/>
          </a:p>
          <a:p>
            <a:pPr algn="ctr" indent="0" marL="0">
              <a:buNone/>
            </a:pPr>
            <a:r>
              <a:rPr lang="en-US" sz="1250" dirty="0">
                <a:solidFill>
                  <a:schemeClr val="tx1"/>
                </a:solidFill>
              </a:rPr>
              <a:t>› seen</a:t>
            </a:r>
            <a:endParaRPr lang="en-US" sz="1250" dirty="0"/>
          </a:p>
          <a:p>
            <a:pPr algn="ctr" indent="0" marL="0">
              <a:buNone/>
            </a:pPr>
            <a:r>
              <a:rPr lang="en-US" sz="1250" dirty="0">
                <a:solidFill>
                  <a:schemeClr val="accent4"/>
                </a:solidFill>
              </a:rPr>
              <a:t>› assumed</a:t>
            </a:r>
            <a:endParaRPr lang="en-US" sz="1250" dirty="0"/>
          </a:p>
        </p:txBody>
      </p:sp>
      <p:sp>
        <p:nvSpPr>
          <p:cNvPr id="33" name="Shape 25"/>
          <p:cNvSpPr/>
          <p:nvPr/>
        </p:nvSpPr>
        <p:spPr>
          <a:xfrm>
            <a:off x="7863840" y="3401568"/>
            <a:ext cx="365760" cy="0"/>
          </a:xfrm>
          <a:prstGeom prst="line">
            <a:avLst/>
          </a:prstGeom>
          <a:noFill/>
          <a:ln w="25400">
            <a:solidFill>
              <a:srgbClr val="8A93AB"/>
            </a:solidFill>
            <a:prstDash val="solid"/>
            <a:tailEnd type="triangle"/>
          </a:ln>
        </p:spPr>
      </p:sp>
      <p:sp>
        <p:nvSpPr>
          <p:cNvPr id="34" name="combine"/>
          <p:cNvSpPr/>
          <p:nvPr/>
        </p:nvSpPr>
        <p:spPr>
          <a:xfrm>
            <a:off x="8275320" y="1600200"/>
            <a:ext cx="1783080" cy="1508760"/>
          </a:xfrm>
          <a:prstGeom prst="roundRect">
            <a:avLst>
              <a:gd name="adj" fmla="val 7273"/>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35" name="combine circle"/>
          <p:cNvSpPr/>
          <p:nvPr/>
        </p:nvSpPr>
        <p:spPr>
          <a:xfrm>
            <a:off x="8458200" y="1755648"/>
            <a:ext cx="502920" cy="502920"/>
          </a:xfrm>
          <a:prstGeom prst="ellipse">
            <a:avLst/>
          </a:prstGeom>
          <a:solidFill>
            <a:srgbClr val="2E5BE8"/>
          </a:solidFill>
          <a:ln w="12700">
            <a:solidFill>
              <a:srgbClr val="2E5BE8"/>
            </a:solidFill>
            <a:prstDash val="solid"/>
          </a:ln>
        </p:spPr>
      </p:sp>
      <p:pic>
        <p:nvPicPr>
          <p:cNvPr id="36" name="combine icon" descr="preencoded.png">    </p:cNvPr>
          <p:cNvPicPr>
            <a:picLocks noChangeAspect="1"/>
          </p:cNvPicPr>
          <p:nvPr/>
        </p:nvPicPr>
        <p:blipFill>
          <a:blip r:embed="rId6"/>
          <a:stretch>
            <a:fillRect/>
          </a:stretch>
        </p:blipFill>
        <p:spPr>
          <a:xfrm>
            <a:off x="8588959" y="1886407"/>
            <a:ext cx="241402" cy="241402"/>
          </a:xfrm>
          <a:prstGeom prst="rect">
            <a:avLst/>
          </a:prstGeom>
        </p:spPr>
      </p:pic>
      <p:sp>
        <p:nvSpPr>
          <p:cNvPr id="37" name="combine title"/>
          <p:cNvSpPr txBox="1"/>
          <p:nvPr/>
        </p:nvSpPr>
        <p:spPr>
          <a:xfrm>
            <a:off x="8458200" y="2331720"/>
            <a:ext cx="1463040" cy="274320"/>
          </a:xfrm>
          <a:prstGeom prst="rect">
            <a:avLst/>
          </a:prstGeom>
          <a:noFill/>
          <a:ln/>
        </p:spPr>
        <p:txBody>
          <a:bodyPr wrap="square" lIns="0" tIns="0" rIns="0" bIns="0" rtlCol="0" anchor="t"/>
          <a:lstStyle/>
          <a:p>
            <a:pPr indent="0" marL="0">
              <a:buNone/>
            </a:pPr>
            <a:r>
              <a:rPr lang="en-US" sz="1400" b="1" dirty="0">
                <a:solidFill>
                  <a:schemeClr val="tx1"/>
                </a:solidFill>
              </a:rPr>
              <a:t>Combine</a:t>
            </a:r>
            <a:endParaRPr lang="en-US" sz="1400" dirty="0"/>
          </a:p>
        </p:txBody>
      </p:sp>
      <p:sp>
        <p:nvSpPr>
          <p:cNvPr id="38" name="combine text"/>
          <p:cNvSpPr txBox="1"/>
          <p:nvPr/>
        </p:nvSpPr>
        <p:spPr>
          <a:xfrm>
            <a:off x="8458200" y="2606040"/>
            <a:ext cx="1508760" cy="457200"/>
          </a:xfrm>
          <a:prstGeom prst="rect">
            <a:avLst/>
          </a:prstGeom>
          <a:noFill/>
          <a:ln/>
        </p:spPr>
        <p:txBody>
          <a:bodyPr wrap="square" lIns="0" tIns="0" rIns="0" bIns="0" rtlCol="0" anchor="t"/>
          <a:lstStyle/>
          <a:p>
            <a:pPr indent="0" marL="0">
              <a:buNone/>
            </a:pPr>
            <a:r>
              <a:rPr lang="en-US" sz="1050" dirty="0">
                <a:solidFill>
                  <a:schemeClr val="tx2"/>
                </a:solidFill>
              </a:rPr>
              <a:t>stronger evidence wins, nothing counted twice</a:t>
            </a:r>
            <a:endParaRPr lang="en-US" sz="1050" dirty="0"/>
          </a:p>
        </p:txBody>
      </p:sp>
      <p:sp>
        <p:nvSpPr>
          <p:cNvPr id="39" name="Shape 30"/>
          <p:cNvSpPr/>
          <p:nvPr/>
        </p:nvSpPr>
        <p:spPr>
          <a:xfrm>
            <a:off x="9162288" y="3154680"/>
            <a:ext cx="0" cy="502920"/>
          </a:xfrm>
          <a:prstGeom prst="line">
            <a:avLst/>
          </a:prstGeom>
          <a:noFill/>
          <a:ln w="25400">
            <a:solidFill>
              <a:srgbClr val="8A93AB"/>
            </a:solidFill>
            <a:prstDash val="solid"/>
            <a:tailEnd type="triangle"/>
          </a:ln>
        </p:spPr>
      </p:sp>
      <p:sp>
        <p:nvSpPr>
          <p:cNvPr id="40" name="price"/>
          <p:cNvSpPr/>
          <p:nvPr/>
        </p:nvSpPr>
        <p:spPr>
          <a:xfrm>
            <a:off x="8275320" y="3703320"/>
            <a:ext cx="1783080" cy="1508760"/>
          </a:xfrm>
          <a:prstGeom prst="roundRect">
            <a:avLst>
              <a:gd name="adj" fmla="val 7273"/>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41" name="price circle"/>
          <p:cNvSpPr/>
          <p:nvPr/>
        </p:nvSpPr>
        <p:spPr>
          <a:xfrm>
            <a:off x="8458200" y="3858768"/>
            <a:ext cx="502920" cy="502920"/>
          </a:xfrm>
          <a:prstGeom prst="ellipse">
            <a:avLst/>
          </a:prstGeom>
          <a:solidFill>
            <a:srgbClr val="2E5BE8"/>
          </a:solidFill>
          <a:ln w="12700">
            <a:solidFill>
              <a:srgbClr val="2E5BE8"/>
            </a:solidFill>
            <a:prstDash val="solid"/>
          </a:ln>
        </p:spPr>
      </p:sp>
      <p:pic>
        <p:nvPicPr>
          <p:cNvPr id="42" name="price icon" descr="preencoded.png">    </p:cNvPr>
          <p:cNvPicPr>
            <a:picLocks noChangeAspect="1"/>
          </p:cNvPicPr>
          <p:nvPr/>
        </p:nvPicPr>
        <p:blipFill>
          <a:blip r:embed="rId7"/>
          <a:stretch>
            <a:fillRect/>
          </a:stretch>
        </p:blipFill>
        <p:spPr>
          <a:xfrm>
            <a:off x="8588959" y="3989527"/>
            <a:ext cx="241402" cy="241402"/>
          </a:xfrm>
          <a:prstGeom prst="rect">
            <a:avLst/>
          </a:prstGeom>
        </p:spPr>
      </p:pic>
      <p:sp>
        <p:nvSpPr>
          <p:cNvPr id="43" name="price title"/>
          <p:cNvSpPr txBox="1"/>
          <p:nvPr/>
        </p:nvSpPr>
        <p:spPr>
          <a:xfrm>
            <a:off x="8458200" y="4434840"/>
            <a:ext cx="1463040" cy="274320"/>
          </a:xfrm>
          <a:prstGeom prst="rect">
            <a:avLst/>
          </a:prstGeom>
          <a:noFill/>
          <a:ln/>
        </p:spPr>
        <p:txBody>
          <a:bodyPr wrap="square" lIns="0" tIns="0" rIns="0" bIns="0" rtlCol="0" anchor="t"/>
          <a:lstStyle/>
          <a:p>
            <a:pPr indent="0" marL="0">
              <a:buNone/>
            </a:pPr>
            <a:r>
              <a:rPr lang="en-US" sz="1400" b="1" dirty="0">
                <a:solidFill>
                  <a:schemeClr val="tx1"/>
                </a:solidFill>
              </a:rPr>
              <a:t>Price once</a:t>
            </a:r>
            <a:endParaRPr lang="en-US" sz="1400" dirty="0"/>
          </a:p>
        </p:txBody>
      </p:sp>
      <p:sp>
        <p:nvSpPr>
          <p:cNvPr id="44" name="price text"/>
          <p:cNvSpPr txBox="1"/>
          <p:nvPr/>
        </p:nvSpPr>
        <p:spPr>
          <a:xfrm>
            <a:off x="8458200" y="4709160"/>
            <a:ext cx="1508760" cy="457200"/>
          </a:xfrm>
          <a:prstGeom prst="rect">
            <a:avLst/>
          </a:prstGeom>
          <a:noFill/>
          <a:ln/>
        </p:spPr>
        <p:txBody>
          <a:bodyPr wrap="square" lIns="0" tIns="0" rIns="0" bIns="0" rtlCol="0" anchor="t"/>
          <a:lstStyle/>
          <a:p>
            <a:pPr indent="0" marL="0">
              <a:buNone/>
            </a:pPr>
            <a:r>
              <a:rPr lang="en-US" sz="1050" dirty="0">
                <a:solidFill>
                  <a:schemeClr val="tx2"/>
                </a:solidFill>
              </a:rPr>
              <a:t>SA rate model: crew × hours, DB build-up</a:t>
            </a:r>
            <a:endParaRPr lang="en-US" sz="1050" dirty="0"/>
          </a:p>
        </p:txBody>
      </p:sp>
      <p:sp>
        <p:nvSpPr>
          <p:cNvPr id="45" name="Shape 35"/>
          <p:cNvSpPr/>
          <p:nvPr/>
        </p:nvSpPr>
        <p:spPr>
          <a:xfrm>
            <a:off x="10104120" y="4462272"/>
            <a:ext cx="320040" cy="0"/>
          </a:xfrm>
          <a:prstGeom prst="line">
            <a:avLst/>
          </a:prstGeom>
          <a:noFill/>
          <a:ln w="25400">
            <a:solidFill>
              <a:srgbClr val="8A93AB"/>
            </a:solidFill>
            <a:prstDash val="solid"/>
            <a:tailEnd type="triangle"/>
          </a:ln>
        </p:spPr>
      </p:sp>
      <p:sp>
        <p:nvSpPr>
          <p:cNvPr id="46" name="outputs"/>
          <p:cNvSpPr/>
          <p:nvPr/>
        </p:nvSpPr>
        <p:spPr>
          <a:xfrm>
            <a:off x="10469880" y="1600200"/>
            <a:ext cx="1188720" cy="3611880"/>
          </a:xfrm>
          <a:prstGeom prst="roundRect">
            <a:avLst>
              <a:gd name="adj" fmla="val 9231"/>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47" name="output 1 circle"/>
          <p:cNvSpPr/>
          <p:nvPr/>
        </p:nvSpPr>
        <p:spPr>
          <a:xfrm>
            <a:off x="10808208" y="1783080"/>
            <a:ext cx="502920" cy="502920"/>
          </a:xfrm>
          <a:prstGeom prst="ellipse">
            <a:avLst/>
          </a:prstGeom>
          <a:solidFill>
            <a:srgbClr val="F2F4F9"/>
          </a:solidFill>
          <a:ln w="12700">
            <a:solidFill>
              <a:srgbClr val="F2F4F9"/>
            </a:solidFill>
            <a:prstDash val="solid"/>
          </a:ln>
        </p:spPr>
      </p:sp>
      <p:pic>
        <p:nvPicPr>
          <p:cNvPr id="48" name="output 1 icon" descr="preencoded.png">    </p:cNvPr>
          <p:cNvPicPr>
            <a:picLocks noChangeAspect="1"/>
          </p:cNvPicPr>
          <p:nvPr/>
        </p:nvPicPr>
        <p:blipFill>
          <a:blip r:embed="rId8"/>
          <a:stretch>
            <a:fillRect/>
          </a:stretch>
        </p:blipFill>
        <p:spPr>
          <a:xfrm>
            <a:off x="10938967" y="1913839"/>
            <a:ext cx="241402" cy="241402"/>
          </a:xfrm>
          <a:prstGeom prst="rect">
            <a:avLst/>
          </a:prstGeom>
        </p:spPr>
      </p:pic>
      <p:sp>
        <p:nvSpPr>
          <p:cNvPr id="49" name="output label 1"/>
          <p:cNvSpPr txBox="1"/>
          <p:nvPr/>
        </p:nvSpPr>
        <p:spPr>
          <a:xfrm>
            <a:off x="10515600" y="2304288"/>
            <a:ext cx="1097280" cy="274320"/>
          </a:xfrm>
          <a:prstGeom prst="rect">
            <a:avLst/>
          </a:prstGeom>
          <a:noFill/>
          <a:ln/>
        </p:spPr>
        <p:txBody>
          <a:bodyPr wrap="square" lIns="0" tIns="0" rIns="0" bIns="0" rtlCol="0" anchor="t"/>
          <a:lstStyle/>
          <a:p>
            <a:pPr algn="ctr" indent="0" marL="0">
              <a:buNone/>
            </a:pPr>
            <a:r>
              <a:rPr lang="en-US" sz="1100" dirty="0">
                <a:solidFill>
                  <a:schemeClr val="tx1"/>
                </a:solidFill>
              </a:rPr>
              <a:t>Excel</a:t>
            </a:r>
            <a:endParaRPr lang="en-US" sz="1100" dirty="0"/>
          </a:p>
        </p:txBody>
      </p:sp>
      <p:sp>
        <p:nvSpPr>
          <p:cNvPr id="50" name="output 2 circle"/>
          <p:cNvSpPr/>
          <p:nvPr/>
        </p:nvSpPr>
        <p:spPr>
          <a:xfrm>
            <a:off x="10808208" y="2633472"/>
            <a:ext cx="502920" cy="502920"/>
          </a:xfrm>
          <a:prstGeom prst="ellipse">
            <a:avLst/>
          </a:prstGeom>
          <a:solidFill>
            <a:srgbClr val="F2F4F9"/>
          </a:solidFill>
          <a:ln w="12700">
            <a:solidFill>
              <a:srgbClr val="F2F4F9"/>
            </a:solidFill>
            <a:prstDash val="solid"/>
          </a:ln>
        </p:spPr>
      </p:sp>
      <p:pic>
        <p:nvPicPr>
          <p:cNvPr id="51" name="output 2 icon" descr="preencoded.png">    </p:cNvPr>
          <p:cNvPicPr>
            <a:picLocks noChangeAspect="1"/>
          </p:cNvPicPr>
          <p:nvPr/>
        </p:nvPicPr>
        <p:blipFill>
          <a:blip r:embed="rId9"/>
          <a:stretch>
            <a:fillRect/>
          </a:stretch>
        </p:blipFill>
        <p:spPr>
          <a:xfrm>
            <a:off x="10938967" y="2764231"/>
            <a:ext cx="241402" cy="241402"/>
          </a:xfrm>
          <a:prstGeom prst="rect">
            <a:avLst/>
          </a:prstGeom>
        </p:spPr>
      </p:pic>
      <p:sp>
        <p:nvSpPr>
          <p:cNvPr id="52" name="output label 2"/>
          <p:cNvSpPr txBox="1"/>
          <p:nvPr/>
        </p:nvSpPr>
        <p:spPr>
          <a:xfrm>
            <a:off x="10515600" y="3154680"/>
            <a:ext cx="1097280" cy="274320"/>
          </a:xfrm>
          <a:prstGeom prst="rect">
            <a:avLst/>
          </a:prstGeom>
          <a:noFill/>
          <a:ln/>
        </p:spPr>
        <p:txBody>
          <a:bodyPr wrap="square" lIns="0" tIns="0" rIns="0" bIns="0" rtlCol="0" anchor="t"/>
          <a:lstStyle/>
          <a:p>
            <a:pPr algn="ctr" indent="0" marL="0">
              <a:buNone/>
            </a:pPr>
            <a:r>
              <a:rPr lang="en-US" sz="1100" dirty="0">
                <a:solidFill>
                  <a:schemeClr val="tx1"/>
                </a:solidFill>
              </a:rPr>
              <a:t>PDF</a:t>
            </a:r>
            <a:endParaRPr lang="en-US" sz="1100" dirty="0"/>
          </a:p>
        </p:txBody>
      </p:sp>
      <p:sp>
        <p:nvSpPr>
          <p:cNvPr id="53" name="output 3 circle"/>
          <p:cNvSpPr/>
          <p:nvPr/>
        </p:nvSpPr>
        <p:spPr>
          <a:xfrm>
            <a:off x="10808208" y="3483864"/>
            <a:ext cx="502920" cy="502920"/>
          </a:xfrm>
          <a:prstGeom prst="ellipse">
            <a:avLst/>
          </a:prstGeom>
          <a:solidFill>
            <a:srgbClr val="F2F4F9"/>
          </a:solidFill>
          <a:ln w="12700">
            <a:solidFill>
              <a:srgbClr val="F2F4F9"/>
            </a:solidFill>
            <a:prstDash val="solid"/>
          </a:ln>
        </p:spPr>
      </p:sp>
      <p:pic>
        <p:nvPicPr>
          <p:cNvPr id="54" name="output 3 icon" descr="preencoded.png">    </p:cNvPr>
          <p:cNvPicPr>
            <a:picLocks noChangeAspect="1"/>
          </p:cNvPicPr>
          <p:nvPr/>
        </p:nvPicPr>
        <p:blipFill>
          <a:blip r:embed="rId10"/>
          <a:stretch>
            <a:fillRect/>
          </a:stretch>
        </p:blipFill>
        <p:spPr>
          <a:xfrm>
            <a:off x="10938967" y="3614623"/>
            <a:ext cx="241402" cy="241402"/>
          </a:xfrm>
          <a:prstGeom prst="rect">
            <a:avLst/>
          </a:prstGeom>
        </p:spPr>
      </p:pic>
      <p:sp>
        <p:nvSpPr>
          <p:cNvPr id="55" name="output label 3"/>
          <p:cNvSpPr txBox="1"/>
          <p:nvPr/>
        </p:nvSpPr>
        <p:spPr>
          <a:xfrm>
            <a:off x="10515600" y="4005072"/>
            <a:ext cx="1097280" cy="274320"/>
          </a:xfrm>
          <a:prstGeom prst="rect">
            <a:avLst/>
          </a:prstGeom>
          <a:noFill/>
          <a:ln/>
        </p:spPr>
        <p:txBody>
          <a:bodyPr wrap="square" lIns="0" tIns="0" rIns="0" bIns="0" rtlCol="0" anchor="t"/>
          <a:lstStyle/>
          <a:p>
            <a:pPr algn="ctr" indent="0" marL="0">
              <a:buNone/>
            </a:pPr>
            <a:r>
              <a:rPr lang="en-US" sz="1100" dirty="0">
                <a:solidFill>
                  <a:schemeClr val="tx1"/>
                </a:solidFill>
              </a:rPr>
              <a:t>Gaps</a:t>
            </a:r>
            <a:endParaRPr lang="en-US" sz="1100" dirty="0"/>
          </a:p>
        </p:txBody>
      </p:sp>
      <p:sp>
        <p:nvSpPr>
          <p:cNvPr id="56" name="output 4 circle"/>
          <p:cNvSpPr/>
          <p:nvPr/>
        </p:nvSpPr>
        <p:spPr>
          <a:xfrm>
            <a:off x="10808208" y="4334256"/>
            <a:ext cx="502920" cy="502920"/>
          </a:xfrm>
          <a:prstGeom prst="ellipse">
            <a:avLst/>
          </a:prstGeom>
          <a:solidFill>
            <a:srgbClr val="F2F4F9"/>
          </a:solidFill>
          <a:ln w="12700">
            <a:solidFill>
              <a:srgbClr val="F2F4F9"/>
            </a:solidFill>
            <a:prstDash val="solid"/>
          </a:ln>
        </p:spPr>
      </p:sp>
      <p:pic>
        <p:nvPicPr>
          <p:cNvPr id="57" name="output 4 icon" descr="preencoded.png">    </p:cNvPr>
          <p:cNvPicPr>
            <a:picLocks noChangeAspect="1"/>
          </p:cNvPicPr>
          <p:nvPr/>
        </p:nvPicPr>
        <p:blipFill>
          <a:blip r:embed="rId11"/>
          <a:stretch>
            <a:fillRect/>
          </a:stretch>
        </p:blipFill>
        <p:spPr>
          <a:xfrm>
            <a:off x="10938967" y="4465015"/>
            <a:ext cx="241402" cy="241402"/>
          </a:xfrm>
          <a:prstGeom prst="rect">
            <a:avLst/>
          </a:prstGeom>
        </p:spPr>
      </p:pic>
      <p:sp>
        <p:nvSpPr>
          <p:cNvPr id="58" name="output label 4"/>
          <p:cNvSpPr txBox="1"/>
          <p:nvPr/>
        </p:nvSpPr>
        <p:spPr>
          <a:xfrm>
            <a:off x="10515600" y="4855464"/>
            <a:ext cx="1097280" cy="274320"/>
          </a:xfrm>
          <a:prstGeom prst="rect">
            <a:avLst/>
          </a:prstGeom>
          <a:noFill/>
          <a:ln/>
        </p:spPr>
        <p:txBody>
          <a:bodyPr wrap="square" lIns="0" tIns="0" rIns="0" bIns="0" rtlCol="0" anchor="t"/>
          <a:lstStyle/>
          <a:p>
            <a:pPr algn="ctr" indent="0" marL="0">
              <a:buNone/>
            </a:pPr>
            <a:r>
              <a:rPr lang="en-US" sz="1100" dirty="0">
                <a:solidFill>
                  <a:schemeClr val="tx1"/>
                </a:solidFill>
              </a:rPr>
              <a:t>Score</a:t>
            </a:r>
            <a:endParaRPr lang="en-US" sz="1100" dirty="0"/>
          </a:p>
        </p:txBody>
      </p:sp>
      <p:sp>
        <p:nvSpPr>
          <p:cNvPr id="59" name="motto"/>
          <p:cNvSpPr txBox="1"/>
          <p:nvPr/>
        </p:nvSpPr>
        <p:spPr>
          <a:xfrm>
            <a:off x="548640" y="5486400"/>
            <a:ext cx="11064240" cy="365760"/>
          </a:xfrm>
          <a:prstGeom prst="rect">
            <a:avLst/>
          </a:prstGeom>
          <a:noFill/>
          <a:ln/>
        </p:spPr>
        <p:txBody>
          <a:bodyPr wrap="square" lIns="0" tIns="0" rIns="0" bIns="0" rtlCol="0" anchor="t"/>
          <a:lstStyle/>
          <a:p>
            <a:pPr indent="0" marL="0">
              <a:buNone/>
            </a:pPr>
            <a:r>
              <a:rPr lang="en-US" sz="1500" i="1" dirty="0">
                <a:solidFill>
                  <a:schemeClr val="accent1"/>
                </a:solidFill>
              </a:rPr>
              <a:t>The AI is the eyes; Python is the brain — the AI never invents a quantity, a length or a rate.</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Four rules keep the bill honest</a:t>
            </a:r>
            <a:endParaRPr lang="en-US" sz="3000" dirty="0"/>
          </a:p>
        </p:txBody>
      </p:sp>
      <p:sp>
        <p:nvSpPr>
          <p:cNvPr id="4" name="rule card 1"/>
          <p:cNvSpPr/>
          <p:nvPr/>
        </p:nvSpPr>
        <p:spPr>
          <a:xfrm>
            <a:off x="548640" y="1463040"/>
            <a:ext cx="5440680" cy="2011680"/>
          </a:xfrm>
          <a:prstGeom prst="roundRect">
            <a:avLst>
              <a:gd name="adj" fmla="val 5455"/>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rule 1 circle"/>
          <p:cNvSpPr/>
          <p:nvPr/>
        </p:nvSpPr>
        <p:spPr>
          <a:xfrm>
            <a:off x="822960" y="1783080"/>
            <a:ext cx="822960" cy="822960"/>
          </a:xfrm>
          <a:prstGeom prst="ellipse">
            <a:avLst/>
          </a:prstGeom>
          <a:solidFill>
            <a:srgbClr val="2E5BE8"/>
          </a:solidFill>
          <a:ln w="12700">
            <a:solidFill>
              <a:srgbClr val="2E5BE8"/>
            </a:solidFill>
            <a:prstDash val="solid"/>
          </a:ln>
        </p:spPr>
      </p:sp>
      <p:pic>
        <p:nvPicPr>
          <p:cNvPr id="6" name="rule 1 icon" descr="preencoded.png">    </p:cNvPr>
          <p:cNvPicPr>
            <a:picLocks noChangeAspect="1"/>
          </p:cNvPicPr>
          <p:nvPr/>
        </p:nvPicPr>
        <p:blipFill>
          <a:blip r:embed="rId1"/>
          <a:stretch>
            <a:fillRect/>
          </a:stretch>
        </p:blipFill>
        <p:spPr>
          <a:xfrm>
            <a:off x="1036930" y="1997050"/>
            <a:ext cx="395021" cy="395021"/>
          </a:xfrm>
          <a:prstGeom prst="rect">
            <a:avLst/>
          </a:prstGeom>
        </p:spPr>
      </p:pic>
      <p:sp>
        <p:nvSpPr>
          <p:cNvPr id="7" name="rule title 1"/>
          <p:cNvSpPr txBox="1"/>
          <p:nvPr/>
        </p:nvSpPr>
        <p:spPr>
          <a:xfrm>
            <a:off x="1874520" y="1783080"/>
            <a:ext cx="3886200" cy="411480"/>
          </a:xfrm>
          <a:prstGeom prst="rect">
            <a:avLst/>
          </a:prstGeom>
          <a:noFill/>
          <a:ln/>
        </p:spPr>
        <p:txBody>
          <a:bodyPr wrap="square" lIns="0" tIns="0" rIns="0" bIns="0" rtlCol="0" anchor="t"/>
          <a:lstStyle/>
          <a:p>
            <a:pPr indent="0" marL="0">
              <a:buNone/>
            </a:pPr>
            <a:r>
              <a:rPr lang="en-US" sz="1900" b="1" dirty="0">
                <a:solidFill>
                  <a:schemeClr val="tx1"/>
                </a:solidFill>
              </a:rPr>
              <a:t>AI reads, Python decides</a:t>
            </a:r>
            <a:endParaRPr lang="en-US" sz="1900" dirty="0"/>
          </a:p>
        </p:txBody>
      </p:sp>
      <p:sp>
        <p:nvSpPr>
          <p:cNvPr id="8" name="rule text 1"/>
          <p:cNvSpPr txBox="1"/>
          <p:nvPr/>
        </p:nvSpPr>
        <p:spPr>
          <a:xfrm>
            <a:off x="1874520" y="2240280"/>
            <a:ext cx="3886200" cy="1097280"/>
          </a:xfrm>
          <a:prstGeom prst="rect">
            <a:avLst/>
          </a:prstGeom>
          <a:noFill/>
          <a:ln/>
        </p:spPr>
        <p:txBody>
          <a:bodyPr wrap="square" lIns="0" tIns="0" rIns="0" bIns="0" rtlCol="0" anchor="t"/>
          <a:lstStyle/>
          <a:p>
            <a:pPr indent="0" marL="0">
              <a:buNone/>
            </a:pPr>
            <a:r>
              <a:rPr lang="en-US" sz="1400" dirty="0">
                <a:solidFill>
                  <a:schemeClr val="tx2"/>
                </a:solidFill>
              </a:rPr>
              <a:t>The AI only reports what is drawn, through strict forms. Python counts, measures, validates and prices — no AI-invented numbers or rates.</a:t>
            </a:r>
            <a:endParaRPr lang="en-US" sz="1400" dirty="0"/>
          </a:p>
        </p:txBody>
      </p:sp>
      <p:sp>
        <p:nvSpPr>
          <p:cNvPr id="9" name="rule card 2"/>
          <p:cNvSpPr/>
          <p:nvPr/>
        </p:nvSpPr>
        <p:spPr>
          <a:xfrm>
            <a:off x="6172200" y="1463040"/>
            <a:ext cx="5440680" cy="2011680"/>
          </a:xfrm>
          <a:prstGeom prst="roundRect">
            <a:avLst>
              <a:gd name="adj" fmla="val 5455"/>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0" name="rule 2 circle"/>
          <p:cNvSpPr/>
          <p:nvPr/>
        </p:nvSpPr>
        <p:spPr>
          <a:xfrm>
            <a:off x="6446520" y="1783080"/>
            <a:ext cx="822960" cy="822960"/>
          </a:xfrm>
          <a:prstGeom prst="ellipse">
            <a:avLst/>
          </a:prstGeom>
          <a:solidFill>
            <a:srgbClr val="F2A900"/>
          </a:solidFill>
          <a:ln w="12700">
            <a:solidFill>
              <a:srgbClr val="F2A900"/>
            </a:solidFill>
            <a:prstDash val="solid"/>
          </a:ln>
        </p:spPr>
      </p:sp>
      <p:pic>
        <p:nvPicPr>
          <p:cNvPr id="11" name="rule 2 icon" descr="preencoded.png">    </p:cNvPr>
          <p:cNvPicPr>
            <a:picLocks noChangeAspect="1"/>
          </p:cNvPicPr>
          <p:nvPr/>
        </p:nvPicPr>
        <p:blipFill>
          <a:blip r:embed="rId2"/>
          <a:stretch>
            <a:fillRect/>
          </a:stretch>
        </p:blipFill>
        <p:spPr>
          <a:xfrm>
            <a:off x="6660490" y="1997050"/>
            <a:ext cx="395021" cy="395021"/>
          </a:xfrm>
          <a:prstGeom prst="rect">
            <a:avLst/>
          </a:prstGeom>
        </p:spPr>
      </p:pic>
      <p:sp>
        <p:nvSpPr>
          <p:cNvPr id="12" name="rule title 2"/>
          <p:cNvSpPr txBox="1"/>
          <p:nvPr/>
        </p:nvSpPr>
        <p:spPr>
          <a:xfrm>
            <a:off x="7498080" y="1783080"/>
            <a:ext cx="3886200" cy="411480"/>
          </a:xfrm>
          <a:prstGeom prst="rect">
            <a:avLst/>
          </a:prstGeom>
          <a:noFill/>
          <a:ln/>
        </p:spPr>
        <p:txBody>
          <a:bodyPr wrap="square" lIns="0" tIns="0" rIns="0" bIns="0" rtlCol="0" anchor="t"/>
          <a:lstStyle/>
          <a:p>
            <a:pPr indent="0" marL="0">
              <a:buNone/>
            </a:pPr>
            <a:r>
              <a:rPr lang="en-US" sz="1900" b="1" dirty="0">
                <a:solidFill>
                  <a:schemeClr val="tx1"/>
                </a:solidFill>
              </a:rPr>
              <a:t>Never silent</a:t>
            </a:r>
            <a:endParaRPr lang="en-US" sz="1900" dirty="0"/>
          </a:p>
        </p:txBody>
      </p:sp>
      <p:sp>
        <p:nvSpPr>
          <p:cNvPr id="13" name="rule text 2"/>
          <p:cNvSpPr txBox="1"/>
          <p:nvPr/>
        </p:nvSpPr>
        <p:spPr>
          <a:xfrm>
            <a:off x="7498080" y="2240280"/>
            <a:ext cx="3886200" cy="1097280"/>
          </a:xfrm>
          <a:prstGeom prst="rect">
            <a:avLst/>
          </a:prstGeom>
          <a:noFill/>
          <a:ln/>
        </p:spPr>
        <p:txBody>
          <a:bodyPr wrap="square" lIns="0" tIns="0" rIns="0" bIns="0" rtlCol="0" anchor="t"/>
          <a:lstStyle/>
          <a:p>
            <a:pPr indent="0" marL="0">
              <a:buNone/>
            </a:pPr>
            <a:r>
              <a:rPr lang="en-US" sz="1400" dirty="0">
                <a:solidFill>
                  <a:schemeClr val="tx2"/>
                </a:solidFill>
              </a:rPr>
              <a:t>Every estimated quantity is tagged INFERRED, ASSUMED or PROVISIONAL, carries its assumption and appears in “things to check”.</a:t>
            </a:r>
            <a:endParaRPr lang="en-US" sz="1400" dirty="0"/>
          </a:p>
        </p:txBody>
      </p:sp>
      <p:sp>
        <p:nvSpPr>
          <p:cNvPr id="14" name="rule card 3"/>
          <p:cNvSpPr/>
          <p:nvPr/>
        </p:nvSpPr>
        <p:spPr>
          <a:xfrm>
            <a:off x="548640" y="3703320"/>
            <a:ext cx="5440680" cy="2011680"/>
          </a:xfrm>
          <a:prstGeom prst="roundRect">
            <a:avLst>
              <a:gd name="adj" fmla="val 5455"/>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5" name="rule 3 circle"/>
          <p:cNvSpPr/>
          <p:nvPr/>
        </p:nvSpPr>
        <p:spPr>
          <a:xfrm>
            <a:off x="822960" y="4023360"/>
            <a:ext cx="822960" cy="822960"/>
          </a:xfrm>
          <a:prstGeom prst="ellipse">
            <a:avLst/>
          </a:prstGeom>
          <a:solidFill>
            <a:srgbClr val="2E5BE8"/>
          </a:solidFill>
          <a:ln w="12700">
            <a:solidFill>
              <a:srgbClr val="2E5BE8"/>
            </a:solidFill>
            <a:prstDash val="solid"/>
          </a:ln>
        </p:spPr>
      </p:sp>
      <p:pic>
        <p:nvPicPr>
          <p:cNvPr id="16" name="rule 3 icon" descr="preencoded.png">    </p:cNvPr>
          <p:cNvPicPr>
            <a:picLocks noChangeAspect="1"/>
          </p:cNvPicPr>
          <p:nvPr/>
        </p:nvPicPr>
        <p:blipFill>
          <a:blip r:embed="rId3"/>
          <a:stretch>
            <a:fillRect/>
          </a:stretch>
        </p:blipFill>
        <p:spPr>
          <a:xfrm>
            <a:off x="1036930" y="4237330"/>
            <a:ext cx="395021" cy="395021"/>
          </a:xfrm>
          <a:prstGeom prst="rect">
            <a:avLst/>
          </a:prstGeom>
        </p:spPr>
      </p:pic>
      <p:sp>
        <p:nvSpPr>
          <p:cNvPr id="17" name="rule title 3"/>
          <p:cNvSpPr txBox="1"/>
          <p:nvPr/>
        </p:nvSpPr>
        <p:spPr>
          <a:xfrm>
            <a:off x="1874520" y="4023360"/>
            <a:ext cx="3886200" cy="411480"/>
          </a:xfrm>
          <a:prstGeom prst="rect">
            <a:avLst/>
          </a:prstGeom>
          <a:noFill/>
          <a:ln/>
        </p:spPr>
        <p:txBody>
          <a:bodyPr wrap="square" lIns="0" tIns="0" rIns="0" bIns="0" rtlCol="0" anchor="t"/>
          <a:lstStyle/>
          <a:p>
            <a:pPr indent="0" marL="0">
              <a:buNone/>
            </a:pPr>
            <a:r>
              <a:rPr lang="en-US" sz="1900" b="1" dirty="0">
                <a:solidFill>
                  <a:schemeClr val="tx1"/>
                </a:solidFill>
              </a:rPr>
              <a:t>Stronger evidence wins</a:t>
            </a:r>
            <a:endParaRPr lang="en-US" sz="1900" dirty="0"/>
          </a:p>
        </p:txBody>
      </p:sp>
      <p:sp>
        <p:nvSpPr>
          <p:cNvPr id="18" name="rule text 3"/>
          <p:cNvSpPr txBox="1"/>
          <p:nvPr/>
        </p:nvSpPr>
        <p:spPr>
          <a:xfrm>
            <a:off x="1874520" y="4480560"/>
            <a:ext cx="3886200" cy="1097280"/>
          </a:xfrm>
          <a:prstGeom prst="rect">
            <a:avLst/>
          </a:prstGeom>
          <a:noFill/>
          <a:ln/>
        </p:spPr>
        <p:txBody>
          <a:bodyPr wrap="square" lIns="0" tIns="0" rIns="0" bIns="0" rtlCol="0" anchor="t"/>
          <a:lstStyle/>
          <a:p>
            <a:pPr indent="0" marL="0">
              <a:buNone/>
            </a:pPr>
            <a:r>
              <a:rPr lang="en-US" sz="1400" dirty="0">
                <a:solidFill>
                  <a:schemeClr val="tx2"/>
                </a:solidFill>
              </a:rPr>
              <a:t>A measured route beats a written length beats an assumed one. The same item read twice is billed once.</a:t>
            </a:r>
            <a:endParaRPr lang="en-US" sz="1400" dirty="0"/>
          </a:p>
        </p:txBody>
      </p:sp>
      <p:sp>
        <p:nvSpPr>
          <p:cNvPr id="19" name="rule card 4"/>
          <p:cNvSpPr/>
          <p:nvPr/>
        </p:nvSpPr>
        <p:spPr>
          <a:xfrm>
            <a:off x="6172200" y="3703320"/>
            <a:ext cx="5440680" cy="2011680"/>
          </a:xfrm>
          <a:prstGeom prst="roundRect">
            <a:avLst>
              <a:gd name="adj" fmla="val 5455"/>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0" name="rule 4 circle"/>
          <p:cNvSpPr/>
          <p:nvPr/>
        </p:nvSpPr>
        <p:spPr>
          <a:xfrm>
            <a:off x="6446520" y="4023360"/>
            <a:ext cx="822960" cy="822960"/>
          </a:xfrm>
          <a:prstGeom prst="ellipse">
            <a:avLst/>
          </a:prstGeom>
          <a:solidFill>
            <a:srgbClr val="2E5BE8"/>
          </a:solidFill>
          <a:ln w="12700">
            <a:solidFill>
              <a:srgbClr val="2E5BE8"/>
            </a:solidFill>
            <a:prstDash val="solid"/>
          </a:ln>
        </p:spPr>
      </p:sp>
      <p:pic>
        <p:nvPicPr>
          <p:cNvPr id="21" name="rule 4 icon" descr="preencoded.png">    </p:cNvPr>
          <p:cNvPicPr>
            <a:picLocks noChangeAspect="1"/>
          </p:cNvPicPr>
          <p:nvPr/>
        </p:nvPicPr>
        <p:blipFill>
          <a:blip r:embed="rId4"/>
          <a:stretch>
            <a:fillRect/>
          </a:stretch>
        </p:blipFill>
        <p:spPr>
          <a:xfrm>
            <a:off x="6660490" y="4237330"/>
            <a:ext cx="395021" cy="395021"/>
          </a:xfrm>
          <a:prstGeom prst="rect">
            <a:avLst/>
          </a:prstGeom>
        </p:spPr>
      </p:pic>
      <p:sp>
        <p:nvSpPr>
          <p:cNvPr id="22" name="rule title 4"/>
          <p:cNvSpPr txBox="1"/>
          <p:nvPr/>
        </p:nvSpPr>
        <p:spPr>
          <a:xfrm>
            <a:off x="7498080" y="4023360"/>
            <a:ext cx="3886200" cy="411480"/>
          </a:xfrm>
          <a:prstGeom prst="rect">
            <a:avLst/>
          </a:prstGeom>
          <a:noFill/>
          <a:ln/>
        </p:spPr>
        <p:txBody>
          <a:bodyPr wrap="square" lIns="0" tIns="0" rIns="0" bIns="0" rtlCol="0" anchor="t"/>
          <a:lstStyle/>
          <a:p>
            <a:pPr indent="0" marL="0">
              <a:buNone/>
            </a:pPr>
            <a:r>
              <a:rPr lang="en-US" sz="1900" b="1" dirty="0">
                <a:solidFill>
                  <a:schemeClr val="tx1"/>
                </a:solidFill>
              </a:rPr>
              <a:t>Markup applied once</a:t>
            </a:r>
            <a:endParaRPr lang="en-US" sz="1900" dirty="0"/>
          </a:p>
        </p:txBody>
      </p:sp>
      <p:sp>
        <p:nvSpPr>
          <p:cNvPr id="23" name="rule text 4"/>
          <p:cNvSpPr txBox="1"/>
          <p:nvPr/>
        </p:nvSpPr>
        <p:spPr>
          <a:xfrm>
            <a:off x="7498080" y="4480560"/>
            <a:ext cx="3886200" cy="1097280"/>
          </a:xfrm>
          <a:prstGeom prst="rect">
            <a:avLst/>
          </a:prstGeom>
          <a:noFill/>
          <a:ln/>
        </p:spPr>
        <p:txBody>
          <a:bodyPr wrap="square" lIns="0" tIns="0" rIns="0" bIns="0" rtlCol="0" anchor="t"/>
          <a:lstStyle/>
          <a:p>
            <a:pPr indent="0" marL="0">
              <a:buNone/>
            </a:pPr>
            <a:r>
              <a:rPr lang="en-US" sz="1400" dirty="0">
                <a:solidFill>
                  <a:schemeClr val="tx2"/>
                </a:solidFill>
              </a:rPr>
              <a:t>Rates already carry the material markup; the extra markup starts at 0 % so nothing is charged twice.</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Two ways to produce a BoQ — pick the one that fits the job</a:t>
            </a:r>
            <a:endParaRPr lang="en-US" sz="3000" dirty="0"/>
          </a:p>
        </p:txBody>
      </p:sp>
      <p:sp>
        <p:nvSpPr>
          <p:cNvPr id="4" name="Web app column"/>
          <p:cNvSpPr/>
          <p:nvPr/>
        </p:nvSpPr>
        <p:spPr>
          <a:xfrm>
            <a:off x="548640" y="1417320"/>
            <a:ext cx="5440680" cy="4206240"/>
          </a:xfrm>
          <a:prstGeom prst="roundRect">
            <a:avLst>
              <a:gd name="adj" fmla="val 2609"/>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Web app circle"/>
          <p:cNvSpPr/>
          <p:nvPr/>
        </p:nvSpPr>
        <p:spPr>
          <a:xfrm>
            <a:off x="822960" y="1645920"/>
            <a:ext cx="731520" cy="731520"/>
          </a:xfrm>
          <a:prstGeom prst="ellipse">
            <a:avLst/>
          </a:prstGeom>
          <a:solidFill>
            <a:srgbClr val="2E5BE8"/>
          </a:solidFill>
          <a:ln w="12700">
            <a:solidFill>
              <a:srgbClr val="2E5BE8"/>
            </a:solidFill>
            <a:prstDash val="solid"/>
          </a:ln>
        </p:spPr>
      </p:sp>
      <p:pic>
        <p:nvPicPr>
          <p:cNvPr id="6" name="Web app icon" descr="preencoded.png">    </p:cNvPr>
          <p:cNvPicPr>
            <a:picLocks noChangeAspect="1"/>
          </p:cNvPicPr>
          <p:nvPr/>
        </p:nvPicPr>
        <p:blipFill>
          <a:blip r:embed="rId1"/>
          <a:stretch>
            <a:fillRect/>
          </a:stretch>
        </p:blipFill>
        <p:spPr>
          <a:xfrm>
            <a:off x="1013155" y="1836115"/>
            <a:ext cx="351130" cy="351130"/>
          </a:xfrm>
          <a:prstGeom prst="rect">
            <a:avLst/>
          </a:prstGeom>
        </p:spPr>
      </p:pic>
      <p:sp>
        <p:nvSpPr>
          <p:cNvPr id="7" name="Web app title"/>
          <p:cNvSpPr txBox="1"/>
          <p:nvPr/>
        </p:nvSpPr>
        <p:spPr>
          <a:xfrm>
            <a:off x="1737360" y="1664208"/>
            <a:ext cx="4023360" cy="411480"/>
          </a:xfrm>
          <a:prstGeom prst="rect">
            <a:avLst/>
          </a:prstGeom>
          <a:noFill/>
          <a:ln/>
        </p:spPr>
        <p:txBody>
          <a:bodyPr wrap="square" lIns="0" tIns="0" rIns="0" bIns="0" rtlCol="0" anchor="t"/>
          <a:lstStyle/>
          <a:p>
            <a:pPr indent="0" marL="0">
              <a:buNone/>
            </a:pPr>
            <a:r>
              <a:rPr lang="en-US" sz="2200" b="1" dirty="0">
                <a:solidFill>
                  <a:schemeClr val="tx1"/>
                </a:solidFill>
              </a:rPr>
              <a:t>Web app</a:t>
            </a:r>
            <a:endParaRPr lang="en-US" sz="2200" dirty="0"/>
          </a:p>
        </p:txBody>
      </p:sp>
      <p:sp>
        <p:nvSpPr>
          <p:cNvPr id="8" name="Web app subtitle"/>
          <p:cNvSpPr txBox="1"/>
          <p:nvPr/>
        </p:nvSpPr>
        <p:spPr>
          <a:xfrm>
            <a:off x="1737360" y="2057400"/>
            <a:ext cx="4023360" cy="320040"/>
          </a:xfrm>
          <a:prstGeom prst="rect">
            <a:avLst/>
          </a:prstGeom>
          <a:noFill/>
          <a:ln/>
        </p:spPr>
        <p:txBody>
          <a:bodyPr wrap="square" lIns="0" tIns="0" rIns="0" bIns="0" rtlCol="0" anchor="t"/>
          <a:lstStyle/>
          <a:p>
            <a:pPr indent="0" marL="0">
              <a:buNone/>
            </a:pPr>
            <a:r>
              <a:rPr lang="en-US" sz="1300" dirty="0">
                <a:solidFill>
                  <a:schemeClr val="tx2"/>
                </a:solidFill>
              </a:rPr>
              <a:t>in the browser</a:t>
            </a:r>
            <a:endParaRPr lang="en-US" sz="1300" dirty="0"/>
          </a:p>
        </p:txBody>
      </p:sp>
      <p:sp>
        <p:nvSpPr>
          <p:cNvPr id="9" name="Web app row label 1"/>
          <p:cNvSpPr txBox="1"/>
          <p:nvPr/>
        </p:nvSpPr>
        <p:spPr>
          <a:xfrm>
            <a:off x="822960" y="2697480"/>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Best for</a:t>
            </a:r>
            <a:endParaRPr lang="en-US" sz="1300" dirty="0"/>
          </a:p>
        </p:txBody>
      </p:sp>
      <p:sp>
        <p:nvSpPr>
          <p:cNvPr id="10" name="Web app row text 1"/>
          <p:cNvSpPr txBox="1"/>
          <p:nvPr/>
        </p:nvSpPr>
        <p:spPr>
          <a:xfrm>
            <a:off x="2148840" y="2697480"/>
            <a:ext cx="3657600" cy="548640"/>
          </a:xfrm>
          <a:prstGeom prst="rect">
            <a:avLst/>
          </a:prstGeom>
          <a:noFill/>
          <a:ln/>
        </p:spPr>
        <p:txBody>
          <a:bodyPr wrap="square" lIns="0" tIns="0" rIns="0" bIns="0" rtlCol="0" anchor="t"/>
          <a:lstStyle/>
          <a:p>
            <a:pPr indent="0" marL="0">
              <a:buNone/>
            </a:pPr>
            <a:r>
              <a:rPr lang="en-US" sz="1350" dirty="0">
                <a:solidFill>
                  <a:schemeClr val="tx1"/>
                </a:solidFill>
              </a:rPr>
              <a:t>contractors, quick DWG/DXF jobs, demos</a:t>
            </a:r>
            <a:endParaRPr lang="en-US" sz="1350" dirty="0"/>
          </a:p>
        </p:txBody>
      </p:sp>
      <p:sp>
        <p:nvSpPr>
          <p:cNvPr id="11" name="Web app row label 2"/>
          <p:cNvSpPr txBox="1"/>
          <p:nvPr/>
        </p:nvSpPr>
        <p:spPr>
          <a:xfrm>
            <a:off x="822960" y="3300984"/>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How</a:t>
            </a:r>
            <a:endParaRPr lang="en-US" sz="1300" dirty="0"/>
          </a:p>
        </p:txBody>
      </p:sp>
      <p:sp>
        <p:nvSpPr>
          <p:cNvPr id="12" name="Web app row text 2"/>
          <p:cNvSpPr txBox="1"/>
          <p:nvPr/>
        </p:nvSpPr>
        <p:spPr>
          <a:xfrm>
            <a:off x="2148840" y="3300984"/>
            <a:ext cx="3657600" cy="548640"/>
          </a:xfrm>
          <a:prstGeom prst="rect">
            <a:avLst/>
          </a:prstGeom>
          <a:noFill/>
          <a:ln/>
        </p:spPr>
        <p:txBody>
          <a:bodyPr wrap="square" lIns="0" tIns="0" rIns="0" bIns="0" rtlCol="0" anchor="t"/>
          <a:lstStyle/>
          <a:p>
            <a:pPr indent="0" marL="0">
              <a:buNone/>
            </a:pPr>
            <a:r>
              <a:rPr lang="en-US" sz="1350" dirty="0">
                <a:solidFill>
                  <a:schemeClr val="tx1"/>
                </a:solidFill>
              </a:rPr>
              <a:t>upload drawings → Take-off → BoQ → export</a:t>
            </a:r>
            <a:endParaRPr lang="en-US" sz="1350" dirty="0"/>
          </a:p>
        </p:txBody>
      </p:sp>
      <p:sp>
        <p:nvSpPr>
          <p:cNvPr id="13" name="Web app row label 3"/>
          <p:cNvSpPr txBox="1"/>
          <p:nvPr/>
        </p:nvSpPr>
        <p:spPr>
          <a:xfrm>
            <a:off x="822960" y="3904488"/>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PDF reading</a:t>
            </a:r>
            <a:endParaRPr lang="en-US" sz="1300" dirty="0"/>
          </a:p>
        </p:txBody>
      </p:sp>
      <p:sp>
        <p:nvSpPr>
          <p:cNvPr id="14" name="Web app row text 3"/>
          <p:cNvSpPr txBox="1"/>
          <p:nvPr/>
        </p:nvSpPr>
        <p:spPr>
          <a:xfrm>
            <a:off x="2148840" y="3904488"/>
            <a:ext cx="3657600" cy="548640"/>
          </a:xfrm>
          <a:prstGeom prst="rect">
            <a:avLst/>
          </a:prstGeom>
          <a:noFill/>
          <a:ln/>
        </p:spPr>
        <p:txBody>
          <a:bodyPr wrap="square" lIns="0" tIns="0" rIns="0" bIns="0" rtlCol="0" anchor="t"/>
          <a:lstStyle/>
          <a:p>
            <a:pPr indent="0" marL="0">
              <a:buNone/>
            </a:pPr>
            <a:r>
              <a:rPr lang="en-US" sz="1350" dirty="0">
                <a:solidFill>
                  <a:schemeClr val="tx1"/>
                </a:solidFill>
              </a:rPr>
              <a:t>Claude API (paid) or Gemini (free, slower, daily limit)</a:t>
            </a:r>
            <a:endParaRPr lang="en-US" sz="1350" dirty="0"/>
          </a:p>
        </p:txBody>
      </p:sp>
      <p:sp>
        <p:nvSpPr>
          <p:cNvPr id="15" name="Web app row label 4"/>
          <p:cNvSpPr txBox="1"/>
          <p:nvPr/>
        </p:nvSpPr>
        <p:spPr>
          <a:xfrm>
            <a:off x="822960" y="4507992"/>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DWG/DXF</a:t>
            </a:r>
            <a:endParaRPr lang="en-US" sz="1300" dirty="0"/>
          </a:p>
        </p:txBody>
      </p:sp>
      <p:sp>
        <p:nvSpPr>
          <p:cNvPr id="16" name="Web app row text 4"/>
          <p:cNvSpPr txBox="1"/>
          <p:nvPr/>
        </p:nvSpPr>
        <p:spPr>
          <a:xfrm>
            <a:off x="2148840" y="4507992"/>
            <a:ext cx="3657600" cy="548640"/>
          </a:xfrm>
          <a:prstGeom prst="rect">
            <a:avLst/>
          </a:prstGeom>
          <a:noFill/>
          <a:ln/>
        </p:spPr>
        <p:txBody>
          <a:bodyPr wrap="square" lIns="0" tIns="0" rIns="0" bIns="0" rtlCol="0" anchor="t"/>
          <a:lstStyle/>
          <a:p>
            <a:pPr indent="0" marL="0">
              <a:buNone/>
            </a:pPr>
            <a:r>
              <a:rPr lang="en-US" sz="1350" dirty="0">
                <a:solidFill>
                  <a:schemeClr val="tx1"/>
                </a:solidFill>
              </a:rPr>
              <a:t>free and exact, about 1–2 minutes</a:t>
            </a:r>
            <a:endParaRPr lang="en-US" sz="1350" dirty="0"/>
          </a:p>
        </p:txBody>
      </p:sp>
      <p:sp>
        <p:nvSpPr>
          <p:cNvPr id="17" name="Web app row label 5"/>
          <p:cNvSpPr txBox="1"/>
          <p:nvPr/>
        </p:nvSpPr>
        <p:spPr>
          <a:xfrm>
            <a:off x="822960" y="5111496"/>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Output</a:t>
            </a:r>
            <a:endParaRPr lang="en-US" sz="1300" dirty="0"/>
          </a:p>
        </p:txBody>
      </p:sp>
      <p:sp>
        <p:nvSpPr>
          <p:cNvPr id="18" name="Web app row text 5"/>
          <p:cNvSpPr txBox="1"/>
          <p:nvPr/>
        </p:nvSpPr>
        <p:spPr>
          <a:xfrm>
            <a:off x="2148840" y="5111496"/>
            <a:ext cx="3657600" cy="548640"/>
          </a:xfrm>
          <a:prstGeom prst="rect">
            <a:avLst/>
          </a:prstGeom>
          <a:noFill/>
          <a:ln/>
        </p:spPr>
        <p:txBody>
          <a:bodyPr wrap="square" lIns="0" tIns="0" rIns="0" bIns="0" rtlCol="0" anchor="t"/>
          <a:lstStyle/>
          <a:p>
            <a:pPr indent="0" marL="0">
              <a:buNone/>
            </a:pPr>
            <a:r>
              <a:rPr lang="en-US" sz="1350" dirty="0">
                <a:solidFill>
                  <a:schemeClr val="tx1"/>
                </a:solidFill>
              </a:rPr>
              <a:t>BoQ on screen, Excel &amp; PDF tender document</a:t>
            </a:r>
            <a:endParaRPr lang="en-US" sz="1350" dirty="0"/>
          </a:p>
        </p:txBody>
      </p:sp>
      <p:sp>
        <p:nvSpPr>
          <p:cNvPr id="19" name="DOE workflow column"/>
          <p:cNvSpPr/>
          <p:nvPr/>
        </p:nvSpPr>
        <p:spPr>
          <a:xfrm>
            <a:off x="6172200" y="1417320"/>
            <a:ext cx="5440680" cy="4206240"/>
          </a:xfrm>
          <a:prstGeom prst="roundRect">
            <a:avLst>
              <a:gd name="adj" fmla="val 2609"/>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0" name="DOE workflow circle"/>
          <p:cNvSpPr/>
          <p:nvPr/>
        </p:nvSpPr>
        <p:spPr>
          <a:xfrm>
            <a:off x="6446520" y="1645920"/>
            <a:ext cx="731520" cy="731520"/>
          </a:xfrm>
          <a:prstGeom prst="ellipse">
            <a:avLst/>
          </a:prstGeom>
          <a:solidFill>
            <a:srgbClr val="2E5BE8"/>
          </a:solidFill>
          <a:ln w="12700">
            <a:solidFill>
              <a:srgbClr val="2E5BE8"/>
            </a:solidFill>
            <a:prstDash val="solid"/>
          </a:ln>
        </p:spPr>
      </p:sp>
      <p:pic>
        <p:nvPicPr>
          <p:cNvPr id="21" name="DOE workflow icon" descr="preencoded.png">    </p:cNvPr>
          <p:cNvPicPr>
            <a:picLocks noChangeAspect="1"/>
          </p:cNvPicPr>
          <p:nvPr/>
        </p:nvPicPr>
        <p:blipFill>
          <a:blip r:embed="rId2"/>
          <a:stretch>
            <a:fillRect/>
          </a:stretch>
        </p:blipFill>
        <p:spPr>
          <a:xfrm>
            <a:off x="6636715" y="1836115"/>
            <a:ext cx="351130" cy="351130"/>
          </a:xfrm>
          <a:prstGeom prst="rect">
            <a:avLst/>
          </a:prstGeom>
        </p:spPr>
      </p:pic>
      <p:sp>
        <p:nvSpPr>
          <p:cNvPr id="22" name="DOE workflow title"/>
          <p:cNvSpPr txBox="1"/>
          <p:nvPr/>
        </p:nvSpPr>
        <p:spPr>
          <a:xfrm>
            <a:off x="7360920" y="1664208"/>
            <a:ext cx="4023360" cy="411480"/>
          </a:xfrm>
          <a:prstGeom prst="rect">
            <a:avLst/>
          </a:prstGeom>
          <a:noFill/>
          <a:ln/>
        </p:spPr>
        <p:txBody>
          <a:bodyPr wrap="square" lIns="0" tIns="0" rIns="0" bIns="0" rtlCol="0" anchor="t"/>
          <a:lstStyle/>
          <a:p>
            <a:pPr indent="0" marL="0">
              <a:buNone/>
            </a:pPr>
            <a:r>
              <a:rPr lang="en-US" sz="2200" b="1" dirty="0">
                <a:solidFill>
                  <a:schemeClr val="tx1"/>
                </a:solidFill>
              </a:rPr>
              <a:t>DOE workflow</a:t>
            </a:r>
            <a:endParaRPr lang="en-US" sz="2200" dirty="0"/>
          </a:p>
        </p:txBody>
      </p:sp>
      <p:sp>
        <p:nvSpPr>
          <p:cNvPr id="23" name="DOE workflow subtitle"/>
          <p:cNvSpPr txBox="1"/>
          <p:nvPr/>
        </p:nvSpPr>
        <p:spPr>
          <a:xfrm>
            <a:off x="7360920" y="2057400"/>
            <a:ext cx="4023360" cy="320040"/>
          </a:xfrm>
          <a:prstGeom prst="rect">
            <a:avLst/>
          </a:prstGeom>
          <a:noFill/>
          <a:ln/>
        </p:spPr>
        <p:txBody>
          <a:bodyPr wrap="square" lIns="0" tIns="0" rIns="0" bIns="0" rtlCol="0" anchor="t"/>
          <a:lstStyle/>
          <a:p>
            <a:pPr indent="0" marL="0">
              <a:buNone/>
            </a:pPr>
            <a:r>
              <a:rPr lang="en-US" sz="1300" dirty="0">
                <a:solidFill>
                  <a:schemeClr val="tx2"/>
                </a:solidFill>
              </a:rPr>
              <a:t>VS Code + Claude Code</a:t>
            </a:r>
            <a:endParaRPr lang="en-US" sz="1300" dirty="0"/>
          </a:p>
        </p:txBody>
      </p:sp>
      <p:sp>
        <p:nvSpPr>
          <p:cNvPr id="24" name="DOE workflow row label 1"/>
          <p:cNvSpPr txBox="1"/>
          <p:nvPr/>
        </p:nvSpPr>
        <p:spPr>
          <a:xfrm>
            <a:off x="6446520" y="2697480"/>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Best for</a:t>
            </a:r>
            <a:endParaRPr lang="en-US" sz="1300" dirty="0"/>
          </a:p>
        </p:txBody>
      </p:sp>
      <p:sp>
        <p:nvSpPr>
          <p:cNvPr id="25" name="DOE workflow row text 1"/>
          <p:cNvSpPr txBox="1"/>
          <p:nvPr/>
        </p:nvSpPr>
        <p:spPr>
          <a:xfrm>
            <a:off x="7772400" y="2697480"/>
            <a:ext cx="3657600" cy="548640"/>
          </a:xfrm>
          <a:prstGeom prst="rect">
            <a:avLst/>
          </a:prstGeom>
          <a:noFill/>
          <a:ln/>
        </p:spPr>
        <p:txBody>
          <a:bodyPr wrap="square" lIns="0" tIns="0" rIns="0" bIns="0" rtlCol="0" anchor="t"/>
          <a:lstStyle/>
          <a:p>
            <a:pPr indent="0" marL="0">
              <a:buNone/>
            </a:pPr>
            <a:r>
              <a:rPr lang="en-US" sz="1350" dirty="0">
                <a:solidFill>
                  <a:schemeClr val="tx1"/>
                </a:solidFill>
              </a:rPr>
              <a:t>your own estimating on a real project folder</a:t>
            </a:r>
            <a:endParaRPr lang="en-US" sz="1350" dirty="0"/>
          </a:p>
        </p:txBody>
      </p:sp>
      <p:sp>
        <p:nvSpPr>
          <p:cNvPr id="26" name="DOE workflow row label 2"/>
          <p:cNvSpPr txBox="1"/>
          <p:nvPr/>
        </p:nvSpPr>
        <p:spPr>
          <a:xfrm>
            <a:off x="6446520" y="3300984"/>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How</a:t>
            </a:r>
            <a:endParaRPr lang="en-US" sz="1300" dirty="0"/>
          </a:p>
        </p:txBody>
      </p:sp>
      <p:sp>
        <p:nvSpPr>
          <p:cNvPr id="27" name="DOE workflow row text 2"/>
          <p:cNvSpPr txBox="1"/>
          <p:nvPr/>
        </p:nvSpPr>
        <p:spPr>
          <a:xfrm>
            <a:off x="7772400" y="3300984"/>
            <a:ext cx="3657600" cy="548640"/>
          </a:xfrm>
          <a:prstGeom prst="rect">
            <a:avLst/>
          </a:prstGeom>
          <a:noFill/>
          <a:ln/>
        </p:spPr>
        <p:txBody>
          <a:bodyPr wrap="square" lIns="0" tIns="0" rIns="0" bIns="0" rtlCol="0" anchor="t"/>
          <a:lstStyle/>
          <a:p>
            <a:pPr indent="0" marL="0">
              <a:buNone/>
            </a:pPr>
            <a:r>
              <a:rPr lang="en-US" sz="1350" dirty="0">
                <a:solidFill>
                  <a:schemeClr val="tx1"/>
                </a:solidFill>
              </a:rPr>
              <a:t>“estimate the project in &lt;folder&gt;”</a:t>
            </a:r>
            <a:endParaRPr lang="en-US" sz="1350" dirty="0"/>
          </a:p>
        </p:txBody>
      </p:sp>
      <p:sp>
        <p:nvSpPr>
          <p:cNvPr id="28" name="DOE workflow row label 3"/>
          <p:cNvSpPr txBox="1"/>
          <p:nvPr/>
        </p:nvSpPr>
        <p:spPr>
          <a:xfrm>
            <a:off x="6446520" y="3904488"/>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PDF reading</a:t>
            </a:r>
            <a:endParaRPr lang="en-US" sz="1300" dirty="0"/>
          </a:p>
        </p:txBody>
      </p:sp>
      <p:sp>
        <p:nvSpPr>
          <p:cNvPr id="29" name="DOE workflow row text 3"/>
          <p:cNvSpPr txBox="1"/>
          <p:nvPr/>
        </p:nvSpPr>
        <p:spPr>
          <a:xfrm>
            <a:off x="7772400" y="3904488"/>
            <a:ext cx="3657600" cy="548640"/>
          </a:xfrm>
          <a:prstGeom prst="rect">
            <a:avLst/>
          </a:prstGeom>
          <a:noFill/>
          <a:ln/>
        </p:spPr>
        <p:txBody>
          <a:bodyPr wrap="square" lIns="0" tIns="0" rIns="0" bIns="0" rtlCol="0" anchor="t"/>
          <a:lstStyle/>
          <a:p>
            <a:pPr indent="0" marL="0">
              <a:buNone/>
            </a:pPr>
            <a:r>
              <a:rPr lang="en-US" sz="1350" dirty="0">
                <a:solidFill>
                  <a:schemeClr val="tx1"/>
                </a:solidFill>
              </a:rPr>
              <a:t>Claude Code reads every page — on your subscription, no API bill</a:t>
            </a:r>
            <a:endParaRPr lang="en-US" sz="1350" dirty="0"/>
          </a:p>
        </p:txBody>
      </p:sp>
      <p:sp>
        <p:nvSpPr>
          <p:cNvPr id="30" name="DOE workflow row label 4"/>
          <p:cNvSpPr txBox="1"/>
          <p:nvPr/>
        </p:nvSpPr>
        <p:spPr>
          <a:xfrm>
            <a:off x="6446520" y="4507992"/>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DWG/DXF</a:t>
            </a:r>
            <a:endParaRPr lang="en-US" sz="1300" dirty="0"/>
          </a:p>
        </p:txBody>
      </p:sp>
      <p:sp>
        <p:nvSpPr>
          <p:cNvPr id="31" name="DOE workflow row text 4"/>
          <p:cNvSpPr txBox="1"/>
          <p:nvPr/>
        </p:nvSpPr>
        <p:spPr>
          <a:xfrm>
            <a:off x="7772400" y="4507992"/>
            <a:ext cx="3657600" cy="548640"/>
          </a:xfrm>
          <a:prstGeom prst="rect">
            <a:avLst/>
          </a:prstGeom>
          <a:noFill/>
          <a:ln/>
        </p:spPr>
        <p:txBody>
          <a:bodyPr wrap="square" lIns="0" tIns="0" rIns="0" bIns="0" rtlCol="0" anchor="t"/>
          <a:lstStyle/>
          <a:p>
            <a:pPr indent="0" marL="0">
              <a:buNone/>
            </a:pPr>
            <a:r>
              <a:rPr lang="en-US" sz="1350" dirty="0">
                <a:solidFill>
                  <a:schemeClr val="tx1"/>
                </a:solidFill>
              </a:rPr>
              <a:t>the same CAD reader, combined with the PDF forms</a:t>
            </a:r>
            <a:endParaRPr lang="en-US" sz="1350" dirty="0"/>
          </a:p>
        </p:txBody>
      </p:sp>
      <p:sp>
        <p:nvSpPr>
          <p:cNvPr id="32" name="DOE workflow row label 5"/>
          <p:cNvSpPr txBox="1"/>
          <p:nvPr/>
        </p:nvSpPr>
        <p:spPr>
          <a:xfrm>
            <a:off x="6446520" y="5111496"/>
            <a:ext cx="1280160" cy="502920"/>
          </a:xfrm>
          <a:prstGeom prst="rect">
            <a:avLst/>
          </a:prstGeom>
          <a:noFill/>
          <a:ln/>
        </p:spPr>
        <p:txBody>
          <a:bodyPr wrap="square" lIns="0" tIns="0" rIns="0" bIns="0" rtlCol="0" anchor="t"/>
          <a:lstStyle/>
          <a:p>
            <a:pPr indent="0" marL="0">
              <a:buNone/>
            </a:pPr>
            <a:r>
              <a:rPr lang="en-US" sz="1300" b="1" dirty="0">
                <a:solidFill>
                  <a:schemeClr val="accent1"/>
                </a:solidFill>
              </a:rPr>
              <a:t>Output</a:t>
            </a:r>
            <a:endParaRPr lang="en-US" sz="1300" dirty="0"/>
          </a:p>
        </p:txBody>
      </p:sp>
      <p:sp>
        <p:nvSpPr>
          <p:cNvPr id="33" name="DOE workflow row text 5"/>
          <p:cNvSpPr txBox="1"/>
          <p:nvPr/>
        </p:nvSpPr>
        <p:spPr>
          <a:xfrm>
            <a:off x="7772400" y="5111496"/>
            <a:ext cx="3657600" cy="548640"/>
          </a:xfrm>
          <a:prstGeom prst="rect">
            <a:avLst/>
          </a:prstGeom>
          <a:noFill/>
          <a:ln/>
        </p:spPr>
        <p:txBody>
          <a:bodyPr wrap="square" lIns="0" tIns="0" rIns="0" bIns="0" rtlCol="0" anchor="t"/>
          <a:lstStyle/>
          <a:p>
            <a:pPr indent="0" marL="0">
              <a:buNone/>
            </a:pPr>
            <a:r>
              <a:rPr lang="en-US" sz="1350" dirty="0">
                <a:solidFill>
                  <a:schemeClr val="tx1"/>
                </a:solidFill>
              </a:rPr>
              <a:t>Excel + PDF + things to check + accuracy report in the folder</a:t>
            </a:r>
            <a:endParaRPr lang="en-US" sz="1350" dirty="0"/>
          </a:p>
        </p:txBody>
      </p:sp>
      <p:sp>
        <p:nvSpPr>
          <p:cNvPr id="34" name="best note"/>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300" i="1" dirty="0">
                <a:solidFill>
                  <a:schemeClr val="accent1"/>
                </a:solidFill>
              </a:rPr>
              <a:t>Best measured accuracy today: the DOE workflow (PDF + DWG combined) — see the accuracy section.</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The web app in seven steps</a:t>
            </a:r>
            <a:endParaRPr lang="en-US" sz="3000" dirty="0"/>
          </a:p>
        </p:txBody>
      </p:sp>
      <p:sp>
        <p:nvSpPr>
          <p:cNvPr id="4" name="web step 1 circle"/>
          <p:cNvSpPr/>
          <p:nvPr/>
        </p:nvSpPr>
        <p:spPr>
          <a:xfrm>
            <a:off x="881743" y="1828800"/>
            <a:ext cx="914400" cy="914400"/>
          </a:xfrm>
          <a:prstGeom prst="ellipse">
            <a:avLst/>
          </a:prstGeom>
          <a:solidFill>
            <a:srgbClr val="2E5BE8"/>
          </a:solidFill>
          <a:ln w="12700">
            <a:solidFill>
              <a:srgbClr val="2E5BE8"/>
            </a:solidFill>
            <a:prstDash val="solid"/>
          </a:ln>
        </p:spPr>
      </p:sp>
      <p:pic>
        <p:nvPicPr>
          <p:cNvPr id="5" name="web step 1 icon" descr="preencoded.png">    </p:cNvPr>
          <p:cNvPicPr>
            <a:picLocks noChangeAspect="1"/>
          </p:cNvPicPr>
          <p:nvPr/>
        </p:nvPicPr>
        <p:blipFill>
          <a:blip r:embed="rId1"/>
          <a:stretch>
            <a:fillRect/>
          </a:stretch>
        </p:blipFill>
        <p:spPr>
          <a:xfrm>
            <a:off x="1119487" y="2066544"/>
            <a:ext cx="438912" cy="438912"/>
          </a:xfrm>
          <a:prstGeom prst="rect">
            <a:avLst/>
          </a:prstGeom>
        </p:spPr>
      </p:pic>
      <p:sp>
        <p:nvSpPr>
          <p:cNvPr id="6" name="Shape 2"/>
          <p:cNvSpPr/>
          <p:nvPr/>
        </p:nvSpPr>
        <p:spPr>
          <a:xfrm>
            <a:off x="1869295" y="2286000"/>
            <a:ext cx="519902" cy="0"/>
          </a:xfrm>
          <a:prstGeom prst="line">
            <a:avLst/>
          </a:prstGeom>
          <a:noFill/>
          <a:ln w="25400">
            <a:solidFill>
              <a:srgbClr val="8A93AB"/>
            </a:solidFill>
            <a:prstDash val="solid"/>
            <a:tailEnd type="triangle"/>
          </a:ln>
        </p:spPr>
      </p:sp>
      <p:sp>
        <p:nvSpPr>
          <p:cNvPr id="7" name="web step number 1"/>
          <p:cNvSpPr txBox="1"/>
          <p:nvPr/>
        </p:nvSpPr>
        <p:spPr>
          <a:xfrm>
            <a:off x="1156063"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1</a:t>
            </a:r>
            <a:endParaRPr lang="en-US" sz="1300" dirty="0"/>
          </a:p>
        </p:txBody>
      </p:sp>
      <p:sp>
        <p:nvSpPr>
          <p:cNvPr id="8" name="web step title 1"/>
          <p:cNvSpPr txBox="1"/>
          <p:nvPr/>
        </p:nvSpPr>
        <p:spPr>
          <a:xfrm>
            <a:off x="594360"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Sign in</a:t>
            </a:r>
            <a:endParaRPr lang="en-US" sz="1700" dirty="0"/>
          </a:p>
        </p:txBody>
      </p:sp>
      <p:sp>
        <p:nvSpPr>
          <p:cNvPr id="9" name="web step text 1"/>
          <p:cNvSpPr txBox="1"/>
          <p:nvPr/>
        </p:nvSpPr>
        <p:spPr>
          <a:xfrm>
            <a:off x="640080"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demo login, pre-filled</a:t>
            </a:r>
            <a:endParaRPr lang="en-US" sz="1250" dirty="0"/>
          </a:p>
        </p:txBody>
      </p:sp>
      <p:sp>
        <p:nvSpPr>
          <p:cNvPr id="10" name="web step 2 circle"/>
          <p:cNvSpPr/>
          <p:nvPr/>
        </p:nvSpPr>
        <p:spPr>
          <a:xfrm>
            <a:off x="2462349" y="1828800"/>
            <a:ext cx="914400" cy="914400"/>
          </a:xfrm>
          <a:prstGeom prst="ellipse">
            <a:avLst/>
          </a:prstGeom>
          <a:solidFill>
            <a:srgbClr val="2E5BE8"/>
          </a:solidFill>
          <a:ln w="12700">
            <a:solidFill>
              <a:srgbClr val="2E5BE8"/>
            </a:solidFill>
            <a:prstDash val="solid"/>
          </a:ln>
        </p:spPr>
      </p:sp>
      <p:pic>
        <p:nvPicPr>
          <p:cNvPr id="11" name="web step 2 icon" descr="preencoded.png">    </p:cNvPr>
          <p:cNvPicPr>
            <a:picLocks noChangeAspect="1"/>
          </p:cNvPicPr>
          <p:nvPr/>
        </p:nvPicPr>
        <p:blipFill>
          <a:blip r:embed="rId2"/>
          <a:stretch>
            <a:fillRect/>
          </a:stretch>
        </p:blipFill>
        <p:spPr>
          <a:xfrm>
            <a:off x="2700093" y="2066544"/>
            <a:ext cx="438912" cy="438912"/>
          </a:xfrm>
          <a:prstGeom prst="rect">
            <a:avLst/>
          </a:prstGeom>
        </p:spPr>
      </p:pic>
      <p:sp>
        <p:nvSpPr>
          <p:cNvPr id="12" name="Shape 7"/>
          <p:cNvSpPr/>
          <p:nvPr/>
        </p:nvSpPr>
        <p:spPr>
          <a:xfrm>
            <a:off x="3449901" y="2286000"/>
            <a:ext cx="519902" cy="0"/>
          </a:xfrm>
          <a:prstGeom prst="line">
            <a:avLst/>
          </a:prstGeom>
          <a:noFill/>
          <a:ln w="25400">
            <a:solidFill>
              <a:srgbClr val="8A93AB"/>
            </a:solidFill>
            <a:prstDash val="solid"/>
            <a:tailEnd type="triangle"/>
          </a:ln>
        </p:spPr>
      </p:sp>
      <p:sp>
        <p:nvSpPr>
          <p:cNvPr id="13" name="web step number 2"/>
          <p:cNvSpPr txBox="1"/>
          <p:nvPr/>
        </p:nvSpPr>
        <p:spPr>
          <a:xfrm>
            <a:off x="2736669"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2</a:t>
            </a:r>
            <a:endParaRPr lang="en-US" sz="1300" dirty="0"/>
          </a:p>
        </p:txBody>
      </p:sp>
      <p:sp>
        <p:nvSpPr>
          <p:cNvPr id="14" name="web step title 2"/>
          <p:cNvSpPr txBox="1"/>
          <p:nvPr/>
        </p:nvSpPr>
        <p:spPr>
          <a:xfrm>
            <a:off x="2174966"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Upload</a:t>
            </a:r>
            <a:endParaRPr lang="en-US" sz="1700" dirty="0"/>
          </a:p>
        </p:txBody>
      </p:sp>
      <p:sp>
        <p:nvSpPr>
          <p:cNvPr id="15" name="web step text 2"/>
          <p:cNvSpPr txBox="1"/>
          <p:nvPr/>
        </p:nvSpPr>
        <p:spPr>
          <a:xfrm>
            <a:off x="2220686"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DXF/DWG, PDF or both</a:t>
            </a:r>
            <a:endParaRPr lang="en-US" sz="1250" dirty="0"/>
          </a:p>
        </p:txBody>
      </p:sp>
      <p:sp>
        <p:nvSpPr>
          <p:cNvPr id="16" name="web step 3 circle"/>
          <p:cNvSpPr/>
          <p:nvPr/>
        </p:nvSpPr>
        <p:spPr>
          <a:xfrm>
            <a:off x="4042954" y="1828800"/>
            <a:ext cx="914400" cy="914400"/>
          </a:xfrm>
          <a:prstGeom prst="ellipse">
            <a:avLst/>
          </a:prstGeom>
          <a:solidFill>
            <a:srgbClr val="F2A900"/>
          </a:solidFill>
          <a:ln w="12700">
            <a:solidFill>
              <a:srgbClr val="F2A900"/>
            </a:solidFill>
            <a:prstDash val="solid"/>
          </a:ln>
        </p:spPr>
      </p:sp>
      <p:pic>
        <p:nvPicPr>
          <p:cNvPr id="17" name="web step 3 icon" descr="preencoded.png">    </p:cNvPr>
          <p:cNvPicPr>
            <a:picLocks noChangeAspect="1"/>
          </p:cNvPicPr>
          <p:nvPr/>
        </p:nvPicPr>
        <p:blipFill>
          <a:blip r:embed="rId3"/>
          <a:stretch>
            <a:fillRect/>
          </a:stretch>
        </p:blipFill>
        <p:spPr>
          <a:xfrm>
            <a:off x="4280698" y="2066544"/>
            <a:ext cx="438912" cy="438912"/>
          </a:xfrm>
          <a:prstGeom prst="rect">
            <a:avLst/>
          </a:prstGeom>
        </p:spPr>
      </p:pic>
      <p:sp>
        <p:nvSpPr>
          <p:cNvPr id="18" name="Shape 12"/>
          <p:cNvSpPr/>
          <p:nvPr/>
        </p:nvSpPr>
        <p:spPr>
          <a:xfrm>
            <a:off x="5030506" y="2286000"/>
            <a:ext cx="519902" cy="0"/>
          </a:xfrm>
          <a:prstGeom prst="line">
            <a:avLst/>
          </a:prstGeom>
          <a:noFill/>
          <a:ln w="25400">
            <a:solidFill>
              <a:srgbClr val="8A93AB"/>
            </a:solidFill>
            <a:prstDash val="solid"/>
            <a:tailEnd type="triangle"/>
          </a:ln>
        </p:spPr>
      </p:sp>
      <p:sp>
        <p:nvSpPr>
          <p:cNvPr id="19" name="web step number 3"/>
          <p:cNvSpPr txBox="1"/>
          <p:nvPr/>
        </p:nvSpPr>
        <p:spPr>
          <a:xfrm>
            <a:off x="4317274"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3</a:t>
            </a:r>
            <a:endParaRPr lang="en-US" sz="1300" dirty="0"/>
          </a:p>
        </p:txBody>
      </p:sp>
      <p:sp>
        <p:nvSpPr>
          <p:cNvPr id="20" name="web step title 3"/>
          <p:cNvSpPr txBox="1"/>
          <p:nvPr/>
        </p:nvSpPr>
        <p:spPr>
          <a:xfrm>
            <a:off x="3755571"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Take-off</a:t>
            </a:r>
            <a:endParaRPr lang="en-US" sz="1700" dirty="0"/>
          </a:p>
        </p:txBody>
      </p:sp>
      <p:sp>
        <p:nvSpPr>
          <p:cNvPr id="21" name="web step text 3"/>
          <p:cNvSpPr txBox="1"/>
          <p:nvPr/>
        </p:nvSpPr>
        <p:spPr>
          <a:xfrm>
            <a:off x="3801291"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live progress, then the drawing set &amp; gaps</a:t>
            </a:r>
            <a:endParaRPr lang="en-US" sz="1250" dirty="0"/>
          </a:p>
        </p:txBody>
      </p:sp>
      <p:sp>
        <p:nvSpPr>
          <p:cNvPr id="22" name="web step 4 circle"/>
          <p:cNvSpPr/>
          <p:nvPr/>
        </p:nvSpPr>
        <p:spPr>
          <a:xfrm>
            <a:off x="5623560" y="1828800"/>
            <a:ext cx="914400" cy="914400"/>
          </a:xfrm>
          <a:prstGeom prst="ellipse">
            <a:avLst/>
          </a:prstGeom>
          <a:solidFill>
            <a:srgbClr val="2E5BE8"/>
          </a:solidFill>
          <a:ln w="12700">
            <a:solidFill>
              <a:srgbClr val="2E5BE8"/>
            </a:solidFill>
            <a:prstDash val="solid"/>
          </a:ln>
        </p:spPr>
      </p:sp>
      <p:pic>
        <p:nvPicPr>
          <p:cNvPr id="23" name="web step 4 icon" descr="preencoded.png">    </p:cNvPr>
          <p:cNvPicPr>
            <a:picLocks noChangeAspect="1"/>
          </p:cNvPicPr>
          <p:nvPr/>
        </p:nvPicPr>
        <p:blipFill>
          <a:blip r:embed="rId4"/>
          <a:stretch>
            <a:fillRect/>
          </a:stretch>
        </p:blipFill>
        <p:spPr>
          <a:xfrm>
            <a:off x="5861304" y="2066544"/>
            <a:ext cx="438912" cy="438912"/>
          </a:xfrm>
          <a:prstGeom prst="rect">
            <a:avLst/>
          </a:prstGeom>
        </p:spPr>
      </p:pic>
      <p:sp>
        <p:nvSpPr>
          <p:cNvPr id="24" name="Shape 17"/>
          <p:cNvSpPr/>
          <p:nvPr/>
        </p:nvSpPr>
        <p:spPr>
          <a:xfrm>
            <a:off x="6611112" y="2286000"/>
            <a:ext cx="519902" cy="0"/>
          </a:xfrm>
          <a:prstGeom prst="line">
            <a:avLst/>
          </a:prstGeom>
          <a:noFill/>
          <a:ln w="25400">
            <a:solidFill>
              <a:srgbClr val="8A93AB"/>
            </a:solidFill>
            <a:prstDash val="solid"/>
            <a:tailEnd type="triangle"/>
          </a:ln>
        </p:spPr>
      </p:sp>
      <p:sp>
        <p:nvSpPr>
          <p:cNvPr id="25" name="web step number 4"/>
          <p:cNvSpPr txBox="1"/>
          <p:nvPr/>
        </p:nvSpPr>
        <p:spPr>
          <a:xfrm>
            <a:off x="5897880"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4</a:t>
            </a:r>
            <a:endParaRPr lang="en-US" sz="1300" dirty="0"/>
          </a:p>
        </p:txBody>
      </p:sp>
      <p:sp>
        <p:nvSpPr>
          <p:cNvPr id="26" name="web step title 4"/>
          <p:cNvSpPr txBox="1"/>
          <p:nvPr/>
        </p:nvSpPr>
        <p:spPr>
          <a:xfrm>
            <a:off x="5336177"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BoQ</a:t>
            </a:r>
            <a:endParaRPr lang="en-US" sz="1700" dirty="0"/>
          </a:p>
        </p:txBody>
      </p:sp>
      <p:sp>
        <p:nvSpPr>
          <p:cNvPr id="27" name="web step text 4"/>
          <p:cNvSpPr txBox="1"/>
          <p:nvPr/>
        </p:nvSpPr>
        <p:spPr>
          <a:xfrm>
            <a:off x="5381897"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every line with its evidence</a:t>
            </a:r>
            <a:endParaRPr lang="en-US" sz="1250" dirty="0"/>
          </a:p>
        </p:txBody>
      </p:sp>
      <p:sp>
        <p:nvSpPr>
          <p:cNvPr id="28" name="web step 5 circle"/>
          <p:cNvSpPr/>
          <p:nvPr/>
        </p:nvSpPr>
        <p:spPr>
          <a:xfrm>
            <a:off x="7204166" y="1828800"/>
            <a:ext cx="914400" cy="914400"/>
          </a:xfrm>
          <a:prstGeom prst="ellipse">
            <a:avLst/>
          </a:prstGeom>
          <a:solidFill>
            <a:srgbClr val="2E5BE8"/>
          </a:solidFill>
          <a:ln w="12700">
            <a:solidFill>
              <a:srgbClr val="2E5BE8"/>
            </a:solidFill>
            <a:prstDash val="solid"/>
          </a:ln>
        </p:spPr>
      </p:sp>
      <p:pic>
        <p:nvPicPr>
          <p:cNvPr id="29" name="web step 5 icon" descr="preencoded.png">    </p:cNvPr>
          <p:cNvPicPr>
            <a:picLocks noChangeAspect="1"/>
          </p:cNvPicPr>
          <p:nvPr/>
        </p:nvPicPr>
        <p:blipFill>
          <a:blip r:embed="rId5"/>
          <a:stretch>
            <a:fillRect/>
          </a:stretch>
        </p:blipFill>
        <p:spPr>
          <a:xfrm>
            <a:off x="7441910" y="2066544"/>
            <a:ext cx="438912" cy="438912"/>
          </a:xfrm>
          <a:prstGeom prst="rect">
            <a:avLst/>
          </a:prstGeom>
        </p:spPr>
      </p:pic>
      <p:sp>
        <p:nvSpPr>
          <p:cNvPr id="30" name="Shape 22"/>
          <p:cNvSpPr/>
          <p:nvPr/>
        </p:nvSpPr>
        <p:spPr>
          <a:xfrm>
            <a:off x="8191718" y="2286000"/>
            <a:ext cx="519902" cy="0"/>
          </a:xfrm>
          <a:prstGeom prst="line">
            <a:avLst/>
          </a:prstGeom>
          <a:noFill/>
          <a:ln w="25400">
            <a:solidFill>
              <a:srgbClr val="8A93AB"/>
            </a:solidFill>
            <a:prstDash val="solid"/>
            <a:tailEnd type="triangle"/>
          </a:ln>
        </p:spPr>
      </p:sp>
      <p:sp>
        <p:nvSpPr>
          <p:cNvPr id="31" name="web step number 5"/>
          <p:cNvSpPr txBox="1"/>
          <p:nvPr/>
        </p:nvSpPr>
        <p:spPr>
          <a:xfrm>
            <a:off x="7478486"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5</a:t>
            </a:r>
            <a:endParaRPr lang="en-US" sz="1300" dirty="0"/>
          </a:p>
        </p:txBody>
      </p:sp>
      <p:sp>
        <p:nvSpPr>
          <p:cNvPr id="32" name="web step title 5"/>
          <p:cNvSpPr txBox="1"/>
          <p:nvPr/>
        </p:nvSpPr>
        <p:spPr>
          <a:xfrm>
            <a:off x="6916783"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Pricing</a:t>
            </a:r>
            <a:endParaRPr lang="en-US" sz="1700" dirty="0"/>
          </a:p>
        </p:txBody>
      </p:sp>
      <p:sp>
        <p:nvSpPr>
          <p:cNvPr id="33" name="web step text 5"/>
          <p:cNvSpPr txBox="1"/>
          <p:nvPr/>
        </p:nvSpPr>
        <p:spPr>
          <a:xfrm>
            <a:off x="6962503"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supplier quotes, apply one</a:t>
            </a:r>
            <a:endParaRPr lang="en-US" sz="1250" dirty="0"/>
          </a:p>
        </p:txBody>
      </p:sp>
      <p:sp>
        <p:nvSpPr>
          <p:cNvPr id="34" name="web step 6 circle"/>
          <p:cNvSpPr/>
          <p:nvPr/>
        </p:nvSpPr>
        <p:spPr>
          <a:xfrm>
            <a:off x="8784771" y="1828800"/>
            <a:ext cx="914400" cy="914400"/>
          </a:xfrm>
          <a:prstGeom prst="ellipse">
            <a:avLst/>
          </a:prstGeom>
          <a:solidFill>
            <a:srgbClr val="2E5BE8"/>
          </a:solidFill>
          <a:ln w="12700">
            <a:solidFill>
              <a:srgbClr val="2E5BE8"/>
            </a:solidFill>
            <a:prstDash val="solid"/>
          </a:ln>
        </p:spPr>
      </p:sp>
      <p:pic>
        <p:nvPicPr>
          <p:cNvPr id="35" name="web step 6 icon" descr="preencoded.png">    </p:cNvPr>
          <p:cNvPicPr>
            <a:picLocks noChangeAspect="1"/>
          </p:cNvPicPr>
          <p:nvPr/>
        </p:nvPicPr>
        <p:blipFill>
          <a:blip r:embed="rId6"/>
          <a:stretch>
            <a:fillRect/>
          </a:stretch>
        </p:blipFill>
        <p:spPr>
          <a:xfrm>
            <a:off x="9022515" y="2066544"/>
            <a:ext cx="438912" cy="438912"/>
          </a:xfrm>
          <a:prstGeom prst="rect">
            <a:avLst/>
          </a:prstGeom>
        </p:spPr>
      </p:pic>
      <p:sp>
        <p:nvSpPr>
          <p:cNvPr id="36" name="Shape 27"/>
          <p:cNvSpPr/>
          <p:nvPr/>
        </p:nvSpPr>
        <p:spPr>
          <a:xfrm>
            <a:off x="9772323" y="2286000"/>
            <a:ext cx="519902" cy="0"/>
          </a:xfrm>
          <a:prstGeom prst="line">
            <a:avLst/>
          </a:prstGeom>
          <a:noFill/>
          <a:ln w="25400">
            <a:solidFill>
              <a:srgbClr val="8A93AB"/>
            </a:solidFill>
            <a:prstDash val="solid"/>
            <a:tailEnd type="triangle"/>
          </a:ln>
        </p:spPr>
      </p:sp>
      <p:sp>
        <p:nvSpPr>
          <p:cNvPr id="37" name="web step number 6"/>
          <p:cNvSpPr txBox="1"/>
          <p:nvPr/>
        </p:nvSpPr>
        <p:spPr>
          <a:xfrm>
            <a:off x="9059091"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6</a:t>
            </a:r>
            <a:endParaRPr lang="en-US" sz="1300" dirty="0"/>
          </a:p>
        </p:txBody>
      </p:sp>
      <p:sp>
        <p:nvSpPr>
          <p:cNvPr id="38" name="web step title 6"/>
          <p:cNvSpPr txBox="1"/>
          <p:nvPr/>
        </p:nvSpPr>
        <p:spPr>
          <a:xfrm>
            <a:off x="8497389"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Export</a:t>
            </a:r>
            <a:endParaRPr lang="en-US" sz="1700" dirty="0"/>
          </a:p>
        </p:txBody>
      </p:sp>
      <p:sp>
        <p:nvSpPr>
          <p:cNvPr id="39" name="web step text 6"/>
          <p:cNvSpPr txBox="1"/>
          <p:nvPr/>
        </p:nvSpPr>
        <p:spPr>
          <a:xfrm>
            <a:off x="8543109"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Excel &amp; PDF, email</a:t>
            </a:r>
            <a:endParaRPr lang="en-US" sz="1250" dirty="0"/>
          </a:p>
        </p:txBody>
      </p:sp>
      <p:sp>
        <p:nvSpPr>
          <p:cNvPr id="40" name="web step 7 circle"/>
          <p:cNvSpPr/>
          <p:nvPr/>
        </p:nvSpPr>
        <p:spPr>
          <a:xfrm>
            <a:off x="10365377" y="1828800"/>
            <a:ext cx="914400" cy="914400"/>
          </a:xfrm>
          <a:prstGeom prst="ellipse">
            <a:avLst/>
          </a:prstGeom>
          <a:solidFill>
            <a:srgbClr val="2E5BE8"/>
          </a:solidFill>
          <a:ln w="12700">
            <a:solidFill>
              <a:srgbClr val="2E5BE8"/>
            </a:solidFill>
            <a:prstDash val="solid"/>
          </a:ln>
        </p:spPr>
      </p:sp>
      <p:pic>
        <p:nvPicPr>
          <p:cNvPr id="41" name="web step 7 icon" descr="preencoded.png">    </p:cNvPr>
          <p:cNvPicPr>
            <a:picLocks noChangeAspect="1"/>
          </p:cNvPicPr>
          <p:nvPr/>
        </p:nvPicPr>
        <p:blipFill>
          <a:blip r:embed="rId7"/>
          <a:stretch>
            <a:fillRect/>
          </a:stretch>
        </p:blipFill>
        <p:spPr>
          <a:xfrm>
            <a:off x="10603121" y="2066544"/>
            <a:ext cx="438912" cy="438912"/>
          </a:xfrm>
          <a:prstGeom prst="rect">
            <a:avLst/>
          </a:prstGeom>
        </p:spPr>
      </p:pic>
      <p:sp>
        <p:nvSpPr>
          <p:cNvPr id="42" name="web step number 7"/>
          <p:cNvSpPr txBox="1"/>
          <p:nvPr/>
        </p:nvSpPr>
        <p:spPr>
          <a:xfrm>
            <a:off x="10639697" y="2880360"/>
            <a:ext cx="365760" cy="320040"/>
          </a:xfrm>
          <a:prstGeom prst="rect">
            <a:avLst/>
          </a:prstGeom>
          <a:noFill/>
          <a:ln/>
        </p:spPr>
        <p:txBody>
          <a:bodyPr wrap="square" lIns="0" tIns="0" rIns="0" bIns="0" rtlCol="0" anchor="t"/>
          <a:lstStyle/>
          <a:p>
            <a:pPr algn="ctr" indent="0" marL="0">
              <a:buNone/>
            </a:pPr>
            <a:r>
              <a:rPr lang="en-US" sz="1300" b="1" dirty="0">
                <a:solidFill>
                  <a:schemeClr val="accent6"/>
                </a:solidFill>
              </a:rPr>
              <a:t>7</a:t>
            </a:r>
            <a:endParaRPr lang="en-US" sz="1300" dirty="0"/>
          </a:p>
        </p:txBody>
      </p:sp>
      <p:sp>
        <p:nvSpPr>
          <p:cNvPr id="43" name="web step title 7"/>
          <p:cNvSpPr txBox="1"/>
          <p:nvPr/>
        </p:nvSpPr>
        <p:spPr>
          <a:xfrm>
            <a:off x="10077994" y="3200400"/>
            <a:ext cx="1489166" cy="365760"/>
          </a:xfrm>
          <a:prstGeom prst="rect">
            <a:avLst/>
          </a:prstGeom>
          <a:noFill/>
          <a:ln/>
        </p:spPr>
        <p:txBody>
          <a:bodyPr wrap="square" lIns="0" tIns="0" rIns="0" bIns="0" rtlCol="0" anchor="t"/>
          <a:lstStyle/>
          <a:p>
            <a:pPr algn="ctr" indent="0" marL="0">
              <a:buNone/>
            </a:pPr>
            <a:r>
              <a:rPr lang="en-US" sz="1700" b="1" dirty="0">
                <a:solidFill>
                  <a:schemeClr val="tx1"/>
                </a:solidFill>
              </a:rPr>
              <a:t>Audit</a:t>
            </a:r>
            <a:endParaRPr lang="en-US" sz="1700" dirty="0"/>
          </a:p>
        </p:txBody>
      </p:sp>
      <p:sp>
        <p:nvSpPr>
          <p:cNvPr id="44" name="web step text 7"/>
          <p:cNvSpPr txBox="1"/>
          <p:nvPr/>
        </p:nvSpPr>
        <p:spPr>
          <a:xfrm>
            <a:off x="10123714" y="3611880"/>
            <a:ext cx="1397726" cy="822960"/>
          </a:xfrm>
          <a:prstGeom prst="rect">
            <a:avLst/>
          </a:prstGeom>
          <a:noFill/>
          <a:ln/>
        </p:spPr>
        <p:txBody>
          <a:bodyPr wrap="square" lIns="0" tIns="0" rIns="0" bIns="0" rtlCol="0" anchor="t"/>
          <a:lstStyle/>
          <a:p>
            <a:pPr algn="ctr" indent="0" marL="0">
              <a:buNone/>
            </a:pPr>
            <a:r>
              <a:rPr lang="en-US" sz="1250" dirty="0">
                <a:solidFill>
                  <a:schemeClr val="tx2"/>
                </a:solidFill>
              </a:rPr>
              <a:t>check any BoQ</a:t>
            </a:r>
            <a:endParaRPr lang="en-US" sz="1250" dirty="0"/>
          </a:p>
        </p:txBody>
      </p:sp>
      <p:sp>
        <p:nvSpPr>
          <p:cNvPr id="45" name="start card"/>
          <p:cNvSpPr/>
          <p:nvPr/>
        </p:nvSpPr>
        <p:spPr>
          <a:xfrm>
            <a:off x="548640" y="4709160"/>
            <a:ext cx="11064240" cy="1097280"/>
          </a:xfrm>
          <a:prstGeom prst="roundRect">
            <a:avLst>
              <a:gd name="adj" fmla="val 10000"/>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46" name="start circle"/>
          <p:cNvSpPr/>
          <p:nvPr/>
        </p:nvSpPr>
        <p:spPr>
          <a:xfrm>
            <a:off x="777240" y="4892040"/>
            <a:ext cx="731520" cy="731520"/>
          </a:xfrm>
          <a:prstGeom prst="ellipse">
            <a:avLst/>
          </a:prstGeom>
          <a:solidFill>
            <a:srgbClr val="101A33"/>
          </a:solidFill>
          <a:ln w="12700">
            <a:solidFill>
              <a:srgbClr val="101A33"/>
            </a:solidFill>
            <a:prstDash val="solid"/>
          </a:ln>
        </p:spPr>
      </p:sp>
      <p:pic>
        <p:nvPicPr>
          <p:cNvPr id="47" name="start icon" descr="preencoded.png">    </p:cNvPr>
          <p:cNvPicPr>
            <a:picLocks noChangeAspect="1"/>
          </p:cNvPicPr>
          <p:nvPr/>
        </p:nvPicPr>
        <p:blipFill>
          <a:blip r:embed="rId8"/>
          <a:stretch>
            <a:fillRect/>
          </a:stretch>
        </p:blipFill>
        <p:spPr>
          <a:xfrm>
            <a:off x="967435" y="5082235"/>
            <a:ext cx="351130" cy="351130"/>
          </a:xfrm>
          <a:prstGeom prst="rect">
            <a:avLst/>
          </a:prstGeom>
        </p:spPr>
      </p:pic>
      <p:sp>
        <p:nvSpPr>
          <p:cNvPr id="48" name="start text"/>
          <p:cNvSpPr txBox="1"/>
          <p:nvPr/>
        </p:nvSpPr>
        <p:spPr>
          <a:xfrm>
            <a:off x="1737360" y="4983480"/>
            <a:ext cx="9692640" cy="548640"/>
          </a:xfrm>
          <a:prstGeom prst="rect">
            <a:avLst/>
          </a:prstGeom>
          <a:noFill/>
          <a:ln/>
        </p:spPr>
        <p:txBody>
          <a:bodyPr wrap="square" lIns="0" tIns="0" rIns="0" bIns="0" rtlCol="0" anchor="ctr"/>
          <a:lstStyle/>
          <a:p>
            <a:pPr indent="0" marL="0">
              <a:buNone/>
            </a:pPr>
            <a:r>
              <a:rPr lang="en-US" sz="1500" b="1" dirty="0">
                <a:solidFill>
                  <a:schemeClr val="tx1"/>
                </a:solidFill>
              </a:rPr>
              <a:t>Start it: </a:t>
            </a:r>
            <a:pPr indent="0" marL="0">
              <a:buNone/>
            </a:pPr>
            <a:r>
              <a:rPr lang="en-US" sz="1500" b="1" dirty="0">
                <a:solidFill>
                  <a:schemeClr val="accent1"/>
                </a:solidFill>
                <a:latin typeface="Courier New" pitchFamily="34" charset="0"/>
                <a:ea typeface="Courier New" pitchFamily="34" charset="-122"/>
                <a:cs typeface="Courier New" pitchFamily="34" charset="-120"/>
              </a:rPr>
              <a:t>python scripts/dev.py start</a:t>
            </a:r>
            <a:pPr indent="0" marL="0">
              <a:buNone/>
            </a:pPr>
            <a:r>
              <a:rPr lang="en-US" sz="1500" dirty="0">
                <a:solidFill>
                  <a:schemeClr val="tx1"/>
                </a:solidFill>
              </a:rPr>
              <a:t>   then open http://127.0.0.1:5180  (macOS: python3)</a:t>
            </a:r>
            <a:endParaRPr lang="en-US" sz="15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Upload: choose the engine that fits your drawings</a:t>
            </a:r>
            <a:endParaRPr lang="en-US" sz="3000" dirty="0"/>
          </a:p>
        </p:txBody>
      </p:sp>
      <p:sp>
        <p:nvSpPr>
          <p:cNvPr id="4" name="engine card 1"/>
          <p:cNvSpPr/>
          <p:nvPr/>
        </p:nvSpPr>
        <p:spPr>
          <a:xfrm>
            <a:off x="548640" y="1417320"/>
            <a:ext cx="3520440" cy="4343400"/>
          </a:xfrm>
          <a:prstGeom prst="roundRect">
            <a:avLst>
              <a:gd name="adj" fmla="val 3117"/>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engine 1 circle"/>
          <p:cNvSpPr/>
          <p:nvPr/>
        </p:nvSpPr>
        <p:spPr>
          <a:xfrm>
            <a:off x="822960" y="1645920"/>
            <a:ext cx="777240" cy="777240"/>
          </a:xfrm>
          <a:prstGeom prst="ellipse">
            <a:avLst/>
          </a:prstGeom>
          <a:solidFill>
            <a:srgbClr val="2E5BE8"/>
          </a:solidFill>
          <a:ln w="12700">
            <a:solidFill>
              <a:srgbClr val="2E5BE8"/>
            </a:solidFill>
            <a:prstDash val="solid"/>
          </a:ln>
        </p:spPr>
      </p:sp>
      <p:pic>
        <p:nvPicPr>
          <p:cNvPr id="6" name="engine 1 icon" descr="preencoded.png">    </p:cNvPr>
          <p:cNvPicPr>
            <a:picLocks noChangeAspect="1"/>
          </p:cNvPicPr>
          <p:nvPr/>
        </p:nvPicPr>
        <p:blipFill>
          <a:blip r:embed="rId1"/>
          <a:stretch>
            <a:fillRect/>
          </a:stretch>
        </p:blipFill>
        <p:spPr>
          <a:xfrm>
            <a:off x="1025042" y="1848002"/>
            <a:ext cx="373075" cy="373075"/>
          </a:xfrm>
          <a:prstGeom prst="rect">
            <a:avLst/>
          </a:prstGeom>
        </p:spPr>
      </p:pic>
      <p:sp>
        <p:nvSpPr>
          <p:cNvPr id="7" name="engine title 1"/>
          <p:cNvSpPr txBox="1"/>
          <p:nvPr/>
        </p:nvSpPr>
        <p:spPr>
          <a:xfrm>
            <a:off x="1737360" y="1691640"/>
            <a:ext cx="2194560" cy="411480"/>
          </a:xfrm>
          <a:prstGeom prst="rect">
            <a:avLst/>
          </a:prstGeom>
          <a:noFill/>
          <a:ln/>
        </p:spPr>
        <p:txBody>
          <a:bodyPr wrap="square" lIns="0" tIns="0" rIns="0" bIns="0" rtlCol="0" anchor="t"/>
          <a:lstStyle/>
          <a:p>
            <a:pPr indent="0" marL="0">
              <a:buNone/>
            </a:pPr>
            <a:r>
              <a:rPr lang="en-US" sz="2100" b="1" dirty="0">
                <a:solidFill>
                  <a:schemeClr val="tx1"/>
                </a:solidFill>
              </a:rPr>
              <a:t>DXF / DWG</a:t>
            </a:r>
            <a:endParaRPr lang="en-US" sz="2100" dirty="0"/>
          </a:p>
        </p:txBody>
      </p:sp>
      <p:sp>
        <p:nvSpPr>
          <p:cNvPr id="8" name="engine tag 1"/>
          <p:cNvSpPr txBox="1"/>
          <p:nvPr/>
        </p:nvSpPr>
        <p:spPr>
          <a:xfrm>
            <a:off x="1737360" y="2103120"/>
            <a:ext cx="2240280" cy="320040"/>
          </a:xfrm>
          <a:prstGeom prst="rect">
            <a:avLst/>
          </a:prstGeom>
          <a:noFill/>
          <a:ln/>
        </p:spPr>
        <p:txBody>
          <a:bodyPr wrap="square" lIns="0" tIns="0" rIns="0" bIns="0" rtlCol="0" anchor="t"/>
          <a:lstStyle/>
          <a:p>
            <a:pPr indent="0" marL="0">
              <a:buNone/>
            </a:pPr>
            <a:r>
              <a:rPr lang="en-US" sz="1300" b="1" dirty="0">
                <a:solidFill>
                  <a:schemeClr val="accent1"/>
                </a:solidFill>
              </a:rPr>
              <a:t>Free · exact · 1–2 min</a:t>
            </a:r>
            <a:endParaRPr lang="en-US" sz="1300" dirty="0"/>
          </a:p>
        </p:txBody>
      </p:sp>
      <p:sp>
        <p:nvSpPr>
          <p:cNvPr id="9" name="engine points 1"/>
          <p:cNvSpPr txBox="1"/>
          <p:nvPr/>
        </p:nvSpPr>
        <p:spPr>
          <a:xfrm>
            <a:off x="822960" y="2697480"/>
            <a:ext cx="30175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Select the whole set: SLDs, layouts and the electrical site plan</a:t>
            </a:r>
            <a:endParaRPr lang="en-US" sz="1400" dirty="0"/>
          </a:p>
          <a:p>
            <a:pPr marL="342900" indent="-342900">
              <a:spcAft>
                <a:spcPts val="800"/>
              </a:spcAft>
              <a:buSzPct val="100000"/>
              <a:buChar char="•"/>
            </a:pPr>
            <a:r>
              <a:rPr lang="en-US" sz="1400" dirty="0">
                <a:solidFill>
                  <a:schemeClr val="tx1"/>
                </a:solidFill>
              </a:rPr>
              <a:t>Feeder lengths measured on the site plan</a:t>
            </a:r>
            <a:endParaRPr lang="en-US" sz="1400" dirty="0"/>
          </a:p>
          <a:p>
            <a:pPr marL="342900" indent="-342900">
              <a:spcAft>
                <a:spcPts val="800"/>
              </a:spcAft>
              <a:buSzPct val="100000"/>
              <a:buChar char="•"/>
            </a:pPr>
            <a:r>
              <a:rPr lang="en-US" sz="1400" dirty="0">
                <a:solidFill>
                  <a:schemeClr val="tx1"/>
                </a:solidFill>
              </a:rPr>
              <a:t>Older revisions skipped automatically</a:t>
            </a:r>
            <a:endParaRPr lang="en-US" sz="1400" dirty="0"/>
          </a:p>
          <a:p>
            <a:pPr marL="342900" indent="-342900">
              <a:spcAft>
                <a:spcPts val="800"/>
              </a:spcAft>
              <a:buSzPct val="100000"/>
              <a:buChar char="•"/>
            </a:pPr>
            <a:r>
              <a:rPr lang="en-US" sz="1400" dirty="0">
                <a:solidFill>
                  <a:schemeClr val="tx1"/>
                </a:solidFill>
              </a:rPr>
              <a:t>Optional: AI names unnamed symbols (≈ R1–2)</a:t>
            </a:r>
            <a:endParaRPr lang="en-US" sz="1400" dirty="0"/>
          </a:p>
        </p:txBody>
      </p:sp>
      <p:sp>
        <p:nvSpPr>
          <p:cNvPr id="10" name="engine card 2"/>
          <p:cNvSpPr/>
          <p:nvPr/>
        </p:nvSpPr>
        <p:spPr>
          <a:xfrm>
            <a:off x="4297680" y="1417320"/>
            <a:ext cx="3520440" cy="4343400"/>
          </a:xfrm>
          <a:prstGeom prst="roundRect">
            <a:avLst>
              <a:gd name="adj" fmla="val 3117"/>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1" name="engine 2 circle"/>
          <p:cNvSpPr/>
          <p:nvPr/>
        </p:nvSpPr>
        <p:spPr>
          <a:xfrm>
            <a:off x="4572000" y="1645920"/>
            <a:ext cx="777240" cy="777240"/>
          </a:xfrm>
          <a:prstGeom prst="ellipse">
            <a:avLst/>
          </a:prstGeom>
          <a:solidFill>
            <a:srgbClr val="2E5BE8"/>
          </a:solidFill>
          <a:ln w="12700">
            <a:solidFill>
              <a:srgbClr val="2E5BE8"/>
            </a:solidFill>
            <a:prstDash val="solid"/>
          </a:ln>
        </p:spPr>
      </p:sp>
      <p:pic>
        <p:nvPicPr>
          <p:cNvPr id="12" name="engine 2 icon" descr="preencoded.png">    </p:cNvPr>
          <p:cNvPicPr>
            <a:picLocks noChangeAspect="1"/>
          </p:cNvPicPr>
          <p:nvPr/>
        </p:nvPicPr>
        <p:blipFill>
          <a:blip r:embed="rId2"/>
          <a:stretch>
            <a:fillRect/>
          </a:stretch>
        </p:blipFill>
        <p:spPr>
          <a:xfrm>
            <a:off x="4774082" y="1848002"/>
            <a:ext cx="373075" cy="373075"/>
          </a:xfrm>
          <a:prstGeom prst="rect">
            <a:avLst/>
          </a:prstGeom>
        </p:spPr>
      </p:pic>
      <p:sp>
        <p:nvSpPr>
          <p:cNvPr id="13" name="engine title 2"/>
          <p:cNvSpPr txBox="1"/>
          <p:nvPr/>
        </p:nvSpPr>
        <p:spPr>
          <a:xfrm>
            <a:off x="5486400" y="1691640"/>
            <a:ext cx="2194560" cy="411480"/>
          </a:xfrm>
          <a:prstGeom prst="rect">
            <a:avLst/>
          </a:prstGeom>
          <a:noFill/>
          <a:ln/>
        </p:spPr>
        <p:txBody>
          <a:bodyPr wrap="square" lIns="0" tIns="0" rIns="0" bIns="0" rtlCol="0" anchor="t"/>
          <a:lstStyle/>
          <a:p>
            <a:pPr indent="0" marL="0">
              <a:buNone/>
            </a:pPr>
            <a:r>
              <a:rPr lang="en-US" sz="2100" b="1" dirty="0">
                <a:solidFill>
                  <a:schemeClr val="tx1"/>
                </a:solidFill>
              </a:rPr>
              <a:t>PDF</a:t>
            </a:r>
            <a:endParaRPr lang="en-US" sz="2100" dirty="0"/>
          </a:p>
        </p:txBody>
      </p:sp>
      <p:sp>
        <p:nvSpPr>
          <p:cNvPr id="14" name="engine tag 2"/>
          <p:cNvSpPr txBox="1"/>
          <p:nvPr/>
        </p:nvSpPr>
        <p:spPr>
          <a:xfrm>
            <a:off x="5486400" y="2103120"/>
            <a:ext cx="2240280" cy="320040"/>
          </a:xfrm>
          <a:prstGeom prst="rect">
            <a:avLst/>
          </a:prstGeom>
          <a:noFill/>
          <a:ln/>
        </p:spPr>
        <p:txBody>
          <a:bodyPr wrap="square" lIns="0" tIns="0" rIns="0" bIns="0" rtlCol="0" anchor="t"/>
          <a:lstStyle/>
          <a:p>
            <a:pPr indent="0" marL="0">
              <a:buNone/>
            </a:pPr>
            <a:r>
              <a:rPr lang="en-US" sz="1300" b="1" dirty="0">
                <a:solidFill>
                  <a:schemeClr val="accent1"/>
                </a:solidFill>
              </a:rPr>
              <a:t>AI reads every page</a:t>
            </a:r>
            <a:endParaRPr lang="en-US" sz="1300" dirty="0"/>
          </a:p>
        </p:txBody>
      </p:sp>
      <p:sp>
        <p:nvSpPr>
          <p:cNvPr id="15" name="engine points 2"/>
          <p:cNvSpPr txBox="1"/>
          <p:nvPr/>
        </p:nvSpPr>
        <p:spPr>
          <a:xfrm>
            <a:off x="4572000" y="2697480"/>
            <a:ext cx="30175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Claude API: ≈ R2.50 a page, ≈ 5 min for 18 pages</a:t>
            </a:r>
            <a:endParaRPr lang="en-US" sz="1400" dirty="0"/>
          </a:p>
          <a:p>
            <a:pPr marL="342900" indent="-342900">
              <a:spcAft>
                <a:spcPts val="800"/>
              </a:spcAft>
              <a:buSzPct val="100000"/>
              <a:buChar char="•"/>
            </a:pPr>
            <a:r>
              <a:rPr lang="en-US" sz="1400" dirty="0">
                <a:solidFill>
                  <a:schemeClr val="tx1"/>
                </a:solidFill>
              </a:rPr>
              <a:t>Gemini: free, slower; stops at Google's daily limit</a:t>
            </a:r>
            <a:endParaRPr lang="en-US" sz="1400" dirty="0"/>
          </a:p>
          <a:p>
            <a:pPr marL="342900" indent="-342900">
              <a:spcAft>
                <a:spcPts val="800"/>
              </a:spcAft>
              <a:buSzPct val="100000"/>
              <a:buChar char="•"/>
            </a:pPr>
            <a:r>
              <a:rPr lang="en-US" sz="1400" dirty="0">
                <a:solidFill>
                  <a:schemeClr val="tx1"/>
                </a:solidFill>
              </a:rPr>
              <a:t>Live progress: page X of Y, AI waits shown</a:t>
            </a:r>
            <a:endParaRPr lang="en-US" sz="1400" dirty="0"/>
          </a:p>
          <a:p>
            <a:pPr marL="342900" indent="-342900">
              <a:spcAft>
                <a:spcPts val="800"/>
              </a:spcAft>
              <a:buSzPct val="100000"/>
              <a:buChar char="•"/>
            </a:pPr>
            <a:r>
              <a:rPr lang="en-US" sz="1400" dirty="0">
                <a:solidFill>
                  <a:schemeClr val="tx1"/>
                </a:solidFill>
              </a:rPr>
              <a:t>A vector site plan PDF is measured too</a:t>
            </a:r>
            <a:endParaRPr lang="en-US" sz="1400" dirty="0"/>
          </a:p>
        </p:txBody>
      </p:sp>
      <p:sp>
        <p:nvSpPr>
          <p:cNvPr id="16" name="engine card 3"/>
          <p:cNvSpPr/>
          <p:nvPr/>
        </p:nvSpPr>
        <p:spPr>
          <a:xfrm>
            <a:off x="8046720" y="1417320"/>
            <a:ext cx="3520440" cy="4343400"/>
          </a:xfrm>
          <a:prstGeom prst="roundRect">
            <a:avLst>
              <a:gd name="adj" fmla="val 3117"/>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7" name="engine 3 circle"/>
          <p:cNvSpPr/>
          <p:nvPr/>
        </p:nvSpPr>
        <p:spPr>
          <a:xfrm>
            <a:off x="8321040" y="1645920"/>
            <a:ext cx="777240" cy="777240"/>
          </a:xfrm>
          <a:prstGeom prst="ellipse">
            <a:avLst/>
          </a:prstGeom>
          <a:solidFill>
            <a:srgbClr val="2E5BE8"/>
          </a:solidFill>
          <a:ln w="12700">
            <a:solidFill>
              <a:srgbClr val="2E5BE8"/>
            </a:solidFill>
            <a:prstDash val="solid"/>
          </a:ln>
        </p:spPr>
      </p:sp>
      <p:pic>
        <p:nvPicPr>
          <p:cNvPr id="18" name="engine 3 icon" descr="preencoded.png">    </p:cNvPr>
          <p:cNvPicPr>
            <a:picLocks noChangeAspect="1"/>
          </p:cNvPicPr>
          <p:nvPr/>
        </p:nvPicPr>
        <p:blipFill>
          <a:blip r:embed="rId3"/>
          <a:stretch>
            <a:fillRect/>
          </a:stretch>
        </p:blipFill>
        <p:spPr>
          <a:xfrm>
            <a:off x="8523122" y="1848002"/>
            <a:ext cx="373075" cy="373075"/>
          </a:xfrm>
          <a:prstGeom prst="rect">
            <a:avLst/>
          </a:prstGeom>
        </p:spPr>
      </p:pic>
      <p:sp>
        <p:nvSpPr>
          <p:cNvPr id="19" name="engine title 3"/>
          <p:cNvSpPr txBox="1"/>
          <p:nvPr/>
        </p:nvSpPr>
        <p:spPr>
          <a:xfrm>
            <a:off x="9235440" y="1691640"/>
            <a:ext cx="2194560" cy="411480"/>
          </a:xfrm>
          <a:prstGeom prst="rect">
            <a:avLst/>
          </a:prstGeom>
          <a:noFill/>
          <a:ln/>
        </p:spPr>
        <p:txBody>
          <a:bodyPr wrap="square" lIns="0" tIns="0" rIns="0" bIns="0" rtlCol="0" anchor="t"/>
          <a:lstStyle/>
          <a:p>
            <a:pPr indent="0" marL="0">
              <a:buNone/>
            </a:pPr>
            <a:r>
              <a:rPr lang="en-US" sz="2100" b="1" dirty="0">
                <a:solidFill>
                  <a:schemeClr val="tx1"/>
                </a:solidFill>
              </a:rPr>
              <a:t>Both</a:t>
            </a:r>
            <a:endParaRPr lang="en-US" sz="2100" dirty="0"/>
          </a:p>
        </p:txBody>
      </p:sp>
      <p:sp>
        <p:nvSpPr>
          <p:cNvPr id="20" name="engine tag 3"/>
          <p:cNvSpPr txBox="1"/>
          <p:nvPr/>
        </p:nvSpPr>
        <p:spPr>
          <a:xfrm>
            <a:off x="9235440" y="2103120"/>
            <a:ext cx="2240280" cy="320040"/>
          </a:xfrm>
          <a:prstGeom prst="rect">
            <a:avLst/>
          </a:prstGeom>
          <a:noFill/>
          <a:ln/>
        </p:spPr>
        <p:txBody>
          <a:bodyPr wrap="square" lIns="0" tIns="0" rIns="0" bIns="0" rtlCol="0" anchor="t"/>
          <a:lstStyle/>
          <a:p>
            <a:pPr indent="0" marL="0">
              <a:buNone/>
            </a:pPr>
            <a:r>
              <a:rPr lang="en-US" sz="1300" b="1" dirty="0">
                <a:solidFill>
                  <a:schemeClr val="accent1"/>
                </a:solidFill>
              </a:rPr>
              <a:t>run both, then compare</a:t>
            </a:r>
            <a:endParaRPr lang="en-US" sz="1300" dirty="0"/>
          </a:p>
        </p:txBody>
      </p:sp>
      <p:sp>
        <p:nvSpPr>
          <p:cNvPr id="21" name="engine points 3"/>
          <p:cNvSpPr txBox="1"/>
          <p:nvPr/>
        </p:nvSpPr>
        <p:spPr>
          <a:xfrm>
            <a:off x="8321040" y="2697480"/>
            <a:ext cx="301752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Runs the CAD and PDF engines side by side</a:t>
            </a:r>
            <a:endParaRPr lang="en-US" sz="1400" dirty="0"/>
          </a:p>
          <a:p>
            <a:pPr marL="342900" indent="-342900">
              <a:spcAft>
                <a:spcPts val="800"/>
              </a:spcAft>
              <a:buSzPct val="100000"/>
              <a:buChar char="•"/>
            </a:pPr>
            <a:r>
              <a:rPr lang="en-US" sz="1400" dirty="0">
                <a:solidFill>
                  <a:schemeClr val="tx1"/>
                </a:solidFill>
              </a:rPr>
              <a:t>Shows where they agree and disagree</a:t>
            </a:r>
            <a:endParaRPr lang="en-US" sz="1400" dirty="0"/>
          </a:p>
          <a:p>
            <a:pPr marL="342900" indent="-342900">
              <a:spcAft>
                <a:spcPts val="800"/>
              </a:spcAft>
              <a:buSzPct val="100000"/>
              <a:buChar char="•"/>
            </a:pPr>
            <a:r>
              <a:rPr lang="en-US" sz="1400" dirty="0">
                <a:solidFill>
                  <a:schemeClr val="tx1"/>
                </a:solidFill>
              </a:rPr>
              <a:t>Comparison report as PDF</a:t>
            </a:r>
            <a:endParaRPr lang="en-US" sz="1400" dirty="0"/>
          </a:p>
          <a:p>
            <a:pPr marL="342900" indent="-342900">
              <a:spcAft>
                <a:spcPts val="800"/>
              </a:spcAft>
              <a:buSzPct val="100000"/>
              <a:buChar char="•"/>
            </a:pPr>
            <a:r>
              <a:rPr lang="en-US" sz="1400" dirty="0">
                <a:solidFill>
                  <a:schemeClr val="tx1"/>
                </a:solidFill>
              </a:rPr>
              <a:t>Best when some sheets exist only as PDF</a:t>
            </a:r>
            <a:endParaRPr lang="en-US" sz="1400" dirty="0"/>
          </a:p>
        </p:txBody>
      </p:sp>
      <p:sp>
        <p:nvSpPr>
          <p:cNvPr id="22" name="source"/>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6"/>
                </a:solidFill>
              </a:rPr>
              <a:t>Tip: without an API key, DWG/DXF estimating, audit and exports still work. Keys go in api/.env (never committed).</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Take-off: watch the progress, then read the gaps</a:t>
            </a:r>
            <a:endParaRPr lang="en-US" sz="3000" dirty="0"/>
          </a:p>
        </p:txBody>
      </p:sp>
      <p:pic>
        <p:nvPicPr>
          <p:cNvPr id="4" name="progress screenshot" descr="C:\Users\BIBINBUSINESS\AppData\Local\Temp\claude\c--Users-BIBINBUSINESS-OneDrive-Desktop-afriplan-web\160cb13b-69be-45a9-b0fa-6d0d5fe06738\scratchpad\deck\run-progress.png">    </p:cNvPr>
          <p:cNvPicPr>
            <a:picLocks noChangeAspect="1"/>
          </p:cNvPicPr>
          <p:nvPr/>
        </p:nvPicPr>
        <p:blipFill>
          <a:blip r:embed="rId1"/>
          <a:stretch>
            <a:fillRect/>
          </a:stretch>
        </p:blipFill>
        <p:spPr>
          <a:xfrm>
            <a:off x="548640" y="1417320"/>
            <a:ext cx="6583680" cy="3703320"/>
          </a:xfrm>
          <a:prstGeom prst="rect">
            <a:avLst/>
          </a:prstGeom>
        </p:spPr>
      </p:pic>
      <p:sp>
        <p:nvSpPr>
          <p:cNvPr id="5" name="screenshot frame"/>
          <p:cNvSpPr/>
          <p:nvPr/>
        </p:nvSpPr>
        <p:spPr>
          <a:xfrm>
            <a:off x="548640" y="1417320"/>
            <a:ext cx="6583680" cy="3703320"/>
          </a:xfrm>
          <a:prstGeom prst="rect">
            <a:avLst/>
          </a:prstGeom>
          <a:ln w="12700">
            <a:solidFill>
              <a:srgbClr val="D9DEE9"/>
            </a:solidFill>
            <a:prstDash val="solid"/>
          </a:ln>
        </p:spPr>
      </p:sp>
      <p:sp>
        <p:nvSpPr>
          <p:cNvPr id="6" name="screenshot caption"/>
          <p:cNvSpPr txBox="1"/>
          <p:nvPr/>
        </p:nvSpPr>
        <p:spPr>
          <a:xfrm>
            <a:off x="548640" y="5212080"/>
            <a:ext cx="6583680" cy="274320"/>
          </a:xfrm>
          <a:prstGeom prst="rect">
            <a:avLst/>
          </a:prstGeom>
          <a:noFill/>
          <a:ln/>
        </p:spPr>
        <p:txBody>
          <a:bodyPr wrap="square" lIns="0" tIns="0" rIns="0" bIns="0" rtlCol="0" anchor="t"/>
          <a:lstStyle/>
          <a:p>
            <a:pPr indent="0" marL="0">
              <a:buNone/>
            </a:pPr>
            <a:r>
              <a:rPr lang="en-US" sz="1100" i="1" dirty="0">
                <a:solidFill>
                  <a:schemeClr val="accent6"/>
                </a:solidFill>
              </a:rPr>
              <a:t>The Take-off page during a PDF run on the free Gemini tier</a:t>
            </a:r>
            <a:endParaRPr lang="en-US" sz="1100" dirty="0"/>
          </a:p>
        </p:txBody>
      </p:sp>
      <p:sp>
        <p:nvSpPr>
          <p:cNvPr id="7" name="takeoff point 1 circle"/>
          <p:cNvSpPr/>
          <p:nvPr/>
        </p:nvSpPr>
        <p:spPr>
          <a:xfrm>
            <a:off x="7543800" y="1463040"/>
            <a:ext cx="640080" cy="640080"/>
          </a:xfrm>
          <a:prstGeom prst="ellipse">
            <a:avLst/>
          </a:prstGeom>
          <a:solidFill>
            <a:srgbClr val="2E5BE8"/>
          </a:solidFill>
          <a:ln w="12700">
            <a:solidFill>
              <a:srgbClr val="2E5BE8"/>
            </a:solidFill>
            <a:prstDash val="solid"/>
          </a:ln>
        </p:spPr>
      </p:sp>
      <p:pic>
        <p:nvPicPr>
          <p:cNvPr id="8" name="takeoff point 1 icon" descr="preencoded.png">    </p:cNvPr>
          <p:cNvPicPr>
            <a:picLocks noChangeAspect="1"/>
          </p:cNvPicPr>
          <p:nvPr/>
        </p:nvPicPr>
        <p:blipFill>
          <a:blip r:embed="rId2"/>
          <a:stretch>
            <a:fillRect/>
          </a:stretch>
        </p:blipFill>
        <p:spPr>
          <a:xfrm>
            <a:off x="7710221" y="1629461"/>
            <a:ext cx="307238" cy="307238"/>
          </a:xfrm>
          <a:prstGeom prst="rect">
            <a:avLst/>
          </a:prstGeom>
        </p:spPr>
      </p:pic>
      <p:sp>
        <p:nvSpPr>
          <p:cNvPr id="9" name="takeoff point title 1"/>
          <p:cNvSpPr txBox="1"/>
          <p:nvPr/>
        </p:nvSpPr>
        <p:spPr>
          <a:xfrm>
            <a:off x="8366760" y="1463040"/>
            <a:ext cx="3291840" cy="365760"/>
          </a:xfrm>
          <a:prstGeom prst="rect">
            <a:avLst/>
          </a:prstGeom>
          <a:noFill/>
          <a:ln/>
        </p:spPr>
        <p:txBody>
          <a:bodyPr wrap="square" lIns="0" tIns="0" rIns="0" bIns="0" rtlCol="0" anchor="t"/>
          <a:lstStyle/>
          <a:p>
            <a:pPr indent="0" marL="0">
              <a:buNone/>
            </a:pPr>
            <a:r>
              <a:rPr lang="en-US" sz="1700" b="1" dirty="0">
                <a:solidFill>
                  <a:schemeClr val="tx1"/>
                </a:solidFill>
              </a:rPr>
              <a:t>Live progress</a:t>
            </a:r>
            <a:endParaRPr lang="en-US" sz="1700" dirty="0"/>
          </a:p>
        </p:txBody>
      </p:sp>
      <p:sp>
        <p:nvSpPr>
          <p:cNvPr id="10" name="takeoff point text 1"/>
          <p:cNvSpPr txBox="1"/>
          <p:nvPr/>
        </p:nvSpPr>
        <p:spPr>
          <a:xfrm>
            <a:off x="8366760" y="1847088"/>
            <a:ext cx="3291840" cy="777240"/>
          </a:xfrm>
          <a:prstGeom prst="rect">
            <a:avLst/>
          </a:prstGeom>
          <a:noFill/>
          <a:ln/>
        </p:spPr>
        <p:txBody>
          <a:bodyPr wrap="square" lIns="0" tIns="0" rIns="0" bIns="0" rtlCol="0" anchor="t"/>
          <a:lstStyle/>
          <a:p>
            <a:pPr indent="0" marL="0">
              <a:buNone/>
            </a:pPr>
            <a:r>
              <a:rPr lang="en-US" sz="1350" dirty="0">
                <a:solidFill>
                  <a:schemeClr val="tx2"/>
                </a:solidFill>
              </a:rPr>
              <a:t>step, pages done, time so far and the AI's “busy, waiting” note</a:t>
            </a:r>
            <a:endParaRPr lang="en-US" sz="1350" dirty="0"/>
          </a:p>
        </p:txBody>
      </p:sp>
      <p:sp>
        <p:nvSpPr>
          <p:cNvPr id="11" name="takeoff point 2 circle"/>
          <p:cNvSpPr/>
          <p:nvPr/>
        </p:nvSpPr>
        <p:spPr>
          <a:xfrm>
            <a:off x="7543800" y="2788920"/>
            <a:ext cx="640080" cy="640080"/>
          </a:xfrm>
          <a:prstGeom prst="ellipse">
            <a:avLst/>
          </a:prstGeom>
          <a:solidFill>
            <a:srgbClr val="F2A900"/>
          </a:solidFill>
          <a:ln w="12700">
            <a:solidFill>
              <a:srgbClr val="F2A900"/>
            </a:solidFill>
            <a:prstDash val="solid"/>
          </a:ln>
        </p:spPr>
      </p:sp>
      <p:pic>
        <p:nvPicPr>
          <p:cNvPr id="12" name="takeoff point 2 icon" descr="preencoded.png">    </p:cNvPr>
          <p:cNvPicPr>
            <a:picLocks noChangeAspect="1"/>
          </p:cNvPicPr>
          <p:nvPr/>
        </p:nvPicPr>
        <p:blipFill>
          <a:blip r:embed="rId3"/>
          <a:stretch>
            <a:fillRect/>
          </a:stretch>
        </p:blipFill>
        <p:spPr>
          <a:xfrm>
            <a:off x="7710221" y="2955341"/>
            <a:ext cx="307238" cy="307238"/>
          </a:xfrm>
          <a:prstGeom prst="rect">
            <a:avLst/>
          </a:prstGeom>
        </p:spPr>
      </p:pic>
      <p:sp>
        <p:nvSpPr>
          <p:cNvPr id="13" name="takeoff point title 2"/>
          <p:cNvSpPr txBox="1"/>
          <p:nvPr/>
        </p:nvSpPr>
        <p:spPr>
          <a:xfrm>
            <a:off x="8366760" y="2788920"/>
            <a:ext cx="3291840" cy="365760"/>
          </a:xfrm>
          <a:prstGeom prst="rect">
            <a:avLst/>
          </a:prstGeom>
          <a:noFill/>
          <a:ln/>
        </p:spPr>
        <p:txBody>
          <a:bodyPr wrap="square" lIns="0" tIns="0" rIns="0" bIns="0" rtlCol="0" anchor="t"/>
          <a:lstStyle/>
          <a:p>
            <a:pPr indent="0" marL="0">
              <a:buNone/>
            </a:pPr>
            <a:r>
              <a:rPr lang="en-US" sz="1700" b="1" dirty="0">
                <a:solidFill>
                  <a:schemeClr val="tx1"/>
                </a:solidFill>
              </a:rPr>
              <a:t>Failures say why</a:t>
            </a:r>
            <a:endParaRPr lang="en-US" sz="1700" dirty="0"/>
          </a:p>
        </p:txBody>
      </p:sp>
      <p:sp>
        <p:nvSpPr>
          <p:cNvPr id="14" name="takeoff point text 2"/>
          <p:cNvSpPr txBox="1"/>
          <p:nvPr/>
        </p:nvSpPr>
        <p:spPr>
          <a:xfrm>
            <a:off x="8366760" y="3172968"/>
            <a:ext cx="3291840" cy="777240"/>
          </a:xfrm>
          <a:prstGeom prst="rect">
            <a:avLst/>
          </a:prstGeom>
          <a:noFill/>
          <a:ln/>
        </p:spPr>
        <p:txBody>
          <a:bodyPr wrap="square" lIns="0" tIns="0" rIns="0" bIns="0" rtlCol="0" anchor="t"/>
          <a:lstStyle/>
          <a:p>
            <a:pPr indent="0" marL="0">
              <a:buNone/>
            </a:pPr>
            <a:r>
              <a:rPr lang="en-US" sz="1350" dirty="0">
                <a:solidFill>
                  <a:schemeClr val="tx2"/>
                </a:solidFill>
              </a:rPr>
              <a:t>e.g. Gemini's free daily limit is used up — and what to do instead</a:t>
            </a:r>
            <a:endParaRPr lang="en-US" sz="1350" dirty="0"/>
          </a:p>
        </p:txBody>
      </p:sp>
      <p:sp>
        <p:nvSpPr>
          <p:cNvPr id="15" name="takeoff point 3 circle"/>
          <p:cNvSpPr/>
          <p:nvPr/>
        </p:nvSpPr>
        <p:spPr>
          <a:xfrm>
            <a:off x="7543800" y="4114800"/>
            <a:ext cx="640080" cy="640080"/>
          </a:xfrm>
          <a:prstGeom prst="ellipse">
            <a:avLst/>
          </a:prstGeom>
          <a:solidFill>
            <a:srgbClr val="2E5BE8"/>
          </a:solidFill>
          <a:ln w="12700">
            <a:solidFill>
              <a:srgbClr val="2E5BE8"/>
            </a:solidFill>
            <a:prstDash val="solid"/>
          </a:ln>
        </p:spPr>
      </p:sp>
      <p:pic>
        <p:nvPicPr>
          <p:cNvPr id="16" name="takeoff point 3 icon" descr="preencoded.png">    </p:cNvPr>
          <p:cNvPicPr>
            <a:picLocks noChangeAspect="1"/>
          </p:cNvPicPr>
          <p:nvPr/>
        </p:nvPicPr>
        <p:blipFill>
          <a:blip r:embed="rId4"/>
          <a:stretch>
            <a:fillRect/>
          </a:stretch>
        </p:blipFill>
        <p:spPr>
          <a:xfrm>
            <a:off x="7710221" y="4281221"/>
            <a:ext cx="307238" cy="307238"/>
          </a:xfrm>
          <a:prstGeom prst="rect">
            <a:avLst/>
          </a:prstGeom>
        </p:spPr>
      </p:pic>
      <p:sp>
        <p:nvSpPr>
          <p:cNvPr id="17" name="takeoff point title 3"/>
          <p:cNvSpPr txBox="1"/>
          <p:nvPr/>
        </p:nvSpPr>
        <p:spPr>
          <a:xfrm>
            <a:off x="8366760" y="4114800"/>
            <a:ext cx="3291840" cy="365760"/>
          </a:xfrm>
          <a:prstGeom prst="rect">
            <a:avLst/>
          </a:prstGeom>
          <a:noFill/>
          <a:ln/>
        </p:spPr>
        <p:txBody>
          <a:bodyPr wrap="square" lIns="0" tIns="0" rIns="0" bIns="0" rtlCol="0" anchor="t"/>
          <a:lstStyle/>
          <a:p>
            <a:pPr indent="0" marL="0">
              <a:buNone/>
            </a:pPr>
            <a:r>
              <a:rPr lang="en-US" sz="1700" b="1" dirty="0">
                <a:solidFill>
                  <a:schemeClr val="tx1"/>
                </a:solidFill>
              </a:rPr>
              <a:t>Then the results</a:t>
            </a:r>
            <a:endParaRPr lang="en-US" sz="1700" dirty="0"/>
          </a:p>
        </p:txBody>
      </p:sp>
      <p:sp>
        <p:nvSpPr>
          <p:cNvPr id="18" name="takeoff point text 3"/>
          <p:cNvSpPr txBox="1"/>
          <p:nvPr/>
        </p:nvSpPr>
        <p:spPr>
          <a:xfrm>
            <a:off x="8366760" y="4498848"/>
            <a:ext cx="3291840" cy="777240"/>
          </a:xfrm>
          <a:prstGeom prst="rect">
            <a:avLst/>
          </a:prstGeom>
          <a:noFill/>
          <a:ln/>
        </p:spPr>
        <p:txBody>
          <a:bodyPr wrap="square" lIns="0" tIns="0" rIns="0" bIns="0" rtlCol="0" anchor="t"/>
          <a:lstStyle/>
          <a:p>
            <a:pPr indent="0" marL="0">
              <a:buNone/>
            </a:pPr>
            <a:r>
              <a:rPr lang="en-US" sz="1350" dirty="0">
                <a:solidFill>
                  <a:schemeClr val="tx2"/>
                </a:solidFill>
              </a:rPr>
              <a:t>drawing set, legend, coverage and the gap report</a:t>
            </a:r>
            <a:endParaRPr lang="en-US" sz="13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BoQ, pricing and export: the tender document</a:t>
            </a:r>
            <a:endParaRPr lang="en-US" sz="3000" dirty="0"/>
          </a:p>
        </p:txBody>
      </p:sp>
      <p:sp>
        <p:nvSpPr>
          <p:cNvPr id="4" name="boq point 1 circle"/>
          <p:cNvSpPr/>
          <p:nvPr/>
        </p:nvSpPr>
        <p:spPr>
          <a:xfrm>
            <a:off x="548640" y="1463040"/>
            <a:ext cx="640080" cy="640080"/>
          </a:xfrm>
          <a:prstGeom prst="ellipse">
            <a:avLst/>
          </a:prstGeom>
          <a:solidFill>
            <a:srgbClr val="2E5BE8"/>
          </a:solidFill>
          <a:ln w="12700">
            <a:solidFill>
              <a:srgbClr val="2E5BE8"/>
            </a:solidFill>
            <a:prstDash val="solid"/>
          </a:ln>
        </p:spPr>
      </p:sp>
      <p:pic>
        <p:nvPicPr>
          <p:cNvPr id="5" name="boq point 1 icon" descr="preencoded.png">    </p:cNvPr>
          <p:cNvPicPr>
            <a:picLocks noChangeAspect="1"/>
          </p:cNvPicPr>
          <p:nvPr/>
        </p:nvPicPr>
        <p:blipFill>
          <a:blip r:embed="rId1"/>
          <a:stretch>
            <a:fillRect/>
          </a:stretch>
        </p:blipFill>
        <p:spPr>
          <a:xfrm>
            <a:off x="715061" y="1629461"/>
            <a:ext cx="307238" cy="307238"/>
          </a:xfrm>
          <a:prstGeom prst="rect">
            <a:avLst/>
          </a:prstGeom>
        </p:spPr>
      </p:pic>
      <p:sp>
        <p:nvSpPr>
          <p:cNvPr id="6" name="boq point title 1"/>
          <p:cNvSpPr txBox="1"/>
          <p:nvPr/>
        </p:nvSpPr>
        <p:spPr>
          <a:xfrm>
            <a:off x="1371600" y="1444752"/>
            <a:ext cx="4572000" cy="347472"/>
          </a:xfrm>
          <a:prstGeom prst="rect">
            <a:avLst/>
          </a:prstGeom>
          <a:noFill/>
          <a:ln/>
        </p:spPr>
        <p:txBody>
          <a:bodyPr wrap="square" lIns="0" tIns="0" rIns="0" bIns="0" rtlCol="0" anchor="t"/>
          <a:lstStyle/>
          <a:p>
            <a:pPr indent="0" marL="0">
              <a:buNone/>
            </a:pPr>
            <a:r>
              <a:rPr lang="en-US" sz="1600" b="1" dirty="0">
                <a:solidFill>
                  <a:schemeClr val="tx1"/>
                </a:solidFill>
              </a:rPr>
              <a:t>Bill of Quantities</a:t>
            </a:r>
            <a:endParaRPr lang="en-US" sz="1600" dirty="0"/>
          </a:p>
        </p:txBody>
      </p:sp>
      <p:sp>
        <p:nvSpPr>
          <p:cNvPr id="7" name="boq point text 1"/>
          <p:cNvSpPr txBox="1"/>
          <p:nvPr/>
        </p:nvSpPr>
        <p:spPr>
          <a:xfrm>
            <a:off x="1371600" y="1792224"/>
            <a:ext cx="4572000" cy="594360"/>
          </a:xfrm>
          <a:prstGeom prst="rect">
            <a:avLst/>
          </a:prstGeom>
          <a:noFill/>
          <a:ln/>
        </p:spPr>
        <p:txBody>
          <a:bodyPr wrap="square" lIns="0" tIns="0" rIns="0" bIns="0" rtlCol="0" anchor="t"/>
          <a:lstStyle/>
          <a:p>
            <a:pPr indent="0" marL="0">
              <a:buNone/>
            </a:pPr>
            <a:r>
              <a:rPr lang="en-US" sz="1300" dirty="0">
                <a:solidFill>
                  <a:schemeClr val="tx2"/>
                </a:solidFill>
              </a:rPr>
              <a:t>every line with quantity, rate and its evidence tag; measured lines show their route</a:t>
            </a:r>
            <a:endParaRPr lang="en-US" sz="1300" dirty="0"/>
          </a:p>
        </p:txBody>
      </p:sp>
      <p:sp>
        <p:nvSpPr>
          <p:cNvPr id="8" name="boq point 2 circle"/>
          <p:cNvSpPr/>
          <p:nvPr/>
        </p:nvSpPr>
        <p:spPr>
          <a:xfrm>
            <a:off x="548640" y="2542032"/>
            <a:ext cx="640080" cy="640080"/>
          </a:xfrm>
          <a:prstGeom prst="ellipse">
            <a:avLst/>
          </a:prstGeom>
          <a:solidFill>
            <a:srgbClr val="2E5BE8"/>
          </a:solidFill>
          <a:ln w="12700">
            <a:solidFill>
              <a:srgbClr val="2E5BE8"/>
            </a:solidFill>
            <a:prstDash val="solid"/>
          </a:ln>
        </p:spPr>
      </p:sp>
      <p:pic>
        <p:nvPicPr>
          <p:cNvPr id="9" name="boq point 2 icon" descr="preencoded.png">    </p:cNvPr>
          <p:cNvPicPr>
            <a:picLocks noChangeAspect="1"/>
          </p:cNvPicPr>
          <p:nvPr/>
        </p:nvPicPr>
        <p:blipFill>
          <a:blip r:embed="rId2"/>
          <a:stretch>
            <a:fillRect/>
          </a:stretch>
        </p:blipFill>
        <p:spPr>
          <a:xfrm>
            <a:off x="715061" y="2708453"/>
            <a:ext cx="307238" cy="307238"/>
          </a:xfrm>
          <a:prstGeom prst="rect">
            <a:avLst/>
          </a:prstGeom>
        </p:spPr>
      </p:pic>
      <p:sp>
        <p:nvSpPr>
          <p:cNvPr id="10" name="boq point title 2"/>
          <p:cNvSpPr txBox="1"/>
          <p:nvPr/>
        </p:nvSpPr>
        <p:spPr>
          <a:xfrm>
            <a:off x="1371600" y="2523744"/>
            <a:ext cx="4572000" cy="347472"/>
          </a:xfrm>
          <a:prstGeom prst="rect">
            <a:avLst/>
          </a:prstGeom>
          <a:noFill/>
          <a:ln/>
        </p:spPr>
        <p:txBody>
          <a:bodyPr wrap="square" lIns="0" tIns="0" rIns="0" bIns="0" rtlCol="0" anchor="t"/>
          <a:lstStyle/>
          <a:p>
            <a:pPr indent="0" marL="0">
              <a:buNone/>
            </a:pPr>
            <a:r>
              <a:rPr lang="en-US" sz="1600" b="1" dirty="0">
                <a:solidFill>
                  <a:schemeClr val="tx1"/>
                </a:solidFill>
              </a:rPr>
              <a:t>Things to check</a:t>
            </a:r>
            <a:endParaRPr lang="en-US" sz="1600" dirty="0"/>
          </a:p>
        </p:txBody>
      </p:sp>
      <p:sp>
        <p:nvSpPr>
          <p:cNvPr id="11" name="boq point text 2"/>
          <p:cNvSpPr txBox="1"/>
          <p:nvPr/>
        </p:nvSpPr>
        <p:spPr>
          <a:xfrm>
            <a:off x="1371600" y="2871216"/>
            <a:ext cx="4572000" cy="594360"/>
          </a:xfrm>
          <a:prstGeom prst="rect">
            <a:avLst/>
          </a:prstGeom>
          <a:noFill/>
          <a:ln/>
        </p:spPr>
        <p:txBody>
          <a:bodyPr wrap="square" lIns="0" tIns="0" rIns="0" bIns="0" rtlCol="0" anchor="t"/>
          <a:lstStyle/>
          <a:p>
            <a:pPr indent="0" marL="0">
              <a:buNone/>
            </a:pPr>
            <a:r>
              <a:rPr lang="en-US" sz="1300" dirty="0">
                <a:solidFill>
                  <a:schemeClr val="tx2"/>
                </a:solidFill>
              </a:rPr>
              <a:t>every assumption, most serious first — start the review here</a:t>
            </a:r>
            <a:endParaRPr lang="en-US" sz="1300" dirty="0"/>
          </a:p>
        </p:txBody>
      </p:sp>
      <p:sp>
        <p:nvSpPr>
          <p:cNvPr id="12" name="boq point 3 circle"/>
          <p:cNvSpPr/>
          <p:nvPr/>
        </p:nvSpPr>
        <p:spPr>
          <a:xfrm>
            <a:off x="548640" y="3621024"/>
            <a:ext cx="640080" cy="640080"/>
          </a:xfrm>
          <a:prstGeom prst="ellipse">
            <a:avLst/>
          </a:prstGeom>
          <a:solidFill>
            <a:srgbClr val="2E5BE8"/>
          </a:solidFill>
          <a:ln w="12700">
            <a:solidFill>
              <a:srgbClr val="2E5BE8"/>
            </a:solidFill>
            <a:prstDash val="solid"/>
          </a:ln>
        </p:spPr>
      </p:sp>
      <p:pic>
        <p:nvPicPr>
          <p:cNvPr id="13" name="boq point 3 icon" descr="preencoded.png">    </p:cNvPr>
          <p:cNvPicPr>
            <a:picLocks noChangeAspect="1"/>
          </p:cNvPicPr>
          <p:nvPr/>
        </p:nvPicPr>
        <p:blipFill>
          <a:blip r:embed="rId3"/>
          <a:stretch>
            <a:fillRect/>
          </a:stretch>
        </p:blipFill>
        <p:spPr>
          <a:xfrm>
            <a:off x="715061" y="3787445"/>
            <a:ext cx="307238" cy="307238"/>
          </a:xfrm>
          <a:prstGeom prst="rect">
            <a:avLst/>
          </a:prstGeom>
        </p:spPr>
      </p:pic>
      <p:sp>
        <p:nvSpPr>
          <p:cNvPr id="14" name="boq point title 3"/>
          <p:cNvSpPr txBox="1"/>
          <p:nvPr/>
        </p:nvSpPr>
        <p:spPr>
          <a:xfrm>
            <a:off x="1371600" y="3602736"/>
            <a:ext cx="4572000" cy="347472"/>
          </a:xfrm>
          <a:prstGeom prst="rect">
            <a:avLst/>
          </a:prstGeom>
          <a:noFill/>
          <a:ln/>
        </p:spPr>
        <p:txBody>
          <a:bodyPr wrap="square" lIns="0" tIns="0" rIns="0" bIns="0" rtlCol="0" anchor="t"/>
          <a:lstStyle/>
          <a:p>
            <a:pPr indent="0" marL="0">
              <a:buNone/>
            </a:pPr>
            <a:r>
              <a:rPr lang="en-US" sz="1600" b="1" dirty="0">
                <a:solidFill>
                  <a:schemeClr val="tx1"/>
                </a:solidFill>
              </a:rPr>
              <a:t>Live pricing</a:t>
            </a:r>
            <a:endParaRPr lang="en-US" sz="1600" dirty="0"/>
          </a:p>
        </p:txBody>
      </p:sp>
      <p:sp>
        <p:nvSpPr>
          <p:cNvPr id="15" name="boq point text 3"/>
          <p:cNvSpPr txBox="1"/>
          <p:nvPr/>
        </p:nvSpPr>
        <p:spPr>
          <a:xfrm>
            <a:off x="1371600" y="3950208"/>
            <a:ext cx="4572000" cy="594360"/>
          </a:xfrm>
          <a:prstGeom prst="rect">
            <a:avLst/>
          </a:prstGeom>
          <a:noFill/>
          <a:ln/>
        </p:spPr>
        <p:txBody>
          <a:bodyPr wrap="square" lIns="0" tIns="0" rIns="0" bIns="0" rtlCol="0" anchor="t"/>
          <a:lstStyle/>
          <a:p>
            <a:pPr indent="0" marL="0">
              <a:buNone/>
            </a:pPr>
            <a:r>
              <a:rPr lang="en-US" sz="1300" dirty="0">
                <a:solidFill>
                  <a:schemeClr val="tx2"/>
                </a:solidFill>
              </a:rPr>
              <a:t>request supplier quotes and apply the one you choose</a:t>
            </a:r>
            <a:endParaRPr lang="en-US" sz="1300" dirty="0"/>
          </a:p>
        </p:txBody>
      </p:sp>
      <p:sp>
        <p:nvSpPr>
          <p:cNvPr id="16" name="boq point 4 circle"/>
          <p:cNvSpPr/>
          <p:nvPr/>
        </p:nvSpPr>
        <p:spPr>
          <a:xfrm>
            <a:off x="548640" y="4700016"/>
            <a:ext cx="640080" cy="640080"/>
          </a:xfrm>
          <a:prstGeom prst="ellipse">
            <a:avLst/>
          </a:prstGeom>
          <a:solidFill>
            <a:srgbClr val="2E5BE8"/>
          </a:solidFill>
          <a:ln w="12700">
            <a:solidFill>
              <a:srgbClr val="2E5BE8"/>
            </a:solidFill>
            <a:prstDash val="solid"/>
          </a:ln>
        </p:spPr>
      </p:sp>
      <p:pic>
        <p:nvPicPr>
          <p:cNvPr id="17" name="boq point 4 icon" descr="preencoded.png">    </p:cNvPr>
          <p:cNvPicPr>
            <a:picLocks noChangeAspect="1"/>
          </p:cNvPicPr>
          <p:nvPr/>
        </p:nvPicPr>
        <p:blipFill>
          <a:blip r:embed="rId4"/>
          <a:stretch>
            <a:fillRect/>
          </a:stretch>
        </p:blipFill>
        <p:spPr>
          <a:xfrm>
            <a:off x="715061" y="4866437"/>
            <a:ext cx="307238" cy="307238"/>
          </a:xfrm>
          <a:prstGeom prst="rect">
            <a:avLst/>
          </a:prstGeom>
        </p:spPr>
      </p:pic>
      <p:sp>
        <p:nvSpPr>
          <p:cNvPr id="18" name="boq point title 4"/>
          <p:cNvSpPr txBox="1"/>
          <p:nvPr/>
        </p:nvSpPr>
        <p:spPr>
          <a:xfrm>
            <a:off x="1371600" y="4681728"/>
            <a:ext cx="4572000" cy="347472"/>
          </a:xfrm>
          <a:prstGeom prst="rect">
            <a:avLst/>
          </a:prstGeom>
          <a:noFill/>
          <a:ln/>
        </p:spPr>
        <p:txBody>
          <a:bodyPr wrap="square" lIns="0" tIns="0" rIns="0" bIns="0" rtlCol="0" anchor="t"/>
          <a:lstStyle/>
          <a:p>
            <a:pPr indent="0" marL="0">
              <a:buNone/>
            </a:pPr>
            <a:r>
              <a:rPr lang="en-US" sz="1600" b="1" dirty="0">
                <a:solidFill>
                  <a:schemeClr val="tx1"/>
                </a:solidFill>
              </a:rPr>
              <a:t>Export &amp; email</a:t>
            </a:r>
            <a:endParaRPr lang="en-US" sz="1600" dirty="0"/>
          </a:p>
        </p:txBody>
      </p:sp>
      <p:sp>
        <p:nvSpPr>
          <p:cNvPr id="19" name="boq point text 4"/>
          <p:cNvSpPr txBox="1"/>
          <p:nvPr/>
        </p:nvSpPr>
        <p:spPr>
          <a:xfrm>
            <a:off x="1371600" y="5029200"/>
            <a:ext cx="4572000" cy="594360"/>
          </a:xfrm>
          <a:prstGeom prst="rect">
            <a:avLst/>
          </a:prstGeom>
          <a:noFill/>
          <a:ln/>
        </p:spPr>
        <p:txBody>
          <a:bodyPr wrap="square" lIns="0" tIns="0" rIns="0" bIns="0" rtlCol="0" anchor="t"/>
          <a:lstStyle/>
          <a:p>
            <a:pPr indent="0" marL="0">
              <a:buNone/>
            </a:pPr>
            <a:r>
              <a:rPr lang="en-US" sz="1300" dirty="0">
                <a:solidFill>
                  <a:schemeClr val="tx2"/>
                </a:solidFill>
              </a:rPr>
              <a:t>tender Excel and PDF, made on the server, ready to submit</a:t>
            </a:r>
            <a:endParaRPr lang="en-US" sz="1300" dirty="0"/>
          </a:p>
        </p:txBody>
      </p:sp>
      <p:sp>
        <p:nvSpPr>
          <p:cNvPr id="20" name="audit card"/>
          <p:cNvSpPr/>
          <p:nvPr/>
        </p:nvSpPr>
        <p:spPr>
          <a:xfrm>
            <a:off x="6309360" y="1417320"/>
            <a:ext cx="5303520" cy="4343400"/>
          </a:xfrm>
          <a:prstGeom prst="roundRect">
            <a:avLst>
              <a:gd name="adj" fmla="val 2526"/>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1" name="audit circle"/>
          <p:cNvSpPr/>
          <p:nvPr/>
        </p:nvSpPr>
        <p:spPr>
          <a:xfrm>
            <a:off x="6583680" y="1645920"/>
            <a:ext cx="777240" cy="777240"/>
          </a:xfrm>
          <a:prstGeom prst="ellipse">
            <a:avLst/>
          </a:prstGeom>
          <a:solidFill>
            <a:srgbClr val="F2A900"/>
          </a:solidFill>
          <a:ln w="12700">
            <a:solidFill>
              <a:srgbClr val="F2A900"/>
            </a:solidFill>
            <a:prstDash val="solid"/>
          </a:ln>
        </p:spPr>
      </p:sp>
      <p:pic>
        <p:nvPicPr>
          <p:cNvPr id="22" name="audit icon" descr="preencoded.png">    </p:cNvPr>
          <p:cNvPicPr>
            <a:picLocks noChangeAspect="1"/>
          </p:cNvPicPr>
          <p:nvPr/>
        </p:nvPicPr>
        <p:blipFill>
          <a:blip r:embed="rId5"/>
          <a:stretch>
            <a:fillRect/>
          </a:stretch>
        </p:blipFill>
        <p:spPr>
          <a:xfrm>
            <a:off x="6785762" y="1848002"/>
            <a:ext cx="373075" cy="373075"/>
          </a:xfrm>
          <a:prstGeom prst="rect">
            <a:avLst/>
          </a:prstGeom>
        </p:spPr>
      </p:pic>
      <p:sp>
        <p:nvSpPr>
          <p:cNvPr id="23" name="audit title"/>
          <p:cNvSpPr txBox="1"/>
          <p:nvPr/>
        </p:nvSpPr>
        <p:spPr>
          <a:xfrm>
            <a:off x="7543800" y="1691640"/>
            <a:ext cx="3840480" cy="411480"/>
          </a:xfrm>
          <a:prstGeom prst="rect">
            <a:avLst/>
          </a:prstGeom>
          <a:noFill/>
          <a:ln/>
        </p:spPr>
        <p:txBody>
          <a:bodyPr wrap="square" lIns="0" tIns="0" rIns="0" bIns="0" rtlCol="0" anchor="t"/>
          <a:lstStyle/>
          <a:p>
            <a:pPr indent="0" marL="0">
              <a:buNone/>
            </a:pPr>
            <a:r>
              <a:rPr lang="en-US" sz="2100" b="1" dirty="0">
                <a:solidFill>
                  <a:schemeClr val="tx1"/>
                </a:solidFill>
              </a:rPr>
              <a:t>Audit a BoQ</a:t>
            </a:r>
            <a:endParaRPr lang="en-US" sz="2100" dirty="0"/>
          </a:p>
        </p:txBody>
      </p:sp>
      <p:sp>
        <p:nvSpPr>
          <p:cNvPr id="24" name="audit subtitle"/>
          <p:cNvSpPr txBox="1"/>
          <p:nvPr/>
        </p:nvSpPr>
        <p:spPr>
          <a:xfrm>
            <a:off x="7543800" y="2103120"/>
            <a:ext cx="3931920" cy="320040"/>
          </a:xfrm>
          <a:prstGeom prst="rect">
            <a:avLst/>
          </a:prstGeom>
          <a:noFill/>
          <a:ln/>
        </p:spPr>
        <p:txBody>
          <a:bodyPr wrap="square" lIns="0" tIns="0" rIns="0" bIns="0" rtlCol="0" anchor="t"/>
          <a:lstStyle/>
          <a:p>
            <a:pPr indent="0" marL="0">
              <a:buNone/>
            </a:pPr>
            <a:r>
              <a:rPr lang="en-US" sz="1300" dirty="0">
                <a:solidFill>
                  <a:schemeClr val="tx2"/>
                </a:solidFill>
              </a:rPr>
              <a:t>any bill — yours, the QS's or the engineer's</a:t>
            </a:r>
            <a:endParaRPr lang="en-US" sz="1300" dirty="0"/>
          </a:p>
        </p:txBody>
      </p:sp>
      <p:sp>
        <p:nvSpPr>
          <p:cNvPr id="25" name="audit checks"/>
          <p:cNvSpPr txBox="1"/>
          <p:nvPr/>
        </p:nvSpPr>
        <p:spPr>
          <a:xfrm>
            <a:off x="6629400" y="2697480"/>
            <a:ext cx="4754880" cy="29260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rPr>
              <a:t>Arithmetic errors</a:t>
            </a:r>
            <a:endParaRPr lang="en-US" sz="1450" dirty="0"/>
          </a:p>
          <a:p>
            <a:pPr marL="342900" indent="-342900">
              <a:spcAft>
                <a:spcPts val="600"/>
              </a:spcAft>
              <a:buSzPct val="100000"/>
              <a:buChar char="•"/>
            </a:pPr>
            <a:r>
              <a:rPr lang="en-US" sz="1450" dirty="0">
                <a:solidFill>
                  <a:schemeClr val="tx1"/>
                </a:solidFill>
              </a:rPr>
              <a:t>Unpriced or untotalled lines</a:t>
            </a:r>
            <a:endParaRPr lang="en-US" sz="1450" dirty="0"/>
          </a:p>
          <a:p>
            <a:pPr marL="342900" indent="-342900">
              <a:spcAft>
                <a:spcPts val="600"/>
              </a:spcAft>
              <a:buSzPct val="100000"/>
              <a:buChar char="•"/>
            </a:pPr>
            <a:r>
              <a:rPr lang="en-US" sz="1450" dirty="0">
                <a:solidFill>
                  <a:schemeClr val="tx1"/>
                </a:solidFill>
              </a:rPr>
              <a:t>Duplicated lines</a:t>
            </a:r>
            <a:endParaRPr lang="en-US" sz="1450" dirty="0"/>
          </a:p>
          <a:p>
            <a:pPr marL="342900" indent="-342900">
              <a:spcAft>
                <a:spcPts val="600"/>
              </a:spcAft>
              <a:buSzPct val="100000"/>
              <a:buChar char="•"/>
            </a:pPr>
            <a:r>
              <a:rPr lang="en-US" sz="1450" dirty="0">
                <a:solidFill>
                  <a:schemeClr val="tx1"/>
                </a:solidFill>
              </a:rPr>
              <a:t>Roll-up and contingency errors</a:t>
            </a:r>
            <a:endParaRPr lang="en-US" sz="1450" dirty="0"/>
          </a:p>
          <a:p>
            <a:pPr marL="342900" indent="-342900">
              <a:spcAft>
                <a:spcPts val="600"/>
              </a:spcAft>
              <a:buSzPct val="100000"/>
              <a:buChar char="•"/>
            </a:pPr>
            <a:r>
              <a:rPr lang="en-US" sz="1450" dirty="0">
                <a:solidFill>
                  <a:schemeClr val="tx1"/>
                </a:solidFill>
              </a:rPr>
              <a:t>Sheets missing from the summary</a:t>
            </a:r>
            <a:endParaRPr lang="en-US" sz="1450" dirty="0"/>
          </a:p>
          <a:p>
            <a:pPr marL="342900" indent="-342900">
              <a:spcAft>
                <a:spcPts val="600"/>
              </a:spcAft>
              <a:buSzPct val="100000"/>
              <a:buChar char="•"/>
            </a:pPr>
            <a:r>
              <a:rPr lang="en-US" sz="1450" dirty="0">
                <a:solidFill>
                  <a:schemeClr val="tx1"/>
                </a:solidFill>
              </a:rPr>
              <a:t>Missing companion items</a:t>
            </a:r>
            <a:endParaRPr lang="en-US" sz="1450" dirty="0"/>
          </a:p>
          <a:p>
            <a:pPr marL="342900" indent="-342900">
              <a:spcAft>
                <a:spcPts val="600"/>
              </a:spcAft>
              <a:buSzPct val="100000"/>
              <a:buChar char="•"/>
            </a:pPr>
            <a:r>
              <a:rPr lang="en-US" sz="1450" dirty="0">
                <a:solidFill>
                  <a:schemeClr val="tx1"/>
                </a:solidFill>
              </a:rPr>
              <a:t>Which drawings a complete BoQ still needs</a:t>
            </a:r>
            <a:endParaRPr lang="en-US" sz="14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DOE workflow: any project folder in, a priced BoQ out</a:t>
            </a:r>
            <a:endParaRPr lang="en-US" sz="3000" dirty="0"/>
          </a:p>
        </p:txBody>
      </p:sp>
      <p:sp>
        <p:nvSpPr>
          <p:cNvPr id="4" name="doe step 1"/>
          <p:cNvSpPr/>
          <p:nvPr/>
        </p:nvSpPr>
        <p:spPr>
          <a:xfrm>
            <a:off x="548640" y="1417320"/>
            <a:ext cx="2560320" cy="3154680"/>
          </a:xfrm>
          <a:prstGeom prst="roundRect">
            <a:avLst>
              <a:gd name="adj" fmla="val 4286"/>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doe step 1 circle"/>
          <p:cNvSpPr/>
          <p:nvPr/>
        </p:nvSpPr>
        <p:spPr>
          <a:xfrm>
            <a:off x="777240" y="1645920"/>
            <a:ext cx="731520" cy="731520"/>
          </a:xfrm>
          <a:prstGeom prst="ellipse">
            <a:avLst/>
          </a:prstGeom>
          <a:solidFill>
            <a:srgbClr val="2E5BE8"/>
          </a:solidFill>
          <a:ln w="12700">
            <a:solidFill>
              <a:srgbClr val="2E5BE8"/>
            </a:solidFill>
            <a:prstDash val="solid"/>
          </a:ln>
        </p:spPr>
      </p:sp>
      <p:pic>
        <p:nvPicPr>
          <p:cNvPr id="6" name="doe step 1 icon" descr="preencoded.png">    </p:cNvPr>
          <p:cNvPicPr>
            <a:picLocks noChangeAspect="1"/>
          </p:cNvPicPr>
          <p:nvPr/>
        </p:nvPicPr>
        <p:blipFill>
          <a:blip r:embed="rId1"/>
          <a:stretch>
            <a:fillRect/>
          </a:stretch>
        </p:blipFill>
        <p:spPr>
          <a:xfrm>
            <a:off x="967435" y="1836115"/>
            <a:ext cx="351130" cy="351130"/>
          </a:xfrm>
          <a:prstGeom prst="rect">
            <a:avLst/>
          </a:prstGeom>
        </p:spPr>
      </p:pic>
      <p:sp>
        <p:nvSpPr>
          <p:cNvPr id="7" name="doe step title 1"/>
          <p:cNvSpPr txBox="1"/>
          <p:nvPr/>
        </p:nvSpPr>
        <p:spPr>
          <a:xfrm>
            <a:off x="777240" y="2514600"/>
            <a:ext cx="2194560" cy="365760"/>
          </a:xfrm>
          <a:prstGeom prst="rect">
            <a:avLst/>
          </a:prstGeom>
          <a:noFill/>
          <a:ln/>
        </p:spPr>
        <p:txBody>
          <a:bodyPr wrap="square" lIns="0" tIns="0" rIns="0" bIns="0" rtlCol="0" anchor="t"/>
          <a:lstStyle/>
          <a:p>
            <a:pPr indent="0" marL="0">
              <a:buNone/>
            </a:pPr>
            <a:r>
              <a:rPr lang="en-US" sz="1800" b="1" dirty="0">
                <a:solidFill>
                  <a:schemeClr val="tx1"/>
                </a:solidFill>
              </a:rPr>
              <a:t>1 · Prepare</a:t>
            </a:r>
            <a:endParaRPr lang="en-US" sz="1800" dirty="0"/>
          </a:p>
        </p:txBody>
      </p:sp>
      <p:sp>
        <p:nvSpPr>
          <p:cNvPr id="8" name="doe step who 1"/>
          <p:cNvSpPr txBox="1"/>
          <p:nvPr/>
        </p:nvSpPr>
        <p:spPr>
          <a:xfrm>
            <a:off x="777240" y="2880360"/>
            <a:ext cx="2194560" cy="292608"/>
          </a:xfrm>
          <a:prstGeom prst="rect">
            <a:avLst/>
          </a:prstGeom>
          <a:noFill/>
          <a:ln/>
        </p:spPr>
        <p:txBody>
          <a:bodyPr wrap="square" lIns="0" tIns="0" rIns="0" bIns="0" rtlCol="0" anchor="t"/>
          <a:lstStyle/>
          <a:p>
            <a:pPr indent="0" marL="0">
              <a:buNone/>
            </a:pPr>
            <a:r>
              <a:rPr lang="en-US" sz="1200" b="1" dirty="0">
                <a:solidFill>
                  <a:schemeClr val="accent1"/>
                </a:solidFill>
              </a:rPr>
              <a:t>Python</a:t>
            </a:r>
            <a:endParaRPr lang="en-US" sz="1200" dirty="0"/>
          </a:p>
        </p:txBody>
      </p:sp>
      <p:sp>
        <p:nvSpPr>
          <p:cNvPr id="9" name="doe step text 1"/>
          <p:cNvSpPr txBox="1"/>
          <p:nvPr/>
        </p:nvSpPr>
        <p:spPr>
          <a:xfrm>
            <a:off x="777240" y="3200400"/>
            <a:ext cx="2148840" cy="1280160"/>
          </a:xfrm>
          <a:prstGeom prst="rect">
            <a:avLst/>
          </a:prstGeom>
          <a:noFill/>
          <a:ln/>
        </p:spPr>
        <p:txBody>
          <a:bodyPr wrap="square" lIns="0" tIns="0" rIns="0" bIns="0" rtlCol="0" anchor="t"/>
          <a:lstStyle/>
          <a:p>
            <a:pPr indent="0" marL="0">
              <a:buNone/>
            </a:pPr>
            <a:r>
              <a:rPr lang="en-US" sz="1300" dirty="0">
                <a:solidFill>
                  <a:schemeClr val="tx2"/>
                </a:solidFill>
              </a:rPr>
              <a:t>finds every PDF and DWG/DXF, sets old revisions aside, renders each page (whole, zoomed, legend, text)</a:t>
            </a:r>
            <a:endParaRPr lang="en-US" sz="1300" dirty="0"/>
          </a:p>
        </p:txBody>
      </p:sp>
      <p:sp>
        <p:nvSpPr>
          <p:cNvPr id="10" name="Shape 6"/>
          <p:cNvSpPr/>
          <p:nvPr/>
        </p:nvSpPr>
        <p:spPr>
          <a:xfrm>
            <a:off x="3127248" y="2971800"/>
            <a:ext cx="237744" cy="0"/>
          </a:xfrm>
          <a:prstGeom prst="line">
            <a:avLst/>
          </a:prstGeom>
          <a:noFill/>
          <a:ln w="25400">
            <a:solidFill>
              <a:srgbClr val="8A93AB"/>
            </a:solidFill>
            <a:prstDash val="solid"/>
            <a:tailEnd type="triangle"/>
          </a:ln>
        </p:spPr>
      </p:sp>
      <p:sp>
        <p:nvSpPr>
          <p:cNvPr id="11" name="doe step 2"/>
          <p:cNvSpPr/>
          <p:nvPr/>
        </p:nvSpPr>
        <p:spPr>
          <a:xfrm>
            <a:off x="3383280" y="1417320"/>
            <a:ext cx="2560320" cy="3154680"/>
          </a:xfrm>
          <a:prstGeom prst="roundRect">
            <a:avLst>
              <a:gd name="adj" fmla="val 4286"/>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2" name="doe step 2 circle"/>
          <p:cNvSpPr/>
          <p:nvPr/>
        </p:nvSpPr>
        <p:spPr>
          <a:xfrm>
            <a:off x="3611880" y="1645920"/>
            <a:ext cx="731520" cy="731520"/>
          </a:xfrm>
          <a:prstGeom prst="ellipse">
            <a:avLst/>
          </a:prstGeom>
          <a:solidFill>
            <a:srgbClr val="F2A900"/>
          </a:solidFill>
          <a:ln w="12700">
            <a:solidFill>
              <a:srgbClr val="F2A900"/>
            </a:solidFill>
            <a:prstDash val="solid"/>
          </a:ln>
        </p:spPr>
      </p:sp>
      <p:pic>
        <p:nvPicPr>
          <p:cNvPr id="13" name="doe step 2 icon" descr="preencoded.png">    </p:cNvPr>
          <p:cNvPicPr>
            <a:picLocks noChangeAspect="1"/>
          </p:cNvPicPr>
          <p:nvPr/>
        </p:nvPicPr>
        <p:blipFill>
          <a:blip r:embed="rId2"/>
          <a:stretch>
            <a:fillRect/>
          </a:stretch>
        </p:blipFill>
        <p:spPr>
          <a:xfrm>
            <a:off x="3802075" y="1836115"/>
            <a:ext cx="351130" cy="351130"/>
          </a:xfrm>
          <a:prstGeom prst="rect">
            <a:avLst/>
          </a:prstGeom>
        </p:spPr>
      </p:pic>
      <p:sp>
        <p:nvSpPr>
          <p:cNvPr id="14" name="doe step title 2"/>
          <p:cNvSpPr txBox="1"/>
          <p:nvPr/>
        </p:nvSpPr>
        <p:spPr>
          <a:xfrm>
            <a:off x="3611880" y="2514600"/>
            <a:ext cx="2194560" cy="365760"/>
          </a:xfrm>
          <a:prstGeom prst="rect">
            <a:avLst/>
          </a:prstGeom>
          <a:noFill/>
          <a:ln/>
        </p:spPr>
        <p:txBody>
          <a:bodyPr wrap="square" lIns="0" tIns="0" rIns="0" bIns="0" rtlCol="0" anchor="t"/>
          <a:lstStyle/>
          <a:p>
            <a:pPr indent="0" marL="0">
              <a:buNone/>
            </a:pPr>
            <a:r>
              <a:rPr lang="en-US" sz="1800" b="1" dirty="0">
                <a:solidFill>
                  <a:schemeClr val="tx1"/>
                </a:solidFill>
              </a:rPr>
              <a:t>2 · Read</a:t>
            </a:r>
            <a:endParaRPr lang="en-US" sz="1800" dirty="0"/>
          </a:p>
        </p:txBody>
      </p:sp>
      <p:sp>
        <p:nvSpPr>
          <p:cNvPr id="15" name="doe step who 2"/>
          <p:cNvSpPr txBox="1"/>
          <p:nvPr/>
        </p:nvSpPr>
        <p:spPr>
          <a:xfrm>
            <a:off x="3611880" y="2880360"/>
            <a:ext cx="2194560" cy="292608"/>
          </a:xfrm>
          <a:prstGeom prst="rect">
            <a:avLst/>
          </a:prstGeom>
          <a:noFill/>
          <a:ln/>
        </p:spPr>
        <p:txBody>
          <a:bodyPr wrap="square" lIns="0" tIns="0" rIns="0" bIns="0" rtlCol="0" anchor="t"/>
          <a:lstStyle/>
          <a:p>
            <a:pPr indent="0" marL="0">
              <a:buNone/>
            </a:pPr>
            <a:r>
              <a:rPr lang="en-US" sz="1200" b="1" dirty="0">
                <a:solidFill>
                  <a:schemeClr val="accent1"/>
                </a:solidFill>
              </a:rPr>
              <a:t>Claude Code · subscription</a:t>
            </a:r>
            <a:endParaRPr lang="en-US" sz="1200" dirty="0"/>
          </a:p>
        </p:txBody>
      </p:sp>
      <p:sp>
        <p:nvSpPr>
          <p:cNvPr id="16" name="doe step text 2"/>
          <p:cNvSpPr txBox="1"/>
          <p:nvPr/>
        </p:nvSpPr>
        <p:spPr>
          <a:xfrm>
            <a:off x="3611880" y="3200400"/>
            <a:ext cx="2148840" cy="1280160"/>
          </a:xfrm>
          <a:prstGeom prst="rect">
            <a:avLst/>
          </a:prstGeom>
          <a:noFill/>
          <a:ln/>
        </p:spPr>
        <p:txBody>
          <a:bodyPr wrap="square" lIns="0" tIns="0" rIns="0" bIns="0" rtlCol="0" anchor="t"/>
          <a:lstStyle/>
          <a:p>
            <a:pPr indent="0" marL="0">
              <a:buNone/>
            </a:pPr>
            <a:r>
              <a:rPr lang="en-US" sz="1300" dirty="0">
                <a:solidFill>
                  <a:schemeClr val="tx2"/>
                </a:solidFill>
              </a:rPr>
              <a:t>reads every page and fills one strict form per page — only what is drawn</a:t>
            </a:r>
            <a:endParaRPr lang="en-US" sz="1300" dirty="0"/>
          </a:p>
        </p:txBody>
      </p:sp>
      <p:sp>
        <p:nvSpPr>
          <p:cNvPr id="17" name="Shape 12"/>
          <p:cNvSpPr/>
          <p:nvPr/>
        </p:nvSpPr>
        <p:spPr>
          <a:xfrm>
            <a:off x="5961888" y="2971800"/>
            <a:ext cx="237744" cy="0"/>
          </a:xfrm>
          <a:prstGeom prst="line">
            <a:avLst/>
          </a:prstGeom>
          <a:noFill/>
          <a:ln w="25400">
            <a:solidFill>
              <a:srgbClr val="8A93AB"/>
            </a:solidFill>
            <a:prstDash val="solid"/>
            <a:tailEnd type="triangle"/>
          </a:ln>
        </p:spPr>
      </p:sp>
      <p:sp>
        <p:nvSpPr>
          <p:cNvPr id="18" name="doe step 3"/>
          <p:cNvSpPr/>
          <p:nvPr/>
        </p:nvSpPr>
        <p:spPr>
          <a:xfrm>
            <a:off x="6217920" y="1417320"/>
            <a:ext cx="2560320" cy="3154680"/>
          </a:xfrm>
          <a:prstGeom prst="roundRect">
            <a:avLst>
              <a:gd name="adj" fmla="val 4286"/>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9" name="doe step 3 circle"/>
          <p:cNvSpPr/>
          <p:nvPr/>
        </p:nvSpPr>
        <p:spPr>
          <a:xfrm>
            <a:off x="6446520" y="1645920"/>
            <a:ext cx="731520" cy="731520"/>
          </a:xfrm>
          <a:prstGeom prst="ellipse">
            <a:avLst/>
          </a:prstGeom>
          <a:solidFill>
            <a:srgbClr val="2E5BE8"/>
          </a:solidFill>
          <a:ln w="12700">
            <a:solidFill>
              <a:srgbClr val="2E5BE8"/>
            </a:solidFill>
            <a:prstDash val="solid"/>
          </a:ln>
        </p:spPr>
      </p:sp>
      <p:pic>
        <p:nvPicPr>
          <p:cNvPr id="20" name="doe step 3 icon" descr="preencoded.png">    </p:cNvPr>
          <p:cNvPicPr>
            <a:picLocks noChangeAspect="1"/>
          </p:cNvPicPr>
          <p:nvPr/>
        </p:nvPicPr>
        <p:blipFill>
          <a:blip r:embed="rId3"/>
          <a:stretch>
            <a:fillRect/>
          </a:stretch>
        </p:blipFill>
        <p:spPr>
          <a:xfrm>
            <a:off x="6636715" y="1836115"/>
            <a:ext cx="351130" cy="351130"/>
          </a:xfrm>
          <a:prstGeom prst="rect">
            <a:avLst/>
          </a:prstGeom>
        </p:spPr>
      </p:pic>
      <p:sp>
        <p:nvSpPr>
          <p:cNvPr id="21" name="doe step title 3"/>
          <p:cNvSpPr txBox="1"/>
          <p:nvPr/>
        </p:nvSpPr>
        <p:spPr>
          <a:xfrm>
            <a:off x="6446520" y="2514600"/>
            <a:ext cx="2194560" cy="365760"/>
          </a:xfrm>
          <a:prstGeom prst="rect">
            <a:avLst/>
          </a:prstGeom>
          <a:noFill/>
          <a:ln/>
        </p:spPr>
        <p:txBody>
          <a:bodyPr wrap="square" lIns="0" tIns="0" rIns="0" bIns="0" rtlCol="0" anchor="t"/>
          <a:lstStyle/>
          <a:p>
            <a:pPr indent="0" marL="0">
              <a:buNone/>
            </a:pPr>
            <a:r>
              <a:rPr lang="en-US" sz="1800" b="1" dirty="0">
                <a:solidFill>
                  <a:schemeClr val="tx1"/>
                </a:solidFill>
              </a:rPr>
              <a:t>3 · Finish</a:t>
            </a:r>
            <a:endParaRPr lang="en-US" sz="1800" dirty="0"/>
          </a:p>
        </p:txBody>
      </p:sp>
      <p:sp>
        <p:nvSpPr>
          <p:cNvPr id="22" name="doe step who 3"/>
          <p:cNvSpPr txBox="1"/>
          <p:nvPr/>
        </p:nvSpPr>
        <p:spPr>
          <a:xfrm>
            <a:off x="6446520" y="2880360"/>
            <a:ext cx="2194560" cy="292608"/>
          </a:xfrm>
          <a:prstGeom prst="rect">
            <a:avLst/>
          </a:prstGeom>
          <a:noFill/>
          <a:ln/>
        </p:spPr>
        <p:txBody>
          <a:bodyPr wrap="square" lIns="0" tIns="0" rIns="0" bIns="0" rtlCol="0" anchor="t"/>
          <a:lstStyle/>
          <a:p>
            <a:pPr indent="0" marL="0">
              <a:buNone/>
            </a:pPr>
            <a:r>
              <a:rPr lang="en-US" sz="1200" b="1" dirty="0">
                <a:solidFill>
                  <a:schemeClr val="accent1"/>
                </a:solidFill>
              </a:rPr>
              <a:t>Python</a:t>
            </a:r>
            <a:endParaRPr lang="en-US" sz="1200" dirty="0"/>
          </a:p>
        </p:txBody>
      </p:sp>
      <p:sp>
        <p:nvSpPr>
          <p:cNvPr id="23" name="doe step text 3"/>
          <p:cNvSpPr txBox="1"/>
          <p:nvPr/>
        </p:nvSpPr>
        <p:spPr>
          <a:xfrm>
            <a:off x="6446520" y="3200400"/>
            <a:ext cx="2148840" cy="1280160"/>
          </a:xfrm>
          <a:prstGeom prst="rect">
            <a:avLst/>
          </a:prstGeom>
          <a:noFill/>
          <a:ln/>
        </p:spPr>
        <p:txBody>
          <a:bodyPr wrap="square" lIns="0" tIns="0" rIns="0" bIns="0" rtlCol="0" anchor="t"/>
          <a:lstStyle/>
          <a:p>
            <a:pPr indent="0" marL="0">
              <a:buNone/>
            </a:pPr>
            <a:r>
              <a:rPr lang="en-US" sz="1300" dirty="0">
                <a:solidFill>
                  <a:schemeClr val="tx2"/>
                </a:solidFill>
              </a:rPr>
              <a:t>checks every form, reads the CAD set, combines both readers, prices once</a:t>
            </a:r>
            <a:endParaRPr lang="en-US" sz="1300" dirty="0"/>
          </a:p>
        </p:txBody>
      </p:sp>
      <p:sp>
        <p:nvSpPr>
          <p:cNvPr id="24" name="Shape 18"/>
          <p:cNvSpPr/>
          <p:nvPr/>
        </p:nvSpPr>
        <p:spPr>
          <a:xfrm>
            <a:off x="8796528" y="2971800"/>
            <a:ext cx="237744" cy="0"/>
          </a:xfrm>
          <a:prstGeom prst="line">
            <a:avLst/>
          </a:prstGeom>
          <a:noFill/>
          <a:ln w="25400">
            <a:solidFill>
              <a:srgbClr val="8A93AB"/>
            </a:solidFill>
            <a:prstDash val="solid"/>
            <a:tailEnd type="triangle"/>
          </a:ln>
        </p:spPr>
      </p:sp>
      <p:sp>
        <p:nvSpPr>
          <p:cNvPr id="25" name="doe step 4"/>
          <p:cNvSpPr/>
          <p:nvPr/>
        </p:nvSpPr>
        <p:spPr>
          <a:xfrm>
            <a:off x="9052560" y="1417320"/>
            <a:ext cx="2560320" cy="3154680"/>
          </a:xfrm>
          <a:prstGeom prst="roundRect">
            <a:avLst>
              <a:gd name="adj" fmla="val 4286"/>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26" name="doe step 4 circle"/>
          <p:cNvSpPr/>
          <p:nvPr/>
        </p:nvSpPr>
        <p:spPr>
          <a:xfrm>
            <a:off x="9281160" y="1645920"/>
            <a:ext cx="731520" cy="731520"/>
          </a:xfrm>
          <a:prstGeom prst="ellipse">
            <a:avLst/>
          </a:prstGeom>
          <a:solidFill>
            <a:srgbClr val="2E5BE8"/>
          </a:solidFill>
          <a:ln w="12700">
            <a:solidFill>
              <a:srgbClr val="2E5BE8"/>
            </a:solidFill>
            <a:prstDash val="solid"/>
          </a:ln>
        </p:spPr>
      </p:sp>
      <p:pic>
        <p:nvPicPr>
          <p:cNvPr id="27" name="doe step 4 icon" descr="preencoded.png">    </p:cNvPr>
          <p:cNvPicPr>
            <a:picLocks noChangeAspect="1"/>
          </p:cNvPicPr>
          <p:nvPr/>
        </p:nvPicPr>
        <p:blipFill>
          <a:blip r:embed="rId4"/>
          <a:stretch>
            <a:fillRect/>
          </a:stretch>
        </p:blipFill>
        <p:spPr>
          <a:xfrm>
            <a:off x="9471355" y="1836115"/>
            <a:ext cx="351130" cy="351130"/>
          </a:xfrm>
          <a:prstGeom prst="rect">
            <a:avLst/>
          </a:prstGeom>
        </p:spPr>
      </p:pic>
      <p:sp>
        <p:nvSpPr>
          <p:cNvPr id="28" name="doe step title 4"/>
          <p:cNvSpPr txBox="1"/>
          <p:nvPr/>
        </p:nvSpPr>
        <p:spPr>
          <a:xfrm>
            <a:off x="9281160" y="2514600"/>
            <a:ext cx="2194560" cy="365760"/>
          </a:xfrm>
          <a:prstGeom prst="rect">
            <a:avLst/>
          </a:prstGeom>
          <a:noFill/>
          <a:ln/>
        </p:spPr>
        <p:txBody>
          <a:bodyPr wrap="square" lIns="0" tIns="0" rIns="0" bIns="0" rtlCol="0" anchor="t"/>
          <a:lstStyle/>
          <a:p>
            <a:pPr indent="0" marL="0">
              <a:buNone/>
            </a:pPr>
            <a:r>
              <a:rPr lang="en-US" sz="1800" b="1" dirty="0">
                <a:solidFill>
                  <a:schemeClr val="tx1"/>
                </a:solidFill>
              </a:rPr>
              <a:t>AfriPlan_Output</a:t>
            </a:r>
            <a:endParaRPr lang="en-US" sz="1800" dirty="0"/>
          </a:p>
        </p:txBody>
      </p:sp>
      <p:sp>
        <p:nvSpPr>
          <p:cNvPr id="29" name="doe step who 4"/>
          <p:cNvSpPr txBox="1"/>
          <p:nvPr/>
        </p:nvSpPr>
        <p:spPr>
          <a:xfrm>
            <a:off x="9281160" y="2880360"/>
            <a:ext cx="2194560" cy="292608"/>
          </a:xfrm>
          <a:prstGeom prst="rect">
            <a:avLst/>
          </a:prstGeom>
          <a:noFill/>
          <a:ln/>
        </p:spPr>
        <p:txBody>
          <a:bodyPr wrap="square" lIns="0" tIns="0" rIns="0" bIns="0" rtlCol="0" anchor="t"/>
          <a:lstStyle/>
          <a:p>
            <a:pPr indent="0" marL="0">
              <a:buNone/>
            </a:pPr>
            <a:r>
              <a:rPr lang="en-US" sz="1200" b="1" dirty="0">
                <a:solidFill>
                  <a:schemeClr val="accent1"/>
                </a:solidFill>
              </a:rPr>
              <a:t>in the project folder</a:t>
            </a:r>
            <a:endParaRPr lang="en-US" sz="1200" dirty="0"/>
          </a:p>
        </p:txBody>
      </p:sp>
      <p:sp>
        <p:nvSpPr>
          <p:cNvPr id="30" name="doe step text 4"/>
          <p:cNvSpPr txBox="1"/>
          <p:nvPr/>
        </p:nvSpPr>
        <p:spPr>
          <a:xfrm>
            <a:off x="9281160" y="3200400"/>
            <a:ext cx="2148840" cy="1280160"/>
          </a:xfrm>
          <a:prstGeom prst="rect">
            <a:avLst/>
          </a:prstGeom>
          <a:noFill/>
          <a:ln/>
        </p:spPr>
        <p:txBody>
          <a:bodyPr wrap="square" lIns="0" tIns="0" rIns="0" bIns="0" rtlCol="0" anchor="t"/>
          <a:lstStyle/>
          <a:p>
            <a:pPr indent="0" marL="0">
              <a:buNone/>
            </a:pPr>
            <a:r>
              <a:rPr lang="en-US" sz="1300" dirty="0">
                <a:solidFill>
                  <a:schemeClr val="tx2"/>
                </a:solidFill>
              </a:rPr>
              <a:t>Excel + PDF BoQ, things to check, summary — and an accuracy report when scored</a:t>
            </a:r>
            <a:endParaRPr lang="en-US" sz="1300" dirty="0"/>
          </a:p>
        </p:txBody>
      </p:sp>
      <p:sp>
        <p:nvSpPr>
          <p:cNvPr id="31" name="command box"/>
          <p:cNvSpPr/>
          <p:nvPr/>
        </p:nvSpPr>
        <p:spPr>
          <a:xfrm>
            <a:off x="548640" y="4800600"/>
            <a:ext cx="11064240" cy="1051560"/>
          </a:xfrm>
          <a:prstGeom prst="roundRect">
            <a:avLst>
              <a:gd name="adj" fmla="val 8696"/>
            </a:avLst>
          </a:prstGeom>
          <a:solidFill>
            <a:schemeClr val="tx1"/>
          </a:solidFill>
          <a:ln w="12700">
            <a:solidFill>
              <a:srgbClr val="101A33"/>
            </a:solidFill>
            <a:prstDash val="solid"/>
          </a:ln>
        </p:spPr>
      </p:sp>
      <p:sp>
        <p:nvSpPr>
          <p:cNvPr id="32" name="command text"/>
          <p:cNvSpPr txBox="1"/>
          <p:nvPr/>
        </p:nvSpPr>
        <p:spPr>
          <a:xfrm>
            <a:off x="822960" y="4919472"/>
            <a:ext cx="10607040" cy="822960"/>
          </a:xfrm>
          <a:prstGeom prst="rect">
            <a:avLst/>
          </a:prstGeom>
          <a:noFill/>
          <a:ln/>
        </p:spPr>
        <p:txBody>
          <a:bodyPr wrap="square" lIns="0" tIns="0" rIns="0" bIns="0" rtlCol="0" anchor="ctr"/>
          <a:lstStyle/>
          <a:p>
            <a:pPr indent="0" marL="0">
              <a:buNone/>
            </a:pPr>
            <a:r>
              <a:rPr lang="en-US" sz="1400" b="1" dirty="0">
                <a:solidFill>
                  <a:schemeClr val="accent2"/>
                </a:solidFill>
              </a:rPr>
              <a:t>Say to Claude Code:  </a:t>
            </a:r>
            <a:pPr indent="0" marL="0">
              <a:buNone/>
            </a:pPr>
            <a:r>
              <a:rPr lang="en-US" sz="1400" dirty="0">
                <a:solidFill>
                  <a:schemeClr val="bg1"/>
                </a:solidFill>
              </a:rPr>
              <a:t>estimate the project in C:\Projects\My Job</a:t>
            </a:r>
            <a:endParaRPr lang="en-US" sz="1400" dirty="0"/>
          </a:p>
          <a:p>
            <a:pPr indent="0" marL="0">
              <a:buNone/>
            </a:pPr>
            <a:r>
              <a:rPr lang="en-US" sz="1400" b="1" dirty="0">
                <a:solidFill>
                  <a:schemeClr val="accent2"/>
                </a:solidFill>
              </a:rPr>
              <a:t>It runs:  </a:t>
            </a:r>
            <a:pPr indent="0" marL="0">
              <a:buNone/>
            </a:pPr>
            <a:r>
              <a:rPr lang="en-US" sz="1400" dirty="0">
                <a:solidFill>
                  <a:schemeClr val="bg1"/>
                </a:solidFill>
                <a:latin typeface="Courier New" pitchFamily="34" charset="0"/>
                <a:ea typeface="Courier New" pitchFamily="34" charset="-122"/>
                <a:cs typeface="Courier New" pitchFamily="34" charset="-120"/>
              </a:rPr>
              <a:t>$PY doe/execution/project.py prepare "&lt;folder&gt;"   …   finish "&lt;folder&gt;"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Set up on Windows or Mac in two commands</a:t>
            </a:r>
            <a:endParaRPr lang="en-US" sz="3000" dirty="0"/>
          </a:p>
        </p:txBody>
      </p:sp>
      <p:graphicFrame>
        <p:nvGraphicFramePr>
          <p:cNvPr id="15" name="prerequisit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1828800"/>
                <a:gridCol w="822960"/>
                <a:gridCol w="1691640"/>
                <a:gridCol w="1691640"/>
              </a:tblGrid>
              <a:tr h="457200">
                <a:tc>
                  <a:txBody>
                    <a:bodyPr/>
                    <a:lstStyle/>
                    <a:p>
                      <a:pPr indent="0" marL="0">
                        <a:buNone/>
                      </a:pPr>
                      <a:r>
                        <a:rPr lang="en-US" sz="1250" b="1" dirty="0">
                          <a:solidFill>
                            <a:schemeClr val="bg1"/>
                          </a:solidFill>
                        </a:rPr>
                        <a:t>Tool</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Version</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Windows</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macOS</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r>
              <a:tr h="457200">
                <a:tc>
                  <a:txBody>
                    <a:bodyPr/>
                    <a:lstStyle/>
                    <a:p>
                      <a:pPr indent="0" marL="0">
                        <a:buNone/>
                      </a:pPr>
                      <a:r>
                        <a:rPr lang="en-US" sz="1250" dirty="0">
                          <a:solidFill>
                            <a:schemeClr val="tx1"/>
                          </a:solidFill>
                        </a:rPr>
                        <a:t>Git</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any</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git-scm.com</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xcode-select --install</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457200">
                <a:tc>
                  <a:txBody>
                    <a:bodyPr/>
                    <a:lstStyle/>
                    <a:p>
                      <a:pPr indent="0" marL="0">
                        <a:buNone/>
                      </a:pPr>
                      <a:r>
                        <a:rPr lang="en-US" sz="1250" dirty="0">
                          <a:solidFill>
                            <a:schemeClr val="tx1"/>
                          </a:solidFill>
                        </a:rPr>
                        <a:t>Python</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3.12+</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python.org</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brew install python@3.12</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457200">
                <a:tc>
                  <a:txBody>
                    <a:bodyPr/>
                    <a:lstStyle/>
                    <a:p>
                      <a:pPr indent="0" marL="0">
                        <a:buNone/>
                      </a:pPr>
                      <a:r>
                        <a:rPr lang="en-US" sz="1250" dirty="0">
                          <a:solidFill>
                            <a:schemeClr val="tx1"/>
                          </a:solidFill>
                        </a:rPr>
                        <a:t>Node.js</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20+</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nodejs.org</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brew install node</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457200">
                <a:tc>
                  <a:txBody>
                    <a:bodyPr/>
                    <a:lstStyle/>
                    <a:p>
                      <a:pPr indent="0" marL="0">
                        <a:buNone/>
                      </a:pPr>
                      <a:r>
                        <a:rPr lang="en-US" sz="1250" dirty="0">
                          <a:solidFill>
                            <a:schemeClr val="tx1"/>
                          </a:solidFill>
                        </a:rPr>
                        <a:t>LibreDWG (optional)</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0.14</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releases → dwg2dxf.exe</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brew install libredwg</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457200">
                <a:tc>
                  <a:txBody>
                    <a:bodyPr/>
                    <a:lstStyle/>
                    <a:p>
                      <a:pPr indent="0" marL="0">
                        <a:buNone/>
                      </a:pPr>
                      <a:r>
                        <a:rPr lang="en-US" sz="1250" dirty="0">
                          <a:solidFill>
                            <a:schemeClr val="tx1"/>
                          </a:solidFill>
                        </a:rPr>
                        <a:t>Claude Code (optional)</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latest</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claude.com/claude-code</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same</a:t>
                      </a:r>
                      <a:endParaRPr lang="en-US" sz="1250" dirty="0"/>
                    </a:p>
                  </a:txBody>
                  <a:tcPr marL="73152" marR="73152" marT="27432" marB="27432"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bl>
          </a:graphicData>
        </a:graphic>
      </p:graphicFrame>
      <p:sp>
        <p:nvSpPr>
          <p:cNvPr id="5" name="setup box"/>
          <p:cNvSpPr/>
          <p:nvPr/>
        </p:nvSpPr>
        <p:spPr>
          <a:xfrm>
            <a:off x="6903720" y="1417320"/>
            <a:ext cx="4709160" cy="2240280"/>
          </a:xfrm>
          <a:prstGeom prst="roundRect">
            <a:avLst>
              <a:gd name="adj" fmla="val 4082"/>
            </a:avLst>
          </a:prstGeom>
          <a:solidFill>
            <a:schemeClr val="tx1"/>
          </a:solidFill>
          <a:ln w="12700">
            <a:solidFill>
              <a:srgbClr val="101A33"/>
            </a:solidFill>
            <a:prstDash val="solid"/>
          </a:ln>
        </p:spPr>
      </p:sp>
      <p:sp>
        <p:nvSpPr>
          <p:cNvPr id="6" name="setup commands"/>
          <p:cNvSpPr txBox="1"/>
          <p:nvPr/>
        </p:nvSpPr>
        <p:spPr>
          <a:xfrm>
            <a:off x="7132320" y="1600200"/>
            <a:ext cx="4343400" cy="2423160"/>
          </a:xfrm>
          <a:prstGeom prst="rect">
            <a:avLst/>
          </a:prstGeom>
          <a:noFill/>
          <a:ln/>
        </p:spPr>
        <p:txBody>
          <a:bodyPr wrap="square" lIns="0" tIns="0" rIns="0" bIns="0" rtlCol="0" anchor="t"/>
          <a:lstStyle/>
          <a:p>
            <a:pPr indent="0" marL="0">
              <a:buNone/>
            </a:pPr>
            <a:r>
              <a:rPr lang="en-US" sz="1350" dirty="0">
                <a:solidFill>
                  <a:schemeClr val="accent2"/>
                </a:solidFill>
              </a:rPr>
              <a:t># once per computer</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git clone https://github.com/</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    Jonathan-Lukwichi/afriplan-ai.git</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cd afriplan-ai</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python scripts/dev.py setup</a:t>
            </a:r>
            <a:endParaRPr lang="en-US" sz="1350" dirty="0"/>
          </a:p>
          <a:p>
            <a:pPr indent="0" marL="0">
              <a:buNone/>
            </a:pPr>
            <a:r>
              <a:rPr lang="en-US" sz="1350" dirty="0">
                <a:solidFill>
                  <a:schemeClr val="accent2"/>
                </a:solidFill>
              </a:rPr>
              <a:t># every time</a:t>
            </a:r>
            <a:endParaRPr lang="en-US" sz="1350" dirty="0"/>
          </a:p>
          <a:p>
            <a:pPr indent="0" marL="0">
              <a:buNone/>
            </a:pPr>
            <a:r>
              <a:rPr lang="en-US" sz="1350" dirty="0">
                <a:solidFill>
                  <a:schemeClr val="bg1"/>
                </a:solidFill>
                <a:latin typeface="Courier New" pitchFamily="34" charset="0"/>
                <a:ea typeface="Courier New" pitchFamily="34" charset="-122"/>
                <a:cs typeface="Courier New" pitchFamily="34" charset="-120"/>
              </a:rPr>
              <a:t>python scripts/dev.py start</a:t>
            </a:r>
            <a:endParaRPr lang="en-US" sz="1350" dirty="0"/>
          </a:p>
        </p:txBody>
      </p:sp>
      <p:sp>
        <p:nvSpPr>
          <p:cNvPr id="7" name="setup tip 1 circle"/>
          <p:cNvSpPr/>
          <p:nvPr/>
        </p:nvSpPr>
        <p:spPr>
          <a:xfrm>
            <a:off x="6903720" y="3931920"/>
            <a:ext cx="384048" cy="384048"/>
          </a:xfrm>
          <a:prstGeom prst="ellipse">
            <a:avLst/>
          </a:prstGeom>
          <a:solidFill>
            <a:srgbClr val="F2F4F9"/>
          </a:solidFill>
          <a:ln w="12700">
            <a:solidFill>
              <a:srgbClr val="F2F4F9"/>
            </a:solidFill>
            <a:prstDash val="solid"/>
          </a:ln>
        </p:spPr>
      </p:sp>
      <p:pic>
        <p:nvPicPr>
          <p:cNvPr id="8" name="setup tip 1 icon" descr="preencoded.png">    </p:cNvPr>
          <p:cNvPicPr>
            <a:picLocks noChangeAspect="1"/>
          </p:cNvPicPr>
          <p:nvPr/>
        </p:nvPicPr>
        <p:blipFill>
          <a:blip r:embed="rId1"/>
          <a:stretch>
            <a:fillRect/>
          </a:stretch>
        </p:blipFill>
        <p:spPr>
          <a:xfrm>
            <a:off x="7003572" y="4031772"/>
            <a:ext cx="184343" cy="184343"/>
          </a:xfrm>
          <a:prstGeom prst="rect">
            <a:avLst/>
          </a:prstGeom>
        </p:spPr>
      </p:pic>
      <p:sp>
        <p:nvSpPr>
          <p:cNvPr id="9" name="setup tip text 1"/>
          <p:cNvSpPr txBox="1"/>
          <p:nvPr/>
        </p:nvSpPr>
        <p:spPr>
          <a:xfrm>
            <a:off x="7406640" y="3986784"/>
            <a:ext cx="4206240" cy="384048"/>
          </a:xfrm>
          <a:prstGeom prst="rect">
            <a:avLst/>
          </a:prstGeom>
          <a:noFill/>
          <a:ln/>
        </p:spPr>
        <p:txBody>
          <a:bodyPr wrap="square" lIns="0" tIns="0" rIns="0" bIns="0" rtlCol="0" anchor="t"/>
          <a:lstStyle/>
          <a:p>
            <a:pPr indent="0" marL="0">
              <a:buNone/>
            </a:pPr>
            <a:r>
              <a:rPr lang="en-US" sz="1250" dirty="0">
                <a:solidFill>
                  <a:schemeClr val="tx1"/>
                </a:solidFill>
              </a:rPr>
              <a:t>On a Mac, type python3 instead of python.</a:t>
            </a:r>
            <a:endParaRPr lang="en-US" sz="1250" dirty="0"/>
          </a:p>
        </p:txBody>
      </p:sp>
      <p:sp>
        <p:nvSpPr>
          <p:cNvPr id="10" name="setup tip 2 circle"/>
          <p:cNvSpPr/>
          <p:nvPr/>
        </p:nvSpPr>
        <p:spPr>
          <a:xfrm>
            <a:off x="6903720" y="4480560"/>
            <a:ext cx="384048" cy="384048"/>
          </a:xfrm>
          <a:prstGeom prst="ellipse">
            <a:avLst/>
          </a:prstGeom>
          <a:solidFill>
            <a:srgbClr val="F2F4F9"/>
          </a:solidFill>
          <a:ln w="12700">
            <a:solidFill>
              <a:srgbClr val="F2F4F9"/>
            </a:solidFill>
            <a:prstDash val="solid"/>
          </a:ln>
        </p:spPr>
      </p:sp>
      <p:pic>
        <p:nvPicPr>
          <p:cNvPr id="11" name="setup tip 2 icon" descr="preencoded.png">    </p:cNvPr>
          <p:cNvPicPr>
            <a:picLocks noChangeAspect="1"/>
          </p:cNvPicPr>
          <p:nvPr/>
        </p:nvPicPr>
        <p:blipFill>
          <a:blip r:embed="rId2"/>
          <a:stretch>
            <a:fillRect/>
          </a:stretch>
        </p:blipFill>
        <p:spPr>
          <a:xfrm>
            <a:off x="7003572" y="4580412"/>
            <a:ext cx="184343" cy="184343"/>
          </a:xfrm>
          <a:prstGeom prst="rect">
            <a:avLst/>
          </a:prstGeom>
        </p:spPr>
      </p:pic>
      <p:sp>
        <p:nvSpPr>
          <p:cNvPr id="12" name="setup tip text 2"/>
          <p:cNvSpPr txBox="1"/>
          <p:nvPr/>
        </p:nvSpPr>
        <p:spPr>
          <a:xfrm>
            <a:off x="7406640" y="4535424"/>
            <a:ext cx="4206240" cy="384048"/>
          </a:xfrm>
          <a:prstGeom prst="rect">
            <a:avLst/>
          </a:prstGeom>
          <a:noFill/>
          <a:ln/>
        </p:spPr>
        <p:txBody>
          <a:bodyPr wrap="square" lIns="0" tIns="0" rIns="0" bIns="0" rtlCol="0" anchor="t"/>
          <a:lstStyle/>
          <a:p>
            <a:pPr indent="0" marL="0">
              <a:buNone/>
            </a:pPr>
            <a:r>
              <a:rPr lang="en-US" sz="1250" dirty="0">
                <a:solidFill>
                  <a:schemeClr val="tx1"/>
                </a:solidFill>
              </a:rPr>
              <a:t>On Windows, clone into a short path (e.g. C:\dev) — very deep folders can break installs.</a:t>
            </a:r>
            <a:endParaRPr lang="en-US" sz="1250" dirty="0"/>
          </a:p>
        </p:txBody>
      </p:sp>
      <p:sp>
        <p:nvSpPr>
          <p:cNvPr id="13" name="setup tip 3 circle"/>
          <p:cNvSpPr/>
          <p:nvPr/>
        </p:nvSpPr>
        <p:spPr>
          <a:xfrm>
            <a:off x="6903720" y="5029200"/>
            <a:ext cx="384048" cy="384048"/>
          </a:xfrm>
          <a:prstGeom prst="ellipse">
            <a:avLst/>
          </a:prstGeom>
          <a:solidFill>
            <a:srgbClr val="F2F4F9"/>
          </a:solidFill>
          <a:ln w="12700">
            <a:solidFill>
              <a:srgbClr val="F2F4F9"/>
            </a:solidFill>
            <a:prstDash val="solid"/>
          </a:ln>
        </p:spPr>
      </p:sp>
      <p:pic>
        <p:nvPicPr>
          <p:cNvPr id="14" name="setup tip 3 icon" descr="preencoded.png">    </p:cNvPr>
          <p:cNvPicPr>
            <a:picLocks noChangeAspect="1"/>
          </p:cNvPicPr>
          <p:nvPr/>
        </p:nvPicPr>
        <p:blipFill>
          <a:blip r:embed="rId3"/>
          <a:stretch>
            <a:fillRect/>
          </a:stretch>
        </p:blipFill>
        <p:spPr>
          <a:xfrm>
            <a:off x="7003572" y="5129052"/>
            <a:ext cx="184343" cy="184343"/>
          </a:xfrm>
          <a:prstGeom prst="rect">
            <a:avLst/>
          </a:prstGeom>
        </p:spPr>
      </p:pic>
      <p:sp>
        <p:nvSpPr>
          <p:cNvPr id="15" name="setup tip text 3"/>
          <p:cNvSpPr txBox="1"/>
          <p:nvPr/>
        </p:nvSpPr>
        <p:spPr>
          <a:xfrm>
            <a:off x="7406640" y="5084064"/>
            <a:ext cx="4206240" cy="384048"/>
          </a:xfrm>
          <a:prstGeom prst="rect">
            <a:avLst/>
          </a:prstGeom>
          <a:noFill/>
          <a:ln/>
        </p:spPr>
        <p:txBody>
          <a:bodyPr wrap="square" lIns="0" tIns="0" rIns="0" bIns="0" rtlCol="0" anchor="t"/>
          <a:lstStyle/>
          <a:p>
            <a:pPr indent="0" marL="0">
              <a:buNone/>
            </a:pPr>
            <a:r>
              <a:rPr lang="en-US" sz="1250" dirty="0">
                <a:solidFill>
                  <a:schemeClr val="tx1"/>
                </a:solidFill>
              </a:rPr>
              <a:t>Keys (optional) go in api/.env: ANTHROPIC_API_KEY or GEMINI_API_KEY.</a:t>
            </a:r>
            <a:endParaRPr lang="en-US" sz="12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We measure accuracy against a real, human-priced bill</a:t>
            </a:r>
            <a:endParaRPr lang="en-US" sz="3000" dirty="0"/>
          </a:p>
        </p:txBody>
      </p:sp>
      <p:sp>
        <p:nvSpPr>
          <p:cNvPr id="4" name="rs card"/>
          <p:cNvSpPr/>
          <p:nvPr/>
        </p:nvSpPr>
        <p:spPr>
          <a:xfrm>
            <a:off x="548640" y="1417320"/>
            <a:ext cx="5760720" cy="4389120"/>
          </a:xfrm>
          <a:prstGeom prst="roundRect">
            <a:avLst>
              <a:gd name="adj" fmla="val 2500"/>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5" name="rs title"/>
          <p:cNvSpPr txBox="1"/>
          <p:nvPr/>
        </p:nvSpPr>
        <p:spPr>
          <a:xfrm>
            <a:off x="822960" y="1645920"/>
            <a:ext cx="5303520" cy="411480"/>
          </a:xfrm>
          <a:prstGeom prst="rect">
            <a:avLst/>
          </a:prstGeom>
          <a:noFill/>
          <a:ln/>
        </p:spPr>
        <p:txBody>
          <a:bodyPr wrap="square" lIns="0" tIns="0" rIns="0" bIns="0" rtlCol="0" anchor="t"/>
          <a:lstStyle/>
          <a:p>
            <a:pPr indent="0" marL="0">
              <a:buNone/>
            </a:pPr>
            <a:r>
              <a:rPr lang="en-US" sz="1900" b="1" dirty="0">
                <a:solidFill>
                  <a:schemeClr val="tx1"/>
                </a:solidFill>
              </a:rPr>
              <a:t>Reproduction Score (RS) — the headline</a:t>
            </a:r>
            <a:endParaRPr lang="en-US" sz="1900" dirty="0"/>
          </a:p>
        </p:txBody>
      </p:sp>
      <p:sp>
        <p:nvSpPr>
          <p:cNvPr id="6" name="formula box"/>
          <p:cNvSpPr/>
          <p:nvPr/>
        </p:nvSpPr>
        <p:spPr>
          <a:xfrm>
            <a:off x="822960" y="2240280"/>
            <a:ext cx="5212080" cy="960120"/>
          </a:xfrm>
          <a:prstGeom prst="roundRect">
            <a:avLst>
              <a:gd name="adj" fmla="val 7619"/>
            </a:avLst>
          </a:prstGeom>
          <a:solidFill>
            <a:schemeClr val="bg1"/>
          </a:solidFill>
          <a:ln w="12700">
            <a:solidFill>
              <a:srgbClr val="D9DEE9"/>
            </a:solidFill>
            <a:prstDash val="solid"/>
          </a:ln>
        </p:spPr>
      </p:sp>
      <p:sp>
        <p:nvSpPr>
          <p:cNvPr id="7" name="formula"/>
          <p:cNvSpPr txBox="1"/>
          <p:nvPr/>
        </p:nvSpPr>
        <p:spPr>
          <a:xfrm>
            <a:off x="1005840" y="2331720"/>
            <a:ext cx="4846320" cy="777240"/>
          </a:xfrm>
          <a:prstGeom prst="rect">
            <a:avLst/>
          </a:prstGeom>
          <a:noFill/>
          <a:ln/>
        </p:spPr>
        <p:txBody>
          <a:bodyPr wrap="square" lIns="0" tIns="0" rIns="0" bIns="0" rtlCol="0" anchor="ctr"/>
          <a:lstStyle/>
          <a:p>
            <a:pPr algn="ctr" indent="0" marL="0">
              <a:buNone/>
            </a:pPr>
            <a:r>
              <a:rPr lang="en-US" sz="1800" b="1" dirty="0">
                <a:solidFill>
                  <a:schemeClr val="accent1"/>
                </a:solidFill>
                <a:latin typeface="Cambria" pitchFamily="34" charset="0"/>
                <a:ea typeface="Cambria" pitchFamily="34" charset="-122"/>
                <a:cs typeface="Cambria" pitchFamily="34" charset="-120"/>
              </a:rPr>
              <a:t>Σ value × found × quantity accuracy</a:t>
            </a:r>
            <a:endParaRPr lang="en-US" sz="1800" dirty="0"/>
          </a:p>
          <a:p>
            <a:pPr algn="ctr" indent="0" marL="0">
              <a:buNone/>
            </a:pPr>
            <a:r>
              <a:rPr lang="en-US" sz="1800" b="1" dirty="0">
                <a:solidFill>
                  <a:schemeClr val="accent1"/>
                </a:solidFill>
                <a:latin typeface="Cambria" pitchFamily="34" charset="0"/>
                <a:ea typeface="Cambria" pitchFamily="34" charset="-122"/>
                <a:cs typeface="Cambria" pitchFamily="34" charset="-120"/>
              </a:rPr>
              <a:t>÷  Σ value of the real bill</a:t>
            </a:r>
            <a:endParaRPr lang="en-US" sz="1800" dirty="0"/>
          </a:p>
        </p:txBody>
      </p:sp>
      <p:sp>
        <p:nvSpPr>
          <p:cNvPr id="8" name="rs example"/>
          <p:cNvSpPr txBox="1"/>
          <p:nvPr/>
        </p:nvSpPr>
        <p:spPr>
          <a:xfrm>
            <a:off x="822960" y="3429000"/>
            <a:ext cx="5303520" cy="1188720"/>
          </a:xfrm>
          <a:prstGeom prst="rect">
            <a:avLst/>
          </a:prstGeom>
          <a:noFill/>
          <a:ln/>
        </p:spPr>
        <p:txBody>
          <a:bodyPr wrap="square" lIns="0" tIns="0" rIns="0" bIns="0" rtlCol="0" anchor="t"/>
          <a:lstStyle/>
          <a:p>
            <a:pPr indent="0" marL="0">
              <a:buNone/>
            </a:pPr>
            <a:r>
              <a:rPr lang="en-US" sz="1400" b="1" dirty="0">
                <a:solidFill>
                  <a:schemeClr val="tx1"/>
                </a:solidFill>
              </a:rPr>
              <a:t>Example: </a:t>
            </a:r>
            <a:pPr indent="0" marL="0">
              <a:buNone/>
            </a:pPr>
            <a:r>
              <a:rPr lang="en-US" sz="1400" dirty="0">
                <a:solidFill>
                  <a:schemeClr val="tx1"/>
                </a:solidFill>
              </a:rPr>
              <a:t>a feeder worth R100 000 in the real bill, found with 90 % of the right length, adds R90 000 of the R100 000. An item never produced adds nothing. 100 % = every item, exact quantities.</a:t>
            </a:r>
            <a:endParaRPr lang="en-US" sz="1400" dirty="0"/>
          </a:p>
        </p:txBody>
      </p:sp>
      <p:sp>
        <p:nvSpPr>
          <p:cNvPr id="9" name="rs weighting"/>
          <p:cNvSpPr txBox="1"/>
          <p:nvPr/>
        </p:nvSpPr>
        <p:spPr>
          <a:xfrm>
            <a:off x="822960" y="4526280"/>
            <a:ext cx="5303520" cy="822960"/>
          </a:xfrm>
          <a:prstGeom prst="rect">
            <a:avLst/>
          </a:prstGeom>
          <a:noFill/>
          <a:ln/>
        </p:spPr>
        <p:txBody>
          <a:bodyPr wrap="square" lIns="0" tIns="0" rIns="0" bIns="0" rtlCol="0" anchor="t"/>
          <a:lstStyle/>
          <a:p>
            <a:pPr indent="0" marL="0">
              <a:buNone/>
            </a:pPr>
            <a:r>
              <a:rPr lang="en-US" sz="1300" i="1" dirty="0">
                <a:solidFill>
                  <a:schemeClr val="tx2"/>
                </a:solidFill>
              </a:rPr>
              <a:t>Weighted by rand value: a big feeder counts far more than a socket — that is how a tender is won or lost.</a:t>
            </a:r>
            <a:endParaRPr lang="en-US" sz="1300" dirty="0"/>
          </a:p>
        </p:txBody>
      </p:sp>
      <p:sp>
        <p:nvSpPr>
          <p:cNvPr id="10" name="metric 1 circle"/>
          <p:cNvSpPr/>
          <p:nvPr/>
        </p:nvSpPr>
        <p:spPr>
          <a:xfrm>
            <a:off x="6629400" y="1463040"/>
            <a:ext cx="548640" cy="548640"/>
          </a:xfrm>
          <a:prstGeom prst="ellipse">
            <a:avLst/>
          </a:prstGeom>
          <a:solidFill>
            <a:srgbClr val="F2F4F9"/>
          </a:solidFill>
          <a:ln w="12700">
            <a:solidFill>
              <a:srgbClr val="F2F4F9"/>
            </a:solidFill>
            <a:prstDash val="solid"/>
          </a:ln>
        </p:spPr>
      </p:sp>
      <p:pic>
        <p:nvPicPr>
          <p:cNvPr id="11" name="metric 1 icon" descr="preencoded.png">    </p:cNvPr>
          <p:cNvPicPr>
            <a:picLocks noChangeAspect="1"/>
          </p:cNvPicPr>
          <p:nvPr/>
        </p:nvPicPr>
        <p:blipFill>
          <a:blip r:embed="rId1"/>
          <a:stretch>
            <a:fillRect/>
          </a:stretch>
        </p:blipFill>
        <p:spPr>
          <a:xfrm>
            <a:off x="6772046" y="1605686"/>
            <a:ext cx="263347" cy="263347"/>
          </a:xfrm>
          <a:prstGeom prst="rect">
            <a:avLst/>
          </a:prstGeom>
        </p:spPr>
      </p:pic>
      <p:sp>
        <p:nvSpPr>
          <p:cNvPr id="12" name="metric title 1"/>
          <p:cNvSpPr txBox="1"/>
          <p:nvPr/>
        </p:nvSpPr>
        <p:spPr>
          <a:xfrm>
            <a:off x="7360920" y="1444752"/>
            <a:ext cx="4206240" cy="320040"/>
          </a:xfrm>
          <a:prstGeom prst="rect">
            <a:avLst/>
          </a:prstGeom>
          <a:noFill/>
          <a:ln/>
        </p:spPr>
        <p:txBody>
          <a:bodyPr wrap="square" lIns="0" tIns="0" rIns="0" bIns="0" rtlCol="0" anchor="t"/>
          <a:lstStyle/>
          <a:p>
            <a:pPr indent="0" marL="0">
              <a:buNone/>
            </a:pPr>
            <a:r>
              <a:rPr lang="en-US" sz="1600" b="1" dirty="0">
                <a:solidFill>
                  <a:schemeClr val="tx1"/>
                </a:solidFill>
              </a:rPr>
              <a:t>Coverage</a:t>
            </a:r>
            <a:endParaRPr lang="en-US" sz="1600" dirty="0"/>
          </a:p>
        </p:txBody>
      </p:sp>
      <p:sp>
        <p:nvSpPr>
          <p:cNvPr id="13" name="metric text 1"/>
          <p:cNvSpPr txBox="1"/>
          <p:nvPr/>
        </p:nvSpPr>
        <p:spPr>
          <a:xfrm>
            <a:off x="7360920" y="1764792"/>
            <a:ext cx="4206240" cy="457200"/>
          </a:xfrm>
          <a:prstGeom prst="rect">
            <a:avLst/>
          </a:prstGeom>
          <a:noFill/>
          <a:ln/>
        </p:spPr>
        <p:txBody>
          <a:bodyPr wrap="square" lIns="0" tIns="0" rIns="0" bIns="0" rtlCol="0" anchor="t"/>
          <a:lstStyle/>
          <a:p>
            <a:pPr indent="0" marL="0">
              <a:buNone/>
            </a:pPr>
            <a:r>
              <a:rPr lang="en-US" sz="1300" dirty="0">
                <a:solidFill>
                  <a:schemeClr val="tx2"/>
                </a:solidFill>
              </a:rPr>
              <a:t>share of the real bill's value we produced at all</a:t>
            </a:r>
            <a:endParaRPr lang="en-US" sz="1300" dirty="0"/>
          </a:p>
        </p:txBody>
      </p:sp>
      <p:sp>
        <p:nvSpPr>
          <p:cNvPr id="14" name="metric 2 circle"/>
          <p:cNvSpPr/>
          <p:nvPr/>
        </p:nvSpPr>
        <p:spPr>
          <a:xfrm>
            <a:off x="6629400" y="2331720"/>
            <a:ext cx="548640" cy="548640"/>
          </a:xfrm>
          <a:prstGeom prst="ellipse">
            <a:avLst/>
          </a:prstGeom>
          <a:solidFill>
            <a:srgbClr val="F2F4F9"/>
          </a:solidFill>
          <a:ln w="12700">
            <a:solidFill>
              <a:srgbClr val="F2F4F9"/>
            </a:solidFill>
            <a:prstDash val="solid"/>
          </a:ln>
        </p:spPr>
      </p:sp>
      <p:pic>
        <p:nvPicPr>
          <p:cNvPr id="15" name="metric 2 icon" descr="preencoded.png">    </p:cNvPr>
          <p:cNvPicPr>
            <a:picLocks noChangeAspect="1"/>
          </p:cNvPicPr>
          <p:nvPr/>
        </p:nvPicPr>
        <p:blipFill>
          <a:blip r:embed="rId2"/>
          <a:stretch>
            <a:fillRect/>
          </a:stretch>
        </p:blipFill>
        <p:spPr>
          <a:xfrm>
            <a:off x="6772046" y="2474366"/>
            <a:ext cx="263347" cy="263347"/>
          </a:xfrm>
          <a:prstGeom prst="rect">
            <a:avLst/>
          </a:prstGeom>
        </p:spPr>
      </p:pic>
      <p:sp>
        <p:nvSpPr>
          <p:cNvPr id="16" name="metric title 2"/>
          <p:cNvSpPr txBox="1"/>
          <p:nvPr/>
        </p:nvSpPr>
        <p:spPr>
          <a:xfrm>
            <a:off x="7360920" y="2313432"/>
            <a:ext cx="4206240" cy="320040"/>
          </a:xfrm>
          <a:prstGeom prst="rect">
            <a:avLst/>
          </a:prstGeom>
          <a:noFill/>
          <a:ln/>
        </p:spPr>
        <p:txBody>
          <a:bodyPr wrap="square" lIns="0" tIns="0" rIns="0" bIns="0" rtlCol="0" anchor="t"/>
          <a:lstStyle/>
          <a:p>
            <a:pPr indent="0" marL="0">
              <a:buNone/>
            </a:pPr>
            <a:r>
              <a:rPr lang="en-US" sz="1600" b="1" dirty="0">
                <a:solidFill>
                  <a:schemeClr val="tx1"/>
                </a:solidFill>
              </a:rPr>
              <a:t>Precision</a:t>
            </a:r>
            <a:endParaRPr lang="en-US" sz="1600" dirty="0"/>
          </a:p>
        </p:txBody>
      </p:sp>
      <p:sp>
        <p:nvSpPr>
          <p:cNvPr id="17" name="metric text 2"/>
          <p:cNvSpPr txBox="1"/>
          <p:nvPr/>
        </p:nvSpPr>
        <p:spPr>
          <a:xfrm>
            <a:off x="7360920" y="2633472"/>
            <a:ext cx="4206240" cy="457200"/>
          </a:xfrm>
          <a:prstGeom prst="rect">
            <a:avLst/>
          </a:prstGeom>
          <a:noFill/>
          <a:ln/>
        </p:spPr>
        <p:txBody>
          <a:bodyPr wrap="square" lIns="0" tIns="0" rIns="0" bIns="0" rtlCol="0" anchor="t"/>
          <a:lstStyle/>
          <a:p>
            <a:pPr indent="0" marL="0">
              <a:buNone/>
            </a:pPr>
            <a:r>
              <a:rPr lang="en-US" sz="1300" dirty="0">
                <a:solidFill>
                  <a:schemeClr val="tx2"/>
                </a:solidFill>
              </a:rPr>
              <a:t>share of what we priced that belongs in the bill</a:t>
            </a:r>
            <a:endParaRPr lang="en-US" sz="1300" dirty="0"/>
          </a:p>
        </p:txBody>
      </p:sp>
      <p:sp>
        <p:nvSpPr>
          <p:cNvPr id="18" name="metric 3 circle"/>
          <p:cNvSpPr/>
          <p:nvPr/>
        </p:nvSpPr>
        <p:spPr>
          <a:xfrm>
            <a:off x="6629400" y="3200400"/>
            <a:ext cx="548640" cy="548640"/>
          </a:xfrm>
          <a:prstGeom prst="ellipse">
            <a:avLst/>
          </a:prstGeom>
          <a:solidFill>
            <a:srgbClr val="F2F4F9"/>
          </a:solidFill>
          <a:ln w="12700">
            <a:solidFill>
              <a:srgbClr val="F2F4F9"/>
            </a:solidFill>
            <a:prstDash val="solid"/>
          </a:ln>
        </p:spPr>
      </p:sp>
      <p:pic>
        <p:nvPicPr>
          <p:cNvPr id="19" name="metric 3 icon" descr="preencoded.png">    </p:cNvPr>
          <p:cNvPicPr>
            <a:picLocks noChangeAspect="1"/>
          </p:cNvPicPr>
          <p:nvPr/>
        </p:nvPicPr>
        <p:blipFill>
          <a:blip r:embed="rId3"/>
          <a:stretch>
            <a:fillRect/>
          </a:stretch>
        </p:blipFill>
        <p:spPr>
          <a:xfrm>
            <a:off x="6772046" y="3343046"/>
            <a:ext cx="263347" cy="263347"/>
          </a:xfrm>
          <a:prstGeom prst="rect">
            <a:avLst/>
          </a:prstGeom>
        </p:spPr>
      </p:pic>
      <p:sp>
        <p:nvSpPr>
          <p:cNvPr id="20" name="metric title 3"/>
          <p:cNvSpPr txBox="1"/>
          <p:nvPr/>
        </p:nvSpPr>
        <p:spPr>
          <a:xfrm>
            <a:off x="7360920" y="3182112"/>
            <a:ext cx="4206240" cy="320040"/>
          </a:xfrm>
          <a:prstGeom prst="rect">
            <a:avLst/>
          </a:prstGeom>
          <a:noFill/>
          <a:ln/>
        </p:spPr>
        <p:txBody>
          <a:bodyPr wrap="square" lIns="0" tIns="0" rIns="0" bIns="0" rtlCol="0" anchor="t"/>
          <a:lstStyle/>
          <a:p>
            <a:pPr indent="0" marL="0">
              <a:buNone/>
            </a:pPr>
            <a:r>
              <a:rPr lang="en-US" sz="1600" b="1" dirty="0">
                <a:solidFill>
                  <a:schemeClr val="tx1"/>
                </a:solidFill>
              </a:rPr>
              <a:t>Quantity accuracy</a:t>
            </a:r>
            <a:endParaRPr lang="en-US" sz="1600" dirty="0"/>
          </a:p>
        </p:txBody>
      </p:sp>
      <p:sp>
        <p:nvSpPr>
          <p:cNvPr id="21" name="metric text 3"/>
          <p:cNvSpPr txBox="1"/>
          <p:nvPr/>
        </p:nvSpPr>
        <p:spPr>
          <a:xfrm>
            <a:off x="7360920" y="3502152"/>
            <a:ext cx="4206240" cy="457200"/>
          </a:xfrm>
          <a:prstGeom prst="rect">
            <a:avLst/>
          </a:prstGeom>
          <a:noFill/>
          <a:ln/>
        </p:spPr>
        <p:txBody>
          <a:bodyPr wrap="square" lIns="0" tIns="0" rIns="0" bIns="0" rtlCol="0" anchor="t"/>
          <a:lstStyle/>
          <a:p>
            <a:pPr indent="0" marL="0">
              <a:buNone/>
            </a:pPr>
            <a:r>
              <a:rPr lang="en-US" sz="1300" dirty="0">
                <a:solidFill>
                  <a:schemeClr val="tx2"/>
                </a:solidFill>
              </a:rPr>
              <a:t>how close our quantities are, where we have the item</a:t>
            </a:r>
            <a:endParaRPr lang="en-US" sz="1300" dirty="0"/>
          </a:p>
        </p:txBody>
      </p:sp>
      <p:sp>
        <p:nvSpPr>
          <p:cNvPr id="22" name="metric 4 circle"/>
          <p:cNvSpPr/>
          <p:nvPr/>
        </p:nvSpPr>
        <p:spPr>
          <a:xfrm>
            <a:off x="6629400" y="4069080"/>
            <a:ext cx="548640" cy="548640"/>
          </a:xfrm>
          <a:prstGeom prst="ellipse">
            <a:avLst/>
          </a:prstGeom>
          <a:solidFill>
            <a:srgbClr val="F2F4F9"/>
          </a:solidFill>
          <a:ln w="12700">
            <a:solidFill>
              <a:srgbClr val="F2F4F9"/>
            </a:solidFill>
            <a:prstDash val="solid"/>
          </a:ln>
        </p:spPr>
      </p:sp>
      <p:pic>
        <p:nvPicPr>
          <p:cNvPr id="23" name="metric 4 icon" descr="preencoded.png">    </p:cNvPr>
          <p:cNvPicPr>
            <a:picLocks noChangeAspect="1"/>
          </p:cNvPicPr>
          <p:nvPr/>
        </p:nvPicPr>
        <p:blipFill>
          <a:blip r:embed="rId4"/>
          <a:stretch>
            <a:fillRect/>
          </a:stretch>
        </p:blipFill>
        <p:spPr>
          <a:xfrm>
            <a:off x="6772046" y="4211726"/>
            <a:ext cx="263347" cy="263347"/>
          </a:xfrm>
          <a:prstGeom prst="rect">
            <a:avLst/>
          </a:prstGeom>
        </p:spPr>
      </p:pic>
      <p:sp>
        <p:nvSpPr>
          <p:cNvPr id="24" name="metric title 4"/>
          <p:cNvSpPr txBox="1"/>
          <p:nvPr/>
        </p:nvSpPr>
        <p:spPr>
          <a:xfrm>
            <a:off x="7360920" y="4050792"/>
            <a:ext cx="4206240" cy="320040"/>
          </a:xfrm>
          <a:prstGeom prst="rect">
            <a:avLst/>
          </a:prstGeom>
          <a:noFill/>
          <a:ln/>
        </p:spPr>
        <p:txBody>
          <a:bodyPr wrap="square" lIns="0" tIns="0" rIns="0" bIns="0" rtlCol="0" anchor="t"/>
          <a:lstStyle/>
          <a:p>
            <a:pPr indent="0" marL="0">
              <a:buNone/>
            </a:pPr>
            <a:r>
              <a:rPr lang="en-US" sz="1600" b="1" dirty="0">
                <a:solidFill>
                  <a:schemeClr val="tx1"/>
                </a:solidFill>
              </a:rPr>
              <a:t>Rate accuracy</a:t>
            </a:r>
            <a:endParaRPr lang="en-US" sz="1600" dirty="0"/>
          </a:p>
        </p:txBody>
      </p:sp>
      <p:sp>
        <p:nvSpPr>
          <p:cNvPr id="25" name="metric text 4"/>
          <p:cNvSpPr txBox="1"/>
          <p:nvPr/>
        </p:nvSpPr>
        <p:spPr>
          <a:xfrm>
            <a:off x="7360920" y="4370832"/>
            <a:ext cx="4206240" cy="457200"/>
          </a:xfrm>
          <a:prstGeom prst="rect">
            <a:avLst/>
          </a:prstGeom>
          <a:noFill/>
          <a:ln/>
        </p:spPr>
        <p:txBody>
          <a:bodyPr wrap="square" lIns="0" tIns="0" rIns="0" bIns="0" rtlCol="0" anchor="t"/>
          <a:lstStyle/>
          <a:p>
            <a:pPr indent="0" marL="0">
              <a:buNone/>
            </a:pPr>
            <a:r>
              <a:rPr lang="en-US" sz="1300" dirty="0">
                <a:solidFill>
                  <a:schemeClr val="tx2"/>
                </a:solidFill>
              </a:rPr>
              <a:t>how close our rates are — not in RS; moves the total</a:t>
            </a:r>
            <a:endParaRPr lang="en-US" sz="1300" dirty="0"/>
          </a:p>
        </p:txBody>
      </p:sp>
      <p:sp>
        <p:nvSpPr>
          <p:cNvPr id="26" name="metric 5 circle"/>
          <p:cNvSpPr/>
          <p:nvPr/>
        </p:nvSpPr>
        <p:spPr>
          <a:xfrm>
            <a:off x="6629400" y="4937760"/>
            <a:ext cx="548640" cy="548640"/>
          </a:xfrm>
          <a:prstGeom prst="ellipse">
            <a:avLst/>
          </a:prstGeom>
          <a:solidFill>
            <a:srgbClr val="F2F4F9"/>
          </a:solidFill>
          <a:ln w="12700">
            <a:solidFill>
              <a:srgbClr val="F2F4F9"/>
            </a:solidFill>
            <a:prstDash val="solid"/>
          </a:ln>
        </p:spPr>
      </p:sp>
      <p:pic>
        <p:nvPicPr>
          <p:cNvPr id="27" name="metric 5 icon" descr="preencoded.png">    </p:cNvPr>
          <p:cNvPicPr>
            <a:picLocks noChangeAspect="1"/>
          </p:cNvPicPr>
          <p:nvPr/>
        </p:nvPicPr>
        <p:blipFill>
          <a:blip r:embed="rId5"/>
          <a:stretch>
            <a:fillRect/>
          </a:stretch>
        </p:blipFill>
        <p:spPr>
          <a:xfrm>
            <a:off x="6772046" y="5080406"/>
            <a:ext cx="263347" cy="263347"/>
          </a:xfrm>
          <a:prstGeom prst="rect">
            <a:avLst/>
          </a:prstGeom>
        </p:spPr>
      </p:pic>
      <p:sp>
        <p:nvSpPr>
          <p:cNvPr id="28" name="metric title 5"/>
          <p:cNvSpPr txBox="1"/>
          <p:nvPr/>
        </p:nvSpPr>
        <p:spPr>
          <a:xfrm>
            <a:off x="7360920" y="4919472"/>
            <a:ext cx="4206240" cy="320040"/>
          </a:xfrm>
          <a:prstGeom prst="rect">
            <a:avLst/>
          </a:prstGeom>
          <a:noFill/>
          <a:ln/>
        </p:spPr>
        <p:txBody>
          <a:bodyPr wrap="square" lIns="0" tIns="0" rIns="0" bIns="0" rtlCol="0" anchor="t"/>
          <a:lstStyle/>
          <a:p>
            <a:pPr indent="0" marL="0">
              <a:buNone/>
            </a:pPr>
            <a:r>
              <a:rPr lang="en-US" sz="1600" b="1" dirty="0">
                <a:solidFill>
                  <a:schemeClr val="tx1"/>
                </a:solidFill>
              </a:rPr>
              <a:t>Total accuracy</a:t>
            </a:r>
            <a:endParaRPr lang="en-US" sz="1600" dirty="0"/>
          </a:p>
        </p:txBody>
      </p:sp>
      <p:sp>
        <p:nvSpPr>
          <p:cNvPr id="29" name="metric text 5"/>
          <p:cNvSpPr txBox="1"/>
          <p:nvPr/>
        </p:nvSpPr>
        <p:spPr>
          <a:xfrm>
            <a:off x="7360920" y="5239512"/>
            <a:ext cx="4206240" cy="457200"/>
          </a:xfrm>
          <a:prstGeom prst="rect">
            <a:avLst/>
          </a:prstGeom>
          <a:noFill/>
          <a:ln/>
        </p:spPr>
        <p:txBody>
          <a:bodyPr wrap="square" lIns="0" tIns="0" rIns="0" bIns="0" rtlCol="0" anchor="t"/>
          <a:lstStyle/>
          <a:p>
            <a:pPr indent="0" marL="0">
              <a:buNone/>
            </a:pPr>
            <a:r>
              <a:rPr lang="en-US" sz="1300" dirty="0">
                <a:solidFill>
                  <a:schemeClr val="tx2"/>
                </a:solidFill>
              </a:rPr>
              <a:t>bill total vs real total — can be right by luck</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Accuracy rose from 17 % to 58.5 % in two weeks</a:t>
            </a:r>
            <a:endParaRPr lang="en-US" sz="3000" dirty="0"/>
          </a:p>
        </p:txBody>
      </p:sp>
      <p:graphicFrame>
        <p:nvGraphicFramePr>
          <p:cNvPr id="4" name="Chart 0" descr=""/>
          <p:cNvGraphicFramePr/>
          <p:nvPr/>
        </p:nvGraphicFramePr>
        <p:xfrm>
          <a:off x="548640" y="1417320"/>
          <a:ext cx="539496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217920" y="1417320"/>
          <a:ext cx="5394960" cy="4343400"/>
        </p:xfrm>
        <a:graphic xmlns:a="http://schemas.openxmlformats.org/drawingml/2006/main">
          <a:graphicData uri="http://schemas.openxmlformats.org/drawingml/2006/chart">
            <c:chart xmlns:c="http://schemas.openxmlformats.org/drawingml/2006/chart" r:id="rId2"/>
          </a:graphicData>
        </a:graphic>
      </p:graphicFrame>
      <p:sp>
        <p:nvSpPr>
          <p:cNvPr id="6" name="source"/>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6"/>
                </a:solidFill>
              </a:rPr>
              <a:t>Frozen scorer (ADR-0003) on one real 7-building reference project. One project is not proof of general accuracy — a second reference project is the next step.</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Where the missing 41.5 points are lost</a:t>
            </a:r>
            <a:endParaRPr lang="en-US" sz="3000" dirty="0"/>
          </a:p>
        </p:txBody>
      </p:sp>
      <p:graphicFrame>
        <p:nvGraphicFramePr>
          <p:cNvPr id="4" name="Chart 0" descr=""/>
          <p:cNvGraphicFramePr/>
          <p:nvPr/>
        </p:nvGraphicFramePr>
        <p:xfrm>
          <a:off x="548640" y="1417320"/>
          <a:ext cx="7223760" cy="4434840"/>
        </p:xfrm>
        <a:graphic xmlns:a="http://schemas.openxmlformats.org/drawingml/2006/main">
          <a:graphicData uri="http://schemas.openxmlformats.org/drawingml/2006/chart">
            <c:chart xmlns:c="http://schemas.openxmlformats.org/drawingml/2006/chart" r:id="rId1"/>
          </a:graphicData>
        </a:graphic>
      </p:graphicFrame>
      <p:sp>
        <p:nvSpPr>
          <p:cNvPr id="5" name="cause card 1"/>
          <p:cNvSpPr/>
          <p:nvPr/>
        </p:nvSpPr>
        <p:spPr>
          <a:xfrm>
            <a:off x="8092440" y="1463040"/>
            <a:ext cx="3520440" cy="1280160"/>
          </a:xfrm>
          <a:prstGeom prst="roundRect">
            <a:avLst>
              <a:gd name="adj" fmla="val 8571"/>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6" name="cause dot 1"/>
          <p:cNvSpPr/>
          <p:nvPr/>
        </p:nvSpPr>
        <p:spPr>
          <a:xfrm>
            <a:off x="8321040" y="1874520"/>
            <a:ext cx="457200" cy="457200"/>
          </a:xfrm>
          <a:prstGeom prst="ellipse">
            <a:avLst/>
          </a:prstGeom>
          <a:solidFill>
            <a:srgbClr val="C6423C"/>
          </a:solidFill>
          <a:ln w="12700">
            <a:solidFill>
              <a:srgbClr val="C6423C"/>
            </a:solidFill>
            <a:prstDash val="solid"/>
          </a:ln>
        </p:spPr>
      </p:sp>
      <p:sp>
        <p:nvSpPr>
          <p:cNvPr id="7" name="cause value 1"/>
          <p:cNvSpPr txBox="1"/>
          <p:nvPr/>
        </p:nvSpPr>
        <p:spPr>
          <a:xfrm>
            <a:off x="8961120" y="1645920"/>
            <a:ext cx="24688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17.0 pts</a:t>
            </a:r>
            <a:endParaRPr lang="en-US" sz="2400" dirty="0"/>
          </a:p>
        </p:txBody>
      </p:sp>
      <p:sp>
        <p:nvSpPr>
          <p:cNvPr id="8" name="cause text 1"/>
          <p:cNvSpPr txBox="1"/>
          <p:nvPr/>
        </p:nvSpPr>
        <p:spPr>
          <a:xfrm>
            <a:off x="8961120" y="2121408"/>
            <a:ext cx="2514600" cy="548640"/>
          </a:xfrm>
          <a:prstGeom prst="rect">
            <a:avLst/>
          </a:prstGeom>
          <a:noFill/>
          <a:ln/>
        </p:spPr>
        <p:txBody>
          <a:bodyPr wrap="square" lIns="0" tIns="0" rIns="0" bIns="0" rtlCol="0" anchor="t"/>
          <a:lstStyle/>
          <a:p>
            <a:pPr indent="0" marL="0">
              <a:buNone/>
            </a:pPr>
            <a:r>
              <a:rPr lang="en-US" sz="1200" dirty="0">
                <a:solidFill>
                  <a:schemeClr val="tx2"/>
                </a:solidFill>
              </a:rPr>
              <a:t>never produced — item in the real bill, absent from ours</a:t>
            </a:r>
            <a:endParaRPr lang="en-US" sz="1200" dirty="0"/>
          </a:p>
        </p:txBody>
      </p:sp>
      <p:sp>
        <p:nvSpPr>
          <p:cNvPr id="9" name="cause card 2"/>
          <p:cNvSpPr/>
          <p:nvPr/>
        </p:nvSpPr>
        <p:spPr>
          <a:xfrm>
            <a:off x="8092440" y="2926080"/>
            <a:ext cx="3520440" cy="1280160"/>
          </a:xfrm>
          <a:prstGeom prst="roundRect">
            <a:avLst>
              <a:gd name="adj" fmla="val 8571"/>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0" name="cause dot 2"/>
          <p:cNvSpPr/>
          <p:nvPr/>
        </p:nvSpPr>
        <p:spPr>
          <a:xfrm>
            <a:off x="8321040" y="3337560"/>
            <a:ext cx="457200" cy="457200"/>
          </a:xfrm>
          <a:prstGeom prst="ellipse">
            <a:avLst/>
          </a:prstGeom>
          <a:solidFill>
            <a:srgbClr val="F2A900"/>
          </a:solidFill>
          <a:ln w="12700">
            <a:solidFill>
              <a:srgbClr val="F2A900"/>
            </a:solidFill>
            <a:prstDash val="solid"/>
          </a:ln>
        </p:spPr>
      </p:sp>
      <p:sp>
        <p:nvSpPr>
          <p:cNvPr id="11" name="cause value 2"/>
          <p:cNvSpPr txBox="1"/>
          <p:nvPr/>
        </p:nvSpPr>
        <p:spPr>
          <a:xfrm>
            <a:off x="8961120" y="3108960"/>
            <a:ext cx="24688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12.1 pts</a:t>
            </a:r>
            <a:endParaRPr lang="en-US" sz="2400" dirty="0"/>
          </a:p>
        </p:txBody>
      </p:sp>
      <p:sp>
        <p:nvSpPr>
          <p:cNvPr id="12" name="cause text 2"/>
          <p:cNvSpPr txBox="1"/>
          <p:nvPr/>
        </p:nvSpPr>
        <p:spPr>
          <a:xfrm>
            <a:off x="8961120" y="3584448"/>
            <a:ext cx="2514600" cy="548640"/>
          </a:xfrm>
          <a:prstGeom prst="rect">
            <a:avLst/>
          </a:prstGeom>
          <a:noFill/>
          <a:ln/>
        </p:spPr>
        <p:txBody>
          <a:bodyPr wrap="square" lIns="0" tIns="0" rIns="0" bIns="0" rtlCol="0" anchor="t"/>
          <a:lstStyle/>
          <a:p>
            <a:pPr indent="0" marL="0">
              <a:buNone/>
            </a:pPr>
            <a:r>
              <a:rPr lang="en-US" sz="1200" dirty="0">
                <a:solidFill>
                  <a:schemeClr val="tx2"/>
                </a:solidFill>
              </a:rPr>
              <a:t>quantity too low — item present, too little of it</a:t>
            </a:r>
            <a:endParaRPr lang="en-US" sz="1200" dirty="0"/>
          </a:p>
        </p:txBody>
      </p:sp>
      <p:sp>
        <p:nvSpPr>
          <p:cNvPr id="13" name="cause card 3"/>
          <p:cNvSpPr/>
          <p:nvPr/>
        </p:nvSpPr>
        <p:spPr>
          <a:xfrm>
            <a:off x="8092440" y="4389120"/>
            <a:ext cx="3520440" cy="1280160"/>
          </a:xfrm>
          <a:prstGeom prst="roundRect">
            <a:avLst>
              <a:gd name="adj" fmla="val 8571"/>
            </a:avLst>
          </a:prstGeom>
          <a:solidFill>
            <a:schemeClr val="bg1"/>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14" name="cause dot 3"/>
          <p:cNvSpPr/>
          <p:nvPr/>
        </p:nvSpPr>
        <p:spPr>
          <a:xfrm>
            <a:off x="8321040" y="4800600"/>
            <a:ext cx="457200" cy="457200"/>
          </a:xfrm>
          <a:prstGeom prst="ellipse">
            <a:avLst/>
          </a:prstGeom>
          <a:solidFill>
            <a:srgbClr val="2E5BE8"/>
          </a:solidFill>
          <a:ln w="12700">
            <a:solidFill>
              <a:srgbClr val="2E5BE8"/>
            </a:solidFill>
            <a:prstDash val="solid"/>
          </a:ln>
        </p:spPr>
      </p:sp>
      <p:sp>
        <p:nvSpPr>
          <p:cNvPr id="15" name="cause value 3"/>
          <p:cNvSpPr txBox="1"/>
          <p:nvPr/>
        </p:nvSpPr>
        <p:spPr>
          <a:xfrm>
            <a:off x="8961120" y="4572000"/>
            <a:ext cx="24688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12.4 pts</a:t>
            </a:r>
            <a:endParaRPr lang="en-US" sz="2400" dirty="0"/>
          </a:p>
        </p:txBody>
      </p:sp>
      <p:sp>
        <p:nvSpPr>
          <p:cNvPr id="16" name="cause text 3"/>
          <p:cNvSpPr txBox="1"/>
          <p:nvPr/>
        </p:nvSpPr>
        <p:spPr>
          <a:xfrm>
            <a:off x="8961120" y="5047488"/>
            <a:ext cx="2514600" cy="548640"/>
          </a:xfrm>
          <a:prstGeom prst="rect">
            <a:avLst/>
          </a:prstGeom>
          <a:noFill/>
          <a:ln/>
        </p:spPr>
        <p:txBody>
          <a:bodyPr wrap="square" lIns="0" tIns="0" rIns="0" bIns="0" rtlCol="0" anchor="t"/>
          <a:lstStyle/>
          <a:p>
            <a:pPr indent="0" marL="0">
              <a:buNone/>
            </a:pPr>
            <a:r>
              <a:rPr lang="en-US" sz="1200" dirty="0">
                <a:solidFill>
                  <a:schemeClr val="tx2"/>
                </a:solidFill>
              </a:rPr>
              <a:t>quantity too high — item present, too much of it</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000" b="1" dirty="0">
                <a:solidFill>
                  <a:schemeClr val="tx1"/>
                </a:solidFill>
              </a:rPr>
              <a:t>Where the pipeline still misses — and the fix for each gap</a:t>
            </a:r>
            <a:endParaRPr lang="en-US" sz="3000" dirty="0"/>
          </a:p>
        </p:txBody>
      </p:sp>
      <p:graphicFrame>
        <p:nvGraphicFramePr>
          <p:cNvPr id="19" name="gap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11480"/>
                <a:gridCol w="2788920"/>
                <a:gridCol w="868680"/>
                <a:gridCol w="3291840"/>
                <a:gridCol w="3703320"/>
              </a:tblGrid>
              <a:tr h="384048">
                <a:tc>
                  <a:txBody>
                    <a:bodyPr/>
                    <a:lstStyle/>
                    <a:p>
                      <a:pPr indent="0" marL="0">
                        <a:buNone/>
                      </a:pPr>
                      <a:r>
                        <a:rPr lang="en-US" sz="1250" b="1" dirty="0">
                          <a:solidFill>
                            <a:schemeClr val="bg1"/>
                          </a:solidFill>
                        </a:rPr>
                        <a:t>#</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What is missed</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Points</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Why</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Approach</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solidFill>
                      <a:schemeClr val="tx1"/>
                    </a:solidFill>
                  </a:tcPr>
                </a:tc>
              </a:tr>
              <a:tr h="777240">
                <a:tc>
                  <a:txBody>
                    <a:bodyPr/>
                    <a:lstStyle/>
                    <a:p>
                      <a:pPr indent="0" marL="0">
                        <a:buNone/>
                      </a:pPr>
                      <a:r>
                        <a:rPr lang="en-US" sz="1250" dirty="0">
                          <a:solidFill>
                            <a:schemeClr val="tx1"/>
                          </a:solidFill>
                        </a:rPr>
                        <a:t>1</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Feeder network: cable sizes, earth, trench, sleeves, manholes</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algn="ctr" indent="0" marL="0">
                        <a:buNone/>
                      </a:pPr>
                      <a:r>
                        <a:rPr lang="en-US" sz="1250" b="1" dirty="0">
                          <a:solidFill>
                            <a:schemeClr val="accent1"/>
                          </a:solidFill>
                        </a:rPr>
                        <a:t>≈ 19</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Sizes per feeder differ from the bill; trench measured per feeder; crossings never counted</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Per-feeder size check (volt-drop sizing); trench as the union of routes; sleeves &amp; manholes from the site plan</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640080">
                <a:tc>
                  <a:txBody>
                    <a:bodyPr/>
                    <a:lstStyle/>
                    <a:p>
                      <a:pPr indent="0" marL="0">
                        <a:buNone/>
                      </a:pPr>
                      <a:r>
                        <a:rPr lang="en-US" sz="1250" dirty="0">
                          <a:solidFill>
                            <a:schemeClr val="tx1"/>
                          </a:solidFill>
                        </a:rPr>
                        <a:t>2</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Installation material: trunking, conduit, wire</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algn="ctr" indent="0" marL="0">
                        <a:buNone/>
                      </a:pPr>
                      <a:r>
                        <a:rPr lang="en-US" sz="1250" b="1" dirty="0">
                          <a:solidFill>
                            <a:schemeClr val="accent1"/>
                          </a:solidFill>
                        </a:rPr>
                        <a:t>≈ 9</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Not drawn as symbols, so never produced</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Run the completer on the delivered bill now (+2–3 pts); later measure trunking runs</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548640">
                <a:tc>
                  <a:txBody>
                    <a:bodyPr/>
                    <a:lstStyle/>
                    <a:p>
                      <a:pPr indent="0" marL="0">
                        <a:buNone/>
                      </a:pPr>
                      <a:r>
                        <a:rPr lang="en-US" sz="1250" dirty="0">
                          <a:solidFill>
                            <a:schemeClr val="tx1"/>
                          </a:solidFill>
                        </a:rPr>
                        <a:t>3</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Distribution boards counted twice</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algn="ctr" indent="0" marL="0">
                        <a:buNone/>
                      </a:pPr>
                      <a:r>
                        <a:rPr lang="en-US" sz="1250" b="1" dirty="0">
                          <a:solidFill>
                            <a:schemeClr val="accent1"/>
                          </a:solidFill>
                        </a:rPr>
                        <a:t>6.2</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The same board under two names in CAD and PDF</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Better name pairing when the two readers are combined</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548640">
                <a:tc>
                  <a:txBody>
                    <a:bodyPr/>
                    <a:lstStyle/>
                    <a:p>
                      <a:pPr indent="0" marL="0">
                        <a:buNone/>
                      </a:pPr>
                      <a:r>
                        <a:rPr lang="en-US" sz="1250" dirty="0">
                          <a:solidFill>
                            <a:schemeClr val="tx1"/>
                          </a:solidFill>
                        </a:rPr>
                        <a:t>4</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Connection fee</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algn="ctr" indent="0" marL="0">
                        <a:buNone/>
                      </a:pPr>
                      <a:r>
                        <a:rPr lang="en-US" sz="1250" b="1" dirty="0">
                          <a:solidFill>
                            <a:schemeClr val="accent1"/>
                          </a:solidFill>
                        </a:rPr>
                        <a:t>1.5</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Never on any drawing</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Rule: new supply on the SLD → provisional sum + gap item</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r h="548640">
                <a:tc>
                  <a:txBody>
                    <a:bodyPr/>
                    <a:lstStyle/>
                    <a:p>
                      <a:pPr indent="0" marL="0">
                        <a:buNone/>
                      </a:pPr>
                      <a:r>
                        <a:rPr lang="en-US" sz="1250" dirty="0">
                          <a:solidFill>
                            <a:schemeClr val="tx1"/>
                          </a:solidFill>
                        </a:rPr>
                        <a:t>5</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Fittings slightly over-counted</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algn="ctr" indent="0" marL="0">
                        <a:buNone/>
                      </a:pPr>
                      <a:r>
                        <a:rPr lang="en-US" sz="1250" b="1" dirty="0">
                          <a:solidFill>
                            <a:schemeClr val="accent1"/>
                          </a:solidFill>
                        </a:rPr>
                        <a:t>≈ 1.4</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The same fitting read on two sheets</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c>
                  <a:txBody>
                    <a:bodyPr/>
                    <a:lstStyle/>
                    <a:p>
                      <a:pPr indent="0" marL="0">
                        <a:buNone/>
                      </a:pPr>
                      <a:r>
                        <a:rPr lang="en-US" sz="1250" dirty="0">
                          <a:solidFill>
                            <a:schemeClr val="tx1"/>
                          </a:solidFill>
                        </a:rPr>
                        <a:t>Check the sheet pairing for lighting and plug sheets</a:t>
                      </a:r>
                      <a:endParaRPr lang="en-US" sz="1250" dirty="0"/>
                    </a:p>
                  </a:txBody>
                  <a:tcPr marL="73152" marR="73152" marT="36576" marB="36576" anchor="ctr">
                    <a:lnL w="9525" cap="flat" cmpd="sng" algn="ctr">
                      <a:solidFill>
                        <a:srgbClr val="D9DEE9"/>
                      </a:solidFill>
                      <a:prstDash val="solid"/>
                      <a:round/>
                      <a:headEnd type="none" w="med" len="med"/>
                      <a:tailEnd type="none" w="med" len="med"/>
                    </a:lnL>
                    <a:lnR w="9525" cap="flat" cmpd="sng" algn="ctr">
                      <a:solidFill>
                        <a:srgbClr val="D9DEE9"/>
                      </a:solidFill>
                      <a:prstDash val="solid"/>
                      <a:round/>
                      <a:headEnd type="none" w="med" len="med"/>
                      <a:tailEnd type="none" w="med" len="med"/>
                    </a:lnR>
                    <a:lnT w="9525" cap="flat" cmpd="sng" algn="ctr">
                      <a:solidFill>
                        <a:srgbClr val="D9DEE9"/>
                      </a:solidFill>
                      <a:prstDash val="solid"/>
                      <a:round/>
                      <a:headEnd type="none" w="med" len="med"/>
                      <a:tailEnd type="none" w="med" len="med"/>
                    </a:lnT>
                    <a:lnB w="9525" cap="flat" cmpd="sng" algn="ctr">
                      <a:solidFill>
                        <a:srgbClr val="D9DEE9"/>
                      </a:solidFill>
                      <a:prstDash val="solid"/>
                      <a:round/>
                      <a:headEnd type="none" w="med" len="med"/>
                      <a:tailEnd type="none" w="med" len="med"/>
                    </a:lnB>
                  </a:tcPr>
                </a:tc>
              </a:tr>
            </a:tbl>
          </a:graphicData>
        </a:graphic>
      </p:graphicFrame>
      <p:sp>
        <p:nvSpPr>
          <p:cNvPr id="5" name="rates card"/>
          <p:cNvSpPr/>
          <p:nvPr/>
        </p:nvSpPr>
        <p:spPr>
          <a:xfrm>
            <a:off x="548640" y="5074920"/>
            <a:ext cx="11064240" cy="868680"/>
          </a:xfrm>
          <a:prstGeom prst="roundRect">
            <a:avLst>
              <a:gd name="adj" fmla="val 12632"/>
            </a:avLst>
          </a:prstGeom>
          <a:solidFill>
            <a:schemeClr val="bg2"/>
          </a:solidFill>
          <a:ln w="9525">
            <a:solidFill>
              <a:srgbClr val="E3E7F0"/>
            </a:solidFill>
            <a:prstDash val="solid"/>
          </a:ln>
          <a:effectLst>
            <a:outerShdw sx="100000" sy="100000" kx="0" ky="0" algn="bl" rotWithShape="0" blurRad="101600" dist="25400" dir="5400000">
              <a:srgbClr val="101A33">
                <a:alpha val="12000"/>
              </a:srgbClr>
            </a:outerShdw>
          </a:effectLst>
        </p:spPr>
      </p:sp>
      <p:sp>
        <p:nvSpPr>
          <p:cNvPr id="6" name="rates circle"/>
          <p:cNvSpPr/>
          <p:nvPr/>
        </p:nvSpPr>
        <p:spPr>
          <a:xfrm>
            <a:off x="731520" y="5212080"/>
            <a:ext cx="594360" cy="594360"/>
          </a:xfrm>
          <a:prstGeom prst="ellipse">
            <a:avLst/>
          </a:prstGeom>
          <a:solidFill>
            <a:srgbClr val="F2A900"/>
          </a:solidFill>
          <a:ln w="12700">
            <a:solidFill>
              <a:srgbClr val="F2A900"/>
            </a:solidFill>
            <a:prstDash val="solid"/>
          </a:ln>
        </p:spPr>
      </p:sp>
      <p:pic>
        <p:nvPicPr>
          <p:cNvPr id="7" name="rates icon" descr="preencoded.png">    </p:cNvPr>
          <p:cNvPicPr>
            <a:picLocks noChangeAspect="1"/>
          </p:cNvPicPr>
          <p:nvPr/>
        </p:nvPicPr>
        <p:blipFill>
          <a:blip r:embed="rId1"/>
          <a:stretch>
            <a:fillRect/>
          </a:stretch>
        </p:blipFill>
        <p:spPr>
          <a:xfrm>
            <a:off x="886054" y="5366614"/>
            <a:ext cx="285293" cy="285293"/>
          </a:xfrm>
          <a:prstGeom prst="rect">
            <a:avLst/>
          </a:prstGeom>
        </p:spPr>
      </p:pic>
      <p:sp>
        <p:nvSpPr>
          <p:cNvPr id="8" name="rates text"/>
          <p:cNvSpPr txBox="1"/>
          <p:nvPr/>
        </p:nvSpPr>
        <p:spPr>
          <a:xfrm>
            <a:off x="1508760" y="5230368"/>
            <a:ext cx="9921240" cy="594360"/>
          </a:xfrm>
          <a:prstGeom prst="rect">
            <a:avLst/>
          </a:prstGeom>
          <a:noFill/>
          <a:ln/>
        </p:spPr>
        <p:txBody>
          <a:bodyPr wrap="square" lIns="0" tIns="0" rIns="0" bIns="0" rtlCol="0" anchor="ctr"/>
          <a:lstStyle/>
          <a:p>
            <a:pPr indent="0" marL="0">
              <a:buNone/>
            </a:pPr>
            <a:r>
              <a:rPr lang="en-US" sz="1350" b="1" dirty="0">
                <a:solidFill>
                  <a:schemeClr val="tx1"/>
                </a:solidFill>
              </a:rPr>
              <a:t>Rates move the total, not the score: </a:t>
            </a:r>
            <a:pPr indent="0" marL="0">
              <a:buNone/>
            </a:pPr>
            <a:r>
              <a:rPr lang="en-US" sz="1350" dirty="0">
                <a:solidFill>
                  <a:schemeClr val="tx1"/>
                </a:solidFill>
              </a:rPr>
              <a:t>board, trench and kiosk rates differ from the reference by 20–50 %. Refit them only after a second reference project — one bill is not enough.</a:t>
            </a:r>
            <a:endParaRPr lang="en-US" sz="135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68680"/>
          </a:xfrm>
          <a:prstGeom prst="rect">
            <a:avLst/>
          </a:prstGeom>
          <a:noFill/>
          <a:ln/>
        </p:spPr>
        <p:txBody>
          <a:bodyPr wrap="square" lIns="0" tIns="0" rIns="0" bIns="0" rtlCol="0" anchor="ctr"/>
          <a:lstStyle/>
          <a:p>
            <a:pPr algn="l" indent="0" marL="0">
              <a:buNone/>
            </a:pPr>
            <a:r>
              <a:rPr lang="en-US" sz="3200" b="1" dirty="0">
                <a:solidFill>
                  <a:schemeClr val="bg1"/>
                </a:solidFill>
              </a:rPr>
              <a:t>Conclusion: what to remember</a:t>
            </a:r>
            <a:endParaRPr lang="en-US" sz="3200" dirty="0"/>
          </a:p>
        </p:txBody>
      </p:sp>
      <p:sp>
        <p:nvSpPr>
          <p:cNvPr id="4" name="takeaway card 1"/>
          <p:cNvSpPr/>
          <p:nvPr/>
        </p:nvSpPr>
        <p:spPr>
          <a:xfrm>
            <a:off x="548640" y="1600200"/>
            <a:ext cx="5440680" cy="1828800"/>
          </a:xfrm>
          <a:prstGeom prst="roundRect">
            <a:avLst>
              <a:gd name="adj" fmla="val 6000"/>
            </a:avLst>
          </a:prstGeom>
          <a:solidFill>
            <a:schemeClr val="tx2"/>
          </a:solidFill>
          <a:ln w="12700">
            <a:solidFill>
              <a:srgbClr val="1E2B4F"/>
            </a:solidFill>
            <a:prstDash val="solid"/>
          </a:ln>
        </p:spPr>
      </p:sp>
      <p:sp>
        <p:nvSpPr>
          <p:cNvPr id="5" name="takeaway 1 circle"/>
          <p:cNvSpPr/>
          <p:nvPr/>
        </p:nvSpPr>
        <p:spPr>
          <a:xfrm>
            <a:off x="822960" y="1920240"/>
            <a:ext cx="777240" cy="777240"/>
          </a:xfrm>
          <a:prstGeom prst="ellipse">
            <a:avLst/>
          </a:prstGeom>
          <a:solidFill>
            <a:srgbClr val="F2A900"/>
          </a:solidFill>
          <a:ln w="12700">
            <a:solidFill>
              <a:srgbClr val="F2A900"/>
            </a:solidFill>
            <a:prstDash val="solid"/>
          </a:ln>
        </p:spPr>
      </p:sp>
      <p:pic>
        <p:nvPicPr>
          <p:cNvPr id="6" name="takeaway 1 icon" descr="preencoded.png">    </p:cNvPr>
          <p:cNvPicPr>
            <a:picLocks noChangeAspect="1"/>
          </p:cNvPicPr>
          <p:nvPr/>
        </p:nvPicPr>
        <p:blipFill>
          <a:blip r:embed="rId1"/>
          <a:stretch>
            <a:fillRect/>
          </a:stretch>
        </p:blipFill>
        <p:spPr>
          <a:xfrm>
            <a:off x="1025042" y="2122322"/>
            <a:ext cx="373075" cy="373075"/>
          </a:xfrm>
          <a:prstGeom prst="rect">
            <a:avLst/>
          </a:prstGeom>
        </p:spPr>
      </p:pic>
      <p:sp>
        <p:nvSpPr>
          <p:cNvPr id="7" name="takeaway title 1"/>
          <p:cNvSpPr txBox="1"/>
          <p:nvPr/>
        </p:nvSpPr>
        <p:spPr>
          <a:xfrm>
            <a:off x="1828800" y="1920240"/>
            <a:ext cx="3977640" cy="457200"/>
          </a:xfrm>
          <a:prstGeom prst="rect">
            <a:avLst/>
          </a:prstGeom>
          <a:noFill/>
          <a:ln/>
        </p:spPr>
        <p:txBody>
          <a:bodyPr wrap="square" lIns="0" tIns="0" rIns="0" bIns="0" rtlCol="0" anchor="t"/>
          <a:lstStyle/>
          <a:p>
            <a:pPr indent="0" marL="0">
              <a:buNone/>
            </a:pPr>
            <a:r>
              <a:rPr lang="en-US" sz="1900" b="1" dirty="0">
                <a:solidFill>
                  <a:schemeClr val="bg1"/>
                </a:solidFill>
              </a:rPr>
              <a:t>58.5 % of the real bill</a:t>
            </a:r>
            <a:endParaRPr lang="en-US" sz="1900" dirty="0"/>
          </a:p>
        </p:txBody>
      </p:sp>
      <p:sp>
        <p:nvSpPr>
          <p:cNvPr id="8" name="takeaway text 1"/>
          <p:cNvSpPr txBox="1"/>
          <p:nvPr/>
        </p:nvSpPr>
        <p:spPr>
          <a:xfrm>
            <a:off x="1828800" y="2423160"/>
            <a:ext cx="3977640" cy="1097280"/>
          </a:xfrm>
          <a:prstGeom prst="rect">
            <a:avLst/>
          </a:prstGeom>
          <a:noFill/>
          <a:ln/>
        </p:spPr>
        <p:txBody>
          <a:bodyPr wrap="square" lIns="0" tIns="0" rIns="0" bIns="0" rtlCol="0" anchor="t"/>
          <a:lstStyle/>
          <a:p>
            <a:pPr indent="0" marL="0">
              <a:buNone/>
            </a:pPr>
            <a:r>
              <a:rPr lang="en-US" sz="1400" dirty="0">
                <a:solidFill>
                  <a:srgbClr val="CADCFC"/>
                </a:solidFill>
              </a:rPr>
              <a:t>reproduced from the drawings alone today — 83 % of its value found, 89 % of what we price belongs</a:t>
            </a:r>
            <a:endParaRPr lang="en-US" sz="1400" dirty="0"/>
          </a:p>
        </p:txBody>
      </p:sp>
      <p:sp>
        <p:nvSpPr>
          <p:cNvPr id="9" name="takeaway card 2"/>
          <p:cNvSpPr/>
          <p:nvPr/>
        </p:nvSpPr>
        <p:spPr>
          <a:xfrm>
            <a:off x="6172200" y="1600200"/>
            <a:ext cx="5440680" cy="1828800"/>
          </a:xfrm>
          <a:prstGeom prst="roundRect">
            <a:avLst>
              <a:gd name="adj" fmla="val 6000"/>
            </a:avLst>
          </a:prstGeom>
          <a:solidFill>
            <a:schemeClr val="tx2"/>
          </a:solidFill>
          <a:ln w="12700">
            <a:solidFill>
              <a:srgbClr val="1E2B4F"/>
            </a:solidFill>
            <a:prstDash val="solid"/>
          </a:ln>
        </p:spPr>
      </p:sp>
      <p:sp>
        <p:nvSpPr>
          <p:cNvPr id="10" name="takeaway 2 circle"/>
          <p:cNvSpPr/>
          <p:nvPr/>
        </p:nvSpPr>
        <p:spPr>
          <a:xfrm>
            <a:off x="6446520" y="1920240"/>
            <a:ext cx="777240" cy="777240"/>
          </a:xfrm>
          <a:prstGeom prst="ellipse">
            <a:avLst/>
          </a:prstGeom>
          <a:solidFill>
            <a:srgbClr val="F2A900"/>
          </a:solidFill>
          <a:ln w="12700">
            <a:solidFill>
              <a:srgbClr val="F2A900"/>
            </a:solidFill>
            <a:prstDash val="solid"/>
          </a:ln>
        </p:spPr>
      </p:sp>
      <p:pic>
        <p:nvPicPr>
          <p:cNvPr id="11" name="takeaway 2 icon" descr="preencoded.png">    </p:cNvPr>
          <p:cNvPicPr>
            <a:picLocks noChangeAspect="1"/>
          </p:cNvPicPr>
          <p:nvPr/>
        </p:nvPicPr>
        <p:blipFill>
          <a:blip r:embed="rId2"/>
          <a:stretch>
            <a:fillRect/>
          </a:stretch>
        </p:blipFill>
        <p:spPr>
          <a:xfrm>
            <a:off x="6648602" y="2122322"/>
            <a:ext cx="373075" cy="373075"/>
          </a:xfrm>
          <a:prstGeom prst="rect">
            <a:avLst/>
          </a:prstGeom>
        </p:spPr>
      </p:pic>
      <p:sp>
        <p:nvSpPr>
          <p:cNvPr id="12" name="takeaway title 2"/>
          <p:cNvSpPr txBox="1"/>
          <p:nvPr/>
        </p:nvSpPr>
        <p:spPr>
          <a:xfrm>
            <a:off x="7452360" y="1920240"/>
            <a:ext cx="3977640" cy="457200"/>
          </a:xfrm>
          <a:prstGeom prst="rect">
            <a:avLst/>
          </a:prstGeom>
          <a:noFill/>
          <a:ln/>
        </p:spPr>
        <p:txBody>
          <a:bodyPr wrap="square" lIns="0" tIns="0" rIns="0" bIns="0" rtlCol="0" anchor="t"/>
          <a:lstStyle/>
          <a:p>
            <a:pPr indent="0" marL="0">
              <a:buNone/>
            </a:pPr>
            <a:r>
              <a:rPr lang="en-US" sz="1900" b="1" dirty="0">
                <a:solidFill>
                  <a:schemeClr val="bg1"/>
                </a:solidFill>
              </a:rPr>
              <a:t>A first draft, reviewed</a:t>
            </a:r>
            <a:endParaRPr lang="en-US" sz="1900" dirty="0"/>
          </a:p>
        </p:txBody>
      </p:sp>
      <p:sp>
        <p:nvSpPr>
          <p:cNvPr id="13" name="takeaway text 2"/>
          <p:cNvSpPr txBox="1"/>
          <p:nvPr/>
        </p:nvSpPr>
        <p:spPr>
          <a:xfrm>
            <a:off x="7452360" y="2423160"/>
            <a:ext cx="3977640" cy="1097280"/>
          </a:xfrm>
          <a:prstGeom prst="rect">
            <a:avLst/>
          </a:prstGeom>
          <a:noFill/>
          <a:ln/>
        </p:spPr>
        <p:txBody>
          <a:bodyPr wrap="square" lIns="0" tIns="0" rIns="0" bIns="0" rtlCol="0" anchor="t"/>
          <a:lstStyle/>
          <a:p>
            <a:pPr indent="0" marL="0">
              <a:buNone/>
            </a:pPr>
            <a:r>
              <a:rPr lang="en-US" sz="1400" dirty="0">
                <a:solidFill>
                  <a:srgbClr val="CADCFC"/>
                </a:solidFill>
              </a:rPr>
              <a:t>read “things to check” before you submit — every assumption is listed, most serious first</a:t>
            </a:r>
            <a:endParaRPr lang="en-US" sz="1400" dirty="0"/>
          </a:p>
        </p:txBody>
      </p:sp>
      <p:sp>
        <p:nvSpPr>
          <p:cNvPr id="14" name="takeaway card 3"/>
          <p:cNvSpPr/>
          <p:nvPr/>
        </p:nvSpPr>
        <p:spPr>
          <a:xfrm>
            <a:off x="548640" y="3703320"/>
            <a:ext cx="5440680" cy="1828800"/>
          </a:xfrm>
          <a:prstGeom prst="roundRect">
            <a:avLst>
              <a:gd name="adj" fmla="val 6000"/>
            </a:avLst>
          </a:prstGeom>
          <a:solidFill>
            <a:schemeClr val="tx2"/>
          </a:solidFill>
          <a:ln w="12700">
            <a:solidFill>
              <a:srgbClr val="1E2B4F"/>
            </a:solidFill>
            <a:prstDash val="solid"/>
          </a:ln>
        </p:spPr>
      </p:sp>
      <p:sp>
        <p:nvSpPr>
          <p:cNvPr id="15" name="takeaway 3 circle"/>
          <p:cNvSpPr/>
          <p:nvPr/>
        </p:nvSpPr>
        <p:spPr>
          <a:xfrm>
            <a:off x="822960" y="4023360"/>
            <a:ext cx="777240" cy="777240"/>
          </a:xfrm>
          <a:prstGeom prst="ellipse">
            <a:avLst/>
          </a:prstGeom>
          <a:solidFill>
            <a:srgbClr val="F2A900"/>
          </a:solidFill>
          <a:ln w="12700">
            <a:solidFill>
              <a:srgbClr val="F2A900"/>
            </a:solidFill>
            <a:prstDash val="solid"/>
          </a:ln>
        </p:spPr>
      </p:sp>
      <p:pic>
        <p:nvPicPr>
          <p:cNvPr id="16" name="takeaway 3 icon" descr="preencoded.png">    </p:cNvPr>
          <p:cNvPicPr>
            <a:picLocks noChangeAspect="1"/>
          </p:cNvPicPr>
          <p:nvPr/>
        </p:nvPicPr>
        <p:blipFill>
          <a:blip r:embed="rId3"/>
          <a:stretch>
            <a:fillRect/>
          </a:stretch>
        </p:blipFill>
        <p:spPr>
          <a:xfrm>
            <a:off x="1025042" y="4225442"/>
            <a:ext cx="373075" cy="373075"/>
          </a:xfrm>
          <a:prstGeom prst="rect">
            <a:avLst/>
          </a:prstGeom>
        </p:spPr>
      </p:pic>
      <p:sp>
        <p:nvSpPr>
          <p:cNvPr id="17" name="takeaway title 3"/>
          <p:cNvSpPr txBox="1"/>
          <p:nvPr/>
        </p:nvSpPr>
        <p:spPr>
          <a:xfrm>
            <a:off x="1828800" y="4023360"/>
            <a:ext cx="3977640" cy="457200"/>
          </a:xfrm>
          <a:prstGeom prst="rect">
            <a:avLst/>
          </a:prstGeom>
          <a:noFill/>
          <a:ln/>
        </p:spPr>
        <p:txBody>
          <a:bodyPr wrap="square" lIns="0" tIns="0" rIns="0" bIns="0" rtlCol="0" anchor="t"/>
          <a:lstStyle/>
          <a:p>
            <a:pPr indent="0" marL="0">
              <a:buNone/>
            </a:pPr>
            <a:r>
              <a:rPr lang="en-US" sz="1900" b="1" dirty="0">
                <a:solidFill>
                  <a:schemeClr val="bg1"/>
                </a:solidFill>
              </a:rPr>
              <a:t>Use the right workflow</a:t>
            </a:r>
            <a:endParaRPr lang="en-US" sz="1900" dirty="0"/>
          </a:p>
        </p:txBody>
      </p:sp>
      <p:sp>
        <p:nvSpPr>
          <p:cNvPr id="18" name="takeaway text 3"/>
          <p:cNvSpPr txBox="1"/>
          <p:nvPr/>
        </p:nvSpPr>
        <p:spPr>
          <a:xfrm>
            <a:off x="1828800" y="4526280"/>
            <a:ext cx="3977640" cy="1097280"/>
          </a:xfrm>
          <a:prstGeom prst="rect">
            <a:avLst/>
          </a:prstGeom>
          <a:noFill/>
          <a:ln/>
        </p:spPr>
        <p:txBody>
          <a:bodyPr wrap="square" lIns="0" tIns="0" rIns="0" bIns="0" rtlCol="0" anchor="t"/>
          <a:lstStyle/>
          <a:p>
            <a:pPr indent="0" marL="0">
              <a:buNone/>
            </a:pPr>
            <a:r>
              <a:rPr lang="en-US" sz="1400" dirty="0">
                <a:solidFill>
                  <a:srgbClr val="CADCFC"/>
                </a:solidFill>
              </a:rPr>
              <a:t>DOE in Claude Code for your own estimates (best score, no API bill); the web app for DWG/DXF jobs and demos</a:t>
            </a:r>
            <a:endParaRPr lang="en-US" sz="1400" dirty="0"/>
          </a:p>
        </p:txBody>
      </p:sp>
      <p:sp>
        <p:nvSpPr>
          <p:cNvPr id="19" name="takeaway card 4"/>
          <p:cNvSpPr/>
          <p:nvPr/>
        </p:nvSpPr>
        <p:spPr>
          <a:xfrm>
            <a:off x="6172200" y="3703320"/>
            <a:ext cx="5440680" cy="1828800"/>
          </a:xfrm>
          <a:prstGeom prst="roundRect">
            <a:avLst>
              <a:gd name="adj" fmla="val 6000"/>
            </a:avLst>
          </a:prstGeom>
          <a:solidFill>
            <a:schemeClr val="tx2"/>
          </a:solidFill>
          <a:ln w="12700">
            <a:solidFill>
              <a:srgbClr val="1E2B4F"/>
            </a:solidFill>
            <a:prstDash val="solid"/>
          </a:ln>
        </p:spPr>
      </p:sp>
      <p:sp>
        <p:nvSpPr>
          <p:cNvPr id="20" name="takeaway 4 circle"/>
          <p:cNvSpPr/>
          <p:nvPr/>
        </p:nvSpPr>
        <p:spPr>
          <a:xfrm>
            <a:off x="6446520" y="4023360"/>
            <a:ext cx="777240" cy="777240"/>
          </a:xfrm>
          <a:prstGeom prst="ellipse">
            <a:avLst/>
          </a:prstGeom>
          <a:solidFill>
            <a:srgbClr val="F2A900"/>
          </a:solidFill>
          <a:ln w="12700">
            <a:solidFill>
              <a:srgbClr val="F2A900"/>
            </a:solidFill>
            <a:prstDash val="solid"/>
          </a:ln>
        </p:spPr>
      </p:sp>
      <p:pic>
        <p:nvPicPr>
          <p:cNvPr id="21" name="takeaway 4 icon" descr="preencoded.png">    </p:cNvPr>
          <p:cNvPicPr>
            <a:picLocks noChangeAspect="1"/>
          </p:cNvPicPr>
          <p:nvPr/>
        </p:nvPicPr>
        <p:blipFill>
          <a:blip r:embed="rId4"/>
          <a:stretch>
            <a:fillRect/>
          </a:stretch>
        </p:blipFill>
        <p:spPr>
          <a:xfrm>
            <a:off x="6648602" y="4225442"/>
            <a:ext cx="373075" cy="373075"/>
          </a:xfrm>
          <a:prstGeom prst="rect">
            <a:avLst/>
          </a:prstGeom>
        </p:spPr>
      </p:pic>
      <p:sp>
        <p:nvSpPr>
          <p:cNvPr id="22" name="takeaway title 4"/>
          <p:cNvSpPr txBox="1"/>
          <p:nvPr/>
        </p:nvSpPr>
        <p:spPr>
          <a:xfrm>
            <a:off x="7452360" y="4023360"/>
            <a:ext cx="3977640" cy="457200"/>
          </a:xfrm>
          <a:prstGeom prst="rect">
            <a:avLst/>
          </a:prstGeom>
          <a:noFill/>
          <a:ln/>
        </p:spPr>
        <p:txBody>
          <a:bodyPr wrap="square" lIns="0" tIns="0" rIns="0" bIns="0" rtlCol="0" anchor="t"/>
          <a:lstStyle/>
          <a:p>
            <a:pPr indent="0" marL="0">
              <a:buNone/>
            </a:pPr>
            <a:r>
              <a:rPr lang="en-US" sz="1900" b="1" dirty="0">
                <a:solidFill>
                  <a:schemeClr val="bg1"/>
                </a:solidFill>
              </a:rPr>
              <a:t>Next: feeders, material, a 2nd project</a:t>
            </a:r>
            <a:endParaRPr lang="en-US" sz="1900" dirty="0"/>
          </a:p>
        </p:txBody>
      </p:sp>
      <p:sp>
        <p:nvSpPr>
          <p:cNvPr id="23" name="takeaway text 4"/>
          <p:cNvSpPr txBox="1"/>
          <p:nvPr/>
        </p:nvSpPr>
        <p:spPr>
          <a:xfrm>
            <a:off x="7452360" y="4526280"/>
            <a:ext cx="3977640" cy="1097280"/>
          </a:xfrm>
          <a:prstGeom prst="rect">
            <a:avLst/>
          </a:prstGeom>
          <a:noFill/>
          <a:ln/>
        </p:spPr>
        <p:txBody>
          <a:bodyPr wrap="square" lIns="0" tIns="0" rIns="0" bIns="0" rtlCol="0" anchor="t"/>
          <a:lstStyle/>
          <a:p>
            <a:pPr indent="0" marL="0">
              <a:buNone/>
            </a:pPr>
            <a:r>
              <a:rPr lang="en-US" sz="1400" dirty="0">
                <a:solidFill>
                  <a:srgbClr val="CADCFC"/>
                </a:solidFill>
              </a:rPr>
              <a:t>close the ≈ 19-point feeder gap, add installation material, then prove it on a second real project</a:t>
            </a:r>
            <a:endParaRPr lang="en-US" sz="1400" dirty="0"/>
          </a:p>
        </p:txBody>
      </p:sp>
      <p:sp>
        <p:nvSpPr>
          <p:cNvPr id="24" name="closing pointers"/>
          <p:cNvSpPr txBox="1"/>
          <p:nvPr/>
        </p:nvSpPr>
        <p:spPr>
          <a:xfrm>
            <a:off x="548640" y="6263640"/>
            <a:ext cx="11064240" cy="320040"/>
          </a:xfrm>
          <a:prstGeom prst="rect">
            <a:avLst/>
          </a:prstGeom>
          <a:noFill/>
          <a:ln/>
        </p:spPr>
        <p:txBody>
          <a:bodyPr wrap="square" lIns="0" tIns="0" rIns="0" bIns="0" rtlCol="0" anchor="t"/>
          <a:lstStyle/>
          <a:p>
            <a:pPr indent="0" marL="0">
              <a:buNone/>
            </a:pPr>
            <a:r>
              <a:rPr lang="en-US" sz="1100" dirty="0">
                <a:solidFill>
                  <a:schemeClr val="accent6"/>
                </a:solidFill>
              </a:rPr>
              <a:t>Metric details: docs/accuracy-metrics.md  ·  research: reports/SA electrical BoQ estimation problem.md</a:t>
            </a:r>
            <a:endParaRPr lang="en-US" sz="1100" dirty="0"/>
          </a:p>
        </p:txBody>
      </p:sp>
    </p:spTree>
  </p:cSld>
  <p:clrMapOvr>
    <a:masterClrMapping/>
  </p:clrMapOvr>
</p:sld>
</file>

<file path=ppt/theme/theme1.xml><?xml version="1.0" encoding="utf-8"?>
<a:theme xmlns:a="http://schemas.openxmlformats.org/drawingml/2006/main" name="AfriPlan Electrical">
  <a:themeElements>
    <a:clrScheme name="AfriPlan Electrical">
      <a:dk1>
        <a:srgbClr val="101A33"/>
      </a:dk1>
      <a:lt1>
        <a:srgbClr val="FFFFFF"/>
      </a:lt1>
      <a:dk2>
        <a:srgbClr val="1E2B4F"/>
      </a:dk2>
      <a:lt2>
        <a:srgbClr val="F2F4F9"/>
      </a:lt2>
      <a:accent1>
        <a:srgbClr val="2E5BE8"/>
      </a:accent1>
      <a:accent2>
        <a:srgbClr val="F2A900"/>
      </a:accent2>
      <a:accent3>
        <a:srgbClr val="0F8A5F"/>
      </a:accent3>
      <a:accent4>
        <a:srgbClr val="C6423C"/>
      </a:accent4>
      <a:accent5>
        <a:srgbClr val="0E9BB8"/>
      </a:accent5>
      <a:accent6>
        <a:srgbClr val="8A93AB"/>
      </a:accent6>
      <a:hlink>
        <a:srgbClr val="2E5BE8"/>
      </a:hlink>
      <a:folHlink>
        <a:srgbClr val="1B3FB8"/>
      </a:folHlink>
    </a:clrScheme>
    <a:fontScheme name="AfriPlan Electr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AfriPlan Electrical — user guide</dc:title>
  <dc:subject>PptxGenJS Presentation</dc:subject>
  <dc:creator>JLWanalytics</dc:creator>
  <cp:lastModifiedBy>JLWanalytics</cp:lastModifiedBy>
  <cp:revision>1</cp:revision>
  <dcterms:created xsi:type="dcterms:W3CDTF">2026-10-05T17:52:54Z</dcterms:created>
  <dcterms:modified xsi:type="dcterms:W3CDTF">2026-10-05T17:52:54Z</dcterms:modified>
</cp:coreProperties>
</file>