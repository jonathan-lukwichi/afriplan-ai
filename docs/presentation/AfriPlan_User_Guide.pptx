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818c509-358f-a412-fa03-703dd3f202d6}">
          <p14:sldIdLst>
            <p14:sldId id="256"/>
          </p14:sldIdLst>
        </p14:section>
        <p14:section name="The problem" id="{7b866622-99dc-cd69-6948-fe1356cb33b4}">
          <p14:sldIdLst>
            <p14:sldId id="257"/>
          </p14:sldIdLst>
        </p14:section>
        <p14:section name="How AfriPlan works" id="{c26a03f0-7e46-c5a3-fbc6-ec08aab1e13f}">
          <p14:sldIdLst>
            <p14:sldId id="258"/>
            <p14:sldId id="259"/>
            <p14:sldId id="260"/>
            <p14:sldId id="261"/>
          </p14:sldIdLst>
        </p14:section>
        <p14:section name="Using the web app" id="{1fbfa034-9368-f383-0481-4b5b6f65dc76}">
          <p14:sldIdLst>
            <p14:sldId id="262"/>
            <p14:sldId id="263"/>
            <p14:sldId id="264"/>
            <p14:sldId id="265"/>
            <p14:sldId id="266"/>
          </p14:sldIdLst>
        </p14:section>
        <p14:section name="The AI Operating System" id="{eded9c7b-5ce3-c0c7-9171-495925ee7ae2}">
          <p14:sldIdLst>
            <p14:sldId id="267"/>
            <p14:sldId id="268"/>
            <p14:sldId id="269"/>
          </p14:sldIdLst>
        </p14:section>
        <p14:section name="How accurate is it" id="{a2339cce-b311-d959-92da-b6b84d5cc756}">
          <p14:sldIdLst>
            <p14:sldId id="270"/>
            <p14:sldId id="271"/>
            <p14:sldId id="272"/>
          </p14:sldIdLst>
        </p14:section>
        <p14:section name="Value for consulting engineers" id="{6b6d2a3a-ee7c-dcf6-e4a9-268a8ed2363e}">
          <p14:sldIdLst>
            <p14:sldId id="273"/>
            <p14:sldId id="274"/>
          </p14:sldIdLst>
        </p14:section>
        <p14:section name="Conclusion" id="{82d27a68-26f1-0fce-3769-6cd542d60028}">
          <p14:sldIdLst>
            <p14:sldId id="275"/>
          </p14:sldIdLst>
        </p14:section>
        <p14:section name="References" id="{2da7b0c4-50f6-90d6-d6b6-381bd1e5b68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51A"/>
                </a:solidFill>
                <a:latin typeface="+mn-lt"/>
              </a:defRPr>
            </a:pPr>
            <a:r>
              <a:rPr sz="1400" b="0" i="0" u="none" strike="noStrike">
                <a:solidFill>
                  <a:srgbClr val="14151A"/>
                </a:solidFill>
                <a:latin typeface="+mn-lt"/>
              </a:rPr>
              <a:t>Reading accuracy by reader (%)</a:t>
            </a:r>
          </a:p>
        </c:rich>
      </c:tx>
      <c:layout/>
      <c:overlay val="0"/>
    </c:title>
    <c:autoTitleDeleted val="0"/>
    <c:plotArea>
      <c:layout/>
      <c:barChart>
        <c:barDir val="col"/>
        <c:grouping val="clustered"/>
        <c:varyColors val="0"/>
        <c:ser>
          <c:idx val="0"/>
          <c:order val="0"/>
          <c:tx>
            <c:strRef>
              <c:f>Sheet1!$B$1</c:f>
              <c:strCache>
                <c:ptCount val="1"/>
                <c:pt idx="0">
                  <c:v>Reading score</c:v>
                </c:pt>
              </c:strCache>
            </c:strRef>
          </c:tx>
          <c:spPr>
            <a:solidFill>
              <a:srgbClr val="C9A15A"/>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Sheet1!$B$2:$B$4</c:f>
              <c:numCache>
                <c:formatCode>General</c:formatCode>
                <c:ptCount val="3"/>
                <c:pt idx="0">
                  <c:v>53.2</c:v>
                </c:pt>
                <c:pt idx="1">
                  <c:v>59.7</c:v>
                </c:pt>
                <c:pt idx="2">
                  <c:v>67.5</c:v>
                </c:pt>
              </c:numCache>
            </c:numRef>
          </c:val>
        </c:ser>
        <c:ser>
          <c:idx val="1"/>
          <c:order val="1"/>
          <c:tx>
            <c:strRef>
              <c:f>Sheet1!$C$1</c:f>
              <c:strCache>
                <c:ptCount val="1"/>
                <c:pt idx="0">
                  <c:v>Coverage</c:v>
                </c:pt>
              </c:strCache>
            </c:strRef>
          </c:tx>
          <c:spPr>
            <a:solidFill>
              <a:srgbClr val="8E1B1B"/>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Sheet1!$C$2:$C$4</c:f>
              <c:numCache>
                <c:formatCode>General</c:formatCode>
                <c:ptCount val="3"/>
                <c:pt idx="0">
                  <c:v>68.8</c:v>
                </c:pt>
                <c:pt idx="1">
                  <c:v>97.6</c:v>
                </c:pt>
                <c:pt idx="2">
                  <c:v>93.2</c:v>
                </c:pt>
              </c:numCache>
            </c:numRef>
          </c:val>
        </c:ser>
        <c:ser>
          <c:idx val="2"/>
          <c:order val="2"/>
          <c:tx>
            <c:strRef>
              <c:f>Sheet1!$D$1</c:f>
              <c:strCache>
                <c:ptCount val="1"/>
                <c:pt idx="0">
                  <c:v>Quantity accuracy</c:v>
                </c:pt>
              </c:strCache>
            </c:strRef>
          </c:tx>
          <c:spPr>
            <a:solidFill>
              <a:srgbClr val="2C2D33"/>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Sheet1!$D$2:$D$4</c:f>
              <c:numCache>
                <c:formatCode>General</c:formatCode>
                <c:ptCount val="3"/>
                <c:pt idx="0">
                  <c:v>77.4</c:v>
                </c:pt>
                <c:pt idx="1">
                  <c:v>61.2</c:v>
                </c:pt>
                <c:pt idx="2">
                  <c:v>72.4</c:v>
                </c:pt>
              </c:numCache>
            </c:numRef>
          </c:val>
        </c:ser>
        <c:ser>
          <c:idx val="3"/>
          <c:order val="3"/>
          <c:tx>
            <c:strRef>
              <c:f>Sheet1!$E$1</c:f>
              <c:strCache>
                <c:ptCount val="1"/>
                <c:pt idx="0">
                  <c:v>Item precision</c:v>
                </c:pt>
              </c:strCache>
            </c:strRef>
          </c:tx>
          <c:spPr>
            <a:solidFill>
              <a:srgbClr val="8B8781"/>
            </a:solidFill>
            <a:effectLst/>
          </c:spPr>
          <c:invertIfNegative val="0"/>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Sheet1!$E$2:$E$4</c:f>
              <c:numCache>
                <c:formatCode>General</c:formatCode>
                <c:ptCount val="3"/>
                <c:pt idx="0">
                  <c:v>71.4</c:v>
                </c:pt>
                <c:pt idx="1">
                  <c:v>79.2</c:v>
                </c:pt>
                <c:pt idx="2">
                  <c:v>70.4</c:v>
                </c:pt>
              </c:numCache>
            </c:numRef>
          </c:val>
        </c:ser>
        <c:dLbls>
          <c:numFmt formatCode="0.0" sourceLinked="0"/>
          <c:txPr>
            <a:bodyPr/>
            <a:lstStyle/>
            <a:p>
              <a:pPr>
                <a:defRPr b="0" i="0" strike="noStrike" sz="1000" u="none">
                  <a:solidFill>
                    <a:srgbClr val="1415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151A"/>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415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guide covers how to use the web app and the AI Operating System (a code editor with an AI brain and skills), what it is worth and how accurate it is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give AfriPlan the drawings you already have: a PDF set, the CAD set (DWG or DXF), or both — and, if you want, an existing bill of quantities to audit. AfriPlan reads the drawings, checks what it read, and prices it once at South African rates. You get a priced bill as a tender-ready Excel and PDF, a list of things to check sorted by how serious they are, and — when you upload both kinds of drawing — a comparison of the two readers. In the AI Operating System, when a real priced bill exists for the project, you also get an accuracy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model as its eyes (through an AI API, or the AI brain on a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web app every task has its own specialist. Red boxes are AI agents, each specialised in one job: sorting the drawing pages, reading the project's title blocks and legend, reading the single-line diagrams (each diagram is read three times and the answers are compared), counting the lighting and plug layouts, re-reading a page with a stronger AI model when an answer fails the checks, naming unnamed CAD symbols from the legend, reading supplier quote emails into prices, and writing the cover email when you send the BoQ to a client. Grey boxes are the AfriPlan Engine: it prepares the pages, measures the CAD drawings, checks every AI answer, then counts, measures and prices once at South African rates. The AI agents read and write; the Engine counts, checks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carries one of six labels, the same words in the app, the Excel and the PDF. From the drawing: counted or read off the drawings. Worked out: calculated from the drawings, for example a cable route measured on the site plan plus allowances. Guessed – check: not on the drawings, so a standard value was used — check these first. Allowance: a provisional sum. Rough estimate – check: estimated from other items. Price you chose: a price you changed, for example a supplier's quote. The 'things to check' list is sorted MUST FIX, MUST CHECK, SHOULD CHECK, FOR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runs online at https://afriplan.onrender.com — nothing to install, any browser. Click Sign in: the demo login is pre-filled. Upload a DWG/DXF set (free, about one to two minutes) or PDF drawings (choose the paid AI model, most accurate, or the free AI model, with a daily limit). Read the gaps on the Take-off page, then open the BoQ and export the Excel and PDF tender document. Everyone shares one demo account, so use sample or non-confidential drawings; send client drawings to the AfriPlan team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https://afriplan.onrender.com. 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the paid AI model costs about R2.50 a page and about 5 minutes for 18 pages; the free AI model is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the free AI model's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AI Operating System runs in a code editor (IDE) with an AI brain: point it at a project folder and the AI brain reads the PDF pages on a subscription, so there is no per-page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project in your code editor (IDE) and tell the AI brain: estimate the project in your folder. Step 1 and step 3 are the AfriPlan Engine: it prepares every page and, at the end, checks every reading, combines the PDF and CAD readers and prices once. Only step 2 uses the AI brain, on a subscription. The result lands in AfriPlan_Output inside the project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AI Operating System you talk to one AI brain in your code editor. Its estimating skill makes it a specialist reader: it sorts every page, reads the project's title blocks and legend, reads the single-line diagrams and counts the layouts, writing one strict form per page. When the project is finished, two more AI agents join: one specialised in naming unnamed CAD symbols, and one specialised in matching names — it decides when the PDF and the CAD drawings call the same board or fitting by different names. Other skills make the AI brain a specialist in auditing a BoQ, in measuring accuracy against a real bill and in adding a reference project. The AfriPlan Engine prepares the pages before, and checks, combines and prices after. The AI reads and decides; the Engine counts, checks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score on the reference project, judged on the 69 percent of the bill's value that is counted or measured on the drawings: the CAD reader alone 53.2 percent, the PDF reader alone 59.7 percent, and the delivered bill, which combines both, 67.5 percent. The combined bill read 93 percent of that value at all; its quantities are 72 percent accurate where read; 70 percent of the items it read are in the real bill. Left out as not reading: 29 percent of the bill is derived material and 1.6 percent allowances.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of the accuracy work so far. Proven: AfriPlan reads single-line diagrams correctly — all 13 boards and all 13 feeder sizes, identical in the PDF and CAD versions — and a person checked a 20-item sample of the drawing reading: 19 correct, none wrong, one left blank. Every bill line carries its source. Not proven yet: counting symbols on layout sheets (sockets and switches came out 1.6 to 4 times too many), cable lengths and site-plan items such as sleeves and manholes, and any project other than Wedela. Not judged yet: derived material, about 29 percent of the bill's value, and pricing. Verdict: a traceable first draft that an estimator reviews — ready for pilots, not yet for an unchecked tender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Every real project with its drawings and its priced bill improves AfriPlan in four ways: it becomes a test that every future fix is re-checked against; it shows new symbol variants, which are learned once and shared; it calibrates the rules for derived material such as wire per point and trench per metre; and it shows whether the reader generalises beyond one project. Target: five real projects from at least three consulting firms, each with the PDF and DWG drawings, the priced bill and a 20-item check by a person. Pilot partners can provide them in exchange for a reduced price. In pilots, every correction an estimator makes is saved — drawing facts for everyone, preferences for that company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Wedela reference project: 7 buildings, 18 PDF pages and 17 electrical CAD files. A DWG/DXF set becomes a draft BoQ in about one to two minutes; the paid AI model reads the 18 PDF pages in about five minutes at roughly R2.50 a page; the DWG reader and the free AI model cost nothing. On this one drawing set AfriPlan flagged seven inconsistencies a consultant would want fixed before issue: two boards named differently on layouts and single-line diagrams, two places where the printed quantity table and the drawn switches disagree, a board fed from different boards on the site plan and the single-line diagram, reused labels, and light symbols missing from the legend. As a bill audit it found seven places where the priced bill differs from the drawings. Every bill line carries its source. Three uses for a consulting engineer: check your own drawing set before issue, produce the tender BoQ from your drawings, and audit contractors' priced bills at tender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not a measurement. Peer-reviewed research on 14 public tenders found that preparing a tender costs between 0.05 and 0.65 percent of its value, 0.33 percent on average — a small sample from Ghana, so treat it as an order of magnitude. On a R10 million electrical package that is about R33,000 of preparation. Every 10 percent of that effort AfriPlan saves is worth about R3,300 per tender, or about R13,200 a month for a firm pricing four such tenders a month. AfriPlan's own cost on the same tender is about R45 to read 18 PDF pages with the paid AI model, nothing for DWG. For comparison, PDF take-off software costs about R4,650 to R10,560 per user per year and AI take-off software about R5,350 per user per month. Replace the tender value, the number of tenders and the share of time saved with your own figures: no study measures South African electrical take-off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reads the core of an electrical bill reliably: every board and every feeder size on the single-line diagrams of the reference project was read correctly, and the PDF and CAD versions agree. Its reading score today is 67.5 percent against a real bill that itself differs from the drawings in places. Every line says where it comes from, so it is a fast, honest first draft that an estimator reviews. A person confirmed 19 of 19 checked items of the drawing reading. Next: fix the known reader gaps with an electrical engineer, collect five real projects from at least three consulting firms, then check pricing against the AACE Class 1 range. Try it at https://afriplan.onrender.com.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846320"/>
            <a:ext cx="8686800" cy="82296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640080" y="5669280"/>
            <a:ext cx="8686800" cy="411480"/>
          </a:xfrm>
          <a:prstGeom prst="rect">
            <a:avLst/>
          </a:prstGeom>
          <a:noFill/>
          <a:ln/>
        </p:spPr>
        <p:txBody>
          <a:bodyPr wrap="square" rtlCol="0"/>
          <a:lstStyle>
            <a:lvl1pPr indent="0" marL="0">
              <a:buNone/>
              <a:defRPr lang="en-US" sz="1700" dirty="0">
                <a:solidFill>
                  <a:schemeClr val="bg1"/>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Shape 0"/>
          <p:cNvSpPr/>
          <p:nvPr/>
        </p:nvSpPr>
        <p:spPr>
          <a:xfrm>
            <a:off x="548640" y="6382512"/>
            <a:ext cx="11091672" cy="0"/>
          </a:xfrm>
          <a:prstGeom prst="line">
            <a:avLst/>
          </a:prstGeom>
          <a:noFill/>
          <a:ln w="9525">
            <a:solidFill>
              <a:srgbClr val="D8D3CB"/>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9509760" cy="777240"/>
          </a:xfrm>
          <a:prstGeom prst="rect">
            <a:avLst/>
          </a:prstGeom>
          <a:noFill/>
          <a:ln/>
        </p:spPr>
        <p:txBody>
          <a:bodyPr wrap="square" rtlCol="0"/>
          <a:lstStyle>
            <a:lvl1pPr algn="l" indent="0" marL="0">
              <a:buNone/>
              <a:defRPr lang="en-US" sz="3000" b="1" dirty="0">
                <a:solidFill>
                  <a:schemeClr val="bg2"/>
                </a:solidFill>
              </a:defRPr>
            </a:lvl1pPr>
          </a:lstStyle>
          <a:p>
            <a:pPr algn="l" indent="0" marL="0">
              <a:buNone/>
            </a:pPr>
            <a:endParaRPr lang="en-US" sz="3000" dirty="0"/>
          </a:p>
        </p:txBody>
      </p:sp>
      <p:sp>
        <p:nvSpPr>
          <p:cNvPr id="3" name="Shape 0"/>
          <p:cNvSpPr/>
          <p:nvPr/>
        </p:nvSpPr>
        <p:spPr>
          <a:xfrm>
            <a:off x="548640" y="6382512"/>
            <a:ext cx="11091672" cy="0"/>
          </a:xfrm>
          <a:prstGeom prst="line">
            <a:avLst/>
          </a:prstGeom>
          <a:noFill/>
          <a:ln w="9525">
            <a:solidFill>
              <a:srgbClr val="2C2D33"/>
            </a:solidFill>
            <a:prstDash val="solid"/>
          </a:ln>
        </p:spPr>
      </p:sp>
      <p:sp>
        <p:nvSpPr>
          <p:cNvPr id="4"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800" dirty="0">
                <a:solidFill>
                  <a:schemeClr val="accent6"/>
                </a:solidFill>
                <a:latin typeface="Consolas" pitchFamily="34" charset="0"/>
                <a:ea typeface="Consolas" pitchFamily="34" charset="-122"/>
                <a:cs typeface="Consolas" pitchFamily="34" charset="-120"/>
              </a:rPr>
              <a:t>A F R I P L A N   E L E C T R I C A L   ·   U S E R   G U I D E</a:t>
            </a:r>
            <a:endParaRPr lang="en-US" sz="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afriplan.onrender.com" TargetMode="Externa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3.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afriplan.onrender.com" TargetMode="Externa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9" Type="http://schemas.openxmlformats.org/officeDocument/2006/relationships/hyperlink" Target="https://afriplan.onrender.com"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nd slant"/>
          <p:cNvSpPr/>
          <p:nvPr/>
        </p:nvSpPr>
        <p:spPr>
          <a:xfrm flipH="1">
            <a:off x="0" y="3611880"/>
            <a:ext cx="12191695" cy="1143000"/>
          </a:xfrm>
          <a:prstGeom prst="rtTriangle">
            <a:avLst/>
          </a:prstGeom>
          <a:solidFill>
            <a:srgbClr val="8E1B1B"/>
          </a:solidFill>
          <a:ln w="12700">
            <a:solidFill>
              <a:srgbClr val="8E1B1B"/>
            </a:solidFill>
            <a:prstDash val="solid"/>
          </a:ln>
        </p:spPr>
      </p:sp>
      <p:sp>
        <p:nvSpPr>
          <p:cNvPr id="3" name="band"/>
          <p:cNvSpPr/>
          <p:nvPr/>
        </p:nvSpPr>
        <p:spPr>
          <a:xfrm>
            <a:off x="0" y="4754880"/>
            <a:ext cx="12191695" cy="2103120"/>
          </a:xfrm>
          <a:prstGeom prst="rect">
            <a:avLst/>
          </a:prstGeom>
          <a:solidFill>
            <a:srgbClr val="8E1B1B"/>
          </a:solidFill>
          <a:ln w="12700">
            <a:solidFill>
              <a:srgbClr val="8E1B1B"/>
            </a:solidFill>
            <a:prstDash val="solid"/>
          </a:ln>
        </p:spPr>
      </p:sp>
      <p:sp>
        <p:nvSpPr>
          <p:cNvPr id="4" name="kicker"/>
          <p:cNvSpPr txBox="1"/>
          <p:nvPr/>
        </p:nvSpPr>
        <p:spPr>
          <a:xfrm>
            <a:off x="548640" y="548640"/>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ELECTRICAL BOQ  ·  AI TAKE-OFF  ·  SOUTH AFRICA</a:t>
            </a:r>
            <a:endParaRPr lang="en-US" sz="950" dirty="0"/>
          </a:p>
        </p:txBody>
      </p:sp>
      <p:sp>
        <p:nvSpPr>
          <p:cNvPr id="5" name="Text 0"/>
          <p:cNvSpPr/>
          <p:nvPr>
            <p:ph idx="100" type="title" hasCustomPrompt="1"/>
          </p:nvPr>
        </p:nvSpPr>
        <p:spPr>
          <a:xfrm>
            <a:off x="640080" y="4846320"/>
            <a:ext cx="8686800" cy="822960"/>
          </a:xfrm>
          <a:prstGeom prst="rect">
            <a:avLst/>
          </a:prstGeom>
          <a:noFill/>
          <a:ln/>
        </p:spPr>
        <p:txBody>
          <a:bodyPr wrap="square" lIns="0" tIns="0" rIns="0" bIns="0" rtlCol="0" anchor="ctr"/>
          <a:lstStyle/>
          <a:p>
            <a:pPr algn="l" indent="0" marL="0">
              <a:buNone/>
            </a:pPr>
            <a:r>
              <a:rPr lang="en-US" sz="4400" b="1" dirty="0">
                <a:solidFill>
                  <a:schemeClr val="bg2"/>
                </a:solidFill>
              </a:rPr>
              <a:t>AfriPlan Electrical</a:t>
            </a:r>
            <a:endParaRPr lang="en-US" sz="4400" dirty="0"/>
          </a:p>
        </p:txBody>
      </p:sp>
      <p:sp>
        <p:nvSpPr>
          <p:cNvPr id="6" name="Text 0"/>
          <p:cNvSpPr/>
          <p:nvPr>
            <p:ph idx="101" type="body" hasCustomPrompt="1"/>
          </p:nvPr>
        </p:nvSpPr>
        <p:spPr>
          <a:xfrm>
            <a:off x="640080" y="5669280"/>
            <a:ext cx="8686800" cy="411480"/>
          </a:xfrm>
          <a:prstGeom prst="rect">
            <a:avLst/>
          </a:prstGeom>
          <a:noFill/>
          <a:ln/>
        </p:spPr>
        <p:txBody>
          <a:bodyPr wrap="square" lIns="0" tIns="0" rIns="0" bIns="0" rtlCol="0" anchor="t"/>
          <a:lstStyle/>
          <a:p>
            <a:pPr indent="0" marL="0">
              <a:buNone/>
            </a:pPr>
            <a:r>
              <a:rPr lang="en-US" sz="1700" dirty="0">
                <a:solidFill>
                  <a:schemeClr val="bg1"/>
                </a:solidFill>
              </a:rPr>
              <a:t>Drawings in, priced Bill of Quantities out — a user guide</a:t>
            </a:r>
            <a:endParaRPr lang="en-US" sz="1700" dirty="0"/>
          </a:p>
        </p:txBody>
      </p:sp>
      <p:sp>
        <p:nvSpPr>
          <p:cNvPr id="7" name="audience"/>
          <p:cNvSpPr txBox="1"/>
          <p:nvPr/>
        </p:nvSpPr>
        <p:spPr>
          <a:xfrm>
            <a:off x="640080" y="6263640"/>
            <a:ext cx="10058400" cy="274320"/>
          </a:xfrm>
          <a:prstGeom prst="rect">
            <a:avLst/>
          </a:prstGeom>
          <a:noFill/>
          <a:ln/>
        </p:spPr>
        <p:txBody>
          <a:bodyPr wrap="square" lIns="0" tIns="0" rIns="0" bIns="0" rtlCol="0" anchor="t"/>
          <a:lstStyle/>
          <a:p>
            <a:pPr indent="0" marL="0">
              <a:buNone/>
            </a:pPr>
            <a:r>
              <a:rPr lang="en-US" sz="900" spc="200" kern="0" dirty="0">
                <a:solidFill>
                  <a:srgbClr val="F0D9AE"/>
                </a:solidFill>
                <a:latin typeface="Consolas" pitchFamily="34" charset="0"/>
                <a:ea typeface="Consolas" pitchFamily="34" charset="-122"/>
                <a:cs typeface="Consolas" pitchFamily="34" charset="-120"/>
              </a:rPr>
              <a:t>FOR SOUTH AFRICAN ELECTRICAL CONTRACTORS, ESTIMATORS AND ENGINEERS  ·  OCTOBER 2026</a:t>
            </a:r>
            <a:endParaRPr lang="en-US" sz="900" dirty="0"/>
          </a:p>
        </p:txBody>
      </p:sp>
      <p:sp>
        <p:nvSpPr>
          <p:cNvPr id="8" name="web app link"/>
          <p:cNvSpPr txBox="1"/>
          <p:nvPr/>
        </p:nvSpPr>
        <p:spPr>
          <a:xfrm>
            <a:off x="640080" y="2926080"/>
            <a:ext cx="7315200" cy="411480"/>
          </a:xfrm>
          <a:prstGeom prst="rect">
            <a:avLst/>
          </a:prstGeom>
          <a:noFill/>
          <a:ln/>
        </p:spPr>
        <p:txBody>
          <a:bodyPr wrap="square" lIns="0" tIns="0" rIns="0" bIns="0" rtlCol="0" anchor="t"/>
          <a:lstStyle/>
          <a:p>
            <a:pPr indent="0" marL="0">
              <a:buNone/>
            </a:pPr>
            <a:r>
              <a:rPr lang="en-US" sz="1800" b="1" dirty="0">
                <a:solidFill>
                  <a:schemeClr val="accent2"/>
                </a:solidFill>
              </a:rPr>
              <a:t>Try it:  </a:t>
            </a:r>
            <a:pPr indent="0" marL="0">
              <a:buNone/>
            </a:pPr>
            <a:r>
              <a:rPr lang="en-US" sz="18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https://afriplan.onrender.com</a:t>
            </a:r>
            <a:endParaRPr lang="en-US" sz="1800" dirty="0"/>
          </a:p>
        </p:txBody>
      </p:sp>
      <p:sp>
        <p:nvSpPr>
          <p:cNvPr id="9" name="title step 1 circle"/>
          <p:cNvSpPr/>
          <p:nvPr/>
        </p:nvSpPr>
        <p:spPr>
          <a:xfrm>
            <a:off x="640080" y="1188720"/>
            <a:ext cx="777240" cy="777240"/>
          </a:xfrm>
          <a:prstGeom prst="ellipse">
            <a:avLst/>
          </a:prstGeom>
          <a:solidFill>
            <a:srgbClr val="2C2D33"/>
          </a:solidFill>
          <a:ln w="12700">
            <a:solidFill>
              <a:srgbClr val="2C2D33"/>
            </a:solidFill>
            <a:prstDash val="solid"/>
          </a:ln>
        </p:spPr>
      </p:sp>
      <p:pic>
        <p:nvPicPr>
          <p:cNvPr id="10" name="title step 1 icon" descr="preencoded.png">    </p:cNvPr>
          <p:cNvPicPr>
            <a:picLocks noChangeAspect="1"/>
          </p:cNvPicPr>
          <p:nvPr/>
        </p:nvPicPr>
        <p:blipFill>
          <a:blip r:embed="rId2"/>
          <a:stretch>
            <a:fillRect/>
          </a:stretch>
        </p:blipFill>
        <p:spPr>
          <a:xfrm>
            <a:off x="842162" y="1390802"/>
            <a:ext cx="373075" cy="373075"/>
          </a:xfrm>
          <a:prstGeom prst="rect">
            <a:avLst/>
          </a:prstGeom>
        </p:spPr>
      </p:pic>
      <p:sp>
        <p:nvSpPr>
          <p:cNvPr id="11" name="title step label 1"/>
          <p:cNvSpPr txBox="1"/>
          <p:nvPr/>
        </p:nvSpPr>
        <p:spPr>
          <a:xfrm>
            <a:off x="64008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PDF &amp; DWG drawings</a:t>
            </a:r>
            <a:endParaRPr lang="en-US" sz="1400" dirty="0"/>
          </a:p>
        </p:txBody>
      </p:sp>
      <p:sp>
        <p:nvSpPr>
          <p:cNvPr id="12" name="Shape 9"/>
          <p:cNvSpPr/>
          <p:nvPr/>
        </p:nvSpPr>
        <p:spPr>
          <a:xfrm>
            <a:off x="1554480" y="1572768"/>
            <a:ext cx="1280160" cy="0"/>
          </a:xfrm>
          <a:prstGeom prst="line">
            <a:avLst/>
          </a:prstGeom>
          <a:noFill/>
          <a:ln w="25400">
            <a:solidFill>
              <a:srgbClr val="C9A15A"/>
            </a:solidFill>
            <a:prstDash val="solid"/>
            <a:tailEnd type="triangle"/>
          </a:ln>
        </p:spPr>
      </p:sp>
      <p:sp>
        <p:nvSpPr>
          <p:cNvPr id="13" name="title step 2 circle"/>
          <p:cNvSpPr/>
          <p:nvPr/>
        </p:nvSpPr>
        <p:spPr>
          <a:xfrm>
            <a:off x="3017520" y="1188720"/>
            <a:ext cx="777240" cy="777240"/>
          </a:xfrm>
          <a:prstGeom prst="ellipse">
            <a:avLst/>
          </a:prstGeom>
          <a:solidFill>
            <a:srgbClr val="2C2D33"/>
          </a:solidFill>
          <a:ln w="12700">
            <a:solidFill>
              <a:srgbClr val="2C2D33"/>
            </a:solidFill>
            <a:prstDash val="solid"/>
          </a:ln>
        </p:spPr>
      </p:sp>
      <p:pic>
        <p:nvPicPr>
          <p:cNvPr id="14" name="title step 2 icon" descr="preencoded.png">    </p:cNvPr>
          <p:cNvPicPr>
            <a:picLocks noChangeAspect="1"/>
          </p:cNvPicPr>
          <p:nvPr/>
        </p:nvPicPr>
        <p:blipFill>
          <a:blip r:embed="rId3"/>
          <a:stretch>
            <a:fillRect/>
          </a:stretch>
        </p:blipFill>
        <p:spPr>
          <a:xfrm>
            <a:off x="3219602" y="1390802"/>
            <a:ext cx="373075" cy="373075"/>
          </a:xfrm>
          <a:prstGeom prst="rect">
            <a:avLst/>
          </a:prstGeom>
        </p:spPr>
      </p:pic>
      <p:sp>
        <p:nvSpPr>
          <p:cNvPr id="15" name="title step label 2"/>
          <p:cNvSpPr txBox="1"/>
          <p:nvPr/>
        </p:nvSpPr>
        <p:spPr>
          <a:xfrm>
            <a:off x="301752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Read &amp; measure</a:t>
            </a:r>
            <a:endParaRPr lang="en-US" sz="1400" dirty="0"/>
          </a:p>
        </p:txBody>
      </p:sp>
      <p:sp>
        <p:nvSpPr>
          <p:cNvPr id="16" name="Shape 12"/>
          <p:cNvSpPr/>
          <p:nvPr/>
        </p:nvSpPr>
        <p:spPr>
          <a:xfrm>
            <a:off x="3931920" y="1572768"/>
            <a:ext cx="1280160" cy="0"/>
          </a:xfrm>
          <a:prstGeom prst="line">
            <a:avLst/>
          </a:prstGeom>
          <a:noFill/>
          <a:ln w="25400">
            <a:solidFill>
              <a:srgbClr val="C9A15A"/>
            </a:solidFill>
            <a:prstDash val="solid"/>
            <a:tailEnd type="triangle"/>
          </a:ln>
        </p:spPr>
      </p:sp>
      <p:sp>
        <p:nvSpPr>
          <p:cNvPr id="17" name="title step 3 circle"/>
          <p:cNvSpPr/>
          <p:nvPr/>
        </p:nvSpPr>
        <p:spPr>
          <a:xfrm>
            <a:off x="5394960" y="1188720"/>
            <a:ext cx="777240" cy="777240"/>
          </a:xfrm>
          <a:prstGeom prst="ellipse">
            <a:avLst/>
          </a:prstGeom>
          <a:solidFill>
            <a:srgbClr val="2C2D33"/>
          </a:solidFill>
          <a:ln w="12700">
            <a:solidFill>
              <a:srgbClr val="2C2D33"/>
            </a:solidFill>
            <a:prstDash val="solid"/>
          </a:ln>
        </p:spPr>
      </p:sp>
      <p:pic>
        <p:nvPicPr>
          <p:cNvPr id="18" name="title step 3 icon" descr="preencoded.png">    </p:cNvPr>
          <p:cNvPicPr>
            <a:picLocks noChangeAspect="1"/>
          </p:cNvPicPr>
          <p:nvPr/>
        </p:nvPicPr>
        <p:blipFill>
          <a:blip r:embed="rId4"/>
          <a:stretch>
            <a:fillRect/>
          </a:stretch>
        </p:blipFill>
        <p:spPr>
          <a:xfrm>
            <a:off x="5597042" y="1390802"/>
            <a:ext cx="373075" cy="373075"/>
          </a:xfrm>
          <a:prstGeom prst="rect">
            <a:avLst/>
          </a:prstGeom>
        </p:spPr>
      </p:pic>
      <p:sp>
        <p:nvSpPr>
          <p:cNvPr id="19" name="title step label 3"/>
          <p:cNvSpPr txBox="1"/>
          <p:nvPr/>
        </p:nvSpPr>
        <p:spPr>
          <a:xfrm>
            <a:off x="539496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Price at SA rates</a:t>
            </a:r>
            <a:endParaRPr lang="en-US" sz="1400" dirty="0"/>
          </a:p>
        </p:txBody>
      </p:sp>
      <p:sp>
        <p:nvSpPr>
          <p:cNvPr id="20" name="Shape 15"/>
          <p:cNvSpPr/>
          <p:nvPr/>
        </p:nvSpPr>
        <p:spPr>
          <a:xfrm>
            <a:off x="6309360" y="1572768"/>
            <a:ext cx="1280160" cy="0"/>
          </a:xfrm>
          <a:prstGeom prst="line">
            <a:avLst/>
          </a:prstGeom>
          <a:noFill/>
          <a:ln w="25400">
            <a:solidFill>
              <a:srgbClr val="C9A15A"/>
            </a:solidFill>
            <a:prstDash val="solid"/>
            <a:tailEnd type="triangle"/>
          </a:ln>
        </p:spPr>
      </p:sp>
      <p:sp>
        <p:nvSpPr>
          <p:cNvPr id="21" name="title step 4 circle"/>
          <p:cNvSpPr/>
          <p:nvPr/>
        </p:nvSpPr>
        <p:spPr>
          <a:xfrm>
            <a:off x="7772400" y="1188720"/>
            <a:ext cx="777240" cy="777240"/>
          </a:xfrm>
          <a:prstGeom prst="ellipse">
            <a:avLst/>
          </a:prstGeom>
          <a:solidFill>
            <a:srgbClr val="8E1B1B"/>
          </a:solidFill>
          <a:ln w="12700">
            <a:solidFill>
              <a:srgbClr val="8E1B1B"/>
            </a:solidFill>
            <a:prstDash val="solid"/>
          </a:ln>
        </p:spPr>
      </p:sp>
      <p:pic>
        <p:nvPicPr>
          <p:cNvPr id="22" name="title step 4 icon" descr="preencoded.png">    </p:cNvPr>
          <p:cNvPicPr>
            <a:picLocks noChangeAspect="1"/>
          </p:cNvPicPr>
          <p:nvPr/>
        </p:nvPicPr>
        <p:blipFill>
          <a:blip r:embed="rId5"/>
          <a:stretch>
            <a:fillRect/>
          </a:stretch>
        </p:blipFill>
        <p:spPr>
          <a:xfrm>
            <a:off x="7974482" y="1390802"/>
            <a:ext cx="373075" cy="373075"/>
          </a:xfrm>
          <a:prstGeom prst="rect">
            <a:avLst/>
          </a:prstGeom>
        </p:spPr>
      </p:pic>
      <p:sp>
        <p:nvSpPr>
          <p:cNvPr id="23" name="title step label 4"/>
          <p:cNvSpPr txBox="1"/>
          <p:nvPr/>
        </p:nvSpPr>
        <p:spPr>
          <a:xfrm>
            <a:off x="7772400" y="2103120"/>
            <a:ext cx="2103120" cy="320040"/>
          </a:xfrm>
          <a:prstGeom prst="rect">
            <a:avLst/>
          </a:prstGeom>
          <a:noFill/>
          <a:ln/>
        </p:spPr>
        <p:txBody>
          <a:bodyPr wrap="square" lIns="0" tIns="0" rIns="0" bIns="0" rtlCol="0" anchor="t"/>
          <a:lstStyle/>
          <a:p>
            <a:pPr indent="0" marL="0">
              <a:buNone/>
            </a:pPr>
            <a:r>
              <a:rPr lang="en-US" sz="1400" b="1" dirty="0">
                <a:solidFill>
                  <a:schemeClr val="bg1"/>
                </a:solidFill>
              </a:rPr>
              <a:t>Tender BoQ</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PROBLEM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tender is priced against the clock, on a thin margin</a:t>
            </a:r>
            <a:endParaRPr lang="en-US" sz="2600" dirty="0"/>
          </a:p>
        </p:txBody>
      </p:sp>
      <p:sp>
        <p:nvSpPr>
          <p:cNvPr id="7" name="stat card 1"/>
          <p:cNvSpPr/>
          <p:nvPr/>
        </p:nvSpPr>
        <p:spPr>
          <a:xfrm>
            <a:off x="548640" y="1508760"/>
            <a:ext cx="2587752" cy="4206240"/>
          </a:xfrm>
          <a:prstGeom prst="rect">
            <a:avLst/>
          </a:prstGeom>
          <a:solidFill>
            <a:schemeClr val="bg1"/>
          </a:solidFill>
          <a:ln w="9525">
            <a:solidFill>
              <a:srgbClr val="D8D3CB"/>
            </a:solidFill>
            <a:prstDash val="solid"/>
          </a:ln>
        </p:spPr>
      </p:sp>
      <p:sp>
        <p:nvSpPr>
          <p:cNvPr id="8" name="stat 1 circle"/>
          <p:cNvSpPr/>
          <p:nvPr/>
        </p:nvSpPr>
        <p:spPr>
          <a:xfrm>
            <a:off x="822960" y="1783080"/>
            <a:ext cx="685800" cy="685800"/>
          </a:xfrm>
          <a:prstGeom prst="ellipse">
            <a:avLst/>
          </a:prstGeom>
          <a:solidFill>
            <a:srgbClr val="FFFFFF"/>
          </a:solidFill>
          <a:ln w="12700">
            <a:solidFill>
              <a:srgbClr val="FFFFFF"/>
            </a:solidFill>
            <a:prstDash val="solid"/>
          </a:ln>
        </p:spPr>
      </p:sp>
      <p:pic>
        <p:nvPicPr>
          <p:cNvPr id="9"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10"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14–30</a:t>
            </a:r>
            <a:endParaRPr lang="en-US" sz="4800" dirty="0"/>
          </a:p>
        </p:txBody>
      </p:sp>
      <p:sp>
        <p:nvSpPr>
          <p:cNvPr id="11"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12"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3"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4" name="stat card 2"/>
          <p:cNvSpPr/>
          <p:nvPr/>
        </p:nvSpPr>
        <p:spPr>
          <a:xfrm>
            <a:off x="3364992" y="1508760"/>
            <a:ext cx="2587752" cy="4206240"/>
          </a:xfrm>
          <a:prstGeom prst="rect">
            <a:avLst/>
          </a:prstGeom>
          <a:solidFill>
            <a:schemeClr val="bg1"/>
          </a:solidFill>
          <a:ln w="9525">
            <a:solidFill>
              <a:srgbClr val="D8D3CB"/>
            </a:solidFill>
            <a:prstDash val="solid"/>
          </a:ln>
        </p:spPr>
      </p:sp>
      <p:sp>
        <p:nvSpPr>
          <p:cNvPr id="15" name="stat 2 circle"/>
          <p:cNvSpPr/>
          <p:nvPr/>
        </p:nvSpPr>
        <p:spPr>
          <a:xfrm>
            <a:off x="3639312" y="1783080"/>
            <a:ext cx="685800" cy="685800"/>
          </a:xfrm>
          <a:prstGeom prst="ellipse">
            <a:avLst/>
          </a:prstGeom>
          <a:solidFill>
            <a:srgbClr val="FFFFFF"/>
          </a:solidFill>
          <a:ln w="12700">
            <a:solidFill>
              <a:srgbClr val="FFFFFF"/>
            </a:solidFill>
            <a:prstDash val="solid"/>
          </a:ln>
        </p:spPr>
      </p:sp>
      <p:pic>
        <p:nvPicPr>
          <p:cNvPr id="16"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7"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4.8%</a:t>
            </a:r>
            <a:endParaRPr lang="en-US" sz="4800" dirty="0"/>
          </a:p>
        </p:txBody>
      </p:sp>
      <p:sp>
        <p:nvSpPr>
          <p:cNvPr id="18"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9"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20"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21" name="stat card 3"/>
          <p:cNvSpPr/>
          <p:nvPr/>
        </p:nvSpPr>
        <p:spPr>
          <a:xfrm>
            <a:off x="6181344" y="1508760"/>
            <a:ext cx="2587752" cy="4206240"/>
          </a:xfrm>
          <a:prstGeom prst="rect">
            <a:avLst/>
          </a:prstGeom>
          <a:solidFill>
            <a:schemeClr val="bg1"/>
          </a:solidFill>
          <a:ln w="9525">
            <a:solidFill>
              <a:srgbClr val="D8D3CB"/>
            </a:solidFill>
            <a:prstDash val="solid"/>
          </a:ln>
        </p:spPr>
      </p:sp>
      <p:sp>
        <p:nvSpPr>
          <p:cNvPr id="22" name="stat 3 circle"/>
          <p:cNvSpPr/>
          <p:nvPr/>
        </p:nvSpPr>
        <p:spPr>
          <a:xfrm>
            <a:off x="6455664" y="1783080"/>
            <a:ext cx="685800" cy="685800"/>
          </a:xfrm>
          <a:prstGeom prst="ellipse">
            <a:avLst/>
          </a:prstGeom>
          <a:solidFill>
            <a:srgbClr val="FFFFFF"/>
          </a:solidFill>
          <a:ln w="12700">
            <a:solidFill>
              <a:srgbClr val="FFFFFF"/>
            </a:solidFill>
            <a:prstDash val="solid"/>
          </a:ln>
        </p:spPr>
      </p:sp>
      <p:pic>
        <p:nvPicPr>
          <p:cNvPr id="23"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4"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13.3%</a:t>
            </a:r>
            <a:endParaRPr lang="en-US" sz="4800" dirty="0"/>
          </a:p>
        </p:txBody>
      </p:sp>
      <p:sp>
        <p:nvSpPr>
          <p:cNvPr id="25"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6"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7"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8" name="stat card 4"/>
          <p:cNvSpPr/>
          <p:nvPr/>
        </p:nvSpPr>
        <p:spPr>
          <a:xfrm>
            <a:off x="8997696" y="1508760"/>
            <a:ext cx="2587752" cy="4206240"/>
          </a:xfrm>
          <a:prstGeom prst="rect">
            <a:avLst/>
          </a:prstGeom>
          <a:solidFill>
            <a:schemeClr val="bg1"/>
          </a:solidFill>
          <a:ln w="9525">
            <a:solidFill>
              <a:srgbClr val="D8D3CB"/>
            </a:solidFill>
            <a:prstDash val="solid"/>
          </a:ln>
        </p:spPr>
      </p:sp>
      <p:sp>
        <p:nvSpPr>
          <p:cNvPr id="29" name="stat 4 circle"/>
          <p:cNvSpPr/>
          <p:nvPr/>
        </p:nvSpPr>
        <p:spPr>
          <a:xfrm>
            <a:off x="9272016" y="1783080"/>
            <a:ext cx="685800" cy="685800"/>
          </a:xfrm>
          <a:prstGeom prst="ellipse">
            <a:avLst/>
          </a:prstGeom>
          <a:solidFill>
            <a:srgbClr val="FFFFFF"/>
          </a:solidFill>
          <a:ln w="12700">
            <a:solidFill>
              <a:srgbClr val="FFFFFF"/>
            </a:solidFill>
            <a:prstDash val="solid"/>
          </a:ln>
        </p:spPr>
      </p:sp>
      <p:pic>
        <p:nvPicPr>
          <p:cNvPr id="30"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31"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Arial" pitchFamily="34" charset="0"/>
                <a:ea typeface="Arial" pitchFamily="34" charset="-122"/>
                <a:cs typeface="Arial" pitchFamily="34" charset="-120"/>
              </a:rPr>
              <a:t>0.05–0.65%</a:t>
            </a:r>
            <a:endParaRPr lang="en-US" sz="3000" dirty="0"/>
          </a:p>
        </p:txBody>
      </p:sp>
      <p:sp>
        <p:nvSpPr>
          <p:cNvPr id="32"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3"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4"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No study measures South African electrical take-off hours, SA tender win rates or manual take-off error rates — win rate and tender cost come from comparable public-procurement studies abroad.</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goes in, what comes out</a:t>
            </a:r>
            <a:endParaRPr lang="en-US" sz="2600" dirty="0"/>
          </a:p>
        </p:txBody>
      </p:sp>
      <p:sp>
        <p:nvSpPr>
          <p:cNvPr id="7" name="in heading"/>
          <p:cNvSpPr txBox="1"/>
          <p:nvPr/>
        </p:nvSpPr>
        <p:spPr>
          <a:xfrm>
            <a:off x="54864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GIVE IT</a:t>
            </a:r>
            <a:endParaRPr lang="en-US" sz="1200" dirty="0"/>
          </a:p>
        </p:txBody>
      </p:sp>
      <p:sp>
        <p:nvSpPr>
          <p:cNvPr id="8" name="out heading"/>
          <p:cNvSpPr txBox="1"/>
          <p:nvPr/>
        </p:nvSpPr>
        <p:spPr>
          <a:xfrm>
            <a:off x="800100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GET</a:t>
            </a:r>
            <a:endParaRPr lang="en-US" sz="1200" dirty="0"/>
          </a:p>
        </p:txBody>
      </p:sp>
      <p:sp>
        <p:nvSpPr>
          <p:cNvPr id="9" name="in card 1"/>
          <p:cNvSpPr/>
          <p:nvPr/>
        </p:nvSpPr>
        <p:spPr>
          <a:xfrm>
            <a:off x="548640" y="1737360"/>
            <a:ext cx="3611880" cy="868680"/>
          </a:xfrm>
          <a:prstGeom prst="rect">
            <a:avLst/>
          </a:prstGeom>
          <a:solidFill>
            <a:schemeClr val="bg1"/>
          </a:solidFill>
          <a:ln w="9525">
            <a:solidFill>
              <a:srgbClr val="D8D3CB"/>
            </a:solidFill>
            <a:prstDash val="solid"/>
          </a:ln>
        </p:spPr>
      </p:sp>
      <p:sp>
        <p:nvSpPr>
          <p:cNvPr id="10" name="in 1 circle"/>
          <p:cNvSpPr/>
          <p:nvPr/>
        </p:nvSpPr>
        <p:spPr>
          <a:xfrm>
            <a:off x="713232" y="1874520"/>
            <a:ext cx="594360" cy="594360"/>
          </a:xfrm>
          <a:prstGeom prst="ellipse">
            <a:avLst/>
          </a:prstGeom>
          <a:solidFill>
            <a:srgbClr val="8E1B1B"/>
          </a:solidFill>
          <a:ln w="12700">
            <a:solidFill>
              <a:srgbClr val="8E1B1B"/>
            </a:solidFill>
            <a:prstDash val="solid"/>
          </a:ln>
        </p:spPr>
      </p:sp>
      <p:pic>
        <p:nvPicPr>
          <p:cNvPr id="11" name="in 1 icon" descr="preencoded.png">    </p:cNvPr>
          <p:cNvPicPr>
            <a:picLocks noChangeAspect="1"/>
          </p:cNvPicPr>
          <p:nvPr/>
        </p:nvPicPr>
        <p:blipFill>
          <a:blip r:embed="rId1"/>
          <a:stretch>
            <a:fillRect/>
          </a:stretch>
        </p:blipFill>
        <p:spPr>
          <a:xfrm>
            <a:off x="867766" y="2029054"/>
            <a:ext cx="285293" cy="285293"/>
          </a:xfrm>
          <a:prstGeom prst="rect">
            <a:avLst/>
          </a:prstGeom>
        </p:spPr>
      </p:pic>
      <p:sp>
        <p:nvSpPr>
          <p:cNvPr id="12" name="in title 1"/>
          <p:cNvSpPr txBox="1"/>
          <p:nvPr/>
        </p:nvSpPr>
        <p:spPr>
          <a:xfrm>
            <a:off x="146304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PDF drawing set</a:t>
            </a:r>
            <a:endParaRPr lang="en-US" sz="1500" dirty="0"/>
          </a:p>
        </p:txBody>
      </p:sp>
      <p:sp>
        <p:nvSpPr>
          <p:cNvPr id="13" name="in text 1"/>
          <p:cNvSpPr txBox="1"/>
          <p:nvPr/>
        </p:nvSpPr>
        <p:spPr>
          <a:xfrm>
            <a:off x="146304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scanned or exported pages</a:t>
            </a:r>
            <a:endParaRPr lang="en-US" sz="1150" dirty="0"/>
          </a:p>
        </p:txBody>
      </p:sp>
      <p:sp>
        <p:nvSpPr>
          <p:cNvPr id="14" name="out card 1"/>
          <p:cNvSpPr/>
          <p:nvPr/>
        </p:nvSpPr>
        <p:spPr>
          <a:xfrm>
            <a:off x="8001000" y="1737360"/>
            <a:ext cx="3611880" cy="868680"/>
          </a:xfrm>
          <a:prstGeom prst="rect">
            <a:avLst/>
          </a:prstGeom>
          <a:solidFill>
            <a:schemeClr val="bg2"/>
          </a:solidFill>
          <a:ln w="9525">
            <a:solidFill>
              <a:srgbClr val="D8D3CB"/>
            </a:solidFill>
            <a:prstDash val="solid"/>
          </a:ln>
        </p:spPr>
      </p:sp>
      <p:sp>
        <p:nvSpPr>
          <p:cNvPr id="15" name="out 1 circle"/>
          <p:cNvSpPr/>
          <p:nvPr/>
        </p:nvSpPr>
        <p:spPr>
          <a:xfrm>
            <a:off x="8165592" y="1874520"/>
            <a:ext cx="594360" cy="594360"/>
          </a:xfrm>
          <a:prstGeom prst="ellipse">
            <a:avLst/>
          </a:prstGeom>
          <a:solidFill>
            <a:srgbClr val="8E1B1B"/>
          </a:solidFill>
          <a:ln w="12700">
            <a:solidFill>
              <a:srgbClr val="8E1B1B"/>
            </a:solidFill>
            <a:prstDash val="solid"/>
          </a:ln>
        </p:spPr>
      </p:sp>
      <p:pic>
        <p:nvPicPr>
          <p:cNvPr id="16" name="out 1 icon" descr="preencoded.png">    </p:cNvPr>
          <p:cNvPicPr>
            <a:picLocks noChangeAspect="1"/>
          </p:cNvPicPr>
          <p:nvPr/>
        </p:nvPicPr>
        <p:blipFill>
          <a:blip r:embed="rId2"/>
          <a:stretch>
            <a:fillRect/>
          </a:stretch>
        </p:blipFill>
        <p:spPr>
          <a:xfrm>
            <a:off x="8320126" y="2029054"/>
            <a:ext cx="285293" cy="285293"/>
          </a:xfrm>
          <a:prstGeom prst="rect">
            <a:avLst/>
          </a:prstGeom>
        </p:spPr>
      </p:pic>
      <p:sp>
        <p:nvSpPr>
          <p:cNvPr id="17" name="out title 1"/>
          <p:cNvSpPr txBox="1"/>
          <p:nvPr/>
        </p:nvSpPr>
        <p:spPr>
          <a:xfrm>
            <a:off x="891540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Priced BoQ</a:t>
            </a:r>
            <a:endParaRPr lang="en-US" sz="1500" dirty="0"/>
          </a:p>
        </p:txBody>
      </p:sp>
      <p:sp>
        <p:nvSpPr>
          <p:cNvPr id="18" name="out text 1"/>
          <p:cNvSpPr txBox="1"/>
          <p:nvPr/>
        </p:nvSpPr>
        <p:spPr>
          <a:xfrm>
            <a:off x="891540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Excel + PDF tender document</a:t>
            </a:r>
            <a:endParaRPr lang="en-US" sz="1150" dirty="0"/>
          </a:p>
        </p:txBody>
      </p:sp>
      <p:sp>
        <p:nvSpPr>
          <p:cNvPr id="19" name="in card 2"/>
          <p:cNvSpPr/>
          <p:nvPr/>
        </p:nvSpPr>
        <p:spPr>
          <a:xfrm>
            <a:off x="548640" y="2761488"/>
            <a:ext cx="3611880" cy="868680"/>
          </a:xfrm>
          <a:prstGeom prst="rect">
            <a:avLst/>
          </a:prstGeom>
          <a:solidFill>
            <a:schemeClr val="bg1"/>
          </a:solidFill>
          <a:ln w="9525">
            <a:solidFill>
              <a:srgbClr val="D8D3CB"/>
            </a:solidFill>
            <a:prstDash val="solid"/>
          </a:ln>
        </p:spPr>
      </p:sp>
      <p:sp>
        <p:nvSpPr>
          <p:cNvPr id="20" name="in 2 circle"/>
          <p:cNvSpPr/>
          <p:nvPr/>
        </p:nvSpPr>
        <p:spPr>
          <a:xfrm>
            <a:off x="713232" y="2898648"/>
            <a:ext cx="594360" cy="594360"/>
          </a:xfrm>
          <a:prstGeom prst="ellipse">
            <a:avLst/>
          </a:prstGeom>
          <a:solidFill>
            <a:srgbClr val="8E1B1B"/>
          </a:solidFill>
          <a:ln w="12700">
            <a:solidFill>
              <a:srgbClr val="8E1B1B"/>
            </a:solidFill>
            <a:prstDash val="solid"/>
          </a:ln>
        </p:spPr>
      </p:sp>
      <p:pic>
        <p:nvPicPr>
          <p:cNvPr id="21" name="in 2 icon" descr="preencoded.png">    </p:cNvPr>
          <p:cNvPicPr>
            <a:picLocks noChangeAspect="1"/>
          </p:cNvPicPr>
          <p:nvPr/>
        </p:nvPicPr>
        <p:blipFill>
          <a:blip r:embed="rId3"/>
          <a:stretch>
            <a:fillRect/>
          </a:stretch>
        </p:blipFill>
        <p:spPr>
          <a:xfrm>
            <a:off x="867766" y="3053182"/>
            <a:ext cx="285293" cy="285293"/>
          </a:xfrm>
          <a:prstGeom prst="rect">
            <a:avLst/>
          </a:prstGeom>
        </p:spPr>
      </p:pic>
      <p:sp>
        <p:nvSpPr>
          <p:cNvPr id="22" name="in title 2"/>
          <p:cNvSpPr txBox="1"/>
          <p:nvPr/>
        </p:nvSpPr>
        <p:spPr>
          <a:xfrm>
            <a:off x="146304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CAD drawing set</a:t>
            </a:r>
            <a:endParaRPr lang="en-US" sz="1500" dirty="0"/>
          </a:p>
        </p:txBody>
      </p:sp>
      <p:sp>
        <p:nvSpPr>
          <p:cNvPr id="23" name="in text 2"/>
          <p:cNvSpPr txBox="1"/>
          <p:nvPr/>
        </p:nvSpPr>
        <p:spPr>
          <a:xfrm>
            <a:off x="146304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DWG / DXF: SLDs, layouts, site plan</a:t>
            </a:r>
            <a:endParaRPr lang="en-US" sz="1150" dirty="0"/>
          </a:p>
        </p:txBody>
      </p:sp>
      <p:sp>
        <p:nvSpPr>
          <p:cNvPr id="24" name="out card 2"/>
          <p:cNvSpPr/>
          <p:nvPr/>
        </p:nvSpPr>
        <p:spPr>
          <a:xfrm>
            <a:off x="8001000" y="2761488"/>
            <a:ext cx="3611880" cy="868680"/>
          </a:xfrm>
          <a:prstGeom prst="rect">
            <a:avLst/>
          </a:prstGeom>
          <a:solidFill>
            <a:schemeClr val="bg2"/>
          </a:solidFill>
          <a:ln w="9525">
            <a:solidFill>
              <a:srgbClr val="D8D3CB"/>
            </a:solidFill>
            <a:prstDash val="solid"/>
          </a:ln>
        </p:spPr>
      </p:sp>
      <p:sp>
        <p:nvSpPr>
          <p:cNvPr id="25" name="out 2 circle"/>
          <p:cNvSpPr/>
          <p:nvPr/>
        </p:nvSpPr>
        <p:spPr>
          <a:xfrm>
            <a:off x="8165592" y="2898648"/>
            <a:ext cx="594360" cy="594360"/>
          </a:xfrm>
          <a:prstGeom prst="ellipse">
            <a:avLst/>
          </a:prstGeom>
          <a:solidFill>
            <a:srgbClr val="8E1B1B"/>
          </a:solidFill>
          <a:ln w="12700">
            <a:solidFill>
              <a:srgbClr val="8E1B1B"/>
            </a:solidFill>
            <a:prstDash val="solid"/>
          </a:ln>
        </p:spPr>
      </p:sp>
      <p:pic>
        <p:nvPicPr>
          <p:cNvPr id="26" name="out 2 icon" descr="preencoded.png">    </p:cNvPr>
          <p:cNvPicPr>
            <a:picLocks noChangeAspect="1"/>
          </p:cNvPicPr>
          <p:nvPr/>
        </p:nvPicPr>
        <p:blipFill>
          <a:blip r:embed="rId4"/>
          <a:stretch>
            <a:fillRect/>
          </a:stretch>
        </p:blipFill>
        <p:spPr>
          <a:xfrm>
            <a:off x="8320126" y="3053182"/>
            <a:ext cx="285293" cy="285293"/>
          </a:xfrm>
          <a:prstGeom prst="rect">
            <a:avLst/>
          </a:prstGeom>
        </p:spPr>
      </p:pic>
      <p:sp>
        <p:nvSpPr>
          <p:cNvPr id="27" name="out title 2"/>
          <p:cNvSpPr txBox="1"/>
          <p:nvPr/>
        </p:nvSpPr>
        <p:spPr>
          <a:xfrm>
            <a:off x="891540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Things to check</a:t>
            </a:r>
            <a:endParaRPr lang="en-US" sz="1500" dirty="0"/>
          </a:p>
        </p:txBody>
      </p:sp>
      <p:sp>
        <p:nvSpPr>
          <p:cNvPr id="28" name="out text 2"/>
          <p:cNvSpPr txBox="1"/>
          <p:nvPr/>
        </p:nvSpPr>
        <p:spPr>
          <a:xfrm>
            <a:off x="891540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every assumption, most serious first</a:t>
            </a:r>
            <a:endParaRPr lang="en-US" sz="1150" dirty="0"/>
          </a:p>
        </p:txBody>
      </p:sp>
      <p:sp>
        <p:nvSpPr>
          <p:cNvPr id="29" name="in card 3"/>
          <p:cNvSpPr/>
          <p:nvPr/>
        </p:nvSpPr>
        <p:spPr>
          <a:xfrm>
            <a:off x="548640" y="3785616"/>
            <a:ext cx="3611880" cy="868680"/>
          </a:xfrm>
          <a:prstGeom prst="rect">
            <a:avLst/>
          </a:prstGeom>
          <a:solidFill>
            <a:schemeClr val="bg1"/>
          </a:solidFill>
          <a:ln w="9525">
            <a:solidFill>
              <a:srgbClr val="D8D3CB"/>
            </a:solidFill>
            <a:prstDash val="solid"/>
          </a:ln>
        </p:spPr>
      </p:sp>
      <p:sp>
        <p:nvSpPr>
          <p:cNvPr id="30" name="in 3 circle"/>
          <p:cNvSpPr/>
          <p:nvPr/>
        </p:nvSpPr>
        <p:spPr>
          <a:xfrm>
            <a:off x="713232" y="3922776"/>
            <a:ext cx="594360" cy="594360"/>
          </a:xfrm>
          <a:prstGeom prst="ellipse">
            <a:avLst/>
          </a:prstGeom>
          <a:solidFill>
            <a:srgbClr val="8E1B1B"/>
          </a:solidFill>
          <a:ln w="12700">
            <a:solidFill>
              <a:srgbClr val="8E1B1B"/>
            </a:solidFill>
            <a:prstDash val="solid"/>
          </a:ln>
        </p:spPr>
      </p:sp>
      <p:pic>
        <p:nvPicPr>
          <p:cNvPr id="31" name="in 3 icon" descr="preencoded.png">    </p:cNvPr>
          <p:cNvPicPr>
            <a:picLocks noChangeAspect="1"/>
          </p:cNvPicPr>
          <p:nvPr/>
        </p:nvPicPr>
        <p:blipFill>
          <a:blip r:embed="rId5"/>
          <a:stretch>
            <a:fillRect/>
          </a:stretch>
        </p:blipFill>
        <p:spPr>
          <a:xfrm>
            <a:off x="867766" y="4077310"/>
            <a:ext cx="285293" cy="285293"/>
          </a:xfrm>
          <a:prstGeom prst="rect">
            <a:avLst/>
          </a:prstGeom>
        </p:spPr>
      </p:pic>
      <p:sp>
        <p:nvSpPr>
          <p:cNvPr id="32" name="in title 3"/>
          <p:cNvSpPr txBox="1"/>
          <p:nvPr/>
        </p:nvSpPr>
        <p:spPr>
          <a:xfrm>
            <a:off x="146304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Both</a:t>
            </a:r>
            <a:endParaRPr lang="en-US" sz="1500" dirty="0"/>
          </a:p>
        </p:txBody>
      </p:sp>
      <p:sp>
        <p:nvSpPr>
          <p:cNvPr id="33" name="in text 3"/>
          <p:cNvSpPr txBox="1"/>
          <p:nvPr/>
        </p:nvSpPr>
        <p:spPr>
          <a:xfrm>
            <a:off x="146304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read separately, then compared and combined</a:t>
            </a:r>
            <a:endParaRPr lang="en-US" sz="1150" dirty="0"/>
          </a:p>
        </p:txBody>
      </p:sp>
      <p:sp>
        <p:nvSpPr>
          <p:cNvPr id="34" name="out card 3"/>
          <p:cNvSpPr/>
          <p:nvPr/>
        </p:nvSpPr>
        <p:spPr>
          <a:xfrm>
            <a:off x="8001000" y="3785616"/>
            <a:ext cx="3611880" cy="868680"/>
          </a:xfrm>
          <a:prstGeom prst="rect">
            <a:avLst/>
          </a:prstGeom>
          <a:solidFill>
            <a:schemeClr val="bg2"/>
          </a:solidFill>
          <a:ln w="9525">
            <a:solidFill>
              <a:srgbClr val="D8D3CB"/>
            </a:solidFill>
            <a:prstDash val="solid"/>
          </a:ln>
        </p:spPr>
      </p:sp>
      <p:sp>
        <p:nvSpPr>
          <p:cNvPr id="35" name="out 3 circle"/>
          <p:cNvSpPr/>
          <p:nvPr/>
        </p:nvSpPr>
        <p:spPr>
          <a:xfrm>
            <a:off x="8165592" y="3922776"/>
            <a:ext cx="594360" cy="594360"/>
          </a:xfrm>
          <a:prstGeom prst="ellipse">
            <a:avLst/>
          </a:prstGeom>
          <a:solidFill>
            <a:srgbClr val="8E1B1B"/>
          </a:solidFill>
          <a:ln w="12700">
            <a:solidFill>
              <a:srgbClr val="8E1B1B"/>
            </a:solidFill>
            <a:prstDash val="solid"/>
          </a:ln>
        </p:spPr>
      </p:sp>
      <p:pic>
        <p:nvPicPr>
          <p:cNvPr id="36" name="out 3 icon" descr="preencoded.png">    </p:cNvPr>
          <p:cNvPicPr>
            <a:picLocks noChangeAspect="1"/>
          </p:cNvPicPr>
          <p:nvPr/>
        </p:nvPicPr>
        <p:blipFill>
          <a:blip r:embed="rId6"/>
          <a:stretch>
            <a:fillRect/>
          </a:stretch>
        </p:blipFill>
        <p:spPr>
          <a:xfrm>
            <a:off x="8320126" y="4077310"/>
            <a:ext cx="285293" cy="285293"/>
          </a:xfrm>
          <a:prstGeom prst="rect">
            <a:avLst/>
          </a:prstGeom>
        </p:spPr>
      </p:pic>
      <p:sp>
        <p:nvSpPr>
          <p:cNvPr id="37" name="out title 3"/>
          <p:cNvSpPr txBox="1"/>
          <p:nvPr/>
        </p:nvSpPr>
        <p:spPr>
          <a:xfrm>
            <a:off x="891540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Comparison &amp; audit</a:t>
            </a:r>
            <a:endParaRPr lang="en-US" sz="1500" dirty="0"/>
          </a:p>
        </p:txBody>
      </p:sp>
      <p:sp>
        <p:nvSpPr>
          <p:cNvPr id="38" name="out text 3"/>
          <p:cNvSpPr txBox="1"/>
          <p:nvPr/>
        </p:nvSpPr>
        <p:spPr>
          <a:xfrm>
            <a:off x="891540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where readers agree; what a bill misses</a:t>
            </a:r>
            <a:endParaRPr lang="en-US" sz="1150" dirty="0"/>
          </a:p>
        </p:txBody>
      </p:sp>
      <p:sp>
        <p:nvSpPr>
          <p:cNvPr id="39" name="in card 4"/>
          <p:cNvSpPr/>
          <p:nvPr/>
        </p:nvSpPr>
        <p:spPr>
          <a:xfrm>
            <a:off x="548640" y="4809744"/>
            <a:ext cx="3611880" cy="868680"/>
          </a:xfrm>
          <a:prstGeom prst="rect">
            <a:avLst/>
          </a:prstGeom>
          <a:solidFill>
            <a:schemeClr val="bg1"/>
          </a:solidFill>
          <a:ln w="9525">
            <a:solidFill>
              <a:srgbClr val="D8D3CB"/>
            </a:solidFill>
            <a:prstDash val="solid"/>
          </a:ln>
        </p:spPr>
      </p:sp>
      <p:sp>
        <p:nvSpPr>
          <p:cNvPr id="40" name="in 4 circle"/>
          <p:cNvSpPr/>
          <p:nvPr/>
        </p:nvSpPr>
        <p:spPr>
          <a:xfrm>
            <a:off x="713232" y="4946904"/>
            <a:ext cx="594360" cy="594360"/>
          </a:xfrm>
          <a:prstGeom prst="ellipse">
            <a:avLst/>
          </a:prstGeom>
          <a:solidFill>
            <a:srgbClr val="8E1B1B"/>
          </a:solidFill>
          <a:ln w="12700">
            <a:solidFill>
              <a:srgbClr val="8E1B1B"/>
            </a:solidFill>
            <a:prstDash val="solid"/>
          </a:ln>
        </p:spPr>
      </p:sp>
      <p:pic>
        <p:nvPicPr>
          <p:cNvPr id="41" name="in 4 icon" descr="preencoded.png">    </p:cNvPr>
          <p:cNvPicPr>
            <a:picLocks noChangeAspect="1"/>
          </p:cNvPicPr>
          <p:nvPr/>
        </p:nvPicPr>
        <p:blipFill>
          <a:blip r:embed="rId7"/>
          <a:stretch>
            <a:fillRect/>
          </a:stretch>
        </p:blipFill>
        <p:spPr>
          <a:xfrm>
            <a:off x="867766" y="5101438"/>
            <a:ext cx="285293" cy="285293"/>
          </a:xfrm>
          <a:prstGeom prst="rect">
            <a:avLst/>
          </a:prstGeom>
        </p:spPr>
      </p:pic>
      <p:sp>
        <p:nvSpPr>
          <p:cNvPr id="42" name="in title 4"/>
          <p:cNvSpPr txBox="1"/>
          <p:nvPr/>
        </p:nvSpPr>
        <p:spPr>
          <a:xfrm>
            <a:off x="146304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An existing BoQ</a:t>
            </a:r>
            <a:endParaRPr lang="en-US" sz="1500" dirty="0"/>
          </a:p>
        </p:txBody>
      </p:sp>
      <p:sp>
        <p:nvSpPr>
          <p:cNvPr id="43" name="in text 4"/>
          <p:cNvSpPr txBox="1"/>
          <p:nvPr/>
        </p:nvSpPr>
        <p:spPr>
          <a:xfrm>
            <a:off x="146304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optional — audited for errors and gaps</a:t>
            </a:r>
            <a:endParaRPr lang="en-US" sz="1150" dirty="0"/>
          </a:p>
        </p:txBody>
      </p:sp>
      <p:sp>
        <p:nvSpPr>
          <p:cNvPr id="44" name="out card 4"/>
          <p:cNvSpPr/>
          <p:nvPr/>
        </p:nvSpPr>
        <p:spPr>
          <a:xfrm>
            <a:off x="8001000" y="4809744"/>
            <a:ext cx="3611880" cy="868680"/>
          </a:xfrm>
          <a:prstGeom prst="rect">
            <a:avLst/>
          </a:prstGeom>
          <a:solidFill>
            <a:schemeClr val="bg2"/>
          </a:solidFill>
          <a:ln w="9525">
            <a:solidFill>
              <a:srgbClr val="D8D3CB"/>
            </a:solidFill>
            <a:prstDash val="solid"/>
          </a:ln>
        </p:spPr>
      </p:sp>
      <p:sp>
        <p:nvSpPr>
          <p:cNvPr id="45" name="out 4 circle"/>
          <p:cNvSpPr/>
          <p:nvPr/>
        </p:nvSpPr>
        <p:spPr>
          <a:xfrm>
            <a:off x="8165592" y="4946904"/>
            <a:ext cx="594360" cy="594360"/>
          </a:xfrm>
          <a:prstGeom prst="ellipse">
            <a:avLst/>
          </a:prstGeom>
          <a:solidFill>
            <a:srgbClr val="8E1B1B"/>
          </a:solidFill>
          <a:ln w="12700">
            <a:solidFill>
              <a:srgbClr val="8E1B1B"/>
            </a:solidFill>
            <a:prstDash val="solid"/>
          </a:ln>
        </p:spPr>
      </p:sp>
      <p:pic>
        <p:nvPicPr>
          <p:cNvPr id="46" name="out 4 icon" descr="preencoded.png">    </p:cNvPr>
          <p:cNvPicPr>
            <a:picLocks noChangeAspect="1"/>
          </p:cNvPicPr>
          <p:nvPr/>
        </p:nvPicPr>
        <p:blipFill>
          <a:blip r:embed="rId8"/>
          <a:stretch>
            <a:fillRect/>
          </a:stretch>
        </p:blipFill>
        <p:spPr>
          <a:xfrm>
            <a:off x="8320126" y="5101438"/>
            <a:ext cx="285293" cy="285293"/>
          </a:xfrm>
          <a:prstGeom prst="rect">
            <a:avLst/>
          </a:prstGeom>
        </p:spPr>
      </p:pic>
      <p:sp>
        <p:nvSpPr>
          <p:cNvPr id="47" name="out title 4"/>
          <p:cNvSpPr txBox="1"/>
          <p:nvPr/>
        </p:nvSpPr>
        <p:spPr>
          <a:xfrm>
            <a:off x="891540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Accuracy report</a:t>
            </a:r>
            <a:endParaRPr lang="en-US" sz="1500" dirty="0"/>
          </a:p>
        </p:txBody>
      </p:sp>
      <p:sp>
        <p:nvSpPr>
          <p:cNvPr id="48" name="out text 4"/>
          <p:cNvSpPr txBox="1"/>
          <p:nvPr/>
        </p:nvSpPr>
        <p:spPr>
          <a:xfrm>
            <a:off x="891540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against a real bill, when one exists</a:t>
            </a:r>
            <a:endParaRPr lang="en-US" sz="1150" dirty="0"/>
          </a:p>
        </p:txBody>
      </p:sp>
      <p:sp>
        <p:nvSpPr>
          <p:cNvPr id="49" name="afriplan box"/>
          <p:cNvSpPr/>
          <p:nvPr/>
        </p:nvSpPr>
        <p:spPr>
          <a:xfrm>
            <a:off x="4572000" y="1737360"/>
            <a:ext cx="3063240" cy="3941064"/>
          </a:xfrm>
          <a:prstGeom prst="roundRect">
            <a:avLst>
              <a:gd name="adj" fmla="val 4478"/>
            </a:avLst>
          </a:prstGeom>
          <a:solidFill>
            <a:schemeClr val="tx1"/>
          </a:solidFill>
          <a:ln w="12700">
            <a:solidFill>
              <a:srgbClr val="14151A"/>
            </a:solidFill>
            <a:prstDash val="solid"/>
          </a:ln>
        </p:spPr>
      </p:sp>
      <p:sp>
        <p:nvSpPr>
          <p:cNvPr id="50" name="afriplan name"/>
          <p:cNvSpPr txBox="1"/>
          <p:nvPr/>
        </p:nvSpPr>
        <p:spPr>
          <a:xfrm>
            <a:off x="4572000" y="1874520"/>
            <a:ext cx="3063240" cy="457200"/>
          </a:xfrm>
          <a:prstGeom prst="rect">
            <a:avLst/>
          </a:prstGeom>
          <a:noFill/>
          <a:ln/>
        </p:spPr>
        <p:txBody>
          <a:bodyPr wrap="square" lIns="0" tIns="0" rIns="0" bIns="0" rtlCol="0" anchor="t"/>
          <a:lstStyle/>
          <a:p>
            <a:pPr algn="ctr" indent="0" marL="0">
              <a:buNone/>
            </a:pPr>
            <a:r>
              <a:rPr lang="en-US" sz="2200" b="1" dirty="0">
                <a:solidFill>
                  <a:schemeClr val="bg1"/>
                </a:solidFill>
                <a:latin typeface="Arial" pitchFamily="34" charset="0"/>
                <a:ea typeface="Arial" pitchFamily="34" charset="-122"/>
                <a:cs typeface="Arial" pitchFamily="34" charset="-120"/>
              </a:rPr>
              <a:t>AfriPlan</a:t>
            </a:r>
            <a:endParaRPr lang="en-US" sz="2200" dirty="0"/>
          </a:p>
        </p:txBody>
      </p:sp>
      <p:sp>
        <p:nvSpPr>
          <p:cNvPr id="51" name="core step 1 circle"/>
          <p:cNvSpPr/>
          <p:nvPr/>
        </p:nvSpPr>
        <p:spPr>
          <a:xfrm>
            <a:off x="4846320" y="2514600"/>
            <a:ext cx="640080" cy="640080"/>
          </a:xfrm>
          <a:prstGeom prst="ellipse">
            <a:avLst/>
          </a:prstGeom>
          <a:solidFill>
            <a:srgbClr val="C9A15A"/>
          </a:solidFill>
          <a:ln w="12700">
            <a:solidFill>
              <a:srgbClr val="C9A15A"/>
            </a:solidFill>
            <a:prstDash val="solid"/>
          </a:ln>
        </p:spPr>
      </p:sp>
      <p:pic>
        <p:nvPicPr>
          <p:cNvPr id="52" name="core step 1 icon" descr="preencoded.png">    </p:cNvPr>
          <p:cNvPicPr>
            <a:picLocks noChangeAspect="1"/>
          </p:cNvPicPr>
          <p:nvPr/>
        </p:nvPicPr>
        <p:blipFill>
          <a:blip r:embed="rId9"/>
          <a:stretch>
            <a:fillRect/>
          </a:stretch>
        </p:blipFill>
        <p:spPr>
          <a:xfrm>
            <a:off x="5012741" y="2681021"/>
            <a:ext cx="307238" cy="307238"/>
          </a:xfrm>
          <a:prstGeom prst="rect">
            <a:avLst/>
          </a:prstGeom>
        </p:spPr>
      </p:pic>
      <p:sp>
        <p:nvSpPr>
          <p:cNvPr id="53" name="core title 1"/>
          <p:cNvSpPr txBox="1"/>
          <p:nvPr/>
        </p:nvSpPr>
        <p:spPr>
          <a:xfrm>
            <a:off x="5623560" y="2532888"/>
            <a:ext cx="1920240" cy="320040"/>
          </a:xfrm>
          <a:prstGeom prst="rect">
            <a:avLst/>
          </a:prstGeom>
          <a:noFill/>
          <a:ln/>
        </p:spPr>
        <p:txBody>
          <a:bodyPr wrap="square" lIns="0" tIns="0" rIns="0" bIns="0" rtlCol="0" anchor="t"/>
          <a:lstStyle/>
          <a:p>
            <a:pPr indent="0" marL="0">
              <a:buNone/>
            </a:pPr>
            <a:r>
              <a:rPr lang="en-US" sz="1500" b="1" dirty="0">
                <a:solidFill>
                  <a:schemeClr val="bg1"/>
                </a:solidFill>
              </a:rPr>
              <a:t>1  Read</a:t>
            </a:r>
            <a:endParaRPr lang="en-US" sz="1500" dirty="0"/>
          </a:p>
        </p:txBody>
      </p:sp>
      <p:sp>
        <p:nvSpPr>
          <p:cNvPr id="54" name="core text 1"/>
          <p:cNvSpPr txBox="1"/>
          <p:nvPr/>
        </p:nvSpPr>
        <p:spPr>
          <a:xfrm>
            <a:off x="5623560" y="2843784"/>
            <a:ext cx="1920240" cy="274320"/>
          </a:xfrm>
          <a:prstGeom prst="rect">
            <a:avLst/>
          </a:prstGeom>
          <a:noFill/>
          <a:ln/>
        </p:spPr>
        <p:txBody>
          <a:bodyPr wrap="square" lIns="0" tIns="0" rIns="0" bIns="0" rtlCol="0" anchor="t"/>
          <a:lstStyle/>
          <a:p>
            <a:pPr indent="0" marL="0">
              <a:buNone/>
            </a:pPr>
            <a:r>
              <a:rPr lang="en-US" sz="1200" dirty="0">
                <a:solidFill>
                  <a:srgbClr val="B9B6B0"/>
                </a:solidFill>
              </a:rPr>
              <a:t>what is drawn</a:t>
            </a:r>
            <a:endParaRPr lang="en-US" sz="1200" dirty="0"/>
          </a:p>
        </p:txBody>
      </p:sp>
      <p:sp>
        <p:nvSpPr>
          <p:cNvPr id="55" name="core step 2 circle"/>
          <p:cNvSpPr/>
          <p:nvPr/>
        </p:nvSpPr>
        <p:spPr>
          <a:xfrm>
            <a:off x="4846320" y="3538728"/>
            <a:ext cx="640080" cy="640080"/>
          </a:xfrm>
          <a:prstGeom prst="ellipse">
            <a:avLst/>
          </a:prstGeom>
          <a:solidFill>
            <a:srgbClr val="C9A15A"/>
          </a:solidFill>
          <a:ln w="12700">
            <a:solidFill>
              <a:srgbClr val="C9A15A"/>
            </a:solidFill>
            <a:prstDash val="solid"/>
          </a:ln>
        </p:spPr>
      </p:sp>
      <p:pic>
        <p:nvPicPr>
          <p:cNvPr id="56" name="core step 2 icon" descr="preencoded.png">    </p:cNvPr>
          <p:cNvPicPr>
            <a:picLocks noChangeAspect="1"/>
          </p:cNvPicPr>
          <p:nvPr/>
        </p:nvPicPr>
        <p:blipFill>
          <a:blip r:embed="rId10"/>
          <a:stretch>
            <a:fillRect/>
          </a:stretch>
        </p:blipFill>
        <p:spPr>
          <a:xfrm>
            <a:off x="5012741" y="3705149"/>
            <a:ext cx="307238" cy="307238"/>
          </a:xfrm>
          <a:prstGeom prst="rect">
            <a:avLst/>
          </a:prstGeom>
        </p:spPr>
      </p:pic>
      <p:sp>
        <p:nvSpPr>
          <p:cNvPr id="57" name="core title 2"/>
          <p:cNvSpPr txBox="1"/>
          <p:nvPr/>
        </p:nvSpPr>
        <p:spPr>
          <a:xfrm>
            <a:off x="5623560" y="3557016"/>
            <a:ext cx="1920240" cy="320040"/>
          </a:xfrm>
          <a:prstGeom prst="rect">
            <a:avLst/>
          </a:prstGeom>
          <a:noFill/>
          <a:ln/>
        </p:spPr>
        <p:txBody>
          <a:bodyPr wrap="square" lIns="0" tIns="0" rIns="0" bIns="0" rtlCol="0" anchor="t"/>
          <a:lstStyle/>
          <a:p>
            <a:pPr indent="0" marL="0">
              <a:buNone/>
            </a:pPr>
            <a:r>
              <a:rPr lang="en-US" sz="1500" b="1" dirty="0">
                <a:solidFill>
                  <a:schemeClr val="bg1"/>
                </a:solidFill>
              </a:rPr>
              <a:t>2  Check</a:t>
            </a:r>
            <a:endParaRPr lang="en-US" sz="1500" dirty="0"/>
          </a:p>
        </p:txBody>
      </p:sp>
      <p:sp>
        <p:nvSpPr>
          <p:cNvPr id="58" name="core text 2"/>
          <p:cNvSpPr txBox="1"/>
          <p:nvPr/>
        </p:nvSpPr>
        <p:spPr>
          <a:xfrm>
            <a:off x="5623560" y="3867912"/>
            <a:ext cx="1920240" cy="274320"/>
          </a:xfrm>
          <a:prstGeom prst="rect">
            <a:avLst/>
          </a:prstGeom>
          <a:noFill/>
          <a:ln/>
        </p:spPr>
        <p:txBody>
          <a:bodyPr wrap="square" lIns="0" tIns="0" rIns="0" bIns="0" rtlCol="0" anchor="t"/>
          <a:lstStyle/>
          <a:p>
            <a:pPr indent="0" marL="0">
              <a:buNone/>
            </a:pPr>
            <a:r>
              <a:rPr lang="en-US" sz="1200" dirty="0">
                <a:solidFill>
                  <a:srgbClr val="B9B6B0"/>
                </a:solidFill>
              </a:rPr>
              <a:t>evidence, gaps</a:t>
            </a:r>
            <a:endParaRPr lang="en-US" sz="1200" dirty="0"/>
          </a:p>
        </p:txBody>
      </p:sp>
      <p:sp>
        <p:nvSpPr>
          <p:cNvPr id="59" name="core step 3 circle"/>
          <p:cNvSpPr/>
          <p:nvPr/>
        </p:nvSpPr>
        <p:spPr>
          <a:xfrm>
            <a:off x="4846320" y="4562856"/>
            <a:ext cx="640080" cy="640080"/>
          </a:xfrm>
          <a:prstGeom prst="ellipse">
            <a:avLst/>
          </a:prstGeom>
          <a:solidFill>
            <a:srgbClr val="C9A15A"/>
          </a:solidFill>
          <a:ln w="12700">
            <a:solidFill>
              <a:srgbClr val="C9A15A"/>
            </a:solidFill>
            <a:prstDash val="solid"/>
          </a:ln>
        </p:spPr>
      </p:sp>
      <p:pic>
        <p:nvPicPr>
          <p:cNvPr id="60" name="core step 3 icon" descr="preencoded.png">    </p:cNvPr>
          <p:cNvPicPr>
            <a:picLocks noChangeAspect="1"/>
          </p:cNvPicPr>
          <p:nvPr/>
        </p:nvPicPr>
        <p:blipFill>
          <a:blip r:embed="rId11"/>
          <a:stretch>
            <a:fillRect/>
          </a:stretch>
        </p:blipFill>
        <p:spPr>
          <a:xfrm>
            <a:off x="5012741" y="4729277"/>
            <a:ext cx="307238" cy="307238"/>
          </a:xfrm>
          <a:prstGeom prst="rect">
            <a:avLst/>
          </a:prstGeom>
        </p:spPr>
      </p:pic>
      <p:sp>
        <p:nvSpPr>
          <p:cNvPr id="61" name="core title 3"/>
          <p:cNvSpPr txBox="1"/>
          <p:nvPr/>
        </p:nvSpPr>
        <p:spPr>
          <a:xfrm>
            <a:off x="5623560" y="4581144"/>
            <a:ext cx="1920240" cy="320040"/>
          </a:xfrm>
          <a:prstGeom prst="rect">
            <a:avLst/>
          </a:prstGeom>
          <a:noFill/>
          <a:ln/>
        </p:spPr>
        <p:txBody>
          <a:bodyPr wrap="square" lIns="0" tIns="0" rIns="0" bIns="0" rtlCol="0" anchor="t"/>
          <a:lstStyle/>
          <a:p>
            <a:pPr indent="0" marL="0">
              <a:buNone/>
            </a:pPr>
            <a:r>
              <a:rPr lang="en-US" sz="1500" b="1" dirty="0">
                <a:solidFill>
                  <a:schemeClr val="bg1"/>
                </a:solidFill>
              </a:rPr>
              <a:t>3  Price once</a:t>
            </a:r>
            <a:endParaRPr lang="en-US" sz="1500" dirty="0"/>
          </a:p>
        </p:txBody>
      </p:sp>
      <p:sp>
        <p:nvSpPr>
          <p:cNvPr id="62" name="core text 3"/>
          <p:cNvSpPr txBox="1"/>
          <p:nvPr/>
        </p:nvSpPr>
        <p:spPr>
          <a:xfrm>
            <a:off x="5623560" y="4892040"/>
            <a:ext cx="1920240" cy="274320"/>
          </a:xfrm>
          <a:prstGeom prst="rect">
            <a:avLst/>
          </a:prstGeom>
          <a:noFill/>
          <a:ln/>
        </p:spPr>
        <p:txBody>
          <a:bodyPr wrap="square" lIns="0" tIns="0" rIns="0" bIns="0" rtlCol="0" anchor="t"/>
          <a:lstStyle/>
          <a:p>
            <a:pPr indent="0" marL="0">
              <a:buNone/>
            </a:pPr>
            <a:r>
              <a:rPr lang="en-US" sz="1200" dirty="0">
                <a:solidFill>
                  <a:srgbClr val="B9B6B0"/>
                </a:solidFill>
              </a:rPr>
              <a:t>SA rates</a:t>
            </a:r>
            <a:endParaRPr lang="en-US" sz="1200" dirty="0"/>
          </a:p>
        </p:txBody>
      </p:sp>
      <p:sp>
        <p:nvSpPr>
          <p:cNvPr id="63" name="Shape 49"/>
          <p:cNvSpPr/>
          <p:nvPr/>
        </p:nvSpPr>
        <p:spPr>
          <a:xfrm>
            <a:off x="4206240" y="3703320"/>
            <a:ext cx="347472" cy="0"/>
          </a:xfrm>
          <a:prstGeom prst="line">
            <a:avLst/>
          </a:prstGeom>
          <a:noFill/>
          <a:ln w="25400">
            <a:solidFill>
              <a:srgbClr val="C9A15A"/>
            </a:solidFill>
            <a:prstDash val="solid"/>
            <a:tailEnd type="triangle"/>
          </a:ln>
        </p:spPr>
      </p:sp>
      <p:sp>
        <p:nvSpPr>
          <p:cNvPr id="64" name="Shape 50"/>
          <p:cNvSpPr/>
          <p:nvPr/>
        </p:nvSpPr>
        <p:spPr>
          <a:xfrm>
            <a:off x="7653528" y="3703320"/>
            <a:ext cx="329184" cy="0"/>
          </a:xfrm>
          <a:prstGeom prst="line">
            <a:avLst/>
          </a:prstGeom>
          <a:noFill/>
          <a:ln w="25400">
            <a:solidFill>
              <a:srgbClr val="C9A15A"/>
            </a:solidFill>
            <a:prstDash val="solid"/>
            <a:tailEnd type="triangle"/>
          </a:ln>
        </p:spPr>
      </p:sp>
      <p:sp>
        <p:nvSpPr>
          <p:cNvPr id="65" name="in-out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No drawing? No guess hidden: anything not on the drawings is priced as a marked assumption.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readers, one set of findings, one pricer</a:t>
            </a:r>
            <a:endParaRPr lang="en-US" sz="2600" dirty="0"/>
          </a:p>
        </p:txBody>
      </p:sp>
      <p:sp>
        <p:nvSpPr>
          <p:cNvPr id="7" name="input 1"/>
          <p:cNvSpPr/>
          <p:nvPr/>
        </p:nvSpPr>
        <p:spPr>
          <a:xfrm>
            <a:off x="548640" y="1600200"/>
            <a:ext cx="2148840" cy="1417320"/>
          </a:xfrm>
          <a:prstGeom prst="rect">
            <a:avLst/>
          </a:prstGeom>
          <a:solidFill>
            <a:schemeClr val="bg1"/>
          </a:solidFill>
          <a:ln w="9525">
            <a:solidFill>
              <a:srgbClr val="D8D3CB"/>
            </a:solidFill>
            <a:prstDash val="solid"/>
          </a:ln>
        </p:spPr>
      </p:sp>
      <p:sp>
        <p:nvSpPr>
          <p:cNvPr id="8" name="input 1 circle"/>
          <p:cNvSpPr/>
          <p:nvPr/>
        </p:nvSpPr>
        <p:spPr>
          <a:xfrm>
            <a:off x="749808" y="1828800"/>
            <a:ext cx="548640" cy="548640"/>
          </a:xfrm>
          <a:prstGeom prst="ellipse">
            <a:avLst/>
          </a:prstGeom>
          <a:solidFill>
            <a:srgbClr val="FFFFFF"/>
          </a:solidFill>
          <a:ln w="12700">
            <a:solidFill>
              <a:srgbClr val="FFFFFF"/>
            </a:solidFill>
            <a:prstDash val="solid"/>
          </a:ln>
        </p:spPr>
      </p:sp>
      <p:pic>
        <p:nvPicPr>
          <p:cNvPr id="9"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10"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11"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12" name="Shape 8"/>
          <p:cNvSpPr/>
          <p:nvPr/>
        </p:nvSpPr>
        <p:spPr>
          <a:xfrm>
            <a:off x="2743200" y="2313432"/>
            <a:ext cx="365760" cy="0"/>
          </a:xfrm>
          <a:prstGeom prst="line">
            <a:avLst/>
          </a:prstGeom>
          <a:noFill/>
          <a:ln w="25400">
            <a:solidFill>
              <a:srgbClr val="8B8781"/>
            </a:solidFill>
            <a:prstDash val="solid"/>
            <a:tailEnd type="triangle"/>
          </a:ln>
        </p:spPr>
      </p:sp>
      <p:sp>
        <p:nvSpPr>
          <p:cNvPr id="13" name="reader 1"/>
          <p:cNvSpPr/>
          <p:nvPr/>
        </p:nvSpPr>
        <p:spPr>
          <a:xfrm>
            <a:off x="3154680" y="1600200"/>
            <a:ext cx="2377440" cy="1417320"/>
          </a:xfrm>
          <a:prstGeom prst="rect">
            <a:avLst/>
          </a:prstGeom>
          <a:solidFill>
            <a:schemeClr val="bg2"/>
          </a:solidFill>
          <a:ln w="9525">
            <a:solidFill>
              <a:srgbClr val="D8D3CB"/>
            </a:solidFill>
            <a:prstDash val="solid"/>
          </a:ln>
        </p:spPr>
      </p:sp>
      <p:sp>
        <p:nvSpPr>
          <p:cNvPr id="14" name="reader 1 circle"/>
          <p:cNvSpPr/>
          <p:nvPr/>
        </p:nvSpPr>
        <p:spPr>
          <a:xfrm>
            <a:off x="3355848" y="1828800"/>
            <a:ext cx="548640" cy="548640"/>
          </a:xfrm>
          <a:prstGeom prst="ellipse">
            <a:avLst/>
          </a:prstGeom>
          <a:solidFill>
            <a:srgbClr val="8E1B1B"/>
          </a:solidFill>
          <a:ln w="12700">
            <a:solidFill>
              <a:srgbClr val="8E1B1B"/>
            </a:solidFill>
            <a:prstDash val="solid"/>
          </a:ln>
        </p:spPr>
      </p:sp>
      <p:pic>
        <p:nvPicPr>
          <p:cNvPr id="15"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6"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7"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8" name="Shape 13"/>
          <p:cNvSpPr/>
          <p:nvPr/>
        </p:nvSpPr>
        <p:spPr>
          <a:xfrm>
            <a:off x="5577840" y="2313432"/>
            <a:ext cx="365760" cy="0"/>
          </a:xfrm>
          <a:prstGeom prst="line">
            <a:avLst/>
          </a:prstGeom>
          <a:noFill/>
          <a:ln w="25400">
            <a:solidFill>
              <a:srgbClr val="8B8781"/>
            </a:solidFill>
            <a:prstDash val="solid"/>
            <a:tailEnd type="triangle"/>
          </a:ln>
        </p:spPr>
      </p:sp>
      <p:sp>
        <p:nvSpPr>
          <p:cNvPr id="19" name="input 2"/>
          <p:cNvSpPr/>
          <p:nvPr/>
        </p:nvSpPr>
        <p:spPr>
          <a:xfrm>
            <a:off x="548640" y="3794760"/>
            <a:ext cx="2148840" cy="1417320"/>
          </a:xfrm>
          <a:prstGeom prst="rect">
            <a:avLst/>
          </a:prstGeom>
          <a:solidFill>
            <a:schemeClr val="bg1"/>
          </a:solidFill>
          <a:ln w="9525">
            <a:solidFill>
              <a:srgbClr val="D8D3CB"/>
            </a:solidFill>
            <a:prstDash val="solid"/>
          </a:ln>
        </p:spPr>
      </p:sp>
      <p:sp>
        <p:nvSpPr>
          <p:cNvPr id="20" name="input 2 circle"/>
          <p:cNvSpPr/>
          <p:nvPr/>
        </p:nvSpPr>
        <p:spPr>
          <a:xfrm>
            <a:off x="749808" y="4023360"/>
            <a:ext cx="548640" cy="548640"/>
          </a:xfrm>
          <a:prstGeom prst="ellipse">
            <a:avLst/>
          </a:prstGeom>
          <a:solidFill>
            <a:srgbClr val="FFFFFF"/>
          </a:solidFill>
          <a:ln w="12700">
            <a:solidFill>
              <a:srgbClr val="FFFFFF"/>
            </a:solidFill>
            <a:prstDash val="solid"/>
          </a:ln>
        </p:spPr>
      </p:sp>
      <p:pic>
        <p:nvPicPr>
          <p:cNvPr id="21"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22"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3"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4" name="Shape 18"/>
          <p:cNvSpPr/>
          <p:nvPr/>
        </p:nvSpPr>
        <p:spPr>
          <a:xfrm>
            <a:off x="2743200" y="4507992"/>
            <a:ext cx="365760" cy="0"/>
          </a:xfrm>
          <a:prstGeom prst="line">
            <a:avLst/>
          </a:prstGeom>
          <a:noFill/>
          <a:ln w="25400">
            <a:solidFill>
              <a:srgbClr val="8B8781"/>
            </a:solidFill>
            <a:prstDash val="solid"/>
            <a:tailEnd type="triangle"/>
          </a:ln>
        </p:spPr>
      </p:sp>
      <p:sp>
        <p:nvSpPr>
          <p:cNvPr id="25" name="reader 2"/>
          <p:cNvSpPr/>
          <p:nvPr/>
        </p:nvSpPr>
        <p:spPr>
          <a:xfrm>
            <a:off x="3154680" y="3794760"/>
            <a:ext cx="2377440" cy="1417320"/>
          </a:xfrm>
          <a:prstGeom prst="rect">
            <a:avLst/>
          </a:prstGeom>
          <a:solidFill>
            <a:schemeClr val="bg2"/>
          </a:solidFill>
          <a:ln w="9525">
            <a:solidFill>
              <a:srgbClr val="D8D3CB"/>
            </a:solidFill>
            <a:prstDash val="solid"/>
          </a:ln>
        </p:spPr>
      </p:sp>
      <p:sp>
        <p:nvSpPr>
          <p:cNvPr id="26" name="reader 2 circle"/>
          <p:cNvSpPr/>
          <p:nvPr/>
        </p:nvSpPr>
        <p:spPr>
          <a:xfrm>
            <a:off x="3355848" y="4023360"/>
            <a:ext cx="548640" cy="548640"/>
          </a:xfrm>
          <a:prstGeom prst="ellipse">
            <a:avLst/>
          </a:prstGeom>
          <a:solidFill>
            <a:srgbClr val="8E1B1B"/>
          </a:solidFill>
          <a:ln w="12700">
            <a:solidFill>
              <a:srgbClr val="8E1B1B"/>
            </a:solidFill>
            <a:prstDash val="solid"/>
          </a:ln>
        </p:spPr>
      </p:sp>
      <p:pic>
        <p:nvPicPr>
          <p:cNvPr id="27"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8"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9"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30" name="Shape 23"/>
          <p:cNvSpPr/>
          <p:nvPr/>
        </p:nvSpPr>
        <p:spPr>
          <a:xfrm>
            <a:off x="5577840" y="4507992"/>
            <a:ext cx="365760" cy="0"/>
          </a:xfrm>
          <a:prstGeom prst="line">
            <a:avLst/>
          </a:prstGeom>
          <a:noFill/>
          <a:ln w="25400">
            <a:solidFill>
              <a:srgbClr val="8B8781"/>
            </a:solidFill>
            <a:prstDash val="solid"/>
            <a:tailEnd type="triangle"/>
          </a:ln>
        </p:spPr>
      </p:sp>
      <p:sp>
        <p:nvSpPr>
          <p:cNvPr id="31" name="findings"/>
          <p:cNvSpPr/>
          <p:nvPr/>
        </p:nvSpPr>
        <p:spPr>
          <a:xfrm>
            <a:off x="5989320" y="1600200"/>
            <a:ext cx="1828800" cy="3611880"/>
          </a:xfrm>
          <a:prstGeom prst="rect">
            <a:avLst/>
          </a:prstGeom>
          <a:solidFill>
            <a:schemeClr val="bg1"/>
          </a:solidFill>
          <a:ln w="9525">
            <a:solidFill>
              <a:srgbClr val="D8D3CB"/>
            </a:solidFill>
            <a:prstDash val="solid"/>
          </a:ln>
        </p:spPr>
      </p:sp>
      <p:sp>
        <p:nvSpPr>
          <p:cNvPr id="32" name="findings circle"/>
          <p:cNvSpPr/>
          <p:nvPr/>
        </p:nvSpPr>
        <p:spPr>
          <a:xfrm>
            <a:off x="6583680" y="1783080"/>
            <a:ext cx="640080" cy="640080"/>
          </a:xfrm>
          <a:prstGeom prst="ellipse">
            <a:avLst/>
          </a:prstGeom>
          <a:solidFill>
            <a:srgbClr val="C9A15A"/>
          </a:solidFill>
          <a:ln w="12700">
            <a:solidFill>
              <a:srgbClr val="C9A15A"/>
            </a:solidFill>
            <a:prstDash val="solid"/>
          </a:ln>
        </p:spPr>
      </p:sp>
      <p:pic>
        <p:nvPicPr>
          <p:cNvPr id="33"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4"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5"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6" name="Shape 28"/>
          <p:cNvSpPr/>
          <p:nvPr/>
        </p:nvSpPr>
        <p:spPr>
          <a:xfrm>
            <a:off x="7863840" y="3401568"/>
            <a:ext cx="365760" cy="0"/>
          </a:xfrm>
          <a:prstGeom prst="line">
            <a:avLst/>
          </a:prstGeom>
          <a:noFill/>
          <a:ln w="25400">
            <a:solidFill>
              <a:srgbClr val="8B8781"/>
            </a:solidFill>
            <a:prstDash val="solid"/>
            <a:tailEnd type="triangle"/>
          </a:ln>
        </p:spPr>
      </p:sp>
      <p:sp>
        <p:nvSpPr>
          <p:cNvPr id="37" name="combine"/>
          <p:cNvSpPr/>
          <p:nvPr/>
        </p:nvSpPr>
        <p:spPr>
          <a:xfrm>
            <a:off x="8275320" y="1600200"/>
            <a:ext cx="1783080" cy="1508760"/>
          </a:xfrm>
          <a:prstGeom prst="rect">
            <a:avLst/>
          </a:prstGeom>
          <a:solidFill>
            <a:schemeClr val="bg2"/>
          </a:solidFill>
          <a:ln w="9525">
            <a:solidFill>
              <a:srgbClr val="D8D3CB"/>
            </a:solidFill>
            <a:prstDash val="solid"/>
          </a:ln>
        </p:spPr>
      </p:sp>
      <p:sp>
        <p:nvSpPr>
          <p:cNvPr id="38" name="combine circle"/>
          <p:cNvSpPr/>
          <p:nvPr/>
        </p:nvSpPr>
        <p:spPr>
          <a:xfrm>
            <a:off x="8458200" y="1755648"/>
            <a:ext cx="502920" cy="502920"/>
          </a:xfrm>
          <a:prstGeom prst="ellipse">
            <a:avLst/>
          </a:prstGeom>
          <a:solidFill>
            <a:srgbClr val="8E1B1B"/>
          </a:solidFill>
          <a:ln w="12700">
            <a:solidFill>
              <a:srgbClr val="8E1B1B"/>
            </a:solidFill>
            <a:prstDash val="solid"/>
          </a:ln>
        </p:spPr>
      </p:sp>
      <p:pic>
        <p:nvPicPr>
          <p:cNvPr id="39"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40"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41"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42" name="Shape 33"/>
          <p:cNvSpPr/>
          <p:nvPr/>
        </p:nvSpPr>
        <p:spPr>
          <a:xfrm>
            <a:off x="9162288" y="3154680"/>
            <a:ext cx="0" cy="502920"/>
          </a:xfrm>
          <a:prstGeom prst="line">
            <a:avLst/>
          </a:prstGeom>
          <a:noFill/>
          <a:ln w="25400">
            <a:solidFill>
              <a:srgbClr val="8B8781"/>
            </a:solidFill>
            <a:prstDash val="solid"/>
            <a:tailEnd type="triangle"/>
          </a:ln>
        </p:spPr>
      </p:sp>
      <p:sp>
        <p:nvSpPr>
          <p:cNvPr id="43" name="price"/>
          <p:cNvSpPr/>
          <p:nvPr/>
        </p:nvSpPr>
        <p:spPr>
          <a:xfrm>
            <a:off x="8275320" y="3703320"/>
            <a:ext cx="1783080" cy="1508760"/>
          </a:xfrm>
          <a:prstGeom prst="rect">
            <a:avLst/>
          </a:prstGeom>
          <a:solidFill>
            <a:schemeClr val="bg2"/>
          </a:solidFill>
          <a:ln w="9525">
            <a:solidFill>
              <a:srgbClr val="D8D3CB"/>
            </a:solidFill>
            <a:prstDash val="solid"/>
          </a:ln>
        </p:spPr>
      </p:sp>
      <p:sp>
        <p:nvSpPr>
          <p:cNvPr id="44" name="price circle"/>
          <p:cNvSpPr/>
          <p:nvPr/>
        </p:nvSpPr>
        <p:spPr>
          <a:xfrm>
            <a:off x="8458200" y="3858768"/>
            <a:ext cx="502920" cy="502920"/>
          </a:xfrm>
          <a:prstGeom prst="ellipse">
            <a:avLst/>
          </a:prstGeom>
          <a:solidFill>
            <a:srgbClr val="8E1B1B"/>
          </a:solidFill>
          <a:ln w="12700">
            <a:solidFill>
              <a:srgbClr val="8E1B1B"/>
            </a:solidFill>
            <a:prstDash val="solid"/>
          </a:ln>
        </p:spPr>
      </p:sp>
      <p:pic>
        <p:nvPicPr>
          <p:cNvPr id="45"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6"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7"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8" name="Shape 38"/>
          <p:cNvSpPr/>
          <p:nvPr/>
        </p:nvSpPr>
        <p:spPr>
          <a:xfrm>
            <a:off x="10104120" y="4462272"/>
            <a:ext cx="320040" cy="0"/>
          </a:xfrm>
          <a:prstGeom prst="line">
            <a:avLst/>
          </a:prstGeom>
          <a:noFill/>
          <a:ln w="25400">
            <a:solidFill>
              <a:srgbClr val="8B8781"/>
            </a:solidFill>
            <a:prstDash val="solid"/>
            <a:tailEnd type="triangle"/>
          </a:ln>
        </p:spPr>
      </p:sp>
      <p:sp>
        <p:nvSpPr>
          <p:cNvPr id="49" name="outputs"/>
          <p:cNvSpPr/>
          <p:nvPr/>
        </p:nvSpPr>
        <p:spPr>
          <a:xfrm>
            <a:off x="10469880" y="1600200"/>
            <a:ext cx="1188720" cy="3611880"/>
          </a:xfrm>
          <a:prstGeom prst="rect">
            <a:avLst/>
          </a:prstGeom>
          <a:solidFill>
            <a:schemeClr val="bg1"/>
          </a:solidFill>
          <a:ln w="9525">
            <a:solidFill>
              <a:srgbClr val="D8D3CB"/>
            </a:solidFill>
            <a:prstDash val="solid"/>
          </a:ln>
        </p:spPr>
      </p:sp>
      <p:sp>
        <p:nvSpPr>
          <p:cNvPr id="50" name="output 1 circle"/>
          <p:cNvSpPr/>
          <p:nvPr/>
        </p:nvSpPr>
        <p:spPr>
          <a:xfrm>
            <a:off x="10808208" y="1783080"/>
            <a:ext cx="502920" cy="502920"/>
          </a:xfrm>
          <a:prstGeom prst="ellipse">
            <a:avLst/>
          </a:prstGeom>
          <a:solidFill>
            <a:srgbClr val="FFFFFF"/>
          </a:solidFill>
          <a:ln w="12700">
            <a:solidFill>
              <a:srgbClr val="FFFFFF"/>
            </a:solidFill>
            <a:prstDash val="solid"/>
          </a:ln>
        </p:spPr>
      </p:sp>
      <p:pic>
        <p:nvPicPr>
          <p:cNvPr id="51"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52"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3" name="output 2 circle"/>
          <p:cNvSpPr/>
          <p:nvPr/>
        </p:nvSpPr>
        <p:spPr>
          <a:xfrm>
            <a:off x="10808208" y="2633472"/>
            <a:ext cx="502920" cy="502920"/>
          </a:xfrm>
          <a:prstGeom prst="ellipse">
            <a:avLst/>
          </a:prstGeom>
          <a:solidFill>
            <a:srgbClr val="FFFFFF"/>
          </a:solidFill>
          <a:ln w="12700">
            <a:solidFill>
              <a:srgbClr val="FFFFFF"/>
            </a:solidFill>
            <a:prstDash val="solid"/>
          </a:ln>
        </p:spPr>
      </p:sp>
      <p:pic>
        <p:nvPicPr>
          <p:cNvPr id="54"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5"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6" name="output 3 circle"/>
          <p:cNvSpPr/>
          <p:nvPr/>
        </p:nvSpPr>
        <p:spPr>
          <a:xfrm>
            <a:off x="10808208" y="3483864"/>
            <a:ext cx="502920" cy="502920"/>
          </a:xfrm>
          <a:prstGeom prst="ellipse">
            <a:avLst/>
          </a:prstGeom>
          <a:solidFill>
            <a:srgbClr val="FFFFFF"/>
          </a:solidFill>
          <a:ln w="12700">
            <a:solidFill>
              <a:srgbClr val="FFFFFF"/>
            </a:solidFill>
            <a:prstDash val="solid"/>
          </a:ln>
        </p:spPr>
      </p:sp>
      <p:pic>
        <p:nvPicPr>
          <p:cNvPr id="57"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8"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9" name="output 4 circle"/>
          <p:cNvSpPr/>
          <p:nvPr/>
        </p:nvSpPr>
        <p:spPr>
          <a:xfrm>
            <a:off x="10808208" y="4334256"/>
            <a:ext cx="502920" cy="502920"/>
          </a:xfrm>
          <a:prstGeom prst="ellipse">
            <a:avLst/>
          </a:prstGeom>
          <a:solidFill>
            <a:srgbClr val="FFFFFF"/>
          </a:solidFill>
          <a:ln w="12700">
            <a:solidFill>
              <a:srgbClr val="FFFFFF"/>
            </a:solidFill>
            <a:prstDash val="solid"/>
          </a:ln>
        </p:spPr>
      </p:sp>
      <p:pic>
        <p:nvPicPr>
          <p:cNvPr id="60"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61"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62"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model reads; the AfriPlan Engine counts, checks and prices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web app: a team of specialist AI agents</a:t>
            </a:r>
            <a:endParaRPr lang="en-US" sz="2600" dirty="0"/>
          </a:p>
        </p:txBody>
      </p:sp>
      <p:sp>
        <p:nvSpPr>
          <p:cNvPr id="7" name="input pdf"/>
          <p:cNvSpPr/>
          <p:nvPr/>
        </p:nvSpPr>
        <p:spPr>
          <a:xfrm>
            <a:off x="548640" y="1783080"/>
            <a:ext cx="1417320" cy="685800"/>
          </a:xfrm>
          <a:prstGeom prst="rect">
            <a:avLst/>
          </a:prstGeom>
          <a:solidFill>
            <a:srgbClr val="FFFFFF"/>
          </a:solidFill>
          <a:ln w="9525">
            <a:solidFill>
              <a:srgbClr val="D8D3CB"/>
            </a:solidFill>
            <a:prstDash val="solid"/>
          </a:ln>
        </p:spPr>
      </p:sp>
      <p:sp>
        <p:nvSpPr>
          <p:cNvPr id="8" name="input pdf text"/>
          <p:cNvSpPr txBox="1"/>
          <p:nvPr/>
        </p:nvSpPr>
        <p:spPr>
          <a:xfrm>
            <a:off x="640080" y="1837944"/>
            <a:ext cx="1234440" cy="5943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YOU UPLOAD</a:t>
            </a:r>
            <a:endParaRPr lang="en-US" sz="1400" dirty="0"/>
          </a:p>
          <a:p>
            <a:pPr indent="0" marL="0">
              <a:buNone/>
            </a:pPr>
            <a:r>
              <a:rPr lang="en-US" sz="1100" b="1" dirty="0">
                <a:solidFill>
                  <a:srgbClr val="14151A"/>
                </a:solidFill>
              </a:rPr>
              <a:t>PDF drawings</a:t>
            </a:r>
            <a:endParaRPr lang="en-US" sz="1400" dirty="0"/>
          </a:p>
        </p:txBody>
      </p:sp>
      <p:sp>
        <p:nvSpPr>
          <p:cNvPr id="9" name="input cad"/>
          <p:cNvSpPr/>
          <p:nvPr/>
        </p:nvSpPr>
        <p:spPr>
          <a:xfrm>
            <a:off x="548640" y="4709160"/>
            <a:ext cx="1417320" cy="685800"/>
          </a:xfrm>
          <a:prstGeom prst="rect">
            <a:avLst/>
          </a:prstGeom>
          <a:solidFill>
            <a:srgbClr val="FFFFFF"/>
          </a:solidFill>
          <a:ln w="9525">
            <a:solidFill>
              <a:srgbClr val="D8D3CB"/>
            </a:solidFill>
            <a:prstDash val="solid"/>
          </a:ln>
        </p:spPr>
      </p:sp>
      <p:sp>
        <p:nvSpPr>
          <p:cNvPr id="10" name="input cad text"/>
          <p:cNvSpPr txBox="1"/>
          <p:nvPr/>
        </p:nvSpPr>
        <p:spPr>
          <a:xfrm>
            <a:off x="640080" y="4764024"/>
            <a:ext cx="1234440" cy="5943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YOU UPLOAD</a:t>
            </a:r>
            <a:endParaRPr lang="en-US" sz="1400" dirty="0"/>
          </a:p>
          <a:p>
            <a:pPr indent="0" marL="0">
              <a:buNone/>
            </a:pPr>
            <a:r>
              <a:rPr lang="en-US" sz="1100" b="1" dirty="0">
                <a:solidFill>
                  <a:srgbClr val="14151A"/>
                </a:solidFill>
              </a:rPr>
              <a:t>DWG / DXF drawings</a:t>
            </a:r>
            <a:endParaRPr lang="en-US" sz="1400" dirty="0"/>
          </a:p>
        </p:txBody>
      </p:sp>
      <p:sp>
        <p:nvSpPr>
          <p:cNvPr id="11" name="Shape 8"/>
          <p:cNvSpPr/>
          <p:nvPr/>
        </p:nvSpPr>
        <p:spPr>
          <a:xfrm>
            <a:off x="1984248" y="2121408"/>
            <a:ext cx="192024" cy="0"/>
          </a:xfrm>
          <a:prstGeom prst="line">
            <a:avLst/>
          </a:prstGeom>
          <a:noFill/>
          <a:ln w="25400">
            <a:solidFill>
              <a:srgbClr val="8B8781"/>
            </a:solidFill>
            <a:prstDash val="solid"/>
            <a:tailEnd type="triangle"/>
          </a:ln>
        </p:spPr>
      </p:sp>
      <p:sp>
        <p:nvSpPr>
          <p:cNvPr id="12" name="Shape 9"/>
          <p:cNvSpPr/>
          <p:nvPr/>
        </p:nvSpPr>
        <p:spPr>
          <a:xfrm>
            <a:off x="1984248" y="5047488"/>
            <a:ext cx="192024" cy="0"/>
          </a:xfrm>
          <a:prstGeom prst="line">
            <a:avLst/>
          </a:prstGeom>
          <a:noFill/>
          <a:ln w="25400">
            <a:solidFill>
              <a:srgbClr val="8B8781"/>
            </a:solidFill>
            <a:prstDash val="solid"/>
            <a:tailEnd type="triangle"/>
          </a:ln>
        </p:spPr>
      </p:sp>
      <p:sp>
        <p:nvSpPr>
          <p:cNvPr id="13" name="prepare"/>
          <p:cNvSpPr/>
          <p:nvPr/>
        </p:nvSpPr>
        <p:spPr>
          <a:xfrm>
            <a:off x="2194560" y="1783080"/>
            <a:ext cx="1737360" cy="685800"/>
          </a:xfrm>
          <a:prstGeom prst="rect">
            <a:avLst/>
          </a:prstGeom>
          <a:solidFill>
            <a:srgbClr val="E2DDD5"/>
          </a:solidFill>
          <a:ln w="9525">
            <a:solidFill>
              <a:srgbClr val="CFC8BE"/>
            </a:solidFill>
            <a:prstDash val="solid"/>
          </a:ln>
        </p:spPr>
      </p:sp>
      <p:sp>
        <p:nvSpPr>
          <p:cNvPr id="14" name="prepare text"/>
          <p:cNvSpPr txBox="1"/>
          <p:nvPr/>
        </p:nvSpPr>
        <p:spPr>
          <a:xfrm>
            <a:off x="2286000" y="1837944"/>
            <a:ext cx="1554480" cy="5943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prepares every page</a:t>
            </a:r>
            <a:endParaRPr lang="en-US" sz="1400" dirty="0"/>
          </a:p>
        </p:txBody>
      </p:sp>
      <p:sp>
        <p:nvSpPr>
          <p:cNvPr id="15" name="measure cad"/>
          <p:cNvSpPr/>
          <p:nvPr/>
        </p:nvSpPr>
        <p:spPr>
          <a:xfrm>
            <a:off x="2194560" y="4709160"/>
            <a:ext cx="1737360" cy="685800"/>
          </a:xfrm>
          <a:prstGeom prst="rect">
            <a:avLst/>
          </a:prstGeom>
          <a:solidFill>
            <a:srgbClr val="E2DDD5"/>
          </a:solidFill>
          <a:ln w="9525">
            <a:solidFill>
              <a:srgbClr val="CFC8BE"/>
            </a:solidFill>
            <a:prstDash val="solid"/>
          </a:ln>
        </p:spPr>
      </p:sp>
      <p:sp>
        <p:nvSpPr>
          <p:cNvPr id="16" name="measure cad text"/>
          <p:cNvSpPr txBox="1"/>
          <p:nvPr/>
        </p:nvSpPr>
        <p:spPr>
          <a:xfrm>
            <a:off x="2286000" y="4764024"/>
            <a:ext cx="1554480" cy="5943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measures every CAD drawing</a:t>
            </a:r>
            <a:endParaRPr lang="en-US" sz="1400" dirty="0"/>
          </a:p>
        </p:txBody>
      </p:sp>
      <p:sp>
        <p:nvSpPr>
          <p:cNvPr id="17" name="Shape 14"/>
          <p:cNvSpPr/>
          <p:nvPr/>
        </p:nvSpPr>
        <p:spPr>
          <a:xfrm>
            <a:off x="3950208" y="2121408"/>
            <a:ext cx="192024" cy="0"/>
          </a:xfrm>
          <a:prstGeom prst="line">
            <a:avLst/>
          </a:prstGeom>
          <a:noFill/>
          <a:ln w="25400">
            <a:solidFill>
              <a:srgbClr val="8B8781"/>
            </a:solidFill>
            <a:prstDash val="solid"/>
            <a:tailEnd type="triangle"/>
          </a:ln>
        </p:spPr>
      </p:sp>
      <p:sp>
        <p:nvSpPr>
          <p:cNvPr id="18" name="Shape 15"/>
          <p:cNvSpPr/>
          <p:nvPr/>
        </p:nvSpPr>
        <p:spPr>
          <a:xfrm>
            <a:off x="3950208" y="5047488"/>
            <a:ext cx="192024" cy="0"/>
          </a:xfrm>
          <a:prstGeom prst="line">
            <a:avLst/>
          </a:prstGeom>
          <a:noFill/>
          <a:ln w="25400">
            <a:solidFill>
              <a:srgbClr val="8B8781"/>
            </a:solidFill>
            <a:prstDash val="solid"/>
            <a:tailEnd type="triangle"/>
          </a:ln>
        </p:spPr>
      </p:sp>
      <p:sp>
        <p:nvSpPr>
          <p:cNvPr id="19" name="reader 1"/>
          <p:cNvSpPr/>
          <p:nvPr/>
        </p:nvSpPr>
        <p:spPr>
          <a:xfrm>
            <a:off x="4160520" y="1417320"/>
            <a:ext cx="2377440" cy="521208"/>
          </a:xfrm>
          <a:prstGeom prst="rect">
            <a:avLst/>
          </a:prstGeom>
          <a:solidFill>
            <a:srgbClr val="8E1B1B"/>
          </a:solidFill>
          <a:ln w="9525">
            <a:solidFill>
              <a:srgbClr val="8E1B1B"/>
            </a:solidFill>
            <a:prstDash val="solid"/>
          </a:ln>
        </p:spPr>
      </p:sp>
      <p:sp>
        <p:nvSpPr>
          <p:cNvPr id="20" name="reader 1 text"/>
          <p:cNvSpPr txBox="1"/>
          <p:nvPr/>
        </p:nvSpPr>
        <p:spPr>
          <a:xfrm>
            <a:off x="4251960" y="1472184"/>
            <a:ext cx="2194560" cy="42976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sorting drawing pages</a:t>
            </a:r>
            <a:endParaRPr lang="en-US" sz="1400" dirty="0"/>
          </a:p>
        </p:txBody>
      </p:sp>
      <p:sp>
        <p:nvSpPr>
          <p:cNvPr id="21" name="reader 2"/>
          <p:cNvSpPr/>
          <p:nvPr/>
        </p:nvSpPr>
        <p:spPr>
          <a:xfrm>
            <a:off x="4160520" y="2011680"/>
            <a:ext cx="2377440" cy="521208"/>
          </a:xfrm>
          <a:prstGeom prst="rect">
            <a:avLst/>
          </a:prstGeom>
          <a:solidFill>
            <a:srgbClr val="8E1B1B"/>
          </a:solidFill>
          <a:ln w="9525">
            <a:solidFill>
              <a:srgbClr val="8E1B1B"/>
            </a:solidFill>
            <a:prstDash val="solid"/>
          </a:ln>
        </p:spPr>
      </p:sp>
      <p:sp>
        <p:nvSpPr>
          <p:cNvPr id="22" name="reader 2 text"/>
          <p:cNvSpPr txBox="1"/>
          <p:nvPr/>
        </p:nvSpPr>
        <p:spPr>
          <a:xfrm>
            <a:off x="4251960" y="2066544"/>
            <a:ext cx="2194560" cy="42976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reading the project: titles, legend</a:t>
            </a:r>
            <a:endParaRPr lang="en-US" sz="1400" dirty="0"/>
          </a:p>
        </p:txBody>
      </p:sp>
      <p:sp>
        <p:nvSpPr>
          <p:cNvPr id="23" name="reader 3"/>
          <p:cNvSpPr/>
          <p:nvPr/>
        </p:nvSpPr>
        <p:spPr>
          <a:xfrm>
            <a:off x="4160520" y="2606040"/>
            <a:ext cx="2377440" cy="521208"/>
          </a:xfrm>
          <a:prstGeom prst="rect">
            <a:avLst/>
          </a:prstGeom>
          <a:solidFill>
            <a:srgbClr val="8E1B1B"/>
          </a:solidFill>
          <a:ln w="9525">
            <a:solidFill>
              <a:srgbClr val="8E1B1B"/>
            </a:solidFill>
            <a:prstDash val="solid"/>
          </a:ln>
        </p:spPr>
      </p:sp>
      <p:sp>
        <p:nvSpPr>
          <p:cNvPr id="24" name="reader 3 text"/>
          <p:cNvSpPr txBox="1"/>
          <p:nvPr/>
        </p:nvSpPr>
        <p:spPr>
          <a:xfrm>
            <a:off x="4251960" y="2660904"/>
            <a:ext cx="2194560" cy="42976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single-line diagrams — reads 3× and votes</a:t>
            </a:r>
            <a:endParaRPr lang="en-US" sz="1400" dirty="0"/>
          </a:p>
        </p:txBody>
      </p:sp>
      <p:sp>
        <p:nvSpPr>
          <p:cNvPr id="25" name="reader 4"/>
          <p:cNvSpPr/>
          <p:nvPr/>
        </p:nvSpPr>
        <p:spPr>
          <a:xfrm>
            <a:off x="4160520" y="3200400"/>
            <a:ext cx="2377440" cy="521208"/>
          </a:xfrm>
          <a:prstGeom prst="rect">
            <a:avLst/>
          </a:prstGeom>
          <a:solidFill>
            <a:srgbClr val="8E1B1B"/>
          </a:solidFill>
          <a:ln w="9525">
            <a:solidFill>
              <a:srgbClr val="8E1B1B"/>
            </a:solidFill>
            <a:prstDash val="solid"/>
          </a:ln>
        </p:spPr>
      </p:sp>
      <p:sp>
        <p:nvSpPr>
          <p:cNvPr id="26" name="reader 4 text"/>
          <p:cNvSpPr txBox="1"/>
          <p:nvPr/>
        </p:nvSpPr>
        <p:spPr>
          <a:xfrm>
            <a:off x="4251960" y="3255264"/>
            <a:ext cx="2194560" cy="42976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counting layouts: lights, sockets, switches</a:t>
            </a:r>
            <a:endParaRPr lang="en-US" sz="1400" dirty="0"/>
          </a:p>
        </p:txBody>
      </p:sp>
      <p:sp>
        <p:nvSpPr>
          <p:cNvPr id="27" name="reader 5"/>
          <p:cNvSpPr/>
          <p:nvPr/>
        </p:nvSpPr>
        <p:spPr>
          <a:xfrm>
            <a:off x="4160520" y="3794760"/>
            <a:ext cx="2377440" cy="521208"/>
          </a:xfrm>
          <a:prstGeom prst="rect">
            <a:avLst/>
          </a:prstGeom>
          <a:solidFill>
            <a:srgbClr val="8E1B1B"/>
          </a:solidFill>
          <a:ln w="9525">
            <a:solidFill>
              <a:srgbClr val="8E1B1B"/>
            </a:solidFill>
            <a:prstDash val="solid"/>
          </a:ln>
        </p:spPr>
      </p:sp>
      <p:sp>
        <p:nvSpPr>
          <p:cNvPr id="28" name="reader 5 text"/>
          <p:cNvSpPr txBox="1"/>
          <p:nvPr/>
        </p:nvSpPr>
        <p:spPr>
          <a:xfrm>
            <a:off x="4251960" y="3849624"/>
            <a:ext cx="2194560" cy="42976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re-reading difficult pages (stronger model)</a:t>
            </a:r>
            <a:endParaRPr lang="en-US" sz="1400" dirty="0"/>
          </a:p>
        </p:txBody>
      </p:sp>
      <p:sp>
        <p:nvSpPr>
          <p:cNvPr id="29" name="symbol namer"/>
          <p:cNvSpPr/>
          <p:nvPr/>
        </p:nvSpPr>
        <p:spPr>
          <a:xfrm>
            <a:off x="4160520" y="4709160"/>
            <a:ext cx="2377440" cy="685800"/>
          </a:xfrm>
          <a:prstGeom prst="rect">
            <a:avLst/>
          </a:prstGeom>
          <a:solidFill>
            <a:srgbClr val="8E1B1B"/>
          </a:solidFill>
          <a:ln w="9525">
            <a:solidFill>
              <a:srgbClr val="8E1B1B"/>
            </a:solidFill>
            <a:prstDash val="solid"/>
          </a:ln>
        </p:spPr>
      </p:sp>
      <p:sp>
        <p:nvSpPr>
          <p:cNvPr id="30" name="symbol namer text"/>
          <p:cNvSpPr txBox="1"/>
          <p:nvPr/>
        </p:nvSpPr>
        <p:spPr>
          <a:xfrm>
            <a:off x="4251960" y="4764024"/>
            <a:ext cx="2194560" cy="594360"/>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naming CAD symbols (optional)</a:t>
            </a:r>
            <a:endParaRPr lang="en-US" sz="1400" dirty="0"/>
          </a:p>
        </p:txBody>
      </p:sp>
      <p:sp>
        <p:nvSpPr>
          <p:cNvPr id="31" name="Shape 28"/>
          <p:cNvSpPr/>
          <p:nvPr/>
        </p:nvSpPr>
        <p:spPr>
          <a:xfrm>
            <a:off x="6556248" y="2121408"/>
            <a:ext cx="237744" cy="0"/>
          </a:xfrm>
          <a:prstGeom prst="line">
            <a:avLst/>
          </a:prstGeom>
          <a:noFill/>
          <a:ln w="25400">
            <a:solidFill>
              <a:srgbClr val="8B8781"/>
            </a:solidFill>
            <a:prstDash val="solid"/>
            <a:tailEnd type="triangle"/>
          </a:ln>
        </p:spPr>
      </p:sp>
      <p:sp>
        <p:nvSpPr>
          <p:cNvPr id="32" name="Shape 29"/>
          <p:cNvSpPr/>
          <p:nvPr/>
        </p:nvSpPr>
        <p:spPr>
          <a:xfrm>
            <a:off x="6556248" y="5047488"/>
            <a:ext cx="237744" cy="0"/>
          </a:xfrm>
          <a:prstGeom prst="line">
            <a:avLst/>
          </a:prstGeom>
          <a:noFill/>
          <a:ln w="25400">
            <a:solidFill>
              <a:srgbClr val="8B8781"/>
            </a:solidFill>
            <a:prstDash val="solid"/>
            <a:tailEnd type="triangle"/>
          </a:ln>
        </p:spPr>
      </p:sp>
      <p:sp>
        <p:nvSpPr>
          <p:cNvPr id="33" name="check"/>
          <p:cNvSpPr/>
          <p:nvPr/>
        </p:nvSpPr>
        <p:spPr>
          <a:xfrm>
            <a:off x="6812280" y="1783080"/>
            <a:ext cx="1874520" cy="685800"/>
          </a:xfrm>
          <a:prstGeom prst="rect">
            <a:avLst/>
          </a:prstGeom>
          <a:solidFill>
            <a:srgbClr val="E2DDD5"/>
          </a:solidFill>
          <a:ln w="9525">
            <a:solidFill>
              <a:srgbClr val="CFC8BE"/>
            </a:solidFill>
            <a:prstDash val="solid"/>
          </a:ln>
        </p:spPr>
      </p:sp>
      <p:sp>
        <p:nvSpPr>
          <p:cNvPr id="34" name="check text"/>
          <p:cNvSpPr txBox="1"/>
          <p:nvPr/>
        </p:nvSpPr>
        <p:spPr>
          <a:xfrm>
            <a:off x="6903720" y="1837944"/>
            <a:ext cx="1691640" cy="5943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checks every AI answer</a:t>
            </a:r>
            <a:endParaRPr lang="en-US" sz="1400" dirty="0"/>
          </a:p>
        </p:txBody>
      </p:sp>
      <p:sp>
        <p:nvSpPr>
          <p:cNvPr id="35" name="Shape 32"/>
          <p:cNvSpPr/>
          <p:nvPr/>
        </p:nvSpPr>
        <p:spPr>
          <a:xfrm>
            <a:off x="7744968" y="2487168"/>
            <a:ext cx="0" cy="365760"/>
          </a:xfrm>
          <a:prstGeom prst="line">
            <a:avLst/>
          </a:prstGeom>
          <a:noFill/>
          <a:ln w="25400">
            <a:solidFill>
              <a:srgbClr val="8B8781"/>
            </a:solidFill>
            <a:prstDash val="solid"/>
            <a:tailEnd type="triangle"/>
          </a:ln>
        </p:spPr>
      </p:sp>
      <p:sp>
        <p:nvSpPr>
          <p:cNvPr id="36" name="price"/>
          <p:cNvSpPr/>
          <p:nvPr/>
        </p:nvSpPr>
        <p:spPr>
          <a:xfrm>
            <a:off x="6812280" y="2880360"/>
            <a:ext cx="1874520" cy="2514600"/>
          </a:xfrm>
          <a:prstGeom prst="rect">
            <a:avLst/>
          </a:prstGeom>
          <a:solidFill>
            <a:srgbClr val="E2DDD5"/>
          </a:solidFill>
          <a:ln w="9525">
            <a:solidFill>
              <a:srgbClr val="CFC8BE"/>
            </a:solidFill>
            <a:prstDash val="solid"/>
          </a:ln>
        </p:spPr>
      </p:sp>
      <p:sp>
        <p:nvSpPr>
          <p:cNvPr id="37" name="price text"/>
          <p:cNvSpPr txBox="1"/>
          <p:nvPr/>
        </p:nvSpPr>
        <p:spPr>
          <a:xfrm>
            <a:off x="6903720" y="2935224"/>
            <a:ext cx="1691640" cy="242316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counts, measures and prices once at SA rates</a:t>
            </a:r>
            <a:endParaRPr lang="en-US" sz="1400" dirty="0"/>
          </a:p>
        </p:txBody>
      </p:sp>
      <p:sp>
        <p:nvSpPr>
          <p:cNvPr id="38" name="Shape 35"/>
          <p:cNvSpPr/>
          <p:nvPr/>
        </p:nvSpPr>
        <p:spPr>
          <a:xfrm>
            <a:off x="8705088" y="3200400"/>
            <a:ext cx="237744" cy="0"/>
          </a:xfrm>
          <a:prstGeom prst="line">
            <a:avLst/>
          </a:prstGeom>
          <a:noFill/>
          <a:ln w="25400">
            <a:solidFill>
              <a:srgbClr val="8B8781"/>
            </a:solidFill>
            <a:prstDash val="solid"/>
            <a:tailEnd type="triangle"/>
          </a:ln>
        </p:spPr>
      </p:sp>
      <p:sp>
        <p:nvSpPr>
          <p:cNvPr id="39" name="you"/>
          <p:cNvSpPr/>
          <p:nvPr/>
        </p:nvSpPr>
        <p:spPr>
          <a:xfrm>
            <a:off x="8961120" y="1417320"/>
            <a:ext cx="2679192" cy="960120"/>
          </a:xfrm>
          <a:prstGeom prst="rect">
            <a:avLst/>
          </a:prstGeom>
          <a:solidFill>
            <a:srgbClr val="FFFFFF"/>
          </a:solidFill>
          <a:ln w="9525">
            <a:solidFill>
              <a:srgbClr val="D8D3CB"/>
            </a:solidFill>
            <a:prstDash val="solid"/>
          </a:ln>
        </p:spPr>
      </p:sp>
      <p:sp>
        <p:nvSpPr>
          <p:cNvPr id="40" name="you text"/>
          <p:cNvSpPr txBox="1"/>
          <p:nvPr/>
        </p:nvSpPr>
        <p:spPr>
          <a:xfrm>
            <a:off x="9052560" y="1472184"/>
            <a:ext cx="2496312" cy="86868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IN YOUR BROWSER</a:t>
            </a:r>
            <a:endParaRPr lang="en-US" sz="1400" dirty="0"/>
          </a:p>
          <a:p>
            <a:pPr indent="0" marL="0">
              <a:buNone/>
            </a:pPr>
            <a:r>
              <a:rPr lang="en-US" sz="1100" b="1" dirty="0">
                <a:solidFill>
                  <a:srgbClr val="14151A"/>
                </a:solidFill>
              </a:rPr>
              <a:t>you follow the progress, review and export</a:t>
            </a:r>
            <a:endParaRPr lang="en-US" sz="1400" dirty="0"/>
          </a:p>
        </p:txBody>
      </p:sp>
      <p:sp>
        <p:nvSpPr>
          <p:cNvPr id="41" name="output"/>
          <p:cNvSpPr/>
          <p:nvPr/>
        </p:nvSpPr>
        <p:spPr>
          <a:xfrm>
            <a:off x="8961120" y="2651760"/>
            <a:ext cx="2679192" cy="1097280"/>
          </a:xfrm>
          <a:prstGeom prst="rect">
            <a:avLst/>
          </a:prstGeom>
          <a:solidFill>
            <a:srgbClr val="14151A"/>
          </a:solidFill>
          <a:ln w="12700">
            <a:solidFill>
              <a:srgbClr val="14151A"/>
            </a:solidFill>
            <a:prstDash val="solid"/>
          </a:ln>
        </p:spPr>
      </p:sp>
      <p:sp>
        <p:nvSpPr>
          <p:cNvPr id="42" name="output text"/>
          <p:cNvSpPr txBox="1"/>
          <p:nvPr/>
        </p:nvSpPr>
        <p:spPr>
          <a:xfrm>
            <a:off x="9070848" y="2706624"/>
            <a:ext cx="2468880" cy="987552"/>
          </a:xfrm>
          <a:prstGeom prst="rect">
            <a:avLst/>
          </a:prstGeom>
          <a:noFill/>
          <a:ln/>
        </p:spPr>
        <p:txBody>
          <a:bodyPr wrap="square" lIns="0" tIns="0" rIns="0" bIns="0" rtlCol="0" anchor="ctr"/>
          <a:lstStyle/>
          <a:p>
            <a:pPr indent="0" marL="0">
              <a:buNone/>
            </a:pPr>
            <a:r>
              <a:rPr lang="en-US" sz="750" spc="100" kern="0" dirty="0">
                <a:solidFill>
                  <a:srgbClr val="C9A15A"/>
                </a:solidFill>
                <a:latin typeface="Consolas" pitchFamily="34" charset="0"/>
                <a:ea typeface="Consolas" pitchFamily="34" charset="-122"/>
                <a:cs typeface="Consolas" pitchFamily="34" charset="-120"/>
              </a:rPr>
              <a:t>THE RESULT</a:t>
            </a:r>
            <a:endParaRPr lang="en-US" sz="1400" dirty="0"/>
          </a:p>
          <a:p>
            <a:pPr indent="0" marL="0">
              <a:buNone/>
            </a:pPr>
            <a:r>
              <a:rPr lang="en-US" sz="1200" b="1" dirty="0">
                <a:solidFill>
                  <a:srgbClr val="F5F3EF"/>
                </a:solidFill>
              </a:rPr>
              <a:t>Tender BoQ — Excel + PDF, every line with its source</a:t>
            </a:r>
            <a:endParaRPr lang="en-US" sz="1400" dirty="0"/>
          </a:p>
        </p:txBody>
      </p:sp>
      <p:sp>
        <p:nvSpPr>
          <p:cNvPr id="43" name="Shape 40"/>
          <p:cNvSpPr/>
          <p:nvPr/>
        </p:nvSpPr>
        <p:spPr>
          <a:xfrm>
            <a:off x="10296144" y="3767328"/>
            <a:ext cx="0" cy="201168"/>
          </a:xfrm>
          <a:prstGeom prst="line">
            <a:avLst/>
          </a:prstGeom>
          <a:noFill/>
          <a:ln w="25400">
            <a:solidFill>
              <a:srgbClr val="8B8781"/>
            </a:solidFill>
            <a:prstDash val="solid"/>
            <a:tailEnd type="triangle"/>
          </a:ln>
        </p:spPr>
      </p:sp>
      <p:sp>
        <p:nvSpPr>
          <p:cNvPr id="44" name="quote reader"/>
          <p:cNvSpPr/>
          <p:nvPr/>
        </p:nvSpPr>
        <p:spPr>
          <a:xfrm>
            <a:off x="8961120" y="3977640"/>
            <a:ext cx="2679192" cy="640080"/>
          </a:xfrm>
          <a:prstGeom prst="rect">
            <a:avLst/>
          </a:prstGeom>
          <a:solidFill>
            <a:srgbClr val="8E1B1B"/>
          </a:solidFill>
          <a:ln w="9525">
            <a:solidFill>
              <a:srgbClr val="8E1B1B"/>
            </a:solidFill>
            <a:prstDash val="solid"/>
          </a:ln>
        </p:spPr>
      </p:sp>
      <p:sp>
        <p:nvSpPr>
          <p:cNvPr id="45" name="quote reader text"/>
          <p:cNvSpPr txBox="1"/>
          <p:nvPr/>
        </p:nvSpPr>
        <p:spPr>
          <a:xfrm>
            <a:off x="9052560" y="4032504"/>
            <a:ext cx="2496312" cy="548640"/>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reading supplier quotes into prices</a:t>
            </a:r>
            <a:endParaRPr lang="en-US" sz="1400" dirty="0"/>
          </a:p>
        </p:txBody>
      </p:sp>
      <p:sp>
        <p:nvSpPr>
          <p:cNvPr id="46" name="email writer"/>
          <p:cNvSpPr/>
          <p:nvPr/>
        </p:nvSpPr>
        <p:spPr>
          <a:xfrm>
            <a:off x="8961120" y="4754880"/>
            <a:ext cx="2679192" cy="640080"/>
          </a:xfrm>
          <a:prstGeom prst="rect">
            <a:avLst/>
          </a:prstGeom>
          <a:solidFill>
            <a:srgbClr val="8E1B1B"/>
          </a:solidFill>
          <a:ln w="9525">
            <a:solidFill>
              <a:srgbClr val="8E1B1B"/>
            </a:solidFill>
            <a:prstDash val="solid"/>
          </a:ln>
        </p:spPr>
      </p:sp>
      <p:sp>
        <p:nvSpPr>
          <p:cNvPr id="47" name="email writer text"/>
          <p:cNvSpPr txBox="1"/>
          <p:nvPr/>
        </p:nvSpPr>
        <p:spPr>
          <a:xfrm>
            <a:off x="9052560" y="4809744"/>
            <a:ext cx="2496312" cy="548640"/>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writing the client email</a:t>
            </a:r>
            <a:endParaRPr lang="en-US" sz="1400" dirty="0"/>
          </a:p>
        </p:txBody>
      </p:sp>
      <p:sp>
        <p:nvSpPr>
          <p:cNvPr id="48" name="legend ai"/>
          <p:cNvSpPr/>
          <p:nvPr/>
        </p:nvSpPr>
        <p:spPr>
          <a:xfrm>
            <a:off x="548640" y="5669280"/>
            <a:ext cx="201168" cy="201168"/>
          </a:xfrm>
          <a:prstGeom prst="rect">
            <a:avLst/>
          </a:prstGeom>
          <a:solidFill>
            <a:srgbClr val="8E1B1B"/>
          </a:solidFill>
          <a:ln w="12700">
            <a:solidFill>
              <a:srgbClr val="8E1B1B"/>
            </a:solidFill>
            <a:prstDash val="solid"/>
          </a:ln>
        </p:spPr>
      </p:sp>
      <p:sp>
        <p:nvSpPr>
          <p:cNvPr id="49" name="legend engine"/>
          <p:cNvSpPr/>
          <p:nvPr/>
        </p:nvSpPr>
        <p:spPr>
          <a:xfrm>
            <a:off x="4206240" y="5669280"/>
            <a:ext cx="201168" cy="201168"/>
          </a:xfrm>
          <a:prstGeom prst="rect">
            <a:avLst/>
          </a:prstGeom>
          <a:solidFill>
            <a:srgbClr val="E2DDD5"/>
          </a:solidFill>
          <a:ln w="12700">
            <a:solidFill>
              <a:srgbClr val="CFC8BE"/>
            </a:solidFill>
            <a:prstDash val="solid"/>
          </a:ln>
        </p:spPr>
      </p:sp>
      <p:sp>
        <p:nvSpPr>
          <p:cNvPr id="50" name="legend ai text"/>
          <p:cNvSpPr txBox="1"/>
          <p:nvPr/>
        </p:nvSpPr>
        <p:spPr>
          <a:xfrm>
            <a:off x="841248" y="5641848"/>
            <a:ext cx="3291840" cy="274320"/>
          </a:xfrm>
          <a:prstGeom prst="rect">
            <a:avLst/>
          </a:prstGeom>
          <a:noFill/>
          <a:ln/>
        </p:spPr>
        <p:txBody>
          <a:bodyPr wrap="square" lIns="0" tIns="0" rIns="0" bIns="0" rtlCol="0" anchor="t"/>
          <a:lstStyle/>
          <a:p>
            <a:pPr indent="0" marL="0">
              <a:buNone/>
            </a:pPr>
            <a:r>
              <a:rPr lang="en-US" sz="1100" dirty="0">
                <a:solidFill>
                  <a:srgbClr val="2C2D33"/>
                </a:solidFill>
              </a:rPr>
              <a:t>AI agents — one task each: they read and write</a:t>
            </a:r>
            <a:endParaRPr lang="en-US" sz="1100" dirty="0"/>
          </a:p>
        </p:txBody>
      </p:sp>
      <p:sp>
        <p:nvSpPr>
          <p:cNvPr id="51" name="legend engine text"/>
          <p:cNvSpPr txBox="1"/>
          <p:nvPr/>
        </p:nvSpPr>
        <p:spPr>
          <a:xfrm>
            <a:off x="4498848" y="5641848"/>
            <a:ext cx="7132320" cy="274320"/>
          </a:xfrm>
          <a:prstGeom prst="rect">
            <a:avLst/>
          </a:prstGeom>
          <a:noFill/>
          <a:ln/>
        </p:spPr>
        <p:txBody>
          <a:bodyPr wrap="square" lIns="0" tIns="0" rIns="0" bIns="0" rtlCol="0" anchor="t"/>
          <a:lstStyle/>
          <a:p>
            <a:pPr indent="0" marL="0">
              <a:buNone/>
            </a:pPr>
            <a:r>
              <a:rPr lang="en-US" sz="1100" dirty="0">
                <a:solidFill>
                  <a:srgbClr val="2C2D33"/>
                </a:solidFill>
              </a:rPr>
              <a:t>AfriPlan Engine — counts, checks and prices; the AI never invents a number</a:t>
            </a:r>
            <a:endParaRPr lang="en-US" sz="11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AFRIPLAN WORKS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Every line of the bill says where it comes from</a:t>
            </a:r>
            <a:endParaRPr lang="en-US" sz="2600" dirty="0"/>
          </a:p>
        </p:txBody>
      </p:sp>
      <p:graphicFrame>
        <p:nvGraphicFramePr>
          <p:cNvPr id="7" name="lab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3657600"/>
                <a:gridCol w="4754880"/>
              </a:tblGrid>
              <a:tr h="384048">
                <a:tc>
                  <a:txBody>
                    <a:bodyPr/>
                    <a:lstStyle/>
                    <a:p>
                      <a:pPr indent="0" marL="0">
                        <a:buNone/>
                      </a:pPr>
                      <a:r>
                        <a:rPr lang="en-US" sz="1300" b="1" dirty="0">
                          <a:solidFill>
                            <a:schemeClr val="bg1"/>
                          </a:solidFill>
                        </a:rPr>
                        <a:t>Label on the line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means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Example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solidFill>
                      <a:schemeClr val="tx1"/>
                    </a:solidFill>
                  </a:tcPr>
                </a:tc>
              </a:tr>
              <a:tr h="502920">
                <a:tc>
                  <a:txBody>
                    <a:bodyPr/>
                    <a:lstStyle/>
                    <a:p>
                      <a:pPr indent="0" marL="0">
                        <a:buNone/>
                      </a:pPr>
                      <a:r>
                        <a:rPr lang="en-US" sz="1300" b="1" dirty="0">
                          <a:solidFill>
                            <a:schemeClr val="accent3"/>
                          </a:solidFill>
                        </a:rPr>
                        <a:t>From the drawing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Counted or read off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Double socket outlets counted on the plug layout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1"/>
                          </a:solidFill>
                        </a:rPr>
                        <a:t>Worked out</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Calculated from the drawings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cable: route measured on the site plan + allowances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Guessed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Not on the drawings — a standard value was used</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Feeder length assumed because no length is drawn</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Allowance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provisional sum</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Utility connection fee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accent4"/>
                          </a:solidFill>
                        </a:rPr>
                        <a:t>Rough estimate – check</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Estimated from other items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Conduit worked out from the number of points</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r h="502920">
                <a:tc>
                  <a:txBody>
                    <a:bodyPr/>
                    <a:lstStyle/>
                    <a:p>
                      <a:pPr indent="0" marL="0">
                        <a:buNone/>
                      </a:pPr>
                      <a:r>
                        <a:rPr lang="en-US" sz="1300" b="1" dirty="0">
                          <a:solidFill>
                            <a:schemeClr val="tx2"/>
                          </a:solidFill>
                        </a:rPr>
                        <a:t>Price you chose</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price you changed yourself</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c>
                  <a:txBody>
                    <a:bodyPr/>
                    <a:lstStyle/>
                    <a:p>
                      <a:pPr indent="0" marL="0">
                        <a:buNone/>
                      </a:pPr>
                      <a:r>
                        <a:rPr lang="en-US" sz="1300" dirty="0">
                          <a:solidFill>
                            <a:schemeClr val="tx1"/>
                          </a:solidFill>
                        </a:rPr>
                        <a:t>A supplier's quote applied in Pricing</a:t>
                      </a:r>
                      <a:endParaRPr lang="en-US" sz="1300" dirty="0"/>
                    </a:p>
                  </a:txBody>
                  <a:tcPr marL="91440" marR="91440" marT="36576" marB="36576" anchor="ctr">
                    <a:lnL w="9525" cap="flat" cmpd="sng" algn="ctr">
                      <a:solidFill>
                        <a:srgbClr val="D8D3CB"/>
                      </a:solidFill>
                      <a:prstDash val="solid"/>
                      <a:round/>
                      <a:headEnd type="none" w="med" len="med"/>
                      <a:tailEnd type="none" w="med" len="med"/>
                    </a:lnL>
                    <a:lnR w="9525" cap="flat" cmpd="sng" algn="ctr">
                      <a:solidFill>
                        <a:srgbClr val="D8D3CB"/>
                      </a:solidFill>
                      <a:prstDash val="solid"/>
                      <a:round/>
                      <a:headEnd type="none" w="med" len="med"/>
                      <a:tailEnd type="none" w="med" len="med"/>
                    </a:lnR>
                    <a:lnT w="9525" cap="flat" cmpd="sng" algn="ctr">
                      <a:solidFill>
                        <a:srgbClr val="D8D3CB"/>
                      </a:solidFill>
                      <a:prstDash val="solid"/>
                      <a:round/>
                      <a:headEnd type="none" w="med" len="med"/>
                      <a:tailEnd type="none" w="med" len="med"/>
                    </a:lnT>
                    <a:lnB w="9525" cap="flat" cmpd="sng" algn="ctr">
                      <a:solidFill>
                        <a:srgbClr val="D8D3CB"/>
                      </a:solidFill>
                      <a:prstDash val="solid"/>
                      <a:round/>
                      <a:headEnd type="none" w="med" len="med"/>
                      <a:tailEnd type="none" w="med" len="med"/>
                    </a:lnB>
                  </a:tcPr>
                </a:tc>
              </a:tr>
            </a:tbl>
          </a:graphicData>
        </a:graphic>
      </p:graphicFrame>
      <p:sp>
        <p:nvSpPr>
          <p:cNvPr id="8" name="severity heading"/>
          <p:cNvSpPr txBox="1"/>
          <p:nvPr/>
        </p:nvSpPr>
        <p:spPr>
          <a:xfrm>
            <a:off x="548640" y="498348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“Things to check” is sorted by how serious each doubt is:</a:t>
            </a:r>
            <a:endParaRPr lang="en-US" sz="1400" dirty="0"/>
          </a:p>
        </p:txBody>
      </p:sp>
      <p:sp>
        <p:nvSpPr>
          <p:cNvPr id="9" name="severity chip 1"/>
          <p:cNvSpPr/>
          <p:nvPr/>
        </p:nvSpPr>
        <p:spPr>
          <a:xfrm>
            <a:off x="548640" y="5440680"/>
            <a:ext cx="2560320" cy="502920"/>
          </a:xfrm>
          <a:prstGeom prst="roundRect">
            <a:avLst>
              <a:gd name="adj" fmla="val 49091"/>
            </a:avLst>
          </a:prstGeom>
          <a:solidFill>
            <a:srgbClr val="C2410C"/>
          </a:solidFill>
          <a:ln w="12700">
            <a:solidFill>
              <a:srgbClr val="C2410C"/>
            </a:solidFill>
            <a:prstDash val="solid"/>
          </a:ln>
        </p:spPr>
      </p:sp>
      <p:sp>
        <p:nvSpPr>
          <p:cNvPr id="10" name="severity label 1"/>
          <p:cNvSpPr txBox="1"/>
          <p:nvPr/>
        </p:nvSpPr>
        <p:spPr>
          <a:xfrm>
            <a:off x="548640"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MUST FIX</a:t>
            </a:r>
            <a:endParaRPr lang="en-US" sz="1400" dirty="0"/>
          </a:p>
        </p:txBody>
      </p:sp>
      <p:sp>
        <p:nvSpPr>
          <p:cNvPr id="11" name="severity chip 2"/>
          <p:cNvSpPr/>
          <p:nvPr/>
        </p:nvSpPr>
        <p:spPr>
          <a:xfrm>
            <a:off x="3364992" y="5440680"/>
            <a:ext cx="2560320" cy="502920"/>
          </a:xfrm>
          <a:prstGeom prst="roundRect">
            <a:avLst>
              <a:gd name="adj" fmla="val 49091"/>
            </a:avLst>
          </a:prstGeom>
          <a:solidFill>
            <a:srgbClr val="C9A15A"/>
          </a:solidFill>
          <a:ln w="12700">
            <a:solidFill>
              <a:srgbClr val="C9A15A"/>
            </a:solidFill>
            <a:prstDash val="solid"/>
          </a:ln>
        </p:spPr>
      </p:sp>
      <p:sp>
        <p:nvSpPr>
          <p:cNvPr id="12" name="severity label 2"/>
          <p:cNvSpPr txBox="1"/>
          <p:nvPr/>
        </p:nvSpPr>
        <p:spPr>
          <a:xfrm>
            <a:off x="3364992" y="5440680"/>
            <a:ext cx="2560320" cy="502920"/>
          </a:xfrm>
          <a:prstGeom prst="rect">
            <a:avLst/>
          </a:prstGeom>
          <a:noFill/>
          <a:ln/>
        </p:spPr>
        <p:txBody>
          <a:bodyPr wrap="square" lIns="0" tIns="0" rIns="0" bIns="0" rtlCol="0" anchor="ctr"/>
          <a:lstStyle/>
          <a:p>
            <a:pPr algn="ctr" indent="0" marL="0">
              <a:buNone/>
            </a:pPr>
            <a:r>
              <a:rPr lang="en-US" sz="1400" b="1" dirty="0">
                <a:solidFill>
                  <a:srgbClr val="14151A"/>
                </a:solidFill>
              </a:rPr>
              <a:t>MUST CHECK</a:t>
            </a:r>
            <a:endParaRPr lang="en-US" sz="1400" dirty="0"/>
          </a:p>
        </p:txBody>
      </p:sp>
      <p:sp>
        <p:nvSpPr>
          <p:cNvPr id="13" name="severity chip 3"/>
          <p:cNvSpPr/>
          <p:nvPr/>
        </p:nvSpPr>
        <p:spPr>
          <a:xfrm>
            <a:off x="6181344" y="5440680"/>
            <a:ext cx="2560320" cy="502920"/>
          </a:xfrm>
          <a:prstGeom prst="roundRect">
            <a:avLst>
              <a:gd name="adj" fmla="val 49091"/>
            </a:avLst>
          </a:prstGeom>
          <a:solidFill>
            <a:srgbClr val="2C2D33"/>
          </a:solidFill>
          <a:ln w="12700">
            <a:solidFill>
              <a:srgbClr val="2C2D33"/>
            </a:solidFill>
            <a:prstDash val="solid"/>
          </a:ln>
        </p:spPr>
      </p:sp>
      <p:sp>
        <p:nvSpPr>
          <p:cNvPr id="14" name="severity label 3"/>
          <p:cNvSpPr txBox="1"/>
          <p:nvPr/>
        </p:nvSpPr>
        <p:spPr>
          <a:xfrm>
            <a:off x="6181344"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SHOULD CHECK</a:t>
            </a:r>
            <a:endParaRPr lang="en-US" sz="1400" dirty="0"/>
          </a:p>
        </p:txBody>
      </p:sp>
      <p:sp>
        <p:nvSpPr>
          <p:cNvPr id="15" name="severity chip 4"/>
          <p:cNvSpPr/>
          <p:nvPr/>
        </p:nvSpPr>
        <p:spPr>
          <a:xfrm>
            <a:off x="8997696" y="5440680"/>
            <a:ext cx="2560320" cy="502920"/>
          </a:xfrm>
          <a:prstGeom prst="roundRect">
            <a:avLst>
              <a:gd name="adj" fmla="val 49091"/>
            </a:avLst>
          </a:prstGeom>
          <a:solidFill>
            <a:srgbClr val="8B8781"/>
          </a:solidFill>
          <a:ln w="12700">
            <a:solidFill>
              <a:srgbClr val="8B8781"/>
            </a:solidFill>
            <a:prstDash val="solid"/>
          </a:ln>
        </p:spPr>
      </p:sp>
      <p:sp>
        <p:nvSpPr>
          <p:cNvPr id="16" name="severity label 4"/>
          <p:cNvSpPr txBox="1"/>
          <p:nvPr/>
        </p:nvSpPr>
        <p:spPr>
          <a:xfrm>
            <a:off x="8997696" y="5440680"/>
            <a:ext cx="2560320" cy="502920"/>
          </a:xfrm>
          <a:prstGeom prst="rect">
            <a:avLst/>
          </a:prstGeom>
          <a:noFill/>
          <a:ln/>
        </p:spPr>
        <p:txBody>
          <a:bodyPr wrap="square" lIns="0" tIns="0" rIns="0" bIns="0" rtlCol="0" anchor="ctr"/>
          <a:lstStyle/>
          <a:p>
            <a:pPr algn="ctr" indent="0" marL="0">
              <a:buNone/>
            </a:pPr>
            <a:r>
              <a:rPr lang="en-US" sz="1400" b="1" dirty="0">
                <a:solidFill>
                  <a:srgbClr val="F5F3EF"/>
                </a:solidFill>
              </a:rPr>
              <a:t>FOR INFO</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Try AfriPlan now — open the web app</a:t>
            </a:r>
            <a:endParaRPr lang="en-US" sz="2600" dirty="0"/>
          </a:p>
        </p:txBody>
      </p:sp>
      <p:sp>
        <p:nvSpPr>
          <p:cNvPr id="7" name="link card"/>
          <p:cNvSpPr/>
          <p:nvPr/>
        </p:nvSpPr>
        <p:spPr>
          <a:xfrm>
            <a:off x="548640" y="1417320"/>
            <a:ext cx="5120640" cy="3246120"/>
          </a:xfrm>
          <a:prstGeom prst="roundRect">
            <a:avLst>
              <a:gd name="adj" fmla="val 4225"/>
            </a:avLst>
          </a:prstGeom>
          <a:solidFill>
            <a:schemeClr val="tx1"/>
          </a:solidFill>
          <a:ln w="12700">
            <a:solidFill>
              <a:schemeClr val="tx1"/>
            </a:solidFill>
            <a:prstDash val="solid"/>
          </a:ln>
        </p:spPr>
      </p:sp>
      <p:sp>
        <p:nvSpPr>
          <p:cNvPr id="8" name="link circle"/>
          <p:cNvSpPr/>
          <p:nvPr/>
        </p:nvSpPr>
        <p:spPr>
          <a:xfrm>
            <a:off x="868680" y="1691640"/>
            <a:ext cx="868680" cy="868680"/>
          </a:xfrm>
          <a:prstGeom prst="ellipse">
            <a:avLst/>
          </a:prstGeom>
          <a:solidFill>
            <a:srgbClr val="C9A15A"/>
          </a:solidFill>
          <a:ln w="12700">
            <a:solidFill>
              <a:srgbClr val="C9A15A"/>
            </a:solidFill>
            <a:prstDash val="solid"/>
          </a:ln>
        </p:spPr>
      </p:sp>
      <p:pic>
        <p:nvPicPr>
          <p:cNvPr id="9" name="link icon" descr="preencoded.png">    </p:cNvPr>
          <p:cNvPicPr>
            <a:picLocks noChangeAspect="1"/>
          </p:cNvPicPr>
          <p:nvPr/>
        </p:nvPicPr>
        <p:blipFill>
          <a:blip r:embed="rId1"/>
          <a:stretch>
            <a:fillRect/>
          </a:stretch>
        </p:blipFill>
        <p:spPr>
          <a:xfrm>
            <a:off x="1094537" y="1917497"/>
            <a:ext cx="416966" cy="416966"/>
          </a:xfrm>
          <a:prstGeom prst="rect">
            <a:avLst/>
          </a:prstGeom>
        </p:spPr>
      </p:pic>
      <p:sp>
        <p:nvSpPr>
          <p:cNvPr id="10" name="link label"/>
          <p:cNvSpPr txBox="1"/>
          <p:nvPr/>
        </p:nvSpPr>
        <p:spPr>
          <a:xfrm>
            <a:off x="1920240" y="1874520"/>
            <a:ext cx="3566160" cy="457200"/>
          </a:xfrm>
          <a:prstGeom prst="rect">
            <a:avLst/>
          </a:prstGeom>
          <a:noFill/>
          <a:ln/>
        </p:spPr>
        <p:txBody>
          <a:bodyPr wrap="square" lIns="0" tIns="0" rIns="0" bIns="0" rtlCol="0" anchor="t"/>
          <a:lstStyle/>
          <a:p>
            <a:pPr indent="0" marL="0">
              <a:buNone/>
            </a:pPr>
            <a:r>
              <a:rPr lang="en-US" sz="1600" dirty="0">
                <a:solidFill>
                  <a:srgbClr val="B9B6B0"/>
                </a:solidFill>
              </a:rPr>
              <a:t>Open in any browser</a:t>
            </a:r>
            <a:endParaRPr lang="en-US" sz="1600" dirty="0"/>
          </a:p>
        </p:txBody>
      </p:sp>
      <p:sp>
        <p:nvSpPr>
          <p:cNvPr id="11" name="link url">
            <a:hlinkClick r:id="rId2" tooltip="Open AfriPlan"/>
          </p:cNvPr>
          <p:cNvSpPr txBox="1"/>
          <p:nvPr/>
        </p:nvSpPr>
        <p:spPr>
          <a:xfrm>
            <a:off x="868680" y="2743200"/>
            <a:ext cx="4663440" cy="685800"/>
          </a:xfrm>
          <a:prstGeom prst="rect">
            <a:avLst/>
          </a:prstGeom>
          <a:noFill/>
          <a:ln/>
        </p:spPr>
        <p:txBody>
          <a:bodyPr wrap="square" lIns="0" tIns="0" rIns="0" bIns="0" rtlCol="0" anchor="t"/>
          <a:lstStyle/>
          <a:p>
            <a:pPr indent="0" marL="0">
              <a:buNone/>
            </a:pPr>
            <a:r>
              <a:rPr lang="en-US" sz="3000" b="1" u="sng" dirty="0">
                <a:solidFill>
                  <a:schemeClr val="accent2"/>
                </a:solidFill>
                <a:latin typeface="Arial" pitchFamily="34" charset="0"/>
                <a:ea typeface="Arial" pitchFamily="34" charset="-122"/>
                <a:cs typeface="Arial" pitchFamily="34" charset="-120"/>
                <a:hlinkClick r:id="rId2" invalidUrl="" action="" tgtFrame="" tooltip="Open AfriPlan" history="1" highlightClick="0" endSnd="0">
                  <a:extLst>
                    <a:ext uri="{A12FA001-AC4F-418D-AE19-62706E023703}">
                      <ahyp:hlinkClr xmlns:ahyp="http://schemas.microsoft.com/office/drawing/2018/hyperlinkcolor" val="tx"/>
                    </a:ext>
                  </a:extLst>
                </a:hlinkClick>
              </a:rPr>
              <a:t>afriplan.onrender.com</a:t>
            </a:r>
            <a:endParaRPr lang="en-US" sz="3000" dirty="0"/>
          </a:p>
        </p:txBody>
      </p:sp>
      <p:sp>
        <p:nvSpPr>
          <p:cNvPr id="12" name="link full"/>
          <p:cNvSpPr txBox="1"/>
          <p:nvPr/>
        </p:nvSpPr>
        <p:spPr>
          <a:xfrm>
            <a:off x="868680" y="3474720"/>
            <a:ext cx="4663440" cy="411480"/>
          </a:xfrm>
          <a:prstGeom prst="rect">
            <a:avLst/>
          </a:prstGeom>
          <a:noFill/>
          <a:ln/>
        </p:spPr>
        <p:txBody>
          <a:bodyPr wrap="square" lIns="0" tIns="0" rIns="0" bIns="0" rtlCol="0" anchor="t"/>
          <a:lstStyle/>
          <a:p>
            <a:pPr indent="0" marL="0">
              <a:buNone/>
            </a:pPr>
            <a:r>
              <a:rPr lang="en-US" sz="1400" dirty="0">
                <a:solidFill>
                  <a:schemeClr val="bg1"/>
                </a:solidFill>
              </a:rPr>
              <a:t>https://afriplan.onrender.com  ·  nothing to install</a:t>
            </a:r>
            <a:endParaRPr lang="en-US" sz="1400" dirty="0"/>
          </a:p>
        </p:txBody>
      </p:sp>
      <p:sp>
        <p:nvSpPr>
          <p:cNvPr id="13" name="link login"/>
          <p:cNvSpPr txBox="1"/>
          <p:nvPr/>
        </p:nvSpPr>
        <p:spPr>
          <a:xfrm>
            <a:off x="868680" y="3931920"/>
            <a:ext cx="4663440" cy="411480"/>
          </a:xfrm>
          <a:prstGeom prst="rect">
            <a:avLst/>
          </a:prstGeom>
          <a:noFill/>
          <a:ln/>
        </p:spPr>
        <p:txBody>
          <a:bodyPr wrap="square" lIns="0" tIns="0" rIns="0" bIns="0" rtlCol="0" anchor="t"/>
          <a:lstStyle/>
          <a:p>
            <a:pPr indent="0" marL="0">
              <a:buNone/>
            </a:pPr>
            <a:r>
              <a:rPr lang="en-US" sz="1400" b="1" dirty="0">
                <a:solidFill>
                  <a:schemeClr val="bg1"/>
                </a:solidFill>
              </a:rPr>
              <a:t>Demo login is pre-filled — just click Sign in.</a:t>
            </a:r>
            <a:endParaRPr lang="en-US" sz="1400" dirty="0"/>
          </a:p>
        </p:txBody>
      </p:sp>
      <p:sp>
        <p:nvSpPr>
          <p:cNvPr id="14" name="access step 1 circle"/>
          <p:cNvSpPr/>
          <p:nvPr/>
        </p:nvSpPr>
        <p:spPr>
          <a:xfrm>
            <a:off x="5989320" y="1463040"/>
            <a:ext cx="640080" cy="640080"/>
          </a:xfrm>
          <a:prstGeom prst="ellipse">
            <a:avLst/>
          </a:prstGeom>
          <a:solidFill>
            <a:srgbClr val="8E1B1B"/>
          </a:solidFill>
          <a:ln w="12700">
            <a:solidFill>
              <a:srgbClr val="8E1B1B"/>
            </a:solidFill>
            <a:prstDash val="solid"/>
          </a:ln>
        </p:spPr>
      </p:sp>
      <p:pic>
        <p:nvPicPr>
          <p:cNvPr id="15" name="access step 1 icon" descr="preencoded.png">    </p:cNvPr>
          <p:cNvPicPr>
            <a:picLocks noChangeAspect="1"/>
          </p:cNvPicPr>
          <p:nvPr/>
        </p:nvPicPr>
        <p:blipFill>
          <a:blip r:embed="rId3"/>
          <a:stretch>
            <a:fillRect/>
          </a:stretch>
        </p:blipFill>
        <p:spPr>
          <a:xfrm>
            <a:off x="6155741" y="1629461"/>
            <a:ext cx="307238" cy="307238"/>
          </a:xfrm>
          <a:prstGeom prst="rect">
            <a:avLst/>
          </a:prstGeom>
        </p:spPr>
      </p:pic>
      <p:sp>
        <p:nvSpPr>
          <p:cNvPr id="16" name="access step title 1"/>
          <p:cNvSpPr txBox="1"/>
          <p:nvPr/>
        </p:nvSpPr>
        <p:spPr>
          <a:xfrm>
            <a:off x="6812280" y="1417320"/>
            <a:ext cx="4754880" cy="365760"/>
          </a:xfrm>
          <a:prstGeom prst="rect">
            <a:avLst/>
          </a:prstGeom>
          <a:noFill/>
          <a:ln/>
        </p:spPr>
        <p:txBody>
          <a:bodyPr wrap="square" lIns="0" tIns="0" rIns="0" bIns="0" rtlCol="0" anchor="t"/>
          <a:lstStyle/>
          <a:p>
            <a:pPr indent="0" marL="0">
              <a:buNone/>
            </a:pPr>
            <a:r>
              <a:rPr lang="en-US" sz="1600" b="1" dirty="0">
                <a:solidFill>
                  <a:schemeClr val="tx1"/>
                </a:solidFill>
              </a:rPr>
              <a:t>1  Sign in</a:t>
            </a:r>
            <a:endParaRPr lang="en-US" sz="1600" dirty="0"/>
          </a:p>
        </p:txBody>
      </p:sp>
      <p:sp>
        <p:nvSpPr>
          <p:cNvPr id="17" name="access step text 1"/>
          <p:cNvSpPr txBox="1"/>
          <p:nvPr/>
        </p:nvSpPr>
        <p:spPr>
          <a:xfrm>
            <a:off x="6812280" y="176479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link, click Sign in — the demo details are already filled in</a:t>
            </a:r>
            <a:endParaRPr lang="en-US" sz="1250" dirty="0"/>
          </a:p>
        </p:txBody>
      </p:sp>
      <p:sp>
        <p:nvSpPr>
          <p:cNvPr id="18" name="access step 2 circle"/>
          <p:cNvSpPr/>
          <p:nvPr/>
        </p:nvSpPr>
        <p:spPr>
          <a:xfrm>
            <a:off x="5989320" y="2286000"/>
            <a:ext cx="640080" cy="640080"/>
          </a:xfrm>
          <a:prstGeom prst="ellipse">
            <a:avLst/>
          </a:prstGeom>
          <a:solidFill>
            <a:srgbClr val="8E1B1B"/>
          </a:solidFill>
          <a:ln w="12700">
            <a:solidFill>
              <a:srgbClr val="8E1B1B"/>
            </a:solidFill>
            <a:prstDash val="solid"/>
          </a:ln>
        </p:spPr>
      </p:sp>
      <p:pic>
        <p:nvPicPr>
          <p:cNvPr id="19" name="access step 2 icon" descr="preencoded.png">    </p:cNvPr>
          <p:cNvPicPr>
            <a:picLocks noChangeAspect="1"/>
          </p:cNvPicPr>
          <p:nvPr/>
        </p:nvPicPr>
        <p:blipFill>
          <a:blip r:embed="rId4"/>
          <a:stretch>
            <a:fillRect/>
          </a:stretch>
        </p:blipFill>
        <p:spPr>
          <a:xfrm>
            <a:off x="6155741" y="2452421"/>
            <a:ext cx="307238" cy="307238"/>
          </a:xfrm>
          <a:prstGeom prst="rect">
            <a:avLst/>
          </a:prstGeom>
        </p:spPr>
      </p:pic>
      <p:sp>
        <p:nvSpPr>
          <p:cNvPr id="20" name="access step title 2"/>
          <p:cNvSpPr txBox="1"/>
          <p:nvPr/>
        </p:nvSpPr>
        <p:spPr>
          <a:xfrm>
            <a:off x="6812280" y="2240280"/>
            <a:ext cx="4754880" cy="365760"/>
          </a:xfrm>
          <a:prstGeom prst="rect">
            <a:avLst/>
          </a:prstGeom>
          <a:noFill/>
          <a:ln/>
        </p:spPr>
        <p:txBody>
          <a:bodyPr wrap="square" lIns="0" tIns="0" rIns="0" bIns="0" rtlCol="0" anchor="t"/>
          <a:lstStyle/>
          <a:p>
            <a:pPr indent="0" marL="0">
              <a:buNone/>
            </a:pPr>
            <a:r>
              <a:rPr lang="en-US" sz="1600" b="1" dirty="0">
                <a:solidFill>
                  <a:schemeClr val="tx1"/>
                </a:solidFill>
              </a:rPr>
              <a:t>2  Upload drawings</a:t>
            </a:r>
            <a:endParaRPr lang="en-US" sz="1600" dirty="0"/>
          </a:p>
        </p:txBody>
      </p:sp>
      <p:sp>
        <p:nvSpPr>
          <p:cNvPr id="21" name="access step text 2"/>
          <p:cNvSpPr txBox="1"/>
          <p:nvPr/>
        </p:nvSpPr>
        <p:spPr>
          <a:xfrm>
            <a:off x="6812280" y="2587752"/>
            <a:ext cx="4754880" cy="411480"/>
          </a:xfrm>
          <a:prstGeom prst="rect">
            <a:avLst/>
          </a:prstGeom>
          <a:noFill/>
          <a:ln/>
        </p:spPr>
        <p:txBody>
          <a:bodyPr wrap="square" lIns="0" tIns="0" rIns="0" bIns="0" rtlCol="0" anchor="t"/>
          <a:lstStyle/>
          <a:p>
            <a:pPr indent="0" marL="0">
              <a:buNone/>
            </a:pPr>
            <a:r>
              <a:rPr lang="en-US" sz="1250" dirty="0">
                <a:solidFill>
                  <a:schemeClr val="tx2"/>
                </a:solidFill>
              </a:rPr>
              <a:t>DWG/DXF (free, 1–2 min) or PDF — choose the paid or the free AI model</a:t>
            </a:r>
            <a:endParaRPr lang="en-US" sz="1250" dirty="0"/>
          </a:p>
        </p:txBody>
      </p:sp>
      <p:sp>
        <p:nvSpPr>
          <p:cNvPr id="22" name="access step 3 circle"/>
          <p:cNvSpPr/>
          <p:nvPr/>
        </p:nvSpPr>
        <p:spPr>
          <a:xfrm>
            <a:off x="5989320" y="3108960"/>
            <a:ext cx="640080" cy="640080"/>
          </a:xfrm>
          <a:prstGeom prst="ellipse">
            <a:avLst/>
          </a:prstGeom>
          <a:solidFill>
            <a:srgbClr val="8E1B1B"/>
          </a:solidFill>
          <a:ln w="12700">
            <a:solidFill>
              <a:srgbClr val="8E1B1B"/>
            </a:solidFill>
            <a:prstDash val="solid"/>
          </a:ln>
        </p:spPr>
      </p:sp>
      <p:pic>
        <p:nvPicPr>
          <p:cNvPr id="23" name="access step 3 icon" descr="preencoded.png">    </p:cNvPr>
          <p:cNvPicPr>
            <a:picLocks noChangeAspect="1"/>
          </p:cNvPicPr>
          <p:nvPr/>
        </p:nvPicPr>
        <p:blipFill>
          <a:blip r:embed="rId5"/>
          <a:stretch>
            <a:fillRect/>
          </a:stretch>
        </p:blipFill>
        <p:spPr>
          <a:xfrm>
            <a:off x="6155741" y="3275381"/>
            <a:ext cx="307238" cy="307238"/>
          </a:xfrm>
          <a:prstGeom prst="rect">
            <a:avLst/>
          </a:prstGeom>
        </p:spPr>
      </p:pic>
      <p:sp>
        <p:nvSpPr>
          <p:cNvPr id="24" name="access step title 3"/>
          <p:cNvSpPr txBox="1"/>
          <p:nvPr/>
        </p:nvSpPr>
        <p:spPr>
          <a:xfrm>
            <a:off x="6812280" y="3063240"/>
            <a:ext cx="4754880" cy="365760"/>
          </a:xfrm>
          <a:prstGeom prst="rect">
            <a:avLst/>
          </a:prstGeom>
          <a:noFill/>
          <a:ln/>
        </p:spPr>
        <p:txBody>
          <a:bodyPr wrap="square" lIns="0" tIns="0" rIns="0" bIns="0" rtlCol="0" anchor="t"/>
          <a:lstStyle/>
          <a:p>
            <a:pPr indent="0" marL="0">
              <a:buNone/>
            </a:pPr>
            <a:r>
              <a:rPr lang="en-US" sz="1600" b="1" dirty="0">
                <a:solidFill>
                  <a:schemeClr val="tx1"/>
                </a:solidFill>
              </a:rPr>
              <a:t>3  Read the take-off</a:t>
            </a:r>
            <a:endParaRPr lang="en-US" sz="1600" dirty="0"/>
          </a:p>
        </p:txBody>
      </p:sp>
      <p:sp>
        <p:nvSpPr>
          <p:cNvPr id="25" name="access step text 3"/>
          <p:cNvSpPr txBox="1"/>
          <p:nvPr/>
        </p:nvSpPr>
        <p:spPr>
          <a:xfrm>
            <a:off x="6812280" y="3410712"/>
            <a:ext cx="4754880" cy="411480"/>
          </a:xfrm>
          <a:prstGeom prst="rect">
            <a:avLst/>
          </a:prstGeom>
          <a:noFill/>
          <a:ln/>
        </p:spPr>
        <p:txBody>
          <a:bodyPr wrap="square" lIns="0" tIns="0" rIns="0" bIns="0" rtlCol="0" anchor="t"/>
          <a:lstStyle/>
          <a:p>
            <a:pPr indent="0" marL="0">
              <a:buNone/>
            </a:pPr>
            <a:r>
              <a:rPr lang="en-US" sz="1250" dirty="0">
                <a:solidFill>
                  <a:schemeClr val="tx2"/>
                </a:solidFill>
              </a:rPr>
              <a:t>watch the progress, then check the gaps and “Guessed – check” lines</a:t>
            </a:r>
            <a:endParaRPr lang="en-US" sz="1250" dirty="0"/>
          </a:p>
        </p:txBody>
      </p:sp>
      <p:sp>
        <p:nvSpPr>
          <p:cNvPr id="26" name="access step 4 circle"/>
          <p:cNvSpPr/>
          <p:nvPr/>
        </p:nvSpPr>
        <p:spPr>
          <a:xfrm>
            <a:off x="5989320" y="3931920"/>
            <a:ext cx="640080" cy="640080"/>
          </a:xfrm>
          <a:prstGeom prst="ellipse">
            <a:avLst/>
          </a:prstGeom>
          <a:solidFill>
            <a:srgbClr val="8E1B1B"/>
          </a:solidFill>
          <a:ln w="12700">
            <a:solidFill>
              <a:srgbClr val="8E1B1B"/>
            </a:solidFill>
            <a:prstDash val="solid"/>
          </a:ln>
        </p:spPr>
      </p:sp>
      <p:pic>
        <p:nvPicPr>
          <p:cNvPr id="27" name="access step 4 icon" descr="preencoded.png">    </p:cNvPr>
          <p:cNvPicPr>
            <a:picLocks noChangeAspect="1"/>
          </p:cNvPicPr>
          <p:nvPr/>
        </p:nvPicPr>
        <p:blipFill>
          <a:blip r:embed="rId6"/>
          <a:stretch>
            <a:fillRect/>
          </a:stretch>
        </p:blipFill>
        <p:spPr>
          <a:xfrm>
            <a:off x="6155741" y="4098341"/>
            <a:ext cx="307238" cy="307238"/>
          </a:xfrm>
          <a:prstGeom prst="rect">
            <a:avLst/>
          </a:prstGeom>
        </p:spPr>
      </p:pic>
      <p:sp>
        <p:nvSpPr>
          <p:cNvPr id="28" name="access step title 4"/>
          <p:cNvSpPr txBox="1"/>
          <p:nvPr/>
        </p:nvSpPr>
        <p:spPr>
          <a:xfrm>
            <a:off x="6812280" y="3886200"/>
            <a:ext cx="4754880" cy="365760"/>
          </a:xfrm>
          <a:prstGeom prst="rect">
            <a:avLst/>
          </a:prstGeom>
          <a:noFill/>
          <a:ln/>
        </p:spPr>
        <p:txBody>
          <a:bodyPr wrap="square" lIns="0" tIns="0" rIns="0" bIns="0" rtlCol="0" anchor="t"/>
          <a:lstStyle/>
          <a:p>
            <a:pPr indent="0" marL="0">
              <a:buNone/>
            </a:pPr>
            <a:r>
              <a:rPr lang="en-US" sz="1600" b="1" dirty="0">
                <a:solidFill>
                  <a:schemeClr val="tx1"/>
                </a:solidFill>
              </a:rPr>
              <a:t>4  BoQ and export</a:t>
            </a:r>
            <a:endParaRPr lang="en-US" sz="1600" dirty="0"/>
          </a:p>
        </p:txBody>
      </p:sp>
      <p:sp>
        <p:nvSpPr>
          <p:cNvPr id="29" name="access step text 4"/>
          <p:cNvSpPr txBox="1"/>
          <p:nvPr/>
        </p:nvSpPr>
        <p:spPr>
          <a:xfrm>
            <a:off x="6812280" y="4233672"/>
            <a:ext cx="4754880" cy="411480"/>
          </a:xfrm>
          <a:prstGeom prst="rect">
            <a:avLst/>
          </a:prstGeom>
          <a:noFill/>
          <a:ln/>
        </p:spPr>
        <p:txBody>
          <a:bodyPr wrap="square" lIns="0" tIns="0" rIns="0" bIns="0" rtlCol="0" anchor="t"/>
          <a:lstStyle/>
          <a:p>
            <a:pPr indent="0" marL="0">
              <a:buNone/>
            </a:pPr>
            <a:r>
              <a:rPr lang="en-US" sz="1250" dirty="0">
                <a:solidFill>
                  <a:schemeClr val="tx2"/>
                </a:solidFill>
              </a:rPr>
              <a:t>open the bill, then export the Excel and PDF tender document</a:t>
            </a:r>
            <a:endParaRPr lang="en-US" sz="1250" dirty="0"/>
          </a:p>
        </p:txBody>
      </p:sp>
      <p:sp>
        <p:nvSpPr>
          <p:cNvPr id="30" name="shared demo card"/>
          <p:cNvSpPr/>
          <p:nvPr/>
        </p:nvSpPr>
        <p:spPr>
          <a:xfrm>
            <a:off x="548640" y="4937760"/>
            <a:ext cx="11064240" cy="914400"/>
          </a:xfrm>
          <a:prstGeom prst="rect">
            <a:avLst/>
          </a:prstGeom>
          <a:solidFill>
            <a:schemeClr val="bg2"/>
          </a:solidFill>
          <a:ln w="9525">
            <a:solidFill>
              <a:srgbClr val="D8D3CB"/>
            </a:solidFill>
            <a:prstDash val="solid"/>
          </a:ln>
        </p:spPr>
      </p:sp>
      <p:sp>
        <p:nvSpPr>
          <p:cNvPr id="31" name="shared demo circle"/>
          <p:cNvSpPr/>
          <p:nvPr/>
        </p:nvSpPr>
        <p:spPr>
          <a:xfrm>
            <a:off x="749808" y="5047488"/>
            <a:ext cx="685800" cy="685800"/>
          </a:xfrm>
          <a:prstGeom prst="ellipse">
            <a:avLst/>
          </a:prstGeom>
          <a:solidFill>
            <a:srgbClr val="C9A15A"/>
          </a:solidFill>
          <a:ln w="12700">
            <a:solidFill>
              <a:srgbClr val="C9A15A"/>
            </a:solidFill>
            <a:prstDash val="solid"/>
          </a:ln>
        </p:spPr>
      </p:sp>
      <p:pic>
        <p:nvPicPr>
          <p:cNvPr id="32" name="shared demo icon" descr="preencoded.png">    </p:cNvPr>
          <p:cNvPicPr>
            <a:picLocks noChangeAspect="1"/>
          </p:cNvPicPr>
          <p:nvPr/>
        </p:nvPicPr>
        <p:blipFill>
          <a:blip r:embed="rId7"/>
          <a:stretch>
            <a:fillRect/>
          </a:stretch>
        </p:blipFill>
        <p:spPr>
          <a:xfrm>
            <a:off x="928116" y="5225796"/>
            <a:ext cx="329184" cy="329184"/>
          </a:xfrm>
          <a:prstGeom prst="rect">
            <a:avLst/>
          </a:prstGeom>
        </p:spPr>
      </p:pic>
      <p:sp>
        <p:nvSpPr>
          <p:cNvPr id="33" name="shared demo text"/>
          <p:cNvSpPr txBox="1"/>
          <p:nvPr/>
        </p:nvSpPr>
        <p:spPr>
          <a:xfrm>
            <a:off x="1600200" y="5029200"/>
            <a:ext cx="9875520" cy="731520"/>
          </a:xfrm>
          <a:prstGeom prst="rect">
            <a:avLst/>
          </a:prstGeom>
          <a:noFill/>
          <a:ln/>
        </p:spPr>
        <p:txBody>
          <a:bodyPr wrap="square" lIns="0" tIns="0" rIns="0" bIns="0" rtlCol="0" anchor="ctr"/>
          <a:lstStyle/>
          <a:p>
            <a:pPr indent="0" marL="0">
              <a:buNone/>
            </a:pPr>
            <a:r>
              <a:rPr lang="en-US" sz="1400" b="1" dirty="0">
                <a:solidFill>
                  <a:schemeClr val="tx1"/>
                </a:solidFill>
              </a:rPr>
              <a:t>Shared demo account: </a:t>
            </a:r>
            <a:pPr indent="0" marL="0">
              <a:buNone/>
            </a:pPr>
            <a:r>
              <a:rPr lang="en-US" sz="1400" dirty="0">
                <a:solidFill>
                  <a:schemeClr val="tx1"/>
                </a:solidFill>
              </a:rPr>
              <a:t>everyone signs in as the same demo user. Use sample or non-confidential drawings — send client drawings to the AfriPlan team.</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web app in seven steps</a:t>
            </a:r>
            <a:endParaRPr lang="en-US" sz="2600" dirty="0"/>
          </a:p>
        </p:txBody>
      </p:sp>
      <p:sp>
        <p:nvSpPr>
          <p:cNvPr id="7" name="web step 1 circle"/>
          <p:cNvSpPr/>
          <p:nvPr/>
        </p:nvSpPr>
        <p:spPr>
          <a:xfrm>
            <a:off x="881743" y="1828800"/>
            <a:ext cx="914400" cy="914400"/>
          </a:xfrm>
          <a:prstGeom prst="ellipse">
            <a:avLst/>
          </a:prstGeom>
          <a:solidFill>
            <a:srgbClr val="8E1B1B"/>
          </a:solidFill>
          <a:ln w="12700">
            <a:solidFill>
              <a:srgbClr val="8E1B1B"/>
            </a:solidFill>
            <a:prstDash val="solid"/>
          </a:ln>
        </p:spPr>
      </p:sp>
      <p:pic>
        <p:nvPicPr>
          <p:cNvPr id="8"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9" name="Shape 5"/>
          <p:cNvSpPr/>
          <p:nvPr/>
        </p:nvSpPr>
        <p:spPr>
          <a:xfrm>
            <a:off x="1869295" y="2286000"/>
            <a:ext cx="519902" cy="0"/>
          </a:xfrm>
          <a:prstGeom prst="line">
            <a:avLst/>
          </a:prstGeom>
          <a:noFill/>
          <a:ln w="25400">
            <a:solidFill>
              <a:srgbClr val="8B8781"/>
            </a:solidFill>
            <a:prstDash val="solid"/>
            <a:tailEnd type="triangle"/>
          </a:ln>
        </p:spPr>
      </p:sp>
      <p:sp>
        <p:nvSpPr>
          <p:cNvPr id="10"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11"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12"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3" name="web step 2 circle"/>
          <p:cNvSpPr/>
          <p:nvPr/>
        </p:nvSpPr>
        <p:spPr>
          <a:xfrm>
            <a:off x="2462349" y="1828800"/>
            <a:ext cx="914400" cy="914400"/>
          </a:xfrm>
          <a:prstGeom prst="ellipse">
            <a:avLst/>
          </a:prstGeom>
          <a:solidFill>
            <a:srgbClr val="8E1B1B"/>
          </a:solidFill>
          <a:ln w="12700">
            <a:solidFill>
              <a:srgbClr val="8E1B1B"/>
            </a:solidFill>
            <a:prstDash val="solid"/>
          </a:ln>
        </p:spPr>
      </p:sp>
      <p:pic>
        <p:nvPicPr>
          <p:cNvPr id="14"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5" name="Shape 10"/>
          <p:cNvSpPr/>
          <p:nvPr/>
        </p:nvSpPr>
        <p:spPr>
          <a:xfrm>
            <a:off x="3449901" y="2286000"/>
            <a:ext cx="519902" cy="0"/>
          </a:xfrm>
          <a:prstGeom prst="line">
            <a:avLst/>
          </a:prstGeom>
          <a:noFill/>
          <a:ln w="25400">
            <a:solidFill>
              <a:srgbClr val="8B8781"/>
            </a:solidFill>
            <a:prstDash val="solid"/>
            <a:tailEnd type="triangle"/>
          </a:ln>
        </p:spPr>
      </p:sp>
      <p:sp>
        <p:nvSpPr>
          <p:cNvPr id="16"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7"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8"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9" name="web step 3 circle"/>
          <p:cNvSpPr/>
          <p:nvPr/>
        </p:nvSpPr>
        <p:spPr>
          <a:xfrm>
            <a:off x="4042954" y="1828800"/>
            <a:ext cx="914400" cy="914400"/>
          </a:xfrm>
          <a:prstGeom prst="ellipse">
            <a:avLst/>
          </a:prstGeom>
          <a:solidFill>
            <a:srgbClr val="C9A15A"/>
          </a:solidFill>
          <a:ln w="12700">
            <a:solidFill>
              <a:srgbClr val="C9A15A"/>
            </a:solidFill>
            <a:prstDash val="solid"/>
          </a:ln>
        </p:spPr>
      </p:sp>
      <p:pic>
        <p:nvPicPr>
          <p:cNvPr id="20"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21" name="Shape 15"/>
          <p:cNvSpPr/>
          <p:nvPr/>
        </p:nvSpPr>
        <p:spPr>
          <a:xfrm>
            <a:off x="5030506" y="2286000"/>
            <a:ext cx="519902" cy="0"/>
          </a:xfrm>
          <a:prstGeom prst="line">
            <a:avLst/>
          </a:prstGeom>
          <a:noFill/>
          <a:ln w="25400">
            <a:solidFill>
              <a:srgbClr val="8B8781"/>
            </a:solidFill>
            <a:prstDash val="solid"/>
            <a:tailEnd type="triangle"/>
          </a:ln>
        </p:spPr>
      </p:sp>
      <p:sp>
        <p:nvSpPr>
          <p:cNvPr id="22"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3"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4"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5" name="web step 4 circle"/>
          <p:cNvSpPr/>
          <p:nvPr/>
        </p:nvSpPr>
        <p:spPr>
          <a:xfrm>
            <a:off x="5623560" y="1828800"/>
            <a:ext cx="914400" cy="914400"/>
          </a:xfrm>
          <a:prstGeom prst="ellipse">
            <a:avLst/>
          </a:prstGeom>
          <a:solidFill>
            <a:srgbClr val="8E1B1B"/>
          </a:solidFill>
          <a:ln w="12700">
            <a:solidFill>
              <a:srgbClr val="8E1B1B"/>
            </a:solidFill>
            <a:prstDash val="solid"/>
          </a:ln>
        </p:spPr>
      </p:sp>
      <p:pic>
        <p:nvPicPr>
          <p:cNvPr id="26"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7" name="Shape 20"/>
          <p:cNvSpPr/>
          <p:nvPr/>
        </p:nvSpPr>
        <p:spPr>
          <a:xfrm>
            <a:off x="6611112" y="2286000"/>
            <a:ext cx="519902" cy="0"/>
          </a:xfrm>
          <a:prstGeom prst="line">
            <a:avLst/>
          </a:prstGeom>
          <a:noFill/>
          <a:ln w="25400">
            <a:solidFill>
              <a:srgbClr val="8B8781"/>
            </a:solidFill>
            <a:prstDash val="solid"/>
            <a:tailEnd type="triangle"/>
          </a:ln>
        </p:spPr>
      </p:sp>
      <p:sp>
        <p:nvSpPr>
          <p:cNvPr id="28"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9"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30"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31" name="web step 5 circle"/>
          <p:cNvSpPr/>
          <p:nvPr/>
        </p:nvSpPr>
        <p:spPr>
          <a:xfrm>
            <a:off x="7204166" y="1828800"/>
            <a:ext cx="914400" cy="914400"/>
          </a:xfrm>
          <a:prstGeom prst="ellipse">
            <a:avLst/>
          </a:prstGeom>
          <a:solidFill>
            <a:srgbClr val="8E1B1B"/>
          </a:solidFill>
          <a:ln w="12700">
            <a:solidFill>
              <a:srgbClr val="8E1B1B"/>
            </a:solidFill>
            <a:prstDash val="solid"/>
          </a:ln>
        </p:spPr>
      </p:sp>
      <p:pic>
        <p:nvPicPr>
          <p:cNvPr id="32"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3" name="Shape 25"/>
          <p:cNvSpPr/>
          <p:nvPr/>
        </p:nvSpPr>
        <p:spPr>
          <a:xfrm>
            <a:off x="8191718" y="2286000"/>
            <a:ext cx="519902" cy="0"/>
          </a:xfrm>
          <a:prstGeom prst="line">
            <a:avLst/>
          </a:prstGeom>
          <a:noFill/>
          <a:ln w="25400">
            <a:solidFill>
              <a:srgbClr val="8B8781"/>
            </a:solidFill>
            <a:prstDash val="solid"/>
            <a:tailEnd type="triangle"/>
          </a:ln>
        </p:spPr>
      </p:sp>
      <p:sp>
        <p:nvSpPr>
          <p:cNvPr id="34"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5"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6"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7" name="web step 6 circle"/>
          <p:cNvSpPr/>
          <p:nvPr/>
        </p:nvSpPr>
        <p:spPr>
          <a:xfrm>
            <a:off x="8784771" y="1828800"/>
            <a:ext cx="914400" cy="914400"/>
          </a:xfrm>
          <a:prstGeom prst="ellipse">
            <a:avLst/>
          </a:prstGeom>
          <a:solidFill>
            <a:srgbClr val="8E1B1B"/>
          </a:solidFill>
          <a:ln w="12700">
            <a:solidFill>
              <a:srgbClr val="8E1B1B"/>
            </a:solidFill>
            <a:prstDash val="solid"/>
          </a:ln>
        </p:spPr>
      </p:sp>
      <p:pic>
        <p:nvPicPr>
          <p:cNvPr id="38"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9" name="Shape 30"/>
          <p:cNvSpPr/>
          <p:nvPr/>
        </p:nvSpPr>
        <p:spPr>
          <a:xfrm>
            <a:off x="9772323" y="2286000"/>
            <a:ext cx="519902" cy="0"/>
          </a:xfrm>
          <a:prstGeom prst="line">
            <a:avLst/>
          </a:prstGeom>
          <a:noFill/>
          <a:ln w="25400">
            <a:solidFill>
              <a:srgbClr val="8B8781"/>
            </a:solidFill>
            <a:prstDash val="solid"/>
            <a:tailEnd type="triangle"/>
          </a:ln>
        </p:spPr>
      </p:sp>
      <p:sp>
        <p:nvSpPr>
          <p:cNvPr id="40"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41"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42"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3" name="web step 7 circle"/>
          <p:cNvSpPr/>
          <p:nvPr/>
        </p:nvSpPr>
        <p:spPr>
          <a:xfrm>
            <a:off x="10365377" y="1828800"/>
            <a:ext cx="914400" cy="914400"/>
          </a:xfrm>
          <a:prstGeom prst="ellipse">
            <a:avLst/>
          </a:prstGeom>
          <a:solidFill>
            <a:srgbClr val="8E1B1B"/>
          </a:solidFill>
          <a:ln w="12700">
            <a:solidFill>
              <a:srgbClr val="8E1B1B"/>
            </a:solidFill>
            <a:prstDash val="solid"/>
          </a:ln>
        </p:spPr>
      </p:sp>
      <p:pic>
        <p:nvPicPr>
          <p:cNvPr id="44"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5"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6"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7"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8" name="start card"/>
          <p:cNvSpPr/>
          <p:nvPr/>
        </p:nvSpPr>
        <p:spPr>
          <a:xfrm>
            <a:off x="548640" y="4709160"/>
            <a:ext cx="11064240" cy="1097280"/>
          </a:xfrm>
          <a:prstGeom prst="rect">
            <a:avLst/>
          </a:prstGeom>
          <a:solidFill>
            <a:schemeClr val="bg2"/>
          </a:solidFill>
          <a:ln w="9525">
            <a:solidFill>
              <a:srgbClr val="D8D3CB"/>
            </a:solidFill>
            <a:prstDash val="solid"/>
          </a:ln>
        </p:spPr>
      </p:sp>
      <p:sp>
        <p:nvSpPr>
          <p:cNvPr id="49" name="start circle"/>
          <p:cNvSpPr/>
          <p:nvPr/>
        </p:nvSpPr>
        <p:spPr>
          <a:xfrm>
            <a:off x="777240" y="4892040"/>
            <a:ext cx="731520" cy="731520"/>
          </a:xfrm>
          <a:prstGeom prst="ellipse">
            <a:avLst/>
          </a:prstGeom>
          <a:solidFill>
            <a:srgbClr val="14151A"/>
          </a:solidFill>
          <a:ln w="12700">
            <a:solidFill>
              <a:srgbClr val="14151A"/>
            </a:solidFill>
            <a:prstDash val="solid"/>
          </a:ln>
        </p:spPr>
      </p:sp>
      <p:pic>
        <p:nvPicPr>
          <p:cNvPr id="50"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51"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Online: </a:t>
            </a:r>
            <a:pPr indent="0" marL="0">
              <a:buNone/>
            </a:pPr>
            <a:r>
              <a:rPr lang="en-US" sz="150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https://afriplan.onrender.com</a:t>
            </a:r>
            <a:pPr indent="0" marL="0">
              <a:buNone/>
            </a:pPr>
            <a:r>
              <a:rPr lang="en-US" sz="1500" dirty="0">
                <a:solidFill>
                  <a:schemeClr val="tx1"/>
                </a:solidFill>
              </a:rPr>
              <a:t>   ·   nothing to install, any browser</a:t>
            </a:r>
            <a:endParaRPr lang="en-US" sz="15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Upload: choose the engine that fits your drawings</a:t>
            </a:r>
            <a:endParaRPr lang="en-US" sz="2600" dirty="0"/>
          </a:p>
        </p:txBody>
      </p:sp>
      <p:sp>
        <p:nvSpPr>
          <p:cNvPr id="7" name="engine card 1"/>
          <p:cNvSpPr/>
          <p:nvPr/>
        </p:nvSpPr>
        <p:spPr>
          <a:xfrm>
            <a:off x="548640" y="1417320"/>
            <a:ext cx="3520440" cy="4343400"/>
          </a:xfrm>
          <a:prstGeom prst="rect">
            <a:avLst/>
          </a:prstGeom>
          <a:solidFill>
            <a:schemeClr val="bg2"/>
          </a:solidFill>
          <a:ln w="9525">
            <a:solidFill>
              <a:srgbClr val="D8D3CB"/>
            </a:solidFill>
            <a:prstDash val="solid"/>
          </a:ln>
        </p:spPr>
      </p:sp>
      <p:sp>
        <p:nvSpPr>
          <p:cNvPr id="8" name="engine 1 circle"/>
          <p:cNvSpPr/>
          <p:nvPr/>
        </p:nvSpPr>
        <p:spPr>
          <a:xfrm>
            <a:off x="822960" y="1645920"/>
            <a:ext cx="777240" cy="777240"/>
          </a:xfrm>
          <a:prstGeom prst="ellipse">
            <a:avLst/>
          </a:prstGeom>
          <a:solidFill>
            <a:srgbClr val="8E1B1B"/>
          </a:solidFill>
          <a:ln w="12700">
            <a:solidFill>
              <a:srgbClr val="8E1B1B"/>
            </a:solidFill>
            <a:prstDash val="solid"/>
          </a:ln>
        </p:spPr>
      </p:sp>
      <p:pic>
        <p:nvPicPr>
          <p:cNvPr id="9"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10"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11"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12"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3" name="engine card 2"/>
          <p:cNvSpPr/>
          <p:nvPr/>
        </p:nvSpPr>
        <p:spPr>
          <a:xfrm>
            <a:off x="4297680" y="1417320"/>
            <a:ext cx="3520440" cy="4343400"/>
          </a:xfrm>
          <a:prstGeom prst="rect">
            <a:avLst/>
          </a:prstGeom>
          <a:solidFill>
            <a:schemeClr val="bg1"/>
          </a:solidFill>
          <a:ln w="9525">
            <a:solidFill>
              <a:srgbClr val="D8D3CB"/>
            </a:solidFill>
            <a:prstDash val="solid"/>
          </a:ln>
        </p:spPr>
      </p:sp>
      <p:sp>
        <p:nvSpPr>
          <p:cNvPr id="14" name="engine 2 circle"/>
          <p:cNvSpPr/>
          <p:nvPr/>
        </p:nvSpPr>
        <p:spPr>
          <a:xfrm>
            <a:off x="4572000" y="1645920"/>
            <a:ext cx="777240" cy="777240"/>
          </a:xfrm>
          <a:prstGeom prst="ellipse">
            <a:avLst/>
          </a:prstGeom>
          <a:solidFill>
            <a:srgbClr val="8E1B1B"/>
          </a:solidFill>
          <a:ln w="12700">
            <a:solidFill>
              <a:srgbClr val="8E1B1B"/>
            </a:solidFill>
            <a:prstDash val="solid"/>
          </a:ln>
        </p:spPr>
      </p:sp>
      <p:pic>
        <p:nvPicPr>
          <p:cNvPr id="15"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6"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7"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8"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the AI model: paid (most accurate) or free</a:t>
            </a:r>
            <a:endParaRPr lang="en-US" sz="1400" dirty="0"/>
          </a:p>
          <a:p>
            <a:pPr marL="342900" indent="-342900">
              <a:spcAft>
                <a:spcPts val="800"/>
              </a:spcAft>
              <a:buSzPct val="100000"/>
              <a:buChar char="•"/>
            </a:pPr>
            <a:r>
              <a:rPr lang="en-US" sz="1400" dirty="0">
                <a:solidFill>
                  <a:schemeClr val="tx1"/>
                </a:solidFill>
              </a:rPr>
              <a:t>Paid model ≈ R2.50 a page, ≈ 5 min for 18 pages</a:t>
            </a:r>
            <a:endParaRPr lang="en-US" sz="1400" dirty="0"/>
          </a:p>
          <a:p>
            <a:pPr marL="342900" indent="-342900">
              <a:spcAft>
                <a:spcPts val="800"/>
              </a:spcAft>
              <a:buSzPct val="100000"/>
              <a:buChar char="•"/>
            </a:pPr>
            <a:r>
              <a:rPr lang="en-US" sz="1400" dirty="0">
                <a:solidFill>
                  <a:schemeClr val="tx1"/>
                </a:solidFill>
              </a:rPr>
              <a:t>Free model: slower; stops at its daily limit — the screen says why</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p:txBody>
      </p:sp>
      <p:sp>
        <p:nvSpPr>
          <p:cNvPr id="19" name="engine card 3"/>
          <p:cNvSpPr/>
          <p:nvPr/>
        </p:nvSpPr>
        <p:spPr>
          <a:xfrm>
            <a:off x="8046720" y="1417320"/>
            <a:ext cx="3520440" cy="4343400"/>
          </a:xfrm>
          <a:prstGeom prst="rect">
            <a:avLst/>
          </a:prstGeom>
          <a:solidFill>
            <a:schemeClr val="bg1"/>
          </a:solidFill>
          <a:ln w="9525">
            <a:solidFill>
              <a:srgbClr val="D8D3CB"/>
            </a:solidFill>
            <a:prstDash val="solid"/>
          </a:ln>
        </p:spPr>
      </p:sp>
      <p:sp>
        <p:nvSpPr>
          <p:cNvPr id="20" name="engine 3 circle"/>
          <p:cNvSpPr/>
          <p:nvPr/>
        </p:nvSpPr>
        <p:spPr>
          <a:xfrm>
            <a:off x="8321040" y="1645920"/>
            <a:ext cx="777240" cy="777240"/>
          </a:xfrm>
          <a:prstGeom prst="ellipse">
            <a:avLst/>
          </a:prstGeom>
          <a:solidFill>
            <a:srgbClr val="8E1B1B"/>
          </a:solidFill>
          <a:ln w="12700">
            <a:solidFill>
              <a:srgbClr val="8E1B1B"/>
            </a:solidFill>
            <a:prstDash val="solid"/>
          </a:ln>
        </p:spPr>
      </p:sp>
      <p:pic>
        <p:nvPicPr>
          <p:cNvPr id="21"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22"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3"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4"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Tip: DWG/DXF estimating, BoQ audit and exports work without any AI model.</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Take-off: watch the progress, then read the gaps</a:t>
            </a:r>
            <a:endParaRPr lang="en-US" sz="2600" dirty="0"/>
          </a:p>
        </p:txBody>
      </p:sp>
      <p:pic>
        <p:nvPicPr>
          <p:cNvPr id="7" name="progress screenshot" descr="C:\Users\BIBINBUSINESS\AppData\Local\Temp\claude\c--Users-BIBINBUSINESS-OneDrive-Desktop-afriplan-web\160cb13b-69be-45a9-b0fa-6d0d5fe06738\scratchpad\deck\run-progress-neutral.png">    </p:cNvPr>
          <p:cNvPicPr>
            <a:picLocks noChangeAspect="1"/>
          </p:cNvPicPr>
          <p:nvPr/>
        </p:nvPicPr>
        <p:blipFill>
          <a:blip r:embed="rId1"/>
          <a:stretch>
            <a:fillRect/>
          </a:stretch>
        </p:blipFill>
        <p:spPr>
          <a:xfrm>
            <a:off x="548640" y="1417320"/>
            <a:ext cx="6583680" cy="3703320"/>
          </a:xfrm>
          <a:prstGeom prst="rect">
            <a:avLst/>
          </a:prstGeom>
        </p:spPr>
      </p:pic>
      <p:sp>
        <p:nvSpPr>
          <p:cNvPr id="8" name="screenshot frame"/>
          <p:cNvSpPr/>
          <p:nvPr/>
        </p:nvSpPr>
        <p:spPr>
          <a:xfrm>
            <a:off x="548640" y="1417320"/>
            <a:ext cx="6583680" cy="3703320"/>
          </a:xfrm>
          <a:prstGeom prst="rect">
            <a:avLst/>
          </a:prstGeom>
          <a:ln w="12700">
            <a:solidFill>
              <a:srgbClr val="D8D3CB"/>
            </a:solidFill>
            <a:prstDash val="solid"/>
          </a:ln>
        </p:spPr>
      </p:sp>
      <p:sp>
        <p:nvSpPr>
          <p:cNvPr id="9"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with the free AI model</a:t>
            </a:r>
            <a:endParaRPr lang="en-US" sz="1100" dirty="0"/>
          </a:p>
        </p:txBody>
      </p:sp>
      <p:sp>
        <p:nvSpPr>
          <p:cNvPr id="10" name="takeoff point 1 circle"/>
          <p:cNvSpPr/>
          <p:nvPr/>
        </p:nvSpPr>
        <p:spPr>
          <a:xfrm>
            <a:off x="7543800" y="1463040"/>
            <a:ext cx="640080" cy="640080"/>
          </a:xfrm>
          <a:prstGeom prst="ellipse">
            <a:avLst/>
          </a:prstGeom>
          <a:solidFill>
            <a:srgbClr val="8E1B1B"/>
          </a:solidFill>
          <a:ln w="12700">
            <a:solidFill>
              <a:srgbClr val="8E1B1B"/>
            </a:solidFill>
            <a:prstDash val="solid"/>
          </a:ln>
        </p:spPr>
      </p:sp>
      <p:pic>
        <p:nvPicPr>
          <p:cNvPr id="11"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12"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3"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4" name="takeoff point 2 circle"/>
          <p:cNvSpPr/>
          <p:nvPr/>
        </p:nvSpPr>
        <p:spPr>
          <a:xfrm>
            <a:off x="7543800" y="2788920"/>
            <a:ext cx="640080" cy="640080"/>
          </a:xfrm>
          <a:prstGeom prst="ellipse">
            <a:avLst/>
          </a:prstGeom>
          <a:solidFill>
            <a:srgbClr val="C9A15A"/>
          </a:solidFill>
          <a:ln w="12700">
            <a:solidFill>
              <a:srgbClr val="C9A15A"/>
            </a:solidFill>
            <a:prstDash val="solid"/>
          </a:ln>
        </p:spPr>
      </p:sp>
      <p:pic>
        <p:nvPicPr>
          <p:cNvPr id="15"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6"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7"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the free AI model's daily limit is used up — and what to do instead</a:t>
            </a:r>
            <a:endParaRPr lang="en-US" sz="1350" dirty="0"/>
          </a:p>
        </p:txBody>
      </p:sp>
      <p:sp>
        <p:nvSpPr>
          <p:cNvPr id="18" name="takeoff point 3 circle"/>
          <p:cNvSpPr/>
          <p:nvPr/>
        </p:nvSpPr>
        <p:spPr>
          <a:xfrm>
            <a:off x="7543800" y="4114800"/>
            <a:ext cx="640080" cy="640080"/>
          </a:xfrm>
          <a:prstGeom prst="ellipse">
            <a:avLst/>
          </a:prstGeom>
          <a:solidFill>
            <a:srgbClr val="8E1B1B"/>
          </a:solidFill>
          <a:ln w="12700">
            <a:solidFill>
              <a:srgbClr val="8E1B1B"/>
            </a:solidFill>
            <a:prstDash val="solid"/>
          </a:ln>
        </p:spPr>
      </p:sp>
      <p:pic>
        <p:nvPicPr>
          <p:cNvPr id="19"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20"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21"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USING THE WEB APP</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BoQ, pricing and export: the tender document</a:t>
            </a:r>
            <a:endParaRPr lang="en-US" sz="2600" dirty="0"/>
          </a:p>
        </p:txBody>
      </p:sp>
      <p:sp>
        <p:nvSpPr>
          <p:cNvPr id="7" name="boq point 1 circle"/>
          <p:cNvSpPr/>
          <p:nvPr/>
        </p:nvSpPr>
        <p:spPr>
          <a:xfrm>
            <a:off x="548640" y="1463040"/>
            <a:ext cx="640080" cy="640080"/>
          </a:xfrm>
          <a:prstGeom prst="ellipse">
            <a:avLst/>
          </a:prstGeom>
          <a:solidFill>
            <a:srgbClr val="8E1B1B"/>
          </a:solidFill>
          <a:ln w="12700">
            <a:solidFill>
              <a:srgbClr val="8E1B1B"/>
            </a:solidFill>
            <a:prstDash val="solid"/>
          </a:ln>
        </p:spPr>
      </p:sp>
      <p:pic>
        <p:nvPicPr>
          <p:cNvPr id="8"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9"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10"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11" name="boq point 2 circle"/>
          <p:cNvSpPr/>
          <p:nvPr/>
        </p:nvSpPr>
        <p:spPr>
          <a:xfrm>
            <a:off x="548640" y="2542032"/>
            <a:ext cx="640080" cy="640080"/>
          </a:xfrm>
          <a:prstGeom prst="ellipse">
            <a:avLst/>
          </a:prstGeom>
          <a:solidFill>
            <a:srgbClr val="8E1B1B"/>
          </a:solidFill>
          <a:ln w="12700">
            <a:solidFill>
              <a:srgbClr val="8E1B1B"/>
            </a:solidFill>
            <a:prstDash val="solid"/>
          </a:ln>
        </p:spPr>
      </p:sp>
      <p:pic>
        <p:nvPicPr>
          <p:cNvPr id="12"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3"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4"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5" name="boq point 3 circle"/>
          <p:cNvSpPr/>
          <p:nvPr/>
        </p:nvSpPr>
        <p:spPr>
          <a:xfrm>
            <a:off x="548640" y="3621024"/>
            <a:ext cx="640080" cy="640080"/>
          </a:xfrm>
          <a:prstGeom prst="ellipse">
            <a:avLst/>
          </a:prstGeom>
          <a:solidFill>
            <a:srgbClr val="8E1B1B"/>
          </a:solidFill>
          <a:ln w="12700">
            <a:solidFill>
              <a:srgbClr val="8E1B1B"/>
            </a:solidFill>
            <a:prstDash val="solid"/>
          </a:ln>
        </p:spPr>
      </p:sp>
      <p:pic>
        <p:nvPicPr>
          <p:cNvPr id="16"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7"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8"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9" name="boq point 4 circle"/>
          <p:cNvSpPr/>
          <p:nvPr/>
        </p:nvSpPr>
        <p:spPr>
          <a:xfrm>
            <a:off x="548640" y="4700016"/>
            <a:ext cx="640080" cy="640080"/>
          </a:xfrm>
          <a:prstGeom prst="ellipse">
            <a:avLst/>
          </a:prstGeom>
          <a:solidFill>
            <a:srgbClr val="8E1B1B"/>
          </a:solidFill>
          <a:ln w="12700">
            <a:solidFill>
              <a:srgbClr val="8E1B1B"/>
            </a:solidFill>
            <a:prstDash val="solid"/>
          </a:ln>
        </p:spPr>
      </p:sp>
      <p:pic>
        <p:nvPicPr>
          <p:cNvPr id="20"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21"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22"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3" name="audit card"/>
          <p:cNvSpPr/>
          <p:nvPr/>
        </p:nvSpPr>
        <p:spPr>
          <a:xfrm>
            <a:off x="6309360" y="1417320"/>
            <a:ext cx="5303520" cy="4343400"/>
          </a:xfrm>
          <a:prstGeom prst="rect">
            <a:avLst/>
          </a:prstGeom>
          <a:solidFill>
            <a:schemeClr val="bg2"/>
          </a:solidFill>
          <a:ln w="9525">
            <a:solidFill>
              <a:srgbClr val="D8D3CB"/>
            </a:solidFill>
            <a:prstDash val="solid"/>
          </a:ln>
        </p:spPr>
      </p:sp>
      <p:sp>
        <p:nvSpPr>
          <p:cNvPr id="24" name="audit circle"/>
          <p:cNvSpPr/>
          <p:nvPr/>
        </p:nvSpPr>
        <p:spPr>
          <a:xfrm>
            <a:off x="6583680" y="1645920"/>
            <a:ext cx="777240" cy="777240"/>
          </a:xfrm>
          <a:prstGeom prst="ellipse">
            <a:avLst/>
          </a:prstGeom>
          <a:solidFill>
            <a:srgbClr val="C9A15A"/>
          </a:solidFill>
          <a:ln w="12700">
            <a:solidFill>
              <a:srgbClr val="C9A15A"/>
            </a:solidFill>
            <a:prstDash val="solid"/>
          </a:ln>
        </p:spPr>
      </p:sp>
      <p:pic>
        <p:nvPicPr>
          <p:cNvPr id="25"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6"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7"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8"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Two ways to use AfriPlan — pick the one that fits the job</a:t>
            </a:r>
            <a:endParaRPr lang="en-US" sz="2600" dirty="0"/>
          </a:p>
        </p:txBody>
      </p:sp>
      <p:sp>
        <p:nvSpPr>
          <p:cNvPr id="7" name="Web app column"/>
          <p:cNvSpPr/>
          <p:nvPr/>
        </p:nvSpPr>
        <p:spPr>
          <a:xfrm>
            <a:off x="548640" y="1417320"/>
            <a:ext cx="5440680" cy="4206240"/>
          </a:xfrm>
          <a:prstGeom prst="rect">
            <a:avLst/>
          </a:prstGeom>
          <a:solidFill>
            <a:schemeClr val="bg2"/>
          </a:solidFill>
          <a:ln w="9525">
            <a:solidFill>
              <a:srgbClr val="D8D3CB"/>
            </a:solidFill>
            <a:prstDash val="solid"/>
          </a:ln>
        </p:spPr>
      </p:sp>
      <p:sp>
        <p:nvSpPr>
          <p:cNvPr id="8" name="Web app circle"/>
          <p:cNvSpPr/>
          <p:nvPr/>
        </p:nvSpPr>
        <p:spPr>
          <a:xfrm>
            <a:off x="822960" y="1645920"/>
            <a:ext cx="731520" cy="731520"/>
          </a:xfrm>
          <a:prstGeom prst="ellipse">
            <a:avLst/>
          </a:prstGeom>
          <a:solidFill>
            <a:srgbClr val="8E1B1B"/>
          </a:solidFill>
          <a:ln w="12700">
            <a:solidFill>
              <a:srgbClr val="8E1B1B"/>
            </a:solidFill>
            <a:prstDash val="solid"/>
          </a:ln>
        </p:spPr>
      </p:sp>
      <p:pic>
        <p:nvPicPr>
          <p:cNvPr id="9"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10"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11"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12"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3"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4"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5"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6"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7"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AI API (paid) or a free AI model (slower, daily limit)</a:t>
            </a:r>
            <a:endParaRPr lang="en-US" sz="1350" dirty="0"/>
          </a:p>
        </p:txBody>
      </p:sp>
      <p:sp>
        <p:nvSpPr>
          <p:cNvPr id="18"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9"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20"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21"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22" name="AI Operating System column"/>
          <p:cNvSpPr/>
          <p:nvPr/>
        </p:nvSpPr>
        <p:spPr>
          <a:xfrm>
            <a:off x="6172200" y="1417320"/>
            <a:ext cx="5440680" cy="4206240"/>
          </a:xfrm>
          <a:prstGeom prst="rect">
            <a:avLst/>
          </a:prstGeom>
          <a:solidFill>
            <a:schemeClr val="bg1"/>
          </a:solidFill>
          <a:ln w="9525">
            <a:solidFill>
              <a:srgbClr val="D8D3CB"/>
            </a:solidFill>
            <a:prstDash val="solid"/>
          </a:ln>
        </p:spPr>
      </p:sp>
      <p:sp>
        <p:nvSpPr>
          <p:cNvPr id="23" name="AI Operating System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4" name="AI Operating System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5" name="AI Operating System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AI Operating System</a:t>
            </a:r>
            <a:endParaRPr lang="en-US" sz="2200" dirty="0"/>
          </a:p>
        </p:txBody>
      </p:sp>
      <p:sp>
        <p:nvSpPr>
          <p:cNvPr id="26" name="AI Operating System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code editor (IDE) + AI brain</a:t>
            </a:r>
            <a:endParaRPr lang="en-US" sz="1300" dirty="0"/>
          </a:p>
        </p:txBody>
      </p:sp>
      <p:sp>
        <p:nvSpPr>
          <p:cNvPr id="27" name="AI Operating System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8" name="AI Operating System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9" name="AI Operating System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30" name="AI Operating System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31" name="AI Operating System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32" name="AI Operating System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the AI brain reads every page — on a subscription, no per-page bill</a:t>
            </a:r>
            <a:endParaRPr lang="en-US" sz="1350" dirty="0"/>
          </a:p>
        </p:txBody>
      </p:sp>
      <p:sp>
        <p:nvSpPr>
          <p:cNvPr id="33" name="AI Operating System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4" name="AI Operating System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5" name="AI Operating System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6" name="AI Operating System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7"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AI Operating System (PDF + DWG combined) — see the accuracy section.</a:t>
            </a:r>
            <a:endParaRPr lang="en-US" sz="13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How a job runs in the AI Operating System</a:t>
            </a:r>
            <a:endParaRPr lang="en-US" sz="2600" dirty="0"/>
          </a:p>
        </p:txBody>
      </p:sp>
      <p:sp>
        <p:nvSpPr>
          <p:cNvPr id="7" name="os step 1"/>
          <p:cNvSpPr/>
          <p:nvPr/>
        </p:nvSpPr>
        <p:spPr>
          <a:xfrm>
            <a:off x="548640" y="1417320"/>
            <a:ext cx="2560320" cy="3154680"/>
          </a:xfrm>
          <a:prstGeom prst="rect">
            <a:avLst/>
          </a:prstGeom>
          <a:solidFill>
            <a:schemeClr val="bg1"/>
          </a:solidFill>
          <a:ln w="9525">
            <a:solidFill>
              <a:srgbClr val="D8D3CB"/>
            </a:solidFill>
            <a:prstDash val="solid"/>
          </a:ln>
        </p:spPr>
      </p:sp>
      <p:sp>
        <p:nvSpPr>
          <p:cNvPr id="8" name="os step 1 circle"/>
          <p:cNvSpPr/>
          <p:nvPr/>
        </p:nvSpPr>
        <p:spPr>
          <a:xfrm>
            <a:off x="777240" y="1645920"/>
            <a:ext cx="731520" cy="731520"/>
          </a:xfrm>
          <a:prstGeom prst="ellipse">
            <a:avLst/>
          </a:prstGeom>
          <a:solidFill>
            <a:srgbClr val="8E1B1B"/>
          </a:solidFill>
          <a:ln w="12700">
            <a:solidFill>
              <a:srgbClr val="8E1B1B"/>
            </a:solidFill>
            <a:prstDash val="solid"/>
          </a:ln>
        </p:spPr>
      </p:sp>
      <p:pic>
        <p:nvPicPr>
          <p:cNvPr id="9" name="os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10" name="os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11" name="os step who 1"/>
          <p:cNvSpPr txBox="1"/>
          <p:nvPr/>
        </p:nvSpPr>
        <p:spPr>
          <a:xfrm>
            <a:off x="77724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AfriPlan Engine</a:t>
            </a:r>
            <a:endParaRPr lang="en-US" sz="1200" dirty="0"/>
          </a:p>
        </p:txBody>
      </p:sp>
      <p:sp>
        <p:nvSpPr>
          <p:cNvPr id="12" name="os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3" name="Shape 9"/>
          <p:cNvSpPr/>
          <p:nvPr/>
        </p:nvSpPr>
        <p:spPr>
          <a:xfrm>
            <a:off x="3127248" y="2971800"/>
            <a:ext cx="237744" cy="0"/>
          </a:xfrm>
          <a:prstGeom prst="line">
            <a:avLst/>
          </a:prstGeom>
          <a:noFill/>
          <a:ln w="25400">
            <a:solidFill>
              <a:srgbClr val="8B8781"/>
            </a:solidFill>
            <a:prstDash val="solid"/>
            <a:tailEnd type="triangle"/>
          </a:ln>
        </p:spPr>
      </p:sp>
      <p:sp>
        <p:nvSpPr>
          <p:cNvPr id="14" name="os step 2"/>
          <p:cNvSpPr/>
          <p:nvPr/>
        </p:nvSpPr>
        <p:spPr>
          <a:xfrm>
            <a:off x="3383280" y="1417320"/>
            <a:ext cx="2560320" cy="3154680"/>
          </a:xfrm>
          <a:prstGeom prst="rect">
            <a:avLst/>
          </a:prstGeom>
          <a:solidFill>
            <a:schemeClr val="bg2"/>
          </a:solidFill>
          <a:ln w="9525">
            <a:solidFill>
              <a:srgbClr val="D8D3CB"/>
            </a:solidFill>
            <a:prstDash val="solid"/>
          </a:ln>
        </p:spPr>
      </p:sp>
      <p:sp>
        <p:nvSpPr>
          <p:cNvPr id="15" name="os step 2 circle"/>
          <p:cNvSpPr/>
          <p:nvPr/>
        </p:nvSpPr>
        <p:spPr>
          <a:xfrm>
            <a:off x="3611880" y="1645920"/>
            <a:ext cx="731520" cy="731520"/>
          </a:xfrm>
          <a:prstGeom prst="ellipse">
            <a:avLst/>
          </a:prstGeom>
          <a:solidFill>
            <a:srgbClr val="C9A15A"/>
          </a:solidFill>
          <a:ln w="12700">
            <a:solidFill>
              <a:srgbClr val="C9A15A"/>
            </a:solidFill>
            <a:prstDash val="solid"/>
          </a:ln>
        </p:spPr>
      </p:sp>
      <p:pic>
        <p:nvPicPr>
          <p:cNvPr id="16" name="os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7" name="os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8" name="os step who 2"/>
          <p:cNvSpPr txBox="1"/>
          <p:nvPr/>
        </p:nvSpPr>
        <p:spPr>
          <a:xfrm>
            <a:off x="361188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AI brain + estimating skill</a:t>
            </a:r>
            <a:endParaRPr lang="en-US" sz="1200" dirty="0"/>
          </a:p>
        </p:txBody>
      </p:sp>
      <p:sp>
        <p:nvSpPr>
          <p:cNvPr id="19" name="os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20" name="Shape 15"/>
          <p:cNvSpPr/>
          <p:nvPr/>
        </p:nvSpPr>
        <p:spPr>
          <a:xfrm>
            <a:off x="5961888" y="2971800"/>
            <a:ext cx="237744" cy="0"/>
          </a:xfrm>
          <a:prstGeom prst="line">
            <a:avLst/>
          </a:prstGeom>
          <a:noFill/>
          <a:ln w="25400">
            <a:solidFill>
              <a:srgbClr val="8B8781"/>
            </a:solidFill>
            <a:prstDash val="solid"/>
            <a:tailEnd type="triangle"/>
          </a:ln>
        </p:spPr>
      </p:sp>
      <p:sp>
        <p:nvSpPr>
          <p:cNvPr id="21" name="os step 3"/>
          <p:cNvSpPr/>
          <p:nvPr/>
        </p:nvSpPr>
        <p:spPr>
          <a:xfrm>
            <a:off x="6217920" y="1417320"/>
            <a:ext cx="2560320" cy="3154680"/>
          </a:xfrm>
          <a:prstGeom prst="rect">
            <a:avLst/>
          </a:prstGeom>
          <a:solidFill>
            <a:schemeClr val="bg1"/>
          </a:solidFill>
          <a:ln w="9525">
            <a:solidFill>
              <a:srgbClr val="D8D3CB"/>
            </a:solidFill>
            <a:prstDash val="solid"/>
          </a:ln>
        </p:spPr>
      </p:sp>
      <p:sp>
        <p:nvSpPr>
          <p:cNvPr id="22" name="os step 3 circle"/>
          <p:cNvSpPr/>
          <p:nvPr/>
        </p:nvSpPr>
        <p:spPr>
          <a:xfrm>
            <a:off x="6446520" y="1645920"/>
            <a:ext cx="731520" cy="731520"/>
          </a:xfrm>
          <a:prstGeom prst="ellipse">
            <a:avLst/>
          </a:prstGeom>
          <a:solidFill>
            <a:srgbClr val="8E1B1B"/>
          </a:solidFill>
          <a:ln w="12700">
            <a:solidFill>
              <a:srgbClr val="8E1B1B"/>
            </a:solidFill>
            <a:prstDash val="solid"/>
          </a:ln>
        </p:spPr>
      </p:sp>
      <p:pic>
        <p:nvPicPr>
          <p:cNvPr id="23" name="os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4" name="os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5" name="os step who 3"/>
          <p:cNvSpPr txBox="1"/>
          <p:nvPr/>
        </p:nvSpPr>
        <p:spPr>
          <a:xfrm>
            <a:off x="644652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AfriPlan Engine</a:t>
            </a:r>
            <a:endParaRPr lang="en-US" sz="1200" dirty="0"/>
          </a:p>
        </p:txBody>
      </p:sp>
      <p:sp>
        <p:nvSpPr>
          <p:cNvPr id="26" name="os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7" name="Shape 21"/>
          <p:cNvSpPr/>
          <p:nvPr/>
        </p:nvSpPr>
        <p:spPr>
          <a:xfrm>
            <a:off x="8796528" y="2971800"/>
            <a:ext cx="237744" cy="0"/>
          </a:xfrm>
          <a:prstGeom prst="line">
            <a:avLst/>
          </a:prstGeom>
          <a:noFill/>
          <a:ln w="25400">
            <a:solidFill>
              <a:srgbClr val="8B8781"/>
            </a:solidFill>
            <a:prstDash val="solid"/>
            <a:tailEnd type="triangle"/>
          </a:ln>
        </p:spPr>
      </p:sp>
      <p:sp>
        <p:nvSpPr>
          <p:cNvPr id="28" name="os step 4"/>
          <p:cNvSpPr/>
          <p:nvPr/>
        </p:nvSpPr>
        <p:spPr>
          <a:xfrm>
            <a:off x="9052560" y="1417320"/>
            <a:ext cx="2560320" cy="3154680"/>
          </a:xfrm>
          <a:prstGeom prst="rect">
            <a:avLst/>
          </a:prstGeom>
          <a:solidFill>
            <a:schemeClr val="bg1"/>
          </a:solidFill>
          <a:ln w="9525">
            <a:solidFill>
              <a:srgbClr val="D8D3CB"/>
            </a:solidFill>
            <a:prstDash val="solid"/>
          </a:ln>
        </p:spPr>
      </p:sp>
      <p:sp>
        <p:nvSpPr>
          <p:cNvPr id="29" name="os step 4 circle"/>
          <p:cNvSpPr/>
          <p:nvPr/>
        </p:nvSpPr>
        <p:spPr>
          <a:xfrm>
            <a:off x="9281160" y="1645920"/>
            <a:ext cx="731520" cy="731520"/>
          </a:xfrm>
          <a:prstGeom prst="ellipse">
            <a:avLst/>
          </a:prstGeom>
          <a:solidFill>
            <a:srgbClr val="8E1B1B"/>
          </a:solidFill>
          <a:ln w="12700">
            <a:solidFill>
              <a:srgbClr val="8E1B1B"/>
            </a:solidFill>
            <a:prstDash val="solid"/>
          </a:ln>
        </p:spPr>
      </p:sp>
      <p:pic>
        <p:nvPicPr>
          <p:cNvPr id="30" name="os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31" name="os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32" name="os step who 4"/>
          <p:cNvSpPr txBox="1"/>
          <p:nvPr/>
        </p:nvSpPr>
        <p:spPr>
          <a:xfrm>
            <a:off x="928116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3" name="os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4" name="command box"/>
          <p:cNvSpPr/>
          <p:nvPr/>
        </p:nvSpPr>
        <p:spPr>
          <a:xfrm>
            <a:off x="548640" y="4800600"/>
            <a:ext cx="11064240" cy="1051560"/>
          </a:xfrm>
          <a:prstGeom prst="roundRect">
            <a:avLst>
              <a:gd name="adj" fmla="val 8696"/>
            </a:avLst>
          </a:prstGeom>
          <a:solidFill>
            <a:schemeClr val="tx1"/>
          </a:solidFill>
          <a:ln w="12700">
            <a:solidFill>
              <a:srgbClr val="14151A"/>
            </a:solidFill>
            <a:prstDash val="solid"/>
          </a:ln>
        </p:spPr>
      </p:sp>
      <p:sp>
        <p:nvSpPr>
          <p:cNvPr id="35"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the AI brain: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Where:  </a:t>
            </a:r>
            <a:pPr indent="0" marL="0">
              <a:buNone/>
            </a:pPr>
            <a:r>
              <a:rPr lang="en-US" sz="1400" dirty="0">
                <a:solidFill>
                  <a:schemeClr val="bg1"/>
                </a:solidFill>
              </a:rPr>
              <a:t>in your code editor (IDE) with the project folder open — the result lands in AfriPlan_Output</a:t>
            </a:r>
            <a:endParaRPr lang="en-US" sz="14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THE AI OPERATING SYSTEM</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AI Operating System: one AI brain plus specialist agents</a:t>
            </a:r>
            <a:endParaRPr lang="en-US" sz="2600" dirty="0"/>
          </a:p>
        </p:txBody>
      </p:sp>
      <p:sp>
        <p:nvSpPr>
          <p:cNvPr id="7" name="you"/>
          <p:cNvSpPr/>
          <p:nvPr/>
        </p:nvSpPr>
        <p:spPr>
          <a:xfrm>
            <a:off x="548640" y="1600200"/>
            <a:ext cx="1828800" cy="1234440"/>
          </a:xfrm>
          <a:prstGeom prst="rect">
            <a:avLst/>
          </a:prstGeom>
          <a:solidFill>
            <a:srgbClr val="FFFFFF"/>
          </a:solidFill>
          <a:ln w="9525">
            <a:solidFill>
              <a:srgbClr val="D8D3CB"/>
            </a:solidFill>
            <a:prstDash val="solid"/>
          </a:ln>
        </p:spPr>
      </p:sp>
      <p:sp>
        <p:nvSpPr>
          <p:cNvPr id="8" name="you text"/>
          <p:cNvSpPr txBox="1"/>
          <p:nvPr/>
        </p:nvSpPr>
        <p:spPr>
          <a:xfrm>
            <a:off x="640080" y="1655064"/>
            <a:ext cx="1645920" cy="114300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IN YOUR CODE EDITOR</a:t>
            </a:r>
            <a:endParaRPr lang="en-US" sz="1400" dirty="0"/>
          </a:p>
          <a:p>
            <a:pPr indent="0" marL="0">
              <a:buNone/>
            </a:pPr>
            <a:r>
              <a:rPr lang="en-US" sz="1100" b="1" dirty="0">
                <a:solidFill>
                  <a:srgbClr val="14151A"/>
                </a:solidFill>
              </a:rPr>
              <a:t>you say: “estimate the project in my folder”</a:t>
            </a:r>
            <a:endParaRPr lang="en-US" sz="1400" dirty="0"/>
          </a:p>
        </p:txBody>
      </p:sp>
      <p:sp>
        <p:nvSpPr>
          <p:cNvPr id="9" name="folder"/>
          <p:cNvSpPr/>
          <p:nvPr/>
        </p:nvSpPr>
        <p:spPr>
          <a:xfrm>
            <a:off x="548640" y="3108960"/>
            <a:ext cx="1828800" cy="868680"/>
          </a:xfrm>
          <a:prstGeom prst="rect">
            <a:avLst/>
          </a:prstGeom>
          <a:solidFill>
            <a:srgbClr val="FFFFFF"/>
          </a:solidFill>
          <a:ln w="9525">
            <a:solidFill>
              <a:srgbClr val="D8D3CB"/>
            </a:solidFill>
            <a:prstDash val="solid"/>
          </a:ln>
        </p:spPr>
      </p:sp>
      <p:sp>
        <p:nvSpPr>
          <p:cNvPr id="10" name="folder text"/>
          <p:cNvSpPr txBox="1"/>
          <p:nvPr/>
        </p:nvSpPr>
        <p:spPr>
          <a:xfrm>
            <a:off x="640080" y="3163824"/>
            <a:ext cx="1645920" cy="77724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YOUR PROJECT FOLDER</a:t>
            </a:r>
            <a:endParaRPr lang="en-US" sz="1400" dirty="0"/>
          </a:p>
          <a:p>
            <a:pPr indent="0" marL="0">
              <a:buNone/>
            </a:pPr>
            <a:r>
              <a:rPr lang="en-US" sz="1100" b="1" dirty="0">
                <a:solidFill>
                  <a:srgbClr val="14151A"/>
                </a:solidFill>
              </a:rPr>
              <a:t>PDF + DWG / DXF drawings</a:t>
            </a:r>
            <a:endParaRPr lang="en-US" sz="1400" dirty="0"/>
          </a:p>
        </p:txBody>
      </p:sp>
      <p:sp>
        <p:nvSpPr>
          <p:cNvPr id="11" name="Shape 8"/>
          <p:cNvSpPr/>
          <p:nvPr/>
        </p:nvSpPr>
        <p:spPr>
          <a:xfrm>
            <a:off x="2395728" y="2240280"/>
            <a:ext cx="192024" cy="0"/>
          </a:xfrm>
          <a:prstGeom prst="line">
            <a:avLst/>
          </a:prstGeom>
          <a:noFill/>
          <a:ln w="25400">
            <a:solidFill>
              <a:srgbClr val="8B8781"/>
            </a:solidFill>
            <a:prstDash val="solid"/>
            <a:tailEnd type="triangle"/>
          </a:ln>
        </p:spPr>
      </p:sp>
      <p:sp>
        <p:nvSpPr>
          <p:cNvPr id="12" name="Shape 9"/>
          <p:cNvSpPr/>
          <p:nvPr/>
        </p:nvSpPr>
        <p:spPr>
          <a:xfrm>
            <a:off x="2395728" y="3520440"/>
            <a:ext cx="192024" cy="0"/>
          </a:xfrm>
          <a:prstGeom prst="line">
            <a:avLst/>
          </a:prstGeom>
          <a:noFill/>
          <a:ln w="25400">
            <a:solidFill>
              <a:srgbClr val="8B8781"/>
            </a:solidFill>
            <a:prstDash val="solid"/>
            <a:tailEnd type="triangle"/>
          </a:ln>
        </p:spPr>
      </p:sp>
      <p:sp>
        <p:nvSpPr>
          <p:cNvPr id="13" name="prepare"/>
          <p:cNvSpPr/>
          <p:nvPr/>
        </p:nvSpPr>
        <p:spPr>
          <a:xfrm>
            <a:off x="2606040" y="2011680"/>
            <a:ext cx="1737360" cy="1691640"/>
          </a:xfrm>
          <a:prstGeom prst="rect">
            <a:avLst/>
          </a:prstGeom>
          <a:solidFill>
            <a:srgbClr val="E2DDD5"/>
          </a:solidFill>
          <a:ln w="9525">
            <a:solidFill>
              <a:srgbClr val="CFC8BE"/>
            </a:solidFill>
            <a:prstDash val="solid"/>
          </a:ln>
        </p:spPr>
      </p:sp>
      <p:sp>
        <p:nvSpPr>
          <p:cNvPr id="14" name="prepare text"/>
          <p:cNvSpPr txBox="1"/>
          <p:nvPr/>
        </p:nvSpPr>
        <p:spPr>
          <a:xfrm>
            <a:off x="2697480" y="2066544"/>
            <a:ext cx="1554480" cy="160020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prepares every page: whole, zoomed, legend, text</a:t>
            </a:r>
            <a:endParaRPr lang="en-US" sz="1400" dirty="0"/>
          </a:p>
        </p:txBody>
      </p:sp>
      <p:sp>
        <p:nvSpPr>
          <p:cNvPr id="15" name="Shape 12"/>
          <p:cNvSpPr/>
          <p:nvPr/>
        </p:nvSpPr>
        <p:spPr>
          <a:xfrm>
            <a:off x="4361688" y="2834640"/>
            <a:ext cx="192024" cy="0"/>
          </a:xfrm>
          <a:prstGeom prst="line">
            <a:avLst/>
          </a:prstGeom>
          <a:noFill/>
          <a:ln w="25400">
            <a:solidFill>
              <a:srgbClr val="8B8781"/>
            </a:solidFill>
            <a:prstDash val="solid"/>
            <a:tailEnd type="triangle"/>
          </a:ln>
        </p:spPr>
      </p:sp>
      <p:sp>
        <p:nvSpPr>
          <p:cNvPr id="16" name="ai brain"/>
          <p:cNvSpPr/>
          <p:nvPr/>
        </p:nvSpPr>
        <p:spPr>
          <a:xfrm>
            <a:off x="4572000" y="1417320"/>
            <a:ext cx="3017520" cy="3291840"/>
          </a:xfrm>
          <a:prstGeom prst="rect">
            <a:avLst/>
          </a:prstGeom>
          <a:solidFill>
            <a:srgbClr val="8E1B1B"/>
          </a:solidFill>
          <a:ln w="12700">
            <a:solidFill>
              <a:srgbClr val="8E1B1B"/>
            </a:solidFill>
            <a:prstDash val="solid"/>
          </a:ln>
        </p:spPr>
      </p:sp>
      <p:sp>
        <p:nvSpPr>
          <p:cNvPr id="17" name="ai brain title"/>
          <p:cNvSpPr txBox="1"/>
          <p:nvPr/>
        </p:nvSpPr>
        <p:spPr>
          <a:xfrm>
            <a:off x="4709160" y="1508760"/>
            <a:ext cx="2743200" cy="685800"/>
          </a:xfrm>
          <a:prstGeom prst="rect">
            <a:avLst/>
          </a:prstGeom>
          <a:noFill/>
          <a:ln/>
        </p:spPr>
        <p:txBody>
          <a:bodyPr wrap="square" lIns="0" tIns="0" rIns="0" bIns="0" rtlCol="0" anchor="t"/>
          <a:lstStyle/>
          <a:p>
            <a:pPr indent="0" marL="0">
              <a:buNone/>
            </a:pPr>
            <a:r>
              <a:rPr lang="en-US" sz="800" spc="100" kern="0" dirty="0">
                <a:solidFill>
                  <a:srgbClr val="F0D9AE"/>
                </a:solidFill>
                <a:latin typeface="Consolas" pitchFamily="34" charset="0"/>
                <a:ea typeface="Consolas" pitchFamily="34" charset="-122"/>
                <a:cs typeface="Consolas" pitchFamily="34" charset="-120"/>
              </a:rPr>
              <a:t>AI BRAIN · WITH THE ESTIMATING SKILL</a:t>
            </a:r>
            <a:endParaRPr lang="en-US" sz="1400" dirty="0"/>
          </a:p>
          <a:p>
            <a:pPr indent="0" marL="0">
              <a:buNone/>
            </a:pPr>
            <a:r>
              <a:rPr lang="en-US" sz="1500" b="1" dirty="0">
                <a:solidFill>
                  <a:srgbClr val="F5F3EF"/>
                </a:solidFill>
              </a:rPr>
              <a:t>Reads every page itself</a:t>
            </a:r>
            <a:endParaRPr lang="en-US" sz="1400" dirty="0"/>
          </a:p>
        </p:txBody>
      </p:sp>
      <p:sp>
        <p:nvSpPr>
          <p:cNvPr id="18" name="brain job 1"/>
          <p:cNvSpPr/>
          <p:nvPr/>
        </p:nvSpPr>
        <p:spPr>
          <a:xfrm>
            <a:off x="4709160" y="2286000"/>
            <a:ext cx="2743200" cy="429768"/>
          </a:xfrm>
          <a:prstGeom prst="rect">
            <a:avLst/>
          </a:prstGeom>
          <a:solidFill>
            <a:srgbClr val="A33A3A"/>
          </a:solidFill>
          <a:ln w="12700">
            <a:solidFill>
              <a:srgbClr val="A33A3A"/>
            </a:solidFill>
            <a:prstDash val="solid"/>
          </a:ln>
        </p:spPr>
      </p:sp>
      <p:sp>
        <p:nvSpPr>
          <p:cNvPr id="19" name="brain job text 1"/>
          <p:cNvSpPr txBox="1"/>
          <p:nvPr/>
        </p:nvSpPr>
        <p:spPr>
          <a:xfrm>
            <a:off x="4800600" y="2286000"/>
            <a:ext cx="2606040" cy="429768"/>
          </a:xfrm>
          <a:prstGeom prst="rect">
            <a:avLst/>
          </a:prstGeom>
          <a:noFill/>
          <a:ln/>
        </p:spPr>
        <p:txBody>
          <a:bodyPr wrap="square" lIns="0" tIns="0" rIns="0" bIns="0" rtlCol="0" anchor="ctr"/>
          <a:lstStyle/>
          <a:p>
            <a:pPr indent="0" marL="0">
              <a:buNone/>
            </a:pPr>
            <a:r>
              <a:rPr lang="en-US" sz="1050" dirty="0">
                <a:solidFill>
                  <a:srgbClr val="F5F3EF"/>
                </a:solidFill>
              </a:rPr>
              <a:t>sorts every page</a:t>
            </a:r>
            <a:endParaRPr lang="en-US" sz="1050" dirty="0"/>
          </a:p>
        </p:txBody>
      </p:sp>
      <p:sp>
        <p:nvSpPr>
          <p:cNvPr id="20" name="brain job 2"/>
          <p:cNvSpPr/>
          <p:nvPr/>
        </p:nvSpPr>
        <p:spPr>
          <a:xfrm>
            <a:off x="4709160" y="2788920"/>
            <a:ext cx="2743200" cy="429768"/>
          </a:xfrm>
          <a:prstGeom prst="rect">
            <a:avLst/>
          </a:prstGeom>
          <a:solidFill>
            <a:srgbClr val="A33A3A"/>
          </a:solidFill>
          <a:ln w="12700">
            <a:solidFill>
              <a:srgbClr val="A33A3A"/>
            </a:solidFill>
            <a:prstDash val="solid"/>
          </a:ln>
        </p:spPr>
      </p:sp>
      <p:sp>
        <p:nvSpPr>
          <p:cNvPr id="21" name="brain job text 2"/>
          <p:cNvSpPr txBox="1"/>
          <p:nvPr/>
        </p:nvSpPr>
        <p:spPr>
          <a:xfrm>
            <a:off x="4800600" y="2788920"/>
            <a:ext cx="2606040" cy="429768"/>
          </a:xfrm>
          <a:prstGeom prst="rect">
            <a:avLst/>
          </a:prstGeom>
          <a:noFill/>
          <a:ln/>
        </p:spPr>
        <p:txBody>
          <a:bodyPr wrap="square" lIns="0" tIns="0" rIns="0" bIns="0" rtlCol="0" anchor="ctr"/>
          <a:lstStyle/>
          <a:p>
            <a:pPr indent="0" marL="0">
              <a:buNone/>
            </a:pPr>
            <a:r>
              <a:rPr lang="en-US" sz="1050" dirty="0">
                <a:solidFill>
                  <a:srgbClr val="F5F3EF"/>
                </a:solidFill>
              </a:rPr>
              <a:t>reads the project: titles, legend, notes</a:t>
            </a:r>
            <a:endParaRPr lang="en-US" sz="1050" dirty="0"/>
          </a:p>
        </p:txBody>
      </p:sp>
      <p:sp>
        <p:nvSpPr>
          <p:cNvPr id="22" name="brain job 3"/>
          <p:cNvSpPr/>
          <p:nvPr/>
        </p:nvSpPr>
        <p:spPr>
          <a:xfrm>
            <a:off x="4709160" y="3291840"/>
            <a:ext cx="2743200" cy="429768"/>
          </a:xfrm>
          <a:prstGeom prst="rect">
            <a:avLst/>
          </a:prstGeom>
          <a:solidFill>
            <a:srgbClr val="A33A3A"/>
          </a:solidFill>
          <a:ln w="12700">
            <a:solidFill>
              <a:srgbClr val="A33A3A"/>
            </a:solidFill>
            <a:prstDash val="solid"/>
          </a:ln>
        </p:spPr>
      </p:sp>
      <p:sp>
        <p:nvSpPr>
          <p:cNvPr id="23" name="brain job text 3"/>
          <p:cNvSpPr txBox="1"/>
          <p:nvPr/>
        </p:nvSpPr>
        <p:spPr>
          <a:xfrm>
            <a:off x="4800600" y="3291840"/>
            <a:ext cx="2606040" cy="429768"/>
          </a:xfrm>
          <a:prstGeom prst="rect">
            <a:avLst/>
          </a:prstGeom>
          <a:noFill/>
          <a:ln/>
        </p:spPr>
        <p:txBody>
          <a:bodyPr wrap="square" lIns="0" tIns="0" rIns="0" bIns="0" rtlCol="0" anchor="ctr"/>
          <a:lstStyle/>
          <a:p>
            <a:pPr indent="0" marL="0">
              <a:buNone/>
            </a:pPr>
            <a:r>
              <a:rPr lang="en-US" sz="1050" dirty="0">
                <a:solidFill>
                  <a:srgbClr val="F5F3EF"/>
                </a:solidFill>
              </a:rPr>
              <a:t>reads single-line diagrams: boards, breakers, cables</a:t>
            </a:r>
            <a:endParaRPr lang="en-US" sz="1050" dirty="0"/>
          </a:p>
        </p:txBody>
      </p:sp>
      <p:sp>
        <p:nvSpPr>
          <p:cNvPr id="24" name="brain job 4"/>
          <p:cNvSpPr/>
          <p:nvPr/>
        </p:nvSpPr>
        <p:spPr>
          <a:xfrm>
            <a:off x="4709160" y="3794760"/>
            <a:ext cx="2743200" cy="429768"/>
          </a:xfrm>
          <a:prstGeom prst="rect">
            <a:avLst/>
          </a:prstGeom>
          <a:solidFill>
            <a:srgbClr val="A33A3A"/>
          </a:solidFill>
          <a:ln w="12700">
            <a:solidFill>
              <a:srgbClr val="A33A3A"/>
            </a:solidFill>
            <a:prstDash val="solid"/>
          </a:ln>
        </p:spPr>
      </p:sp>
      <p:sp>
        <p:nvSpPr>
          <p:cNvPr id="25" name="brain job text 4"/>
          <p:cNvSpPr txBox="1"/>
          <p:nvPr/>
        </p:nvSpPr>
        <p:spPr>
          <a:xfrm>
            <a:off x="4800600" y="3794760"/>
            <a:ext cx="2606040" cy="429768"/>
          </a:xfrm>
          <a:prstGeom prst="rect">
            <a:avLst/>
          </a:prstGeom>
          <a:noFill/>
          <a:ln/>
        </p:spPr>
        <p:txBody>
          <a:bodyPr wrap="square" lIns="0" tIns="0" rIns="0" bIns="0" rtlCol="0" anchor="ctr"/>
          <a:lstStyle/>
          <a:p>
            <a:pPr indent="0" marL="0">
              <a:buNone/>
            </a:pPr>
            <a:r>
              <a:rPr lang="en-US" sz="1050" dirty="0">
                <a:solidFill>
                  <a:srgbClr val="F5F3EF"/>
                </a:solidFill>
              </a:rPr>
              <a:t>counts layouts: lights, sockets, switches</a:t>
            </a:r>
            <a:endParaRPr lang="en-US" sz="1050" dirty="0"/>
          </a:p>
        </p:txBody>
      </p:sp>
      <p:sp>
        <p:nvSpPr>
          <p:cNvPr id="26" name="brain forms"/>
          <p:cNvSpPr txBox="1"/>
          <p:nvPr/>
        </p:nvSpPr>
        <p:spPr>
          <a:xfrm>
            <a:off x="4709160" y="4315968"/>
            <a:ext cx="2743200" cy="320040"/>
          </a:xfrm>
          <a:prstGeom prst="rect">
            <a:avLst/>
          </a:prstGeom>
          <a:noFill/>
          <a:ln/>
        </p:spPr>
        <p:txBody>
          <a:bodyPr wrap="square" lIns="0" tIns="0" rIns="0" bIns="0" rtlCol="0" anchor="t"/>
          <a:lstStyle/>
          <a:p>
            <a:pPr indent="0" marL="0">
              <a:buNone/>
            </a:pPr>
            <a:r>
              <a:rPr lang="en-US" sz="1100" b="1" dirty="0">
                <a:solidFill>
                  <a:srgbClr val="F0D9AE"/>
                </a:solidFill>
              </a:rPr>
              <a:t>→ one strict form per page</a:t>
            </a:r>
            <a:endParaRPr lang="en-US" sz="1100" dirty="0"/>
          </a:p>
        </p:txBody>
      </p:sp>
      <p:sp>
        <p:nvSpPr>
          <p:cNvPr id="27" name="Shape 24"/>
          <p:cNvSpPr/>
          <p:nvPr/>
        </p:nvSpPr>
        <p:spPr>
          <a:xfrm>
            <a:off x="7607808" y="1892808"/>
            <a:ext cx="192024" cy="0"/>
          </a:xfrm>
          <a:prstGeom prst="line">
            <a:avLst/>
          </a:prstGeom>
          <a:noFill/>
          <a:ln w="25400">
            <a:solidFill>
              <a:srgbClr val="8B8781"/>
            </a:solidFill>
            <a:prstDash val="solid"/>
            <a:tailEnd type="triangle"/>
          </a:ln>
        </p:spPr>
      </p:sp>
      <p:sp>
        <p:nvSpPr>
          <p:cNvPr id="28" name="check"/>
          <p:cNvSpPr/>
          <p:nvPr/>
        </p:nvSpPr>
        <p:spPr>
          <a:xfrm>
            <a:off x="7818120" y="1417320"/>
            <a:ext cx="1828800" cy="960120"/>
          </a:xfrm>
          <a:prstGeom prst="rect">
            <a:avLst/>
          </a:prstGeom>
          <a:solidFill>
            <a:srgbClr val="E2DDD5"/>
          </a:solidFill>
          <a:ln w="9525">
            <a:solidFill>
              <a:srgbClr val="CFC8BE"/>
            </a:solidFill>
            <a:prstDash val="solid"/>
          </a:ln>
        </p:spPr>
      </p:sp>
      <p:sp>
        <p:nvSpPr>
          <p:cNvPr id="29" name="check text"/>
          <p:cNvSpPr txBox="1"/>
          <p:nvPr/>
        </p:nvSpPr>
        <p:spPr>
          <a:xfrm>
            <a:off x="7909560" y="1472184"/>
            <a:ext cx="1645920" cy="86868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checks every form; measures the CAD set</a:t>
            </a:r>
            <a:endParaRPr lang="en-US" sz="1400" dirty="0"/>
          </a:p>
        </p:txBody>
      </p:sp>
      <p:sp>
        <p:nvSpPr>
          <p:cNvPr id="30" name="Shape 27"/>
          <p:cNvSpPr/>
          <p:nvPr/>
        </p:nvSpPr>
        <p:spPr>
          <a:xfrm>
            <a:off x="8732520" y="2395728"/>
            <a:ext cx="0" cy="146304"/>
          </a:xfrm>
          <a:prstGeom prst="line">
            <a:avLst/>
          </a:prstGeom>
          <a:noFill/>
          <a:ln w="25400">
            <a:solidFill>
              <a:srgbClr val="8B8781"/>
            </a:solidFill>
            <a:prstDash val="solid"/>
            <a:tailEnd type="triangle"/>
          </a:ln>
        </p:spPr>
      </p:sp>
      <p:sp>
        <p:nvSpPr>
          <p:cNvPr id="31" name="symbol namer"/>
          <p:cNvSpPr/>
          <p:nvPr/>
        </p:nvSpPr>
        <p:spPr>
          <a:xfrm>
            <a:off x="7818120" y="2560320"/>
            <a:ext cx="1828800" cy="566928"/>
          </a:xfrm>
          <a:prstGeom prst="rect">
            <a:avLst/>
          </a:prstGeom>
          <a:solidFill>
            <a:srgbClr val="8E1B1B"/>
          </a:solidFill>
          <a:ln w="9525">
            <a:solidFill>
              <a:srgbClr val="8E1B1B"/>
            </a:solidFill>
            <a:prstDash val="solid"/>
          </a:ln>
        </p:spPr>
      </p:sp>
      <p:sp>
        <p:nvSpPr>
          <p:cNvPr id="32" name="symbol namer text"/>
          <p:cNvSpPr txBox="1"/>
          <p:nvPr/>
        </p:nvSpPr>
        <p:spPr>
          <a:xfrm>
            <a:off x="7909560" y="2615184"/>
            <a:ext cx="1645920" cy="47548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naming CAD symbols</a:t>
            </a:r>
            <a:endParaRPr lang="en-US" sz="1400" dirty="0"/>
          </a:p>
        </p:txBody>
      </p:sp>
      <p:sp>
        <p:nvSpPr>
          <p:cNvPr id="33" name="Shape 30"/>
          <p:cNvSpPr/>
          <p:nvPr/>
        </p:nvSpPr>
        <p:spPr>
          <a:xfrm>
            <a:off x="8732520" y="3145536"/>
            <a:ext cx="0" cy="82296"/>
          </a:xfrm>
          <a:prstGeom prst="line">
            <a:avLst/>
          </a:prstGeom>
          <a:noFill/>
          <a:ln w="25400">
            <a:solidFill>
              <a:srgbClr val="8B8781"/>
            </a:solidFill>
            <a:prstDash val="solid"/>
            <a:tailEnd type="triangle"/>
          </a:ln>
        </p:spPr>
      </p:sp>
      <p:sp>
        <p:nvSpPr>
          <p:cNvPr id="34" name="name matcher"/>
          <p:cNvSpPr/>
          <p:nvPr/>
        </p:nvSpPr>
        <p:spPr>
          <a:xfrm>
            <a:off x="7818120" y="3246120"/>
            <a:ext cx="1828800" cy="566928"/>
          </a:xfrm>
          <a:prstGeom prst="rect">
            <a:avLst/>
          </a:prstGeom>
          <a:solidFill>
            <a:srgbClr val="8E1B1B"/>
          </a:solidFill>
          <a:ln w="9525">
            <a:solidFill>
              <a:srgbClr val="8E1B1B"/>
            </a:solidFill>
            <a:prstDash val="solid"/>
          </a:ln>
        </p:spPr>
      </p:sp>
      <p:sp>
        <p:nvSpPr>
          <p:cNvPr id="35" name="name matcher text"/>
          <p:cNvSpPr txBox="1"/>
          <p:nvPr/>
        </p:nvSpPr>
        <p:spPr>
          <a:xfrm>
            <a:off x="7909560" y="3300984"/>
            <a:ext cx="1645920" cy="475488"/>
          </a:xfrm>
          <a:prstGeom prst="rect">
            <a:avLst/>
          </a:prstGeom>
          <a:noFill/>
          <a:ln/>
        </p:spPr>
        <p:txBody>
          <a:bodyPr wrap="square" lIns="0" tIns="0" rIns="0" bIns="0" rtlCol="0" anchor="ctr"/>
          <a:lstStyle/>
          <a:p>
            <a:pPr indent="0" marL="0">
              <a:buNone/>
            </a:pPr>
            <a:r>
              <a:rPr lang="en-US" sz="750" spc="100" kern="0" dirty="0">
                <a:solidFill>
                  <a:srgbClr val="F0D9AE"/>
                </a:solidFill>
                <a:latin typeface="Consolas" pitchFamily="34" charset="0"/>
                <a:ea typeface="Consolas" pitchFamily="34" charset="-122"/>
                <a:cs typeface="Consolas" pitchFamily="34" charset="-120"/>
              </a:rPr>
              <a:t>AI AGENT · SPECIALISED IN</a:t>
            </a:r>
            <a:endParaRPr lang="en-US" sz="1400" dirty="0"/>
          </a:p>
          <a:p>
            <a:pPr indent="0" marL="0">
              <a:buNone/>
            </a:pPr>
            <a:r>
              <a:rPr lang="en-US" sz="1100" b="1" dirty="0">
                <a:solidFill>
                  <a:srgbClr val="F5F3EF"/>
                </a:solidFill>
              </a:rPr>
              <a:t>matching PDF and CAD names</a:t>
            </a:r>
            <a:endParaRPr lang="en-US" sz="1400" dirty="0"/>
          </a:p>
        </p:txBody>
      </p:sp>
      <p:sp>
        <p:nvSpPr>
          <p:cNvPr id="36" name="Shape 33"/>
          <p:cNvSpPr/>
          <p:nvPr/>
        </p:nvSpPr>
        <p:spPr>
          <a:xfrm>
            <a:off x="8732520" y="3831336"/>
            <a:ext cx="0" cy="82296"/>
          </a:xfrm>
          <a:prstGeom prst="line">
            <a:avLst/>
          </a:prstGeom>
          <a:noFill/>
          <a:ln w="25400">
            <a:solidFill>
              <a:srgbClr val="8B8781"/>
            </a:solidFill>
            <a:prstDash val="solid"/>
            <a:tailEnd type="triangle"/>
          </a:ln>
        </p:spPr>
      </p:sp>
      <p:sp>
        <p:nvSpPr>
          <p:cNvPr id="37" name="price"/>
          <p:cNvSpPr/>
          <p:nvPr/>
        </p:nvSpPr>
        <p:spPr>
          <a:xfrm>
            <a:off x="7818120" y="3931920"/>
            <a:ext cx="1828800" cy="777240"/>
          </a:xfrm>
          <a:prstGeom prst="rect">
            <a:avLst/>
          </a:prstGeom>
          <a:solidFill>
            <a:srgbClr val="E2DDD5"/>
          </a:solidFill>
          <a:ln w="9525">
            <a:solidFill>
              <a:srgbClr val="CFC8BE"/>
            </a:solidFill>
            <a:prstDash val="solid"/>
          </a:ln>
        </p:spPr>
      </p:sp>
      <p:sp>
        <p:nvSpPr>
          <p:cNvPr id="38" name="price text"/>
          <p:cNvSpPr txBox="1"/>
          <p:nvPr/>
        </p:nvSpPr>
        <p:spPr>
          <a:xfrm>
            <a:off x="7909560" y="3986784"/>
            <a:ext cx="1645920" cy="685800"/>
          </a:xfrm>
          <a:prstGeom prst="rect">
            <a:avLst/>
          </a:prstGeom>
          <a:noFill/>
          <a:ln/>
        </p:spPr>
        <p:txBody>
          <a:bodyPr wrap="square" lIns="0" tIns="0" rIns="0" bIns="0" rtlCol="0" anchor="ctr"/>
          <a:lstStyle/>
          <a:p>
            <a:pPr indent="0" marL="0">
              <a:buNone/>
            </a:pPr>
            <a:r>
              <a:rPr lang="en-US" sz="750" spc="100" kern="0" dirty="0">
                <a:solidFill>
                  <a:srgbClr val="8E1B1B"/>
                </a:solidFill>
                <a:latin typeface="Consolas" pitchFamily="34" charset="0"/>
                <a:ea typeface="Consolas" pitchFamily="34" charset="-122"/>
                <a:cs typeface="Consolas" pitchFamily="34" charset="-120"/>
              </a:rPr>
              <a:t>AFRIPLAN ENGINE</a:t>
            </a:r>
            <a:endParaRPr lang="en-US" sz="1400" dirty="0"/>
          </a:p>
          <a:p>
            <a:pPr indent="0" marL="0">
              <a:buNone/>
            </a:pPr>
            <a:r>
              <a:rPr lang="en-US" sz="1100" b="1" dirty="0">
                <a:solidFill>
                  <a:srgbClr val="14151A"/>
                </a:solidFill>
              </a:rPr>
              <a:t>combines and prices once</a:t>
            </a:r>
            <a:endParaRPr lang="en-US" sz="1400" dirty="0"/>
          </a:p>
        </p:txBody>
      </p:sp>
      <p:sp>
        <p:nvSpPr>
          <p:cNvPr id="39" name="Shape 36"/>
          <p:cNvSpPr/>
          <p:nvPr/>
        </p:nvSpPr>
        <p:spPr>
          <a:xfrm>
            <a:off x="9665208" y="4297680"/>
            <a:ext cx="192024" cy="0"/>
          </a:xfrm>
          <a:prstGeom prst="line">
            <a:avLst/>
          </a:prstGeom>
          <a:noFill/>
          <a:ln w="25400">
            <a:solidFill>
              <a:srgbClr val="8B8781"/>
            </a:solidFill>
            <a:prstDash val="solid"/>
            <a:tailEnd type="triangle"/>
          </a:ln>
        </p:spPr>
      </p:sp>
      <p:sp>
        <p:nvSpPr>
          <p:cNvPr id="40" name="output"/>
          <p:cNvSpPr/>
          <p:nvPr/>
        </p:nvSpPr>
        <p:spPr>
          <a:xfrm>
            <a:off x="9875520" y="2651760"/>
            <a:ext cx="1764792" cy="2057400"/>
          </a:xfrm>
          <a:prstGeom prst="rect">
            <a:avLst/>
          </a:prstGeom>
          <a:solidFill>
            <a:srgbClr val="14151A"/>
          </a:solidFill>
          <a:ln w="12700">
            <a:solidFill>
              <a:srgbClr val="14151A"/>
            </a:solidFill>
            <a:prstDash val="solid"/>
          </a:ln>
        </p:spPr>
      </p:sp>
      <p:sp>
        <p:nvSpPr>
          <p:cNvPr id="41" name="output text"/>
          <p:cNvSpPr txBox="1"/>
          <p:nvPr/>
        </p:nvSpPr>
        <p:spPr>
          <a:xfrm>
            <a:off x="9966960" y="2724912"/>
            <a:ext cx="1600200" cy="1920240"/>
          </a:xfrm>
          <a:prstGeom prst="rect">
            <a:avLst/>
          </a:prstGeom>
          <a:noFill/>
          <a:ln/>
        </p:spPr>
        <p:txBody>
          <a:bodyPr wrap="square" lIns="0" tIns="0" rIns="0" bIns="0" rtlCol="0" anchor="ctr"/>
          <a:lstStyle/>
          <a:p>
            <a:pPr indent="0" marL="0">
              <a:buNone/>
            </a:pPr>
            <a:r>
              <a:rPr lang="en-US" sz="750" spc="100" kern="0" dirty="0">
                <a:solidFill>
                  <a:srgbClr val="C9A15A"/>
                </a:solidFill>
                <a:latin typeface="Consolas" pitchFamily="34" charset="0"/>
                <a:ea typeface="Consolas" pitchFamily="34" charset="-122"/>
                <a:cs typeface="Consolas" pitchFamily="34" charset="-120"/>
              </a:rPr>
              <a:t>AFRIPLAN_OUTPUT</a:t>
            </a:r>
            <a:endParaRPr lang="en-US" sz="1400" dirty="0"/>
          </a:p>
          <a:p>
            <a:pPr indent="0" marL="0">
              <a:buNone/>
            </a:pPr>
            <a:r>
              <a:rPr lang="en-US" sz="1150" b="1" dirty="0">
                <a:solidFill>
                  <a:srgbClr val="F5F3EF"/>
                </a:solidFill>
              </a:rPr>
              <a:t>Excel + PDF BoQ, things to check, accuracy report — in your folder</a:t>
            </a:r>
            <a:endParaRPr lang="en-US" sz="1400" dirty="0"/>
          </a:p>
        </p:txBody>
      </p:sp>
      <p:sp>
        <p:nvSpPr>
          <p:cNvPr id="42" name="skills strip"/>
          <p:cNvSpPr/>
          <p:nvPr/>
        </p:nvSpPr>
        <p:spPr>
          <a:xfrm>
            <a:off x="548640" y="4937760"/>
            <a:ext cx="11091672" cy="548640"/>
          </a:xfrm>
          <a:prstGeom prst="rect">
            <a:avLst/>
          </a:prstGeom>
          <a:solidFill>
            <a:srgbClr val="FFFFFF"/>
          </a:solidFill>
          <a:ln w="9525">
            <a:solidFill>
              <a:srgbClr val="D8D3CB"/>
            </a:solidFill>
            <a:prstDash val="solid"/>
          </a:ln>
        </p:spPr>
      </p:sp>
      <p:sp>
        <p:nvSpPr>
          <p:cNvPr id="43" name="skills text"/>
          <p:cNvSpPr txBox="1"/>
          <p:nvPr/>
        </p:nvSpPr>
        <p:spPr>
          <a:xfrm>
            <a:off x="731520" y="4937760"/>
            <a:ext cx="10789920" cy="548640"/>
          </a:xfrm>
          <a:prstGeom prst="rect">
            <a:avLst/>
          </a:prstGeom>
          <a:noFill/>
          <a:ln/>
        </p:spPr>
        <p:txBody>
          <a:bodyPr wrap="square" lIns="0" tIns="0" rIns="0" bIns="0" rtlCol="0" anchor="ctr"/>
          <a:lstStyle/>
          <a:p>
            <a:pPr indent="0" marL="0">
              <a:buNone/>
            </a:pPr>
            <a:r>
              <a:rPr lang="en-US" sz="800" spc="100" kern="0" dirty="0">
                <a:solidFill>
                  <a:srgbClr val="8E1B1B"/>
                </a:solidFill>
                <a:latin typeface="Consolas" pitchFamily="34" charset="0"/>
                <a:ea typeface="Consolas" pitchFamily="34" charset="-122"/>
                <a:cs typeface="Consolas" pitchFamily="34" charset="-120"/>
              </a:rPr>
              <a:t>OTHER SKILLS OF THE AI BRAIN   </a:t>
            </a:r>
            <a:pPr indent="0" marL="0">
              <a:buNone/>
            </a:pPr>
            <a:r>
              <a:rPr lang="en-US" sz="1200" b="1" dirty="0">
                <a:solidFill>
                  <a:srgbClr val="14151A"/>
                </a:solidFill>
              </a:rPr>
              <a:t>auditing any BoQ  ·  measuring accuracy against a real bill  ·  adding a reference project</a:t>
            </a:r>
            <a:endParaRPr lang="en-US" sz="1400" dirty="0"/>
          </a:p>
        </p:txBody>
      </p:sp>
      <p:sp>
        <p:nvSpPr>
          <p:cNvPr id="44" name="legend ai"/>
          <p:cNvSpPr/>
          <p:nvPr/>
        </p:nvSpPr>
        <p:spPr>
          <a:xfrm>
            <a:off x="548640" y="5669280"/>
            <a:ext cx="201168" cy="201168"/>
          </a:xfrm>
          <a:prstGeom prst="rect">
            <a:avLst/>
          </a:prstGeom>
          <a:solidFill>
            <a:srgbClr val="8E1B1B"/>
          </a:solidFill>
          <a:ln w="12700">
            <a:solidFill>
              <a:srgbClr val="8E1B1B"/>
            </a:solidFill>
            <a:prstDash val="solid"/>
          </a:ln>
        </p:spPr>
      </p:sp>
      <p:sp>
        <p:nvSpPr>
          <p:cNvPr id="45" name="legend engine"/>
          <p:cNvSpPr/>
          <p:nvPr/>
        </p:nvSpPr>
        <p:spPr>
          <a:xfrm>
            <a:off x="4206240" y="5669280"/>
            <a:ext cx="201168" cy="201168"/>
          </a:xfrm>
          <a:prstGeom prst="rect">
            <a:avLst/>
          </a:prstGeom>
          <a:solidFill>
            <a:srgbClr val="E2DDD5"/>
          </a:solidFill>
          <a:ln w="12700">
            <a:solidFill>
              <a:srgbClr val="CFC8BE"/>
            </a:solidFill>
            <a:prstDash val="solid"/>
          </a:ln>
        </p:spPr>
      </p:sp>
      <p:sp>
        <p:nvSpPr>
          <p:cNvPr id="46" name="legend ai text"/>
          <p:cNvSpPr txBox="1"/>
          <p:nvPr/>
        </p:nvSpPr>
        <p:spPr>
          <a:xfrm>
            <a:off x="841248" y="5641848"/>
            <a:ext cx="3291840" cy="274320"/>
          </a:xfrm>
          <a:prstGeom prst="rect">
            <a:avLst/>
          </a:prstGeom>
          <a:noFill/>
          <a:ln/>
        </p:spPr>
        <p:txBody>
          <a:bodyPr wrap="square" lIns="0" tIns="0" rIns="0" bIns="0" rtlCol="0" anchor="t"/>
          <a:lstStyle/>
          <a:p>
            <a:pPr indent="0" marL="0">
              <a:buNone/>
            </a:pPr>
            <a:r>
              <a:rPr lang="en-US" sz="1100" dirty="0">
                <a:solidFill>
                  <a:srgbClr val="2C2D33"/>
                </a:solidFill>
              </a:rPr>
              <a:t>AI brain and AI agents — they read and decide</a:t>
            </a:r>
            <a:endParaRPr lang="en-US" sz="1100" dirty="0"/>
          </a:p>
        </p:txBody>
      </p:sp>
      <p:sp>
        <p:nvSpPr>
          <p:cNvPr id="47" name="legend engine text"/>
          <p:cNvSpPr txBox="1"/>
          <p:nvPr/>
        </p:nvSpPr>
        <p:spPr>
          <a:xfrm>
            <a:off x="4498848" y="5641848"/>
            <a:ext cx="7132320" cy="274320"/>
          </a:xfrm>
          <a:prstGeom prst="rect">
            <a:avLst/>
          </a:prstGeom>
          <a:noFill/>
          <a:ln/>
        </p:spPr>
        <p:txBody>
          <a:bodyPr wrap="square" lIns="0" tIns="0" rIns="0" bIns="0" rtlCol="0" anchor="t"/>
          <a:lstStyle/>
          <a:p>
            <a:pPr indent="0" marL="0">
              <a:buNone/>
            </a:pPr>
            <a:r>
              <a:rPr lang="en-US" sz="1100" dirty="0">
                <a:solidFill>
                  <a:srgbClr val="2C2D33"/>
                </a:solidFill>
              </a:rPr>
              <a:t>AfriPlan Engine — counts, checks and prices; the AI never invents a number</a:t>
            </a:r>
            <a:endParaRPr lang="en-US" sz="11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Reading accuracy today: 67.5 % on a real 7-building project</a:t>
            </a:r>
            <a:endParaRPr lang="en-US" sz="2600" dirty="0"/>
          </a:p>
        </p:txBody>
      </p:sp>
      <p:graphicFrame>
        <p:nvGraphicFramePr>
          <p:cNvPr id="7" name="Chart 0" descr=""/>
          <p:cNvGraphicFramePr/>
          <p:nvPr/>
        </p:nvGraphicFramePr>
        <p:xfrm>
          <a:off x="548640" y="13716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8" name="reading stat 1"/>
          <p:cNvSpPr/>
          <p:nvPr/>
        </p:nvSpPr>
        <p:spPr>
          <a:xfrm>
            <a:off x="8412480" y="1463040"/>
            <a:ext cx="3200400" cy="1280160"/>
          </a:xfrm>
          <a:prstGeom prst="rect">
            <a:avLst/>
          </a:prstGeom>
          <a:solidFill>
            <a:schemeClr val="bg2"/>
          </a:solidFill>
          <a:ln w="9525">
            <a:solidFill>
              <a:srgbClr val="D8D3CB"/>
            </a:solidFill>
            <a:prstDash val="solid"/>
          </a:ln>
        </p:spPr>
      </p:sp>
      <p:sp>
        <p:nvSpPr>
          <p:cNvPr id="9" name="reading stat value 1"/>
          <p:cNvSpPr txBox="1"/>
          <p:nvPr/>
        </p:nvSpPr>
        <p:spPr>
          <a:xfrm>
            <a:off x="8641080" y="160020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67.5 %</a:t>
            </a:r>
            <a:endParaRPr lang="en-US" sz="3000" dirty="0"/>
          </a:p>
        </p:txBody>
      </p:sp>
      <p:sp>
        <p:nvSpPr>
          <p:cNvPr id="10" name="reading stat text 1"/>
          <p:cNvSpPr txBox="1"/>
          <p:nvPr/>
        </p:nvSpPr>
        <p:spPr>
          <a:xfrm>
            <a:off x="8641080" y="2194560"/>
            <a:ext cx="2834640" cy="457200"/>
          </a:xfrm>
          <a:prstGeom prst="rect">
            <a:avLst/>
          </a:prstGeom>
          <a:noFill/>
          <a:ln/>
        </p:spPr>
        <p:txBody>
          <a:bodyPr wrap="square" lIns="0" tIns="0" rIns="0" bIns="0" rtlCol="0" anchor="t"/>
          <a:lstStyle/>
          <a:p>
            <a:pPr indent="0" marL="0">
              <a:buNone/>
            </a:pPr>
            <a:r>
              <a:rPr lang="en-US" sz="1200" dirty="0">
                <a:solidFill>
                  <a:schemeClr val="tx2"/>
                </a:solidFill>
              </a:rPr>
              <a:t>reading score of the delivered bill</a:t>
            </a:r>
            <a:endParaRPr lang="en-US" sz="1200" dirty="0"/>
          </a:p>
        </p:txBody>
      </p:sp>
      <p:sp>
        <p:nvSpPr>
          <p:cNvPr id="11" name="reading stat 2"/>
          <p:cNvSpPr/>
          <p:nvPr/>
        </p:nvSpPr>
        <p:spPr>
          <a:xfrm>
            <a:off x="8412480" y="2926080"/>
            <a:ext cx="3200400" cy="1280160"/>
          </a:xfrm>
          <a:prstGeom prst="rect">
            <a:avLst/>
          </a:prstGeom>
          <a:solidFill>
            <a:schemeClr val="bg1"/>
          </a:solidFill>
          <a:ln w="9525">
            <a:solidFill>
              <a:srgbClr val="D8D3CB"/>
            </a:solidFill>
            <a:prstDash val="solid"/>
          </a:ln>
        </p:spPr>
      </p:sp>
      <p:sp>
        <p:nvSpPr>
          <p:cNvPr id="12" name="reading stat value 2"/>
          <p:cNvSpPr txBox="1"/>
          <p:nvPr/>
        </p:nvSpPr>
        <p:spPr>
          <a:xfrm>
            <a:off x="8641080" y="306324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69 %</a:t>
            </a:r>
            <a:endParaRPr lang="en-US" sz="3000" dirty="0"/>
          </a:p>
        </p:txBody>
      </p:sp>
      <p:sp>
        <p:nvSpPr>
          <p:cNvPr id="13" name="reading stat text 2"/>
          <p:cNvSpPr txBox="1"/>
          <p:nvPr/>
        </p:nvSpPr>
        <p:spPr>
          <a:xfrm>
            <a:off x="8641080" y="3657600"/>
            <a:ext cx="2834640" cy="457200"/>
          </a:xfrm>
          <a:prstGeom prst="rect">
            <a:avLst/>
          </a:prstGeom>
          <a:noFill/>
          <a:ln/>
        </p:spPr>
        <p:txBody>
          <a:bodyPr wrap="square" lIns="0" tIns="0" rIns="0" bIns="0" rtlCol="0" anchor="t"/>
          <a:lstStyle/>
          <a:p>
            <a:pPr indent="0" marL="0">
              <a:buNone/>
            </a:pPr>
            <a:r>
              <a:rPr lang="en-US" sz="1200" dirty="0">
                <a:solidFill>
                  <a:schemeClr val="tx2"/>
                </a:solidFill>
              </a:rPr>
              <a:t>of the bill's value is judged as reading</a:t>
            </a:r>
            <a:endParaRPr lang="en-US" sz="1200" dirty="0"/>
          </a:p>
        </p:txBody>
      </p:sp>
      <p:sp>
        <p:nvSpPr>
          <p:cNvPr id="14" name="reading stat 3"/>
          <p:cNvSpPr/>
          <p:nvPr/>
        </p:nvSpPr>
        <p:spPr>
          <a:xfrm>
            <a:off x="8412480" y="4389120"/>
            <a:ext cx="3200400" cy="1280160"/>
          </a:xfrm>
          <a:prstGeom prst="rect">
            <a:avLst/>
          </a:prstGeom>
          <a:solidFill>
            <a:schemeClr val="bg1"/>
          </a:solidFill>
          <a:ln w="9525">
            <a:solidFill>
              <a:srgbClr val="D8D3CB"/>
            </a:solidFill>
            <a:prstDash val="solid"/>
          </a:ln>
        </p:spPr>
      </p:sp>
      <p:sp>
        <p:nvSpPr>
          <p:cNvPr id="15" name="reading stat value 3"/>
          <p:cNvSpPr txBox="1"/>
          <p:nvPr/>
        </p:nvSpPr>
        <p:spPr>
          <a:xfrm>
            <a:off x="8641080" y="4526280"/>
            <a:ext cx="2834640" cy="548640"/>
          </a:xfrm>
          <a:prstGeom prst="rect">
            <a:avLst/>
          </a:prstGeom>
          <a:noFill/>
          <a:ln/>
        </p:spPr>
        <p:txBody>
          <a:bodyPr wrap="square" lIns="0" tIns="0" rIns="0" bIns="0" rtlCol="0" anchor="t"/>
          <a:lstStyle/>
          <a:p>
            <a:pPr indent="0" marL="0">
              <a:buNone/>
            </a:pPr>
            <a:r>
              <a:rPr lang="en-US" sz="2400" b="1" dirty="0">
                <a:solidFill>
                  <a:schemeClr val="accent1"/>
                </a:solidFill>
                <a:latin typeface="Arial" pitchFamily="34" charset="0"/>
                <a:ea typeface="Arial" pitchFamily="34" charset="-122"/>
                <a:cs typeface="Arial" pitchFamily="34" charset="-120"/>
              </a:rPr>
              <a:t>29 % + 1.6 %</a:t>
            </a:r>
            <a:endParaRPr lang="en-US" sz="2400" dirty="0"/>
          </a:p>
        </p:txBody>
      </p:sp>
      <p:sp>
        <p:nvSpPr>
          <p:cNvPr id="16" name="reading stat text 3"/>
          <p:cNvSpPr txBox="1"/>
          <p:nvPr/>
        </p:nvSpPr>
        <p:spPr>
          <a:xfrm>
            <a:off x="8641080" y="5120640"/>
            <a:ext cx="2834640" cy="457200"/>
          </a:xfrm>
          <a:prstGeom prst="rect">
            <a:avLst/>
          </a:prstGeom>
          <a:noFill/>
          <a:ln/>
        </p:spPr>
        <p:txBody>
          <a:bodyPr wrap="square" lIns="0" tIns="0" rIns="0" bIns="0" rtlCol="0" anchor="t"/>
          <a:lstStyle/>
          <a:p>
            <a:pPr indent="0" marL="0">
              <a:buNone/>
            </a:pPr>
            <a:r>
              <a:rPr lang="en-US" sz="1200" dirty="0">
                <a:solidFill>
                  <a:schemeClr val="tx2"/>
                </a:solidFill>
              </a:rPr>
              <a:t>derived material and allowances — left out, judged later</a:t>
            </a:r>
            <a:endParaRPr lang="en-US" sz="1200" dirty="0"/>
          </a:p>
        </p:txBody>
      </p:sp>
      <p:sp>
        <p:nvSpPr>
          <p:cNvPr id="17"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Reference = the quantity surveyor's priced bill for the same project — see the next slide for why that is not a perfect answer key.</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Accuracy conclusion: what is proven, what is not yet</a:t>
            </a:r>
            <a:endParaRPr lang="en-US" sz="2600" dirty="0"/>
          </a:p>
        </p:txBody>
      </p:sp>
      <p:sp>
        <p:nvSpPr>
          <p:cNvPr id="7" name="PROVEN card"/>
          <p:cNvSpPr/>
          <p:nvPr/>
        </p:nvSpPr>
        <p:spPr>
          <a:xfrm>
            <a:off x="548640" y="1417320"/>
            <a:ext cx="3566160" cy="3291840"/>
          </a:xfrm>
          <a:prstGeom prst="rect">
            <a:avLst/>
          </a:prstGeom>
          <a:solidFill>
            <a:schemeClr val="bg2"/>
          </a:solidFill>
          <a:ln w="9525">
            <a:solidFill>
              <a:srgbClr val="D8D3CB"/>
            </a:solidFill>
            <a:prstDash val="solid"/>
          </a:ln>
        </p:spPr>
      </p:sp>
      <p:sp>
        <p:nvSpPr>
          <p:cNvPr id="8" name="PROVEN circle"/>
          <p:cNvSpPr/>
          <p:nvPr/>
        </p:nvSpPr>
        <p:spPr>
          <a:xfrm>
            <a:off x="777240" y="1600200"/>
            <a:ext cx="640080" cy="640080"/>
          </a:xfrm>
          <a:prstGeom prst="ellipse">
            <a:avLst/>
          </a:prstGeom>
          <a:solidFill>
            <a:srgbClr val="3F7D58"/>
          </a:solidFill>
          <a:ln w="12700">
            <a:solidFill>
              <a:srgbClr val="3F7D58"/>
            </a:solidFill>
            <a:prstDash val="solid"/>
          </a:ln>
        </p:spPr>
      </p:sp>
      <p:pic>
        <p:nvPicPr>
          <p:cNvPr id="9" name="PROVEN icon" descr="preencoded.png">    </p:cNvPr>
          <p:cNvPicPr>
            <a:picLocks noChangeAspect="1"/>
          </p:cNvPicPr>
          <p:nvPr/>
        </p:nvPicPr>
        <p:blipFill>
          <a:blip r:embed="rId1"/>
          <a:stretch>
            <a:fillRect/>
          </a:stretch>
        </p:blipFill>
        <p:spPr>
          <a:xfrm>
            <a:off x="943661" y="1766621"/>
            <a:ext cx="307238" cy="307238"/>
          </a:xfrm>
          <a:prstGeom prst="rect">
            <a:avLst/>
          </a:prstGeom>
        </p:spPr>
      </p:pic>
      <p:sp>
        <p:nvSpPr>
          <p:cNvPr id="10" name="PROVEN tag"/>
          <p:cNvSpPr/>
          <p:nvPr/>
        </p:nvSpPr>
        <p:spPr>
          <a:xfrm>
            <a:off x="1554480" y="1737360"/>
            <a:ext cx="1828800" cy="384048"/>
          </a:xfrm>
          <a:prstGeom prst="roundRect">
            <a:avLst>
              <a:gd name="adj" fmla="val 50000"/>
            </a:avLst>
          </a:prstGeom>
          <a:solidFill>
            <a:srgbClr val="3F7D58"/>
          </a:solidFill>
          <a:ln w="12700">
            <a:solidFill>
              <a:srgbClr val="3F7D58"/>
            </a:solidFill>
            <a:prstDash val="solid"/>
          </a:ln>
        </p:spPr>
      </p:sp>
      <p:sp>
        <p:nvSpPr>
          <p:cNvPr id="11" name="PROVEN tag text"/>
          <p:cNvSpPr txBox="1"/>
          <p:nvPr/>
        </p:nvSpPr>
        <p:spPr>
          <a:xfrm>
            <a:off x="155448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PROVEN</a:t>
            </a:r>
            <a:endParaRPr lang="en-US" sz="1300" dirty="0"/>
          </a:p>
        </p:txBody>
      </p:sp>
      <p:sp>
        <p:nvSpPr>
          <p:cNvPr id="12" name="PROVEN points"/>
          <p:cNvSpPr txBox="1"/>
          <p:nvPr/>
        </p:nvSpPr>
        <p:spPr>
          <a:xfrm>
            <a:off x="73152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Single-line diagrams: 13 / 13 boards and 13 / 13 feeder sizes — PDF = CAD</a:t>
            </a:r>
            <a:endParaRPr lang="en-US" sz="1500" dirty="0"/>
          </a:p>
          <a:p>
            <a:pPr marL="342900" indent="-342900">
              <a:spcAft>
                <a:spcPts val="1200"/>
              </a:spcAft>
              <a:buSzPct val="100000"/>
              <a:buChar char="•"/>
            </a:pPr>
            <a:r>
              <a:rPr lang="en-US" sz="1500" dirty="0">
                <a:solidFill>
                  <a:schemeClr val="tx1"/>
                </a:solidFill>
              </a:rPr>
              <a:t>A person checked 20 items: 19 correct, 0 wrong, 1 blank</a:t>
            </a:r>
            <a:endParaRPr lang="en-US" sz="1500" dirty="0"/>
          </a:p>
          <a:p>
            <a:pPr marL="342900" indent="-342900">
              <a:spcAft>
                <a:spcPts val="1200"/>
              </a:spcAft>
              <a:buSzPct val="100000"/>
              <a:buChar char="•"/>
            </a:pPr>
            <a:r>
              <a:rPr lang="en-US" sz="1500" dirty="0">
                <a:solidFill>
                  <a:schemeClr val="tx1"/>
                </a:solidFill>
              </a:rPr>
              <a:t>Every bill line says where it comes from</a:t>
            </a:r>
            <a:endParaRPr lang="en-US" sz="1500" dirty="0"/>
          </a:p>
        </p:txBody>
      </p:sp>
      <p:sp>
        <p:nvSpPr>
          <p:cNvPr id="13" name="NOT YET card"/>
          <p:cNvSpPr/>
          <p:nvPr/>
        </p:nvSpPr>
        <p:spPr>
          <a:xfrm>
            <a:off x="4297680" y="1417320"/>
            <a:ext cx="3566160" cy="3291840"/>
          </a:xfrm>
          <a:prstGeom prst="rect">
            <a:avLst/>
          </a:prstGeom>
          <a:solidFill>
            <a:schemeClr val="bg1"/>
          </a:solidFill>
          <a:ln w="9525">
            <a:solidFill>
              <a:srgbClr val="D8D3CB"/>
            </a:solidFill>
            <a:prstDash val="solid"/>
          </a:ln>
        </p:spPr>
      </p:sp>
      <p:sp>
        <p:nvSpPr>
          <p:cNvPr id="14" name="NOT YET circle"/>
          <p:cNvSpPr/>
          <p:nvPr/>
        </p:nvSpPr>
        <p:spPr>
          <a:xfrm>
            <a:off x="4526280" y="1600200"/>
            <a:ext cx="640080" cy="640080"/>
          </a:xfrm>
          <a:prstGeom prst="ellipse">
            <a:avLst/>
          </a:prstGeom>
          <a:solidFill>
            <a:srgbClr val="C9A15A"/>
          </a:solidFill>
          <a:ln w="12700">
            <a:solidFill>
              <a:srgbClr val="C9A15A"/>
            </a:solidFill>
            <a:prstDash val="solid"/>
          </a:ln>
        </p:spPr>
      </p:sp>
      <p:pic>
        <p:nvPicPr>
          <p:cNvPr id="15" name="NOT YET icon" descr="preencoded.png">    </p:cNvPr>
          <p:cNvPicPr>
            <a:picLocks noChangeAspect="1"/>
          </p:cNvPicPr>
          <p:nvPr/>
        </p:nvPicPr>
        <p:blipFill>
          <a:blip r:embed="rId2"/>
          <a:stretch>
            <a:fillRect/>
          </a:stretch>
        </p:blipFill>
        <p:spPr>
          <a:xfrm>
            <a:off x="4692701" y="1766621"/>
            <a:ext cx="307238" cy="307238"/>
          </a:xfrm>
          <a:prstGeom prst="rect">
            <a:avLst/>
          </a:prstGeom>
        </p:spPr>
      </p:pic>
      <p:sp>
        <p:nvSpPr>
          <p:cNvPr id="16" name="NOT YET tag"/>
          <p:cNvSpPr/>
          <p:nvPr/>
        </p:nvSpPr>
        <p:spPr>
          <a:xfrm>
            <a:off x="5303520" y="1737360"/>
            <a:ext cx="1828800" cy="384048"/>
          </a:xfrm>
          <a:prstGeom prst="roundRect">
            <a:avLst>
              <a:gd name="adj" fmla="val 50000"/>
            </a:avLst>
          </a:prstGeom>
          <a:solidFill>
            <a:srgbClr val="C9A15A"/>
          </a:solidFill>
          <a:ln w="12700">
            <a:solidFill>
              <a:srgbClr val="C9A15A"/>
            </a:solidFill>
            <a:prstDash val="solid"/>
          </a:ln>
        </p:spPr>
      </p:sp>
      <p:sp>
        <p:nvSpPr>
          <p:cNvPr id="17" name="NOT YET tag text"/>
          <p:cNvSpPr txBox="1"/>
          <p:nvPr/>
        </p:nvSpPr>
        <p:spPr>
          <a:xfrm>
            <a:off x="5303520" y="1737360"/>
            <a:ext cx="1828800" cy="384048"/>
          </a:xfrm>
          <a:prstGeom prst="rect">
            <a:avLst/>
          </a:prstGeom>
          <a:noFill/>
          <a:ln/>
        </p:spPr>
        <p:txBody>
          <a:bodyPr wrap="square" lIns="0" tIns="0" rIns="0" bIns="0" rtlCol="0" anchor="ctr"/>
          <a:lstStyle/>
          <a:p>
            <a:pPr algn="ctr" indent="0" marL="0">
              <a:buNone/>
            </a:pPr>
            <a:r>
              <a:rPr lang="en-US" sz="1300" b="1" dirty="0">
                <a:solidFill>
                  <a:srgbClr val="14151A"/>
                </a:solidFill>
              </a:rPr>
              <a:t>NOT YET</a:t>
            </a:r>
            <a:endParaRPr lang="en-US" sz="1300" dirty="0"/>
          </a:p>
        </p:txBody>
      </p:sp>
      <p:sp>
        <p:nvSpPr>
          <p:cNvPr id="18" name="NOT YET points"/>
          <p:cNvSpPr txBox="1"/>
          <p:nvPr/>
        </p:nvSpPr>
        <p:spPr>
          <a:xfrm>
            <a:off x="448056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Counting symbols on layouts — sockets and switches 1.6× to 4× too many</a:t>
            </a:r>
            <a:endParaRPr lang="en-US" sz="1500" dirty="0"/>
          </a:p>
          <a:p>
            <a:pPr marL="342900" indent="-342900">
              <a:spcAft>
                <a:spcPts val="1200"/>
              </a:spcAft>
              <a:buSzPct val="100000"/>
              <a:buChar char="•"/>
            </a:pPr>
            <a:r>
              <a:rPr lang="en-US" sz="1500" dirty="0">
                <a:solidFill>
                  <a:schemeClr val="tx1"/>
                </a:solidFill>
              </a:rPr>
              <a:t>Cable lengths; sleeves and manholes on the site plan</a:t>
            </a:r>
            <a:endParaRPr lang="en-US" sz="1500" dirty="0"/>
          </a:p>
          <a:p>
            <a:pPr marL="342900" indent="-342900">
              <a:spcAft>
                <a:spcPts val="1200"/>
              </a:spcAft>
              <a:buSzPct val="100000"/>
              <a:buChar char="•"/>
            </a:pPr>
            <a:r>
              <a:rPr lang="en-US" sz="1500" dirty="0">
                <a:solidFill>
                  <a:schemeClr val="tx1"/>
                </a:solidFill>
              </a:rPr>
              <a:t>Tested on one real project only</a:t>
            </a:r>
            <a:endParaRPr lang="en-US" sz="1500" dirty="0"/>
          </a:p>
        </p:txBody>
      </p:sp>
      <p:sp>
        <p:nvSpPr>
          <p:cNvPr id="19" name="NOT JUDGED card"/>
          <p:cNvSpPr/>
          <p:nvPr/>
        </p:nvSpPr>
        <p:spPr>
          <a:xfrm>
            <a:off x="8046720" y="1417320"/>
            <a:ext cx="3566160" cy="3291840"/>
          </a:xfrm>
          <a:prstGeom prst="rect">
            <a:avLst/>
          </a:prstGeom>
          <a:solidFill>
            <a:schemeClr val="bg1"/>
          </a:solidFill>
          <a:ln w="9525">
            <a:solidFill>
              <a:srgbClr val="D8D3CB"/>
            </a:solidFill>
            <a:prstDash val="solid"/>
          </a:ln>
        </p:spPr>
      </p:sp>
      <p:sp>
        <p:nvSpPr>
          <p:cNvPr id="20" name="NOT JUDGED circle"/>
          <p:cNvSpPr/>
          <p:nvPr/>
        </p:nvSpPr>
        <p:spPr>
          <a:xfrm>
            <a:off x="8275320" y="1600200"/>
            <a:ext cx="640080" cy="640080"/>
          </a:xfrm>
          <a:prstGeom prst="ellipse">
            <a:avLst/>
          </a:prstGeom>
          <a:solidFill>
            <a:srgbClr val="8B8781"/>
          </a:solidFill>
          <a:ln w="12700">
            <a:solidFill>
              <a:srgbClr val="8B8781"/>
            </a:solidFill>
            <a:prstDash val="solid"/>
          </a:ln>
        </p:spPr>
      </p:sp>
      <p:pic>
        <p:nvPicPr>
          <p:cNvPr id="21" name="NOT JUDGED icon" descr="preencoded.png">    </p:cNvPr>
          <p:cNvPicPr>
            <a:picLocks noChangeAspect="1"/>
          </p:cNvPicPr>
          <p:nvPr/>
        </p:nvPicPr>
        <p:blipFill>
          <a:blip r:embed="rId3"/>
          <a:stretch>
            <a:fillRect/>
          </a:stretch>
        </p:blipFill>
        <p:spPr>
          <a:xfrm>
            <a:off x="8441741" y="1766621"/>
            <a:ext cx="307238" cy="307238"/>
          </a:xfrm>
          <a:prstGeom prst="rect">
            <a:avLst/>
          </a:prstGeom>
        </p:spPr>
      </p:pic>
      <p:sp>
        <p:nvSpPr>
          <p:cNvPr id="22" name="NOT JUDGED tag"/>
          <p:cNvSpPr/>
          <p:nvPr/>
        </p:nvSpPr>
        <p:spPr>
          <a:xfrm>
            <a:off x="9052560" y="1737360"/>
            <a:ext cx="1828800" cy="384048"/>
          </a:xfrm>
          <a:prstGeom prst="roundRect">
            <a:avLst>
              <a:gd name="adj" fmla="val 50000"/>
            </a:avLst>
          </a:prstGeom>
          <a:solidFill>
            <a:srgbClr val="8B8781"/>
          </a:solidFill>
          <a:ln w="12700">
            <a:solidFill>
              <a:srgbClr val="8B8781"/>
            </a:solidFill>
            <a:prstDash val="solid"/>
          </a:ln>
        </p:spPr>
      </p:sp>
      <p:sp>
        <p:nvSpPr>
          <p:cNvPr id="23" name="NOT JUDGED tag text"/>
          <p:cNvSpPr txBox="1"/>
          <p:nvPr/>
        </p:nvSpPr>
        <p:spPr>
          <a:xfrm>
            <a:off x="9052560" y="1737360"/>
            <a:ext cx="1828800" cy="384048"/>
          </a:xfrm>
          <a:prstGeom prst="rect">
            <a:avLst/>
          </a:prstGeom>
          <a:noFill/>
          <a:ln/>
        </p:spPr>
        <p:txBody>
          <a:bodyPr wrap="square" lIns="0" tIns="0" rIns="0" bIns="0" rtlCol="0" anchor="ctr"/>
          <a:lstStyle/>
          <a:p>
            <a:pPr algn="ctr" indent="0" marL="0">
              <a:buNone/>
            </a:pPr>
            <a:r>
              <a:rPr lang="en-US" sz="1300" b="1" dirty="0">
                <a:solidFill>
                  <a:srgbClr val="F5F3EF"/>
                </a:solidFill>
              </a:rPr>
              <a:t>NOT JUDGED</a:t>
            </a:r>
            <a:endParaRPr lang="en-US" sz="1300" dirty="0"/>
          </a:p>
        </p:txBody>
      </p:sp>
      <p:sp>
        <p:nvSpPr>
          <p:cNvPr id="24" name="NOT JUDGED points"/>
          <p:cNvSpPr txBox="1"/>
          <p:nvPr/>
        </p:nvSpPr>
        <p:spPr>
          <a:xfrm>
            <a:off x="8229600" y="2377440"/>
            <a:ext cx="3246120" cy="22860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tx1"/>
                </a:solidFill>
              </a:rPr>
              <a:t>Derived material (wire, conduit, trench) — about 29 % of the bill's value</a:t>
            </a:r>
            <a:endParaRPr lang="en-US" sz="1500" dirty="0"/>
          </a:p>
          <a:p>
            <a:pPr marL="342900" indent="-342900">
              <a:spcAft>
                <a:spcPts val="1200"/>
              </a:spcAft>
              <a:buSzPct val="100000"/>
              <a:buChar char="•"/>
            </a:pPr>
            <a:r>
              <a:rPr lang="en-US" sz="1500" dirty="0">
                <a:solidFill>
                  <a:schemeClr val="tx1"/>
                </a:solidFill>
              </a:rPr>
              <a:t>Pricing — against the AACE Class 1 range, next</a:t>
            </a:r>
            <a:endParaRPr lang="en-US" sz="1500" dirty="0"/>
          </a:p>
          <a:p>
            <a:pPr marL="342900" indent="-342900">
              <a:spcAft>
                <a:spcPts val="1200"/>
              </a:spcAft>
              <a:buSzPct val="100000"/>
              <a:buChar char="•"/>
            </a:pPr>
            <a:r>
              <a:rPr lang="en-US" sz="1500" dirty="0">
                <a:solidFill>
                  <a:schemeClr val="tx1"/>
                </a:solidFill>
              </a:rPr>
              <a:t>Allowances — about 1.6 %</a:t>
            </a:r>
            <a:endParaRPr lang="en-US" sz="1500" dirty="0"/>
          </a:p>
        </p:txBody>
      </p:sp>
      <p:sp>
        <p:nvSpPr>
          <p:cNvPr id="25" name="verdict card"/>
          <p:cNvSpPr/>
          <p:nvPr/>
        </p:nvSpPr>
        <p:spPr>
          <a:xfrm>
            <a:off x="548640" y="4937760"/>
            <a:ext cx="11064240" cy="822960"/>
          </a:xfrm>
          <a:prstGeom prst="rect">
            <a:avLst/>
          </a:prstGeom>
          <a:solidFill>
            <a:schemeClr val="tx1"/>
          </a:solidFill>
          <a:ln w="9525">
            <a:solidFill>
              <a:srgbClr val="D8D3CB"/>
            </a:solidFill>
            <a:prstDash val="solid"/>
          </a:ln>
        </p:spPr>
      </p:sp>
      <p:sp>
        <p:nvSpPr>
          <p:cNvPr id="26" name="verdict text"/>
          <p:cNvSpPr txBox="1"/>
          <p:nvPr/>
        </p:nvSpPr>
        <p:spPr>
          <a:xfrm>
            <a:off x="777240" y="5001768"/>
            <a:ext cx="10698480" cy="685800"/>
          </a:xfrm>
          <a:prstGeom prst="rect">
            <a:avLst/>
          </a:prstGeom>
          <a:noFill/>
          <a:ln/>
        </p:spPr>
        <p:txBody>
          <a:bodyPr wrap="square" lIns="0" tIns="0" rIns="0" bIns="0" rtlCol="0" anchor="ctr"/>
          <a:lstStyle/>
          <a:p>
            <a:pPr indent="0" marL="0">
              <a:buNone/>
            </a:pPr>
            <a:r>
              <a:rPr lang="en-US" sz="1650" b="1" dirty="0">
                <a:solidFill>
                  <a:schemeClr val="accent2"/>
                </a:solidFill>
              </a:rPr>
              <a:t>Verdict: </a:t>
            </a:r>
            <a:pPr indent="0" marL="0">
              <a:buNone/>
            </a:pPr>
            <a:r>
              <a:rPr lang="en-US" sz="1650" dirty="0">
                <a:solidFill>
                  <a:schemeClr val="bg1"/>
                </a:solidFill>
              </a:rPr>
              <a:t>a traceable first draft that an estimator reviews — ready for pilots, not yet for an unchecked tender total.</a:t>
            </a:r>
            <a:endParaRPr lang="en-US" sz="16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HOW ACCURATE IS IT</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The data plan: what each new project adds</a:t>
            </a:r>
            <a:endParaRPr lang="en-US" sz="2600" dirty="0"/>
          </a:p>
        </p:txBody>
      </p:sp>
      <p:sp>
        <p:nvSpPr>
          <p:cNvPr id="7" name="adds card 1"/>
          <p:cNvSpPr/>
          <p:nvPr/>
        </p:nvSpPr>
        <p:spPr>
          <a:xfrm>
            <a:off x="548640" y="1417320"/>
            <a:ext cx="5669280" cy="932688"/>
          </a:xfrm>
          <a:prstGeom prst="rect">
            <a:avLst/>
          </a:prstGeom>
          <a:solidFill>
            <a:schemeClr val="bg1"/>
          </a:solidFill>
          <a:ln w="9525">
            <a:solidFill>
              <a:srgbClr val="D8D3CB"/>
            </a:solidFill>
            <a:prstDash val="solid"/>
          </a:ln>
        </p:spPr>
      </p:sp>
      <p:sp>
        <p:nvSpPr>
          <p:cNvPr id="8" name="adds 1 circle"/>
          <p:cNvSpPr/>
          <p:nvPr/>
        </p:nvSpPr>
        <p:spPr>
          <a:xfrm>
            <a:off x="731520" y="1563624"/>
            <a:ext cx="640080" cy="640080"/>
          </a:xfrm>
          <a:prstGeom prst="ellipse">
            <a:avLst/>
          </a:prstGeom>
          <a:solidFill>
            <a:srgbClr val="8E1B1B"/>
          </a:solidFill>
          <a:ln w="12700">
            <a:solidFill>
              <a:srgbClr val="8E1B1B"/>
            </a:solidFill>
            <a:prstDash val="solid"/>
          </a:ln>
        </p:spPr>
      </p:sp>
      <p:pic>
        <p:nvPicPr>
          <p:cNvPr id="9" name="adds 1 icon" descr="preencoded.png">    </p:cNvPr>
          <p:cNvPicPr>
            <a:picLocks noChangeAspect="1"/>
          </p:cNvPicPr>
          <p:nvPr/>
        </p:nvPicPr>
        <p:blipFill>
          <a:blip r:embed="rId1"/>
          <a:stretch>
            <a:fillRect/>
          </a:stretch>
        </p:blipFill>
        <p:spPr>
          <a:xfrm>
            <a:off x="897941" y="1730045"/>
            <a:ext cx="307238" cy="307238"/>
          </a:xfrm>
          <a:prstGeom prst="rect">
            <a:avLst/>
          </a:prstGeom>
        </p:spPr>
      </p:pic>
      <p:sp>
        <p:nvSpPr>
          <p:cNvPr id="10" name="adds title 1"/>
          <p:cNvSpPr txBox="1"/>
          <p:nvPr/>
        </p:nvSpPr>
        <p:spPr>
          <a:xfrm>
            <a:off x="1554480" y="1508760"/>
            <a:ext cx="4480560" cy="365760"/>
          </a:xfrm>
          <a:prstGeom prst="rect">
            <a:avLst/>
          </a:prstGeom>
          <a:noFill/>
          <a:ln/>
        </p:spPr>
        <p:txBody>
          <a:bodyPr wrap="square" lIns="0" tIns="0" rIns="0" bIns="0" rtlCol="0" anchor="t"/>
          <a:lstStyle/>
          <a:p>
            <a:pPr indent="0" marL="0">
              <a:buNone/>
            </a:pPr>
            <a:r>
              <a:rPr lang="en-US" sz="1600" b="1" dirty="0">
                <a:solidFill>
                  <a:schemeClr val="tx1"/>
                </a:solidFill>
              </a:rPr>
              <a:t>A test</a:t>
            </a:r>
            <a:endParaRPr lang="en-US" sz="1600" dirty="0"/>
          </a:p>
        </p:txBody>
      </p:sp>
      <p:sp>
        <p:nvSpPr>
          <p:cNvPr id="11" name="adds text 1"/>
          <p:cNvSpPr txBox="1"/>
          <p:nvPr/>
        </p:nvSpPr>
        <p:spPr>
          <a:xfrm>
            <a:off x="1554480" y="1874520"/>
            <a:ext cx="4480560" cy="411480"/>
          </a:xfrm>
          <a:prstGeom prst="rect">
            <a:avLst/>
          </a:prstGeom>
          <a:noFill/>
          <a:ln/>
        </p:spPr>
        <p:txBody>
          <a:bodyPr wrap="square" lIns="0" tIns="0" rIns="0" bIns="0" rtlCol="0" anchor="t"/>
          <a:lstStyle/>
          <a:p>
            <a:pPr indent="0" marL="0">
              <a:buNone/>
            </a:pPr>
            <a:r>
              <a:rPr lang="en-US" sz="1300" dirty="0">
                <a:solidFill>
                  <a:schemeClr val="tx2"/>
                </a:solidFill>
              </a:rPr>
              <a:t>every fix is re-checked on every project — no silent regressions</a:t>
            </a:r>
            <a:endParaRPr lang="en-US" sz="1300" dirty="0"/>
          </a:p>
        </p:txBody>
      </p:sp>
      <p:sp>
        <p:nvSpPr>
          <p:cNvPr id="12" name="adds card 2"/>
          <p:cNvSpPr/>
          <p:nvPr/>
        </p:nvSpPr>
        <p:spPr>
          <a:xfrm>
            <a:off x="548640" y="2496312"/>
            <a:ext cx="5669280" cy="932688"/>
          </a:xfrm>
          <a:prstGeom prst="rect">
            <a:avLst/>
          </a:prstGeom>
          <a:solidFill>
            <a:schemeClr val="bg1"/>
          </a:solidFill>
          <a:ln w="9525">
            <a:solidFill>
              <a:srgbClr val="D8D3CB"/>
            </a:solidFill>
            <a:prstDash val="solid"/>
          </a:ln>
        </p:spPr>
      </p:sp>
      <p:sp>
        <p:nvSpPr>
          <p:cNvPr id="13" name="adds 2 circle"/>
          <p:cNvSpPr/>
          <p:nvPr/>
        </p:nvSpPr>
        <p:spPr>
          <a:xfrm>
            <a:off x="731520" y="2642616"/>
            <a:ext cx="640080" cy="640080"/>
          </a:xfrm>
          <a:prstGeom prst="ellipse">
            <a:avLst/>
          </a:prstGeom>
          <a:solidFill>
            <a:srgbClr val="8E1B1B"/>
          </a:solidFill>
          <a:ln w="12700">
            <a:solidFill>
              <a:srgbClr val="8E1B1B"/>
            </a:solidFill>
            <a:prstDash val="solid"/>
          </a:ln>
        </p:spPr>
      </p:sp>
      <p:pic>
        <p:nvPicPr>
          <p:cNvPr id="14" name="adds 2 icon" descr="preencoded.png">    </p:cNvPr>
          <p:cNvPicPr>
            <a:picLocks noChangeAspect="1"/>
          </p:cNvPicPr>
          <p:nvPr/>
        </p:nvPicPr>
        <p:blipFill>
          <a:blip r:embed="rId2"/>
          <a:stretch>
            <a:fillRect/>
          </a:stretch>
        </p:blipFill>
        <p:spPr>
          <a:xfrm>
            <a:off x="897941" y="2809037"/>
            <a:ext cx="307238" cy="307238"/>
          </a:xfrm>
          <a:prstGeom prst="rect">
            <a:avLst/>
          </a:prstGeom>
        </p:spPr>
      </p:pic>
      <p:sp>
        <p:nvSpPr>
          <p:cNvPr id="15" name="adds title 2"/>
          <p:cNvSpPr txBox="1"/>
          <p:nvPr/>
        </p:nvSpPr>
        <p:spPr>
          <a:xfrm>
            <a:off x="1554480" y="2587752"/>
            <a:ext cx="4480560" cy="365760"/>
          </a:xfrm>
          <a:prstGeom prst="rect">
            <a:avLst/>
          </a:prstGeom>
          <a:noFill/>
          <a:ln/>
        </p:spPr>
        <p:txBody>
          <a:bodyPr wrap="square" lIns="0" tIns="0" rIns="0" bIns="0" rtlCol="0" anchor="t"/>
          <a:lstStyle/>
          <a:p>
            <a:pPr indent="0" marL="0">
              <a:buNone/>
            </a:pPr>
            <a:r>
              <a:rPr lang="en-US" sz="1600" b="1" dirty="0">
                <a:solidFill>
                  <a:schemeClr val="tx1"/>
                </a:solidFill>
              </a:rPr>
              <a:t>New symbols</a:t>
            </a:r>
            <a:endParaRPr lang="en-US" sz="1600" dirty="0"/>
          </a:p>
        </p:txBody>
      </p:sp>
      <p:sp>
        <p:nvSpPr>
          <p:cNvPr id="16" name="adds text 2"/>
          <p:cNvSpPr txBox="1"/>
          <p:nvPr/>
        </p:nvSpPr>
        <p:spPr>
          <a:xfrm>
            <a:off x="1554480" y="2953512"/>
            <a:ext cx="4480560" cy="411480"/>
          </a:xfrm>
          <a:prstGeom prst="rect">
            <a:avLst/>
          </a:prstGeom>
          <a:noFill/>
          <a:ln/>
        </p:spPr>
        <p:txBody>
          <a:bodyPr wrap="square" lIns="0" tIns="0" rIns="0" bIns="0" rtlCol="0" anchor="t"/>
          <a:lstStyle/>
          <a:p>
            <a:pPr indent="0" marL="0">
              <a:buNone/>
            </a:pPr>
            <a:r>
              <a:rPr lang="en-US" sz="1300" dirty="0">
                <a:solidFill>
                  <a:schemeClr val="tx2"/>
                </a:solidFill>
              </a:rPr>
              <a:t>each new variant is learned once and works for everyone</a:t>
            </a:r>
            <a:endParaRPr lang="en-US" sz="1300" dirty="0"/>
          </a:p>
        </p:txBody>
      </p:sp>
      <p:sp>
        <p:nvSpPr>
          <p:cNvPr id="17" name="adds card 3"/>
          <p:cNvSpPr/>
          <p:nvPr/>
        </p:nvSpPr>
        <p:spPr>
          <a:xfrm>
            <a:off x="548640" y="3575304"/>
            <a:ext cx="5669280" cy="932688"/>
          </a:xfrm>
          <a:prstGeom prst="rect">
            <a:avLst/>
          </a:prstGeom>
          <a:solidFill>
            <a:schemeClr val="bg1"/>
          </a:solidFill>
          <a:ln w="9525">
            <a:solidFill>
              <a:srgbClr val="D8D3CB"/>
            </a:solidFill>
            <a:prstDash val="solid"/>
          </a:ln>
        </p:spPr>
      </p:sp>
      <p:sp>
        <p:nvSpPr>
          <p:cNvPr id="18" name="adds 3 circle"/>
          <p:cNvSpPr/>
          <p:nvPr/>
        </p:nvSpPr>
        <p:spPr>
          <a:xfrm>
            <a:off x="731520" y="3721608"/>
            <a:ext cx="640080" cy="640080"/>
          </a:xfrm>
          <a:prstGeom prst="ellipse">
            <a:avLst/>
          </a:prstGeom>
          <a:solidFill>
            <a:srgbClr val="8E1B1B"/>
          </a:solidFill>
          <a:ln w="12700">
            <a:solidFill>
              <a:srgbClr val="8E1B1B"/>
            </a:solidFill>
            <a:prstDash val="solid"/>
          </a:ln>
        </p:spPr>
      </p:sp>
      <p:pic>
        <p:nvPicPr>
          <p:cNvPr id="19" name="adds 3 icon" descr="preencoded.png">    </p:cNvPr>
          <p:cNvPicPr>
            <a:picLocks noChangeAspect="1"/>
          </p:cNvPicPr>
          <p:nvPr/>
        </p:nvPicPr>
        <p:blipFill>
          <a:blip r:embed="rId3"/>
          <a:stretch>
            <a:fillRect/>
          </a:stretch>
        </p:blipFill>
        <p:spPr>
          <a:xfrm>
            <a:off x="897941" y="3888029"/>
            <a:ext cx="307238" cy="307238"/>
          </a:xfrm>
          <a:prstGeom prst="rect">
            <a:avLst/>
          </a:prstGeom>
        </p:spPr>
      </p:pic>
      <p:sp>
        <p:nvSpPr>
          <p:cNvPr id="20" name="adds title 3"/>
          <p:cNvSpPr txBox="1"/>
          <p:nvPr/>
        </p:nvSpPr>
        <p:spPr>
          <a:xfrm>
            <a:off x="1554480" y="3666744"/>
            <a:ext cx="4480560" cy="365760"/>
          </a:xfrm>
          <a:prstGeom prst="rect">
            <a:avLst/>
          </a:prstGeom>
          <a:noFill/>
          <a:ln/>
        </p:spPr>
        <p:txBody>
          <a:bodyPr wrap="square" lIns="0" tIns="0" rIns="0" bIns="0" rtlCol="0" anchor="t"/>
          <a:lstStyle/>
          <a:p>
            <a:pPr indent="0" marL="0">
              <a:buNone/>
            </a:pPr>
            <a:r>
              <a:rPr lang="en-US" sz="1600" b="1" dirty="0">
                <a:solidFill>
                  <a:schemeClr val="tx1"/>
                </a:solidFill>
              </a:rPr>
              <a:t>Calibrated rules</a:t>
            </a:r>
            <a:endParaRPr lang="en-US" sz="1600" dirty="0"/>
          </a:p>
        </p:txBody>
      </p:sp>
      <p:sp>
        <p:nvSpPr>
          <p:cNvPr id="21" name="adds text 3"/>
          <p:cNvSpPr txBox="1"/>
          <p:nvPr/>
        </p:nvSpPr>
        <p:spPr>
          <a:xfrm>
            <a:off x="1554480" y="4032504"/>
            <a:ext cx="4480560" cy="411480"/>
          </a:xfrm>
          <a:prstGeom prst="rect">
            <a:avLst/>
          </a:prstGeom>
          <a:noFill/>
          <a:ln/>
        </p:spPr>
        <p:txBody>
          <a:bodyPr wrap="square" lIns="0" tIns="0" rIns="0" bIns="0" rtlCol="0" anchor="t"/>
          <a:lstStyle/>
          <a:p>
            <a:pPr indent="0" marL="0">
              <a:buNone/>
            </a:pPr>
            <a:r>
              <a:rPr lang="en-US" sz="1300" dirty="0">
                <a:solidFill>
                  <a:schemeClr val="tx2"/>
                </a:solidFill>
              </a:rPr>
              <a:t>wire per point, trench per metre — an average, not a guess</a:t>
            </a:r>
            <a:endParaRPr lang="en-US" sz="1300" dirty="0"/>
          </a:p>
        </p:txBody>
      </p:sp>
      <p:sp>
        <p:nvSpPr>
          <p:cNvPr id="22" name="adds card 4"/>
          <p:cNvSpPr/>
          <p:nvPr/>
        </p:nvSpPr>
        <p:spPr>
          <a:xfrm>
            <a:off x="548640" y="4654296"/>
            <a:ext cx="5669280" cy="932688"/>
          </a:xfrm>
          <a:prstGeom prst="rect">
            <a:avLst/>
          </a:prstGeom>
          <a:solidFill>
            <a:schemeClr val="bg1"/>
          </a:solidFill>
          <a:ln w="9525">
            <a:solidFill>
              <a:srgbClr val="D8D3CB"/>
            </a:solidFill>
            <a:prstDash val="solid"/>
          </a:ln>
        </p:spPr>
      </p:sp>
      <p:sp>
        <p:nvSpPr>
          <p:cNvPr id="23" name="adds 4 circle"/>
          <p:cNvSpPr/>
          <p:nvPr/>
        </p:nvSpPr>
        <p:spPr>
          <a:xfrm>
            <a:off x="731520" y="4800600"/>
            <a:ext cx="640080" cy="640080"/>
          </a:xfrm>
          <a:prstGeom prst="ellipse">
            <a:avLst/>
          </a:prstGeom>
          <a:solidFill>
            <a:srgbClr val="8E1B1B"/>
          </a:solidFill>
          <a:ln w="12700">
            <a:solidFill>
              <a:srgbClr val="8E1B1B"/>
            </a:solidFill>
            <a:prstDash val="solid"/>
          </a:ln>
        </p:spPr>
      </p:sp>
      <p:pic>
        <p:nvPicPr>
          <p:cNvPr id="24" name="adds 4 icon" descr="preencoded.png">    </p:cNvPr>
          <p:cNvPicPr>
            <a:picLocks noChangeAspect="1"/>
          </p:cNvPicPr>
          <p:nvPr/>
        </p:nvPicPr>
        <p:blipFill>
          <a:blip r:embed="rId4"/>
          <a:stretch>
            <a:fillRect/>
          </a:stretch>
        </p:blipFill>
        <p:spPr>
          <a:xfrm>
            <a:off x="897941" y="4967021"/>
            <a:ext cx="307238" cy="307238"/>
          </a:xfrm>
          <a:prstGeom prst="rect">
            <a:avLst/>
          </a:prstGeom>
        </p:spPr>
      </p:pic>
      <p:sp>
        <p:nvSpPr>
          <p:cNvPr id="25" name="adds title 4"/>
          <p:cNvSpPr txBox="1"/>
          <p:nvPr/>
        </p:nvSpPr>
        <p:spPr>
          <a:xfrm>
            <a:off x="1554480" y="4745736"/>
            <a:ext cx="4480560" cy="365760"/>
          </a:xfrm>
          <a:prstGeom prst="rect">
            <a:avLst/>
          </a:prstGeom>
          <a:noFill/>
          <a:ln/>
        </p:spPr>
        <p:txBody>
          <a:bodyPr wrap="square" lIns="0" tIns="0" rIns="0" bIns="0" rtlCol="0" anchor="t"/>
          <a:lstStyle/>
          <a:p>
            <a:pPr indent="0" marL="0">
              <a:buNone/>
            </a:pPr>
            <a:r>
              <a:rPr lang="en-US" sz="1600" b="1" dirty="0">
                <a:solidFill>
                  <a:schemeClr val="tx1"/>
                </a:solidFill>
              </a:rPr>
              <a:t>Proof it generalises</a:t>
            </a:r>
            <a:endParaRPr lang="en-US" sz="1600" dirty="0"/>
          </a:p>
        </p:txBody>
      </p:sp>
      <p:sp>
        <p:nvSpPr>
          <p:cNvPr id="26" name="adds text 4"/>
          <p:cNvSpPr txBox="1"/>
          <p:nvPr/>
        </p:nvSpPr>
        <p:spPr>
          <a:xfrm>
            <a:off x="1554480" y="5111496"/>
            <a:ext cx="4480560" cy="411480"/>
          </a:xfrm>
          <a:prstGeom prst="rect">
            <a:avLst/>
          </a:prstGeom>
          <a:noFill/>
          <a:ln/>
        </p:spPr>
        <p:txBody>
          <a:bodyPr wrap="square" lIns="0" tIns="0" rIns="0" bIns="0" rtlCol="0" anchor="t"/>
          <a:lstStyle/>
          <a:p>
            <a:pPr indent="0" marL="0">
              <a:buNone/>
            </a:pPr>
            <a:r>
              <a:rPr lang="en-US" sz="1300" dirty="0">
                <a:solidFill>
                  <a:schemeClr val="tx2"/>
                </a:solidFill>
              </a:rPr>
              <a:t>a score across projects, not an anecdote from one</a:t>
            </a:r>
            <a:endParaRPr lang="en-US" sz="1300" dirty="0"/>
          </a:p>
        </p:txBody>
      </p:sp>
      <p:sp>
        <p:nvSpPr>
          <p:cNvPr id="27" name="plan card"/>
          <p:cNvSpPr/>
          <p:nvPr/>
        </p:nvSpPr>
        <p:spPr>
          <a:xfrm>
            <a:off x="6446520" y="1417320"/>
            <a:ext cx="5166360" cy="4169664"/>
          </a:xfrm>
          <a:prstGeom prst="roundRect">
            <a:avLst>
              <a:gd name="adj" fmla="val 2632"/>
            </a:avLst>
          </a:prstGeom>
          <a:solidFill>
            <a:schemeClr val="tx1"/>
          </a:solidFill>
          <a:ln w="12700">
            <a:solidFill>
              <a:schemeClr val="tx1"/>
            </a:solidFill>
            <a:prstDash val="solid"/>
          </a:ln>
        </p:spPr>
      </p:sp>
      <p:sp>
        <p:nvSpPr>
          <p:cNvPr id="28" name="plan title"/>
          <p:cNvSpPr txBox="1"/>
          <p:nvPr/>
        </p:nvSpPr>
        <p:spPr>
          <a:xfrm>
            <a:off x="6720840" y="1600200"/>
            <a:ext cx="4663440" cy="411480"/>
          </a:xfrm>
          <a:prstGeom prst="rect">
            <a:avLst/>
          </a:prstGeom>
          <a:noFill/>
          <a:ln/>
        </p:spPr>
        <p:txBody>
          <a:bodyPr wrap="square" lIns="0" tIns="0" rIns="0" bIns="0" rtlCol="0" anchor="t"/>
          <a:lstStyle/>
          <a:p>
            <a:pPr indent="0" marL="0">
              <a:buNone/>
            </a:pPr>
            <a:r>
              <a:rPr lang="en-US" sz="1800" b="1" dirty="0">
                <a:solidFill>
                  <a:schemeClr val="accent2"/>
                </a:solidFill>
              </a:rPr>
              <a:t>Recommendation</a:t>
            </a:r>
            <a:endParaRPr lang="en-US" sz="1800" dirty="0"/>
          </a:p>
        </p:txBody>
      </p:sp>
      <p:sp>
        <p:nvSpPr>
          <p:cNvPr id="29" name="plan text"/>
          <p:cNvSpPr txBox="1"/>
          <p:nvPr/>
        </p:nvSpPr>
        <p:spPr>
          <a:xfrm>
            <a:off x="6720840" y="2103120"/>
            <a:ext cx="4663440" cy="3383280"/>
          </a:xfrm>
          <a:prstGeom prst="rect">
            <a:avLst/>
          </a:prstGeom>
          <a:noFill/>
          <a:ln/>
        </p:spPr>
        <p:txBody>
          <a:bodyPr wrap="square" lIns="0" tIns="0" rIns="0" bIns="0" rtlCol="0" anchor="t"/>
          <a:lstStyle/>
          <a:p>
            <a:pPr indent="0" marL="0">
              <a:spcAft>
                <a:spcPts val="800"/>
              </a:spcAft>
              <a:buNone/>
            </a:pPr>
            <a:r>
              <a:rPr lang="en-US" sz="1400" b="1" dirty="0">
                <a:solidFill>
                  <a:schemeClr val="bg1"/>
                </a:solidFill>
              </a:rPr>
              <a:t>5 real projects from 3+ consulting firms</a:t>
            </a:r>
            <a:endParaRPr lang="en-US" sz="1400" dirty="0"/>
          </a:p>
          <a:p>
            <a:pPr marL="342900" indent="-342900">
              <a:spcAft>
                <a:spcPts val="800"/>
              </a:spcAft>
              <a:buSzPct val="100000"/>
              <a:buChar char="•"/>
            </a:pPr>
            <a:r>
              <a:rPr lang="en-US" sz="1400" dirty="0">
                <a:solidFill>
                  <a:schemeClr val="bg1"/>
                </a:solidFill>
              </a:rPr>
              <a:t>Each with: PDF + DWG drawings, the priced bill, a 20-item check by a person (≈ 30 min)</a:t>
            </a:r>
            <a:endParaRPr lang="en-US" sz="1400" dirty="0"/>
          </a:p>
          <a:p>
            <a:pPr marL="342900" indent="-342900">
              <a:spcAft>
                <a:spcPts val="800"/>
              </a:spcAft>
              <a:buSzPct val="100000"/>
              <a:buChar char="•"/>
            </a:pPr>
            <a:r>
              <a:rPr lang="en-US" sz="1400" dirty="0">
                <a:solidFill>
                  <a:schemeClr val="bg1"/>
                </a:solidFill>
              </a:rPr>
              <a:t>From pilot partners — a reduced price in exchange for a past project</a:t>
            </a:r>
            <a:endParaRPr lang="en-US" sz="1400" dirty="0"/>
          </a:p>
          <a:p>
            <a:pPr marL="342900" indent="-342900">
              <a:spcAft>
                <a:spcPts val="800"/>
              </a:spcAft>
              <a:buSzPct val="100000"/>
              <a:buChar char="•"/>
            </a:pPr>
            <a:r>
              <a:rPr lang="en-US" sz="1400" dirty="0">
                <a:solidFill>
                  <a:schemeClr val="bg1"/>
                </a:solidFill>
              </a:rPr>
              <a:t>Estimator corrections saved: drawing facts for all, preferences per company</a:t>
            </a:r>
            <a:endParaRPr lang="en-US" sz="1400" dirty="0"/>
          </a:p>
          <a:p>
            <a:pPr marL="342900" indent="-342900">
              <a:spcAft>
                <a:spcPts val="800"/>
              </a:spcAft>
              <a:buSzPct val="100000"/>
              <a:buChar char="•"/>
            </a:pPr>
            <a:r>
              <a:rPr lang="en-US" sz="1400" dirty="0">
                <a:solidFill>
                  <a:schemeClr val="bg1"/>
                </a:solidFill>
              </a:rPr>
              <a:t>Report the reading score on every project — up or down</a:t>
            </a:r>
            <a:endParaRPr lang="en-US" sz="1400" dirty="0"/>
          </a:p>
        </p:txBody>
      </p:sp>
      <p:sp>
        <p:nvSpPr>
          <p:cNvPr id="30"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Today every accuracy number comes from one reference project (Wedela, 7 buildings).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it is worth to a consulting engineer, in numbers</a:t>
            </a:r>
            <a:endParaRPr lang="en-US" sz="2600" dirty="0"/>
          </a:p>
        </p:txBody>
      </p:sp>
      <p:sp>
        <p:nvSpPr>
          <p:cNvPr id="7" name="value card 1"/>
          <p:cNvSpPr/>
          <p:nvPr/>
        </p:nvSpPr>
        <p:spPr>
          <a:xfrm>
            <a:off x="548640" y="1371600"/>
            <a:ext cx="3566160" cy="1508760"/>
          </a:xfrm>
          <a:prstGeom prst="rect">
            <a:avLst/>
          </a:prstGeom>
          <a:solidFill>
            <a:schemeClr val="bg1"/>
          </a:solidFill>
          <a:ln w="9525">
            <a:solidFill>
              <a:srgbClr val="D8D3CB"/>
            </a:solidFill>
            <a:prstDash val="solid"/>
          </a:ln>
        </p:spPr>
      </p:sp>
      <p:sp>
        <p:nvSpPr>
          <p:cNvPr id="8" name="value 1 circle"/>
          <p:cNvSpPr/>
          <p:nvPr/>
        </p:nvSpPr>
        <p:spPr>
          <a:xfrm>
            <a:off x="777240" y="1600200"/>
            <a:ext cx="594360" cy="594360"/>
          </a:xfrm>
          <a:prstGeom prst="ellipse">
            <a:avLst/>
          </a:prstGeom>
          <a:solidFill>
            <a:srgbClr val="8E1B1B"/>
          </a:solidFill>
          <a:ln w="12700">
            <a:solidFill>
              <a:srgbClr val="8E1B1B"/>
            </a:solidFill>
            <a:prstDash val="solid"/>
          </a:ln>
        </p:spPr>
      </p:sp>
      <p:pic>
        <p:nvPicPr>
          <p:cNvPr id="9" name="value 1 icon" descr="preencoded.png">    </p:cNvPr>
          <p:cNvPicPr>
            <a:picLocks noChangeAspect="1"/>
          </p:cNvPicPr>
          <p:nvPr/>
        </p:nvPicPr>
        <p:blipFill>
          <a:blip r:embed="rId1"/>
          <a:stretch>
            <a:fillRect/>
          </a:stretch>
        </p:blipFill>
        <p:spPr>
          <a:xfrm>
            <a:off x="931774" y="1754734"/>
            <a:ext cx="285293" cy="285293"/>
          </a:xfrm>
          <a:prstGeom prst="rect">
            <a:avLst/>
          </a:prstGeom>
        </p:spPr>
      </p:pic>
      <p:sp>
        <p:nvSpPr>
          <p:cNvPr id="10" name="value number 1"/>
          <p:cNvSpPr txBox="1"/>
          <p:nvPr/>
        </p:nvSpPr>
        <p:spPr>
          <a:xfrm>
            <a:off x="150876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1–2 min</a:t>
            </a:r>
            <a:endParaRPr lang="en-US" sz="3000" dirty="0"/>
          </a:p>
        </p:txBody>
      </p:sp>
      <p:sp>
        <p:nvSpPr>
          <p:cNvPr id="11" name="value text 1"/>
          <p:cNvSpPr txBox="1"/>
          <p:nvPr/>
        </p:nvSpPr>
        <p:spPr>
          <a:xfrm>
            <a:off x="150876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CAD set (DWG/DXF) to a draft BoQ</a:t>
            </a:r>
            <a:endParaRPr lang="en-US" sz="1250" dirty="0"/>
          </a:p>
        </p:txBody>
      </p:sp>
      <p:sp>
        <p:nvSpPr>
          <p:cNvPr id="12" name="value card 2"/>
          <p:cNvSpPr/>
          <p:nvPr/>
        </p:nvSpPr>
        <p:spPr>
          <a:xfrm>
            <a:off x="4297680" y="1371600"/>
            <a:ext cx="3566160" cy="1508760"/>
          </a:xfrm>
          <a:prstGeom prst="rect">
            <a:avLst/>
          </a:prstGeom>
          <a:solidFill>
            <a:schemeClr val="bg1"/>
          </a:solidFill>
          <a:ln w="9525">
            <a:solidFill>
              <a:srgbClr val="D8D3CB"/>
            </a:solidFill>
            <a:prstDash val="solid"/>
          </a:ln>
        </p:spPr>
      </p:sp>
      <p:sp>
        <p:nvSpPr>
          <p:cNvPr id="13" name="value 2 circle"/>
          <p:cNvSpPr/>
          <p:nvPr/>
        </p:nvSpPr>
        <p:spPr>
          <a:xfrm>
            <a:off x="4526280" y="1600200"/>
            <a:ext cx="594360" cy="594360"/>
          </a:xfrm>
          <a:prstGeom prst="ellipse">
            <a:avLst/>
          </a:prstGeom>
          <a:solidFill>
            <a:srgbClr val="8E1B1B"/>
          </a:solidFill>
          <a:ln w="12700">
            <a:solidFill>
              <a:srgbClr val="8E1B1B"/>
            </a:solidFill>
            <a:prstDash val="solid"/>
          </a:ln>
        </p:spPr>
      </p:sp>
      <p:pic>
        <p:nvPicPr>
          <p:cNvPr id="14" name="value 2 icon" descr="preencoded.png">    </p:cNvPr>
          <p:cNvPicPr>
            <a:picLocks noChangeAspect="1"/>
          </p:cNvPicPr>
          <p:nvPr/>
        </p:nvPicPr>
        <p:blipFill>
          <a:blip r:embed="rId2"/>
          <a:stretch>
            <a:fillRect/>
          </a:stretch>
        </p:blipFill>
        <p:spPr>
          <a:xfrm>
            <a:off x="4680814" y="1754734"/>
            <a:ext cx="285293" cy="285293"/>
          </a:xfrm>
          <a:prstGeom prst="rect">
            <a:avLst/>
          </a:prstGeom>
        </p:spPr>
      </p:pic>
      <p:sp>
        <p:nvSpPr>
          <p:cNvPr id="15" name="value number 2"/>
          <p:cNvSpPr txBox="1"/>
          <p:nvPr/>
        </p:nvSpPr>
        <p:spPr>
          <a:xfrm>
            <a:off x="525780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5 min</a:t>
            </a:r>
            <a:endParaRPr lang="en-US" sz="3000" dirty="0"/>
          </a:p>
        </p:txBody>
      </p:sp>
      <p:sp>
        <p:nvSpPr>
          <p:cNvPr id="16" name="value text 2"/>
          <p:cNvSpPr txBox="1"/>
          <p:nvPr/>
        </p:nvSpPr>
        <p:spPr>
          <a:xfrm>
            <a:off x="525780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18 PDF pages read by the AI model</a:t>
            </a:r>
            <a:endParaRPr lang="en-US" sz="1250" dirty="0"/>
          </a:p>
        </p:txBody>
      </p:sp>
      <p:sp>
        <p:nvSpPr>
          <p:cNvPr id="17" name="value card 3"/>
          <p:cNvSpPr/>
          <p:nvPr/>
        </p:nvSpPr>
        <p:spPr>
          <a:xfrm>
            <a:off x="8046720" y="1371600"/>
            <a:ext cx="3566160" cy="1508760"/>
          </a:xfrm>
          <a:prstGeom prst="rect">
            <a:avLst/>
          </a:prstGeom>
          <a:solidFill>
            <a:schemeClr val="bg1"/>
          </a:solidFill>
          <a:ln w="9525">
            <a:solidFill>
              <a:srgbClr val="D8D3CB"/>
            </a:solidFill>
            <a:prstDash val="solid"/>
          </a:ln>
        </p:spPr>
      </p:sp>
      <p:sp>
        <p:nvSpPr>
          <p:cNvPr id="18" name="value 3 circle"/>
          <p:cNvSpPr/>
          <p:nvPr/>
        </p:nvSpPr>
        <p:spPr>
          <a:xfrm>
            <a:off x="8275320" y="1600200"/>
            <a:ext cx="594360" cy="594360"/>
          </a:xfrm>
          <a:prstGeom prst="ellipse">
            <a:avLst/>
          </a:prstGeom>
          <a:solidFill>
            <a:srgbClr val="8E1B1B"/>
          </a:solidFill>
          <a:ln w="12700">
            <a:solidFill>
              <a:srgbClr val="8E1B1B"/>
            </a:solidFill>
            <a:prstDash val="solid"/>
          </a:ln>
        </p:spPr>
      </p:sp>
      <p:pic>
        <p:nvPicPr>
          <p:cNvPr id="19" name="value 3 icon" descr="preencoded.png">    </p:cNvPr>
          <p:cNvPicPr>
            <a:picLocks noChangeAspect="1"/>
          </p:cNvPicPr>
          <p:nvPr/>
        </p:nvPicPr>
        <p:blipFill>
          <a:blip r:embed="rId3"/>
          <a:stretch>
            <a:fillRect/>
          </a:stretch>
        </p:blipFill>
        <p:spPr>
          <a:xfrm>
            <a:off x="8429854" y="1754734"/>
            <a:ext cx="285293" cy="285293"/>
          </a:xfrm>
          <a:prstGeom prst="rect">
            <a:avLst/>
          </a:prstGeom>
        </p:spPr>
      </p:pic>
      <p:sp>
        <p:nvSpPr>
          <p:cNvPr id="20" name="value number 3"/>
          <p:cNvSpPr txBox="1"/>
          <p:nvPr/>
        </p:nvSpPr>
        <p:spPr>
          <a:xfrm>
            <a:off x="9006840" y="150876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R2.50</a:t>
            </a:r>
            <a:endParaRPr lang="en-US" sz="3000" dirty="0"/>
          </a:p>
        </p:txBody>
      </p:sp>
      <p:sp>
        <p:nvSpPr>
          <p:cNvPr id="21" name="value text 3"/>
          <p:cNvSpPr txBox="1"/>
          <p:nvPr/>
        </p:nvSpPr>
        <p:spPr>
          <a:xfrm>
            <a:off x="9006840" y="2148840"/>
            <a:ext cx="2514600" cy="658368"/>
          </a:xfrm>
          <a:prstGeom prst="rect">
            <a:avLst/>
          </a:prstGeom>
          <a:noFill/>
          <a:ln/>
        </p:spPr>
        <p:txBody>
          <a:bodyPr wrap="square" lIns="0" tIns="0" rIns="0" bIns="0" rtlCol="0" anchor="t"/>
          <a:lstStyle/>
          <a:p>
            <a:pPr indent="0" marL="0">
              <a:buNone/>
            </a:pPr>
            <a:r>
              <a:rPr lang="en-US" sz="1250" dirty="0">
                <a:solidFill>
                  <a:schemeClr val="tx2"/>
                </a:solidFill>
              </a:rPr>
              <a:t>per PDF page with the paid AI model — DWG and the free model cost nothing</a:t>
            </a:r>
            <a:endParaRPr lang="en-US" sz="1250" dirty="0"/>
          </a:p>
        </p:txBody>
      </p:sp>
      <p:sp>
        <p:nvSpPr>
          <p:cNvPr id="22" name="value card 4"/>
          <p:cNvSpPr/>
          <p:nvPr/>
        </p:nvSpPr>
        <p:spPr>
          <a:xfrm>
            <a:off x="548640" y="3063240"/>
            <a:ext cx="3566160" cy="1508760"/>
          </a:xfrm>
          <a:prstGeom prst="rect">
            <a:avLst/>
          </a:prstGeom>
          <a:solidFill>
            <a:schemeClr val="bg2"/>
          </a:solidFill>
          <a:ln w="9525">
            <a:solidFill>
              <a:srgbClr val="D8D3CB"/>
            </a:solidFill>
            <a:prstDash val="solid"/>
          </a:ln>
        </p:spPr>
      </p:sp>
      <p:sp>
        <p:nvSpPr>
          <p:cNvPr id="23" name="value 4 circle"/>
          <p:cNvSpPr/>
          <p:nvPr/>
        </p:nvSpPr>
        <p:spPr>
          <a:xfrm>
            <a:off x="777240" y="3291840"/>
            <a:ext cx="594360" cy="594360"/>
          </a:xfrm>
          <a:prstGeom prst="ellipse">
            <a:avLst/>
          </a:prstGeom>
          <a:solidFill>
            <a:srgbClr val="8E1B1B"/>
          </a:solidFill>
          <a:ln w="12700">
            <a:solidFill>
              <a:srgbClr val="8E1B1B"/>
            </a:solidFill>
            <a:prstDash val="solid"/>
          </a:ln>
        </p:spPr>
      </p:sp>
      <p:pic>
        <p:nvPicPr>
          <p:cNvPr id="24" name="value 4 icon" descr="preencoded.png">    </p:cNvPr>
          <p:cNvPicPr>
            <a:picLocks noChangeAspect="1"/>
          </p:cNvPicPr>
          <p:nvPr/>
        </p:nvPicPr>
        <p:blipFill>
          <a:blip r:embed="rId4"/>
          <a:stretch>
            <a:fillRect/>
          </a:stretch>
        </p:blipFill>
        <p:spPr>
          <a:xfrm>
            <a:off x="931774" y="3446374"/>
            <a:ext cx="285293" cy="285293"/>
          </a:xfrm>
          <a:prstGeom prst="rect">
            <a:avLst/>
          </a:prstGeom>
        </p:spPr>
      </p:pic>
      <p:sp>
        <p:nvSpPr>
          <p:cNvPr id="25" name="value number 4"/>
          <p:cNvSpPr txBox="1"/>
          <p:nvPr/>
        </p:nvSpPr>
        <p:spPr>
          <a:xfrm>
            <a:off x="150876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26" name="value text 4"/>
          <p:cNvSpPr txBox="1"/>
          <p:nvPr/>
        </p:nvSpPr>
        <p:spPr>
          <a:xfrm>
            <a:off x="150876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inconsistencies flagged in one real drawing set before tender</a:t>
            </a:r>
            <a:endParaRPr lang="en-US" sz="1250" dirty="0"/>
          </a:p>
        </p:txBody>
      </p:sp>
      <p:sp>
        <p:nvSpPr>
          <p:cNvPr id="27" name="value card 5"/>
          <p:cNvSpPr/>
          <p:nvPr/>
        </p:nvSpPr>
        <p:spPr>
          <a:xfrm>
            <a:off x="4297680" y="3063240"/>
            <a:ext cx="3566160" cy="1508760"/>
          </a:xfrm>
          <a:prstGeom prst="rect">
            <a:avLst/>
          </a:prstGeom>
          <a:solidFill>
            <a:schemeClr val="bg2"/>
          </a:solidFill>
          <a:ln w="9525">
            <a:solidFill>
              <a:srgbClr val="D8D3CB"/>
            </a:solidFill>
            <a:prstDash val="solid"/>
          </a:ln>
        </p:spPr>
      </p:sp>
      <p:sp>
        <p:nvSpPr>
          <p:cNvPr id="28" name="value 5 circle"/>
          <p:cNvSpPr/>
          <p:nvPr/>
        </p:nvSpPr>
        <p:spPr>
          <a:xfrm>
            <a:off x="4526280" y="3291840"/>
            <a:ext cx="594360" cy="594360"/>
          </a:xfrm>
          <a:prstGeom prst="ellipse">
            <a:avLst/>
          </a:prstGeom>
          <a:solidFill>
            <a:srgbClr val="8E1B1B"/>
          </a:solidFill>
          <a:ln w="12700">
            <a:solidFill>
              <a:srgbClr val="8E1B1B"/>
            </a:solidFill>
            <a:prstDash val="solid"/>
          </a:ln>
        </p:spPr>
      </p:sp>
      <p:pic>
        <p:nvPicPr>
          <p:cNvPr id="29" name="value 5 icon" descr="preencoded.png">    </p:cNvPr>
          <p:cNvPicPr>
            <a:picLocks noChangeAspect="1"/>
          </p:cNvPicPr>
          <p:nvPr/>
        </p:nvPicPr>
        <p:blipFill>
          <a:blip r:embed="rId5"/>
          <a:stretch>
            <a:fillRect/>
          </a:stretch>
        </p:blipFill>
        <p:spPr>
          <a:xfrm>
            <a:off x="4680814" y="3446374"/>
            <a:ext cx="285293" cy="285293"/>
          </a:xfrm>
          <a:prstGeom prst="rect">
            <a:avLst/>
          </a:prstGeom>
        </p:spPr>
      </p:pic>
      <p:sp>
        <p:nvSpPr>
          <p:cNvPr id="30" name="value number 5"/>
          <p:cNvSpPr txBox="1"/>
          <p:nvPr/>
        </p:nvSpPr>
        <p:spPr>
          <a:xfrm>
            <a:off x="525780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7</a:t>
            </a:r>
            <a:endParaRPr lang="en-US" sz="3000" dirty="0"/>
          </a:p>
        </p:txBody>
      </p:sp>
      <p:sp>
        <p:nvSpPr>
          <p:cNvPr id="31" name="value text 5"/>
          <p:cNvSpPr txBox="1"/>
          <p:nvPr/>
        </p:nvSpPr>
        <p:spPr>
          <a:xfrm>
            <a:off x="525780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places a priced bill differs from the drawings (bill audit)</a:t>
            </a:r>
            <a:endParaRPr lang="en-US" sz="1250" dirty="0"/>
          </a:p>
        </p:txBody>
      </p:sp>
      <p:sp>
        <p:nvSpPr>
          <p:cNvPr id="32" name="value card 6"/>
          <p:cNvSpPr/>
          <p:nvPr/>
        </p:nvSpPr>
        <p:spPr>
          <a:xfrm>
            <a:off x="8046720" y="3063240"/>
            <a:ext cx="3566160" cy="1508760"/>
          </a:xfrm>
          <a:prstGeom prst="rect">
            <a:avLst/>
          </a:prstGeom>
          <a:solidFill>
            <a:schemeClr val="bg2"/>
          </a:solidFill>
          <a:ln w="9525">
            <a:solidFill>
              <a:srgbClr val="D8D3CB"/>
            </a:solidFill>
            <a:prstDash val="solid"/>
          </a:ln>
        </p:spPr>
      </p:sp>
      <p:sp>
        <p:nvSpPr>
          <p:cNvPr id="33" name="value 6 circle"/>
          <p:cNvSpPr/>
          <p:nvPr/>
        </p:nvSpPr>
        <p:spPr>
          <a:xfrm>
            <a:off x="8275320" y="3291840"/>
            <a:ext cx="594360" cy="594360"/>
          </a:xfrm>
          <a:prstGeom prst="ellipse">
            <a:avLst/>
          </a:prstGeom>
          <a:solidFill>
            <a:srgbClr val="8E1B1B"/>
          </a:solidFill>
          <a:ln w="12700">
            <a:solidFill>
              <a:srgbClr val="8E1B1B"/>
            </a:solidFill>
            <a:prstDash val="solid"/>
          </a:ln>
        </p:spPr>
      </p:sp>
      <p:pic>
        <p:nvPicPr>
          <p:cNvPr id="34" name="value 6 icon" descr="preencoded.png">    </p:cNvPr>
          <p:cNvPicPr>
            <a:picLocks noChangeAspect="1"/>
          </p:cNvPicPr>
          <p:nvPr/>
        </p:nvPicPr>
        <p:blipFill>
          <a:blip r:embed="rId6"/>
          <a:stretch>
            <a:fillRect/>
          </a:stretch>
        </p:blipFill>
        <p:spPr>
          <a:xfrm>
            <a:off x="8429854" y="3446374"/>
            <a:ext cx="285293" cy="285293"/>
          </a:xfrm>
          <a:prstGeom prst="rect">
            <a:avLst/>
          </a:prstGeom>
        </p:spPr>
      </p:pic>
      <p:sp>
        <p:nvSpPr>
          <p:cNvPr id="35" name="value number 6"/>
          <p:cNvSpPr txBox="1"/>
          <p:nvPr/>
        </p:nvSpPr>
        <p:spPr>
          <a:xfrm>
            <a:off x="9006840" y="3200400"/>
            <a:ext cx="2514600" cy="64008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100 %</a:t>
            </a:r>
            <a:endParaRPr lang="en-US" sz="3000" dirty="0"/>
          </a:p>
        </p:txBody>
      </p:sp>
      <p:sp>
        <p:nvSpPr>
          <p:cNvPr id="36" name="value text 6"/>
          <p:cNvSpPr txBox="1"/>
          <p:nvPr/>
        </p:nvSpPr>
        <p:spPr>
          <a:xfrm>
            <a:off x="9006840" y="3840480"/>
            <a:ext cx="2514600" cy="658368"/>
          </a:xfrm>
          <a:prstGeom prst="rect">
            <a:avLst/>
          </a:prstGeom>
          <a:noFill/>
          <a:ln/>
        </p:spPr>
        <p:txBody>
          <a:bodyPr wrap="square" lIns="0" tIns="0" rIns="0" bIns="0" rtlCol="0" anchor="t"/>
          <a:lstStyle/>
          <a:p>
            <a:pPr indent="0" marL="0">
              <a:buNone/>
            </a:pPr>
            <a:r>
              <a:rPr lang="en-US" sz="1250" dirty="0">
                <a:solidFill>
                  <a:schemeClr val="tx2"/>
                </a:solidFill>
              </a:rPr>
              <a:t>of bill lines say where they come from</a:t>
            </a:r>
            <a:endParaRPr lang="en-US" sz="1250" dirty="0"/>
          </a:p>
        </p:txBody>
      </p:sp>
      <p:sp>
        <p:nvSpPr>
          <p:cNvPr id="37" name="use chip 1"/>
          <p:cNvSpPr/>
          <p:nvPr/>
        </p:nvSpPr>
        <p:spPr>
          <a:xfrm>
            <a:off x="548640" y="4846320"/>
            <a:ext cx="3566160" cy="566928"/>
          </a:xfrm>
          <a:prstGeom prst="roundRect">
            <a:avLst>
              <a:gd name="adj" fmla="val 50000"/>
            </a:avLst>
          </a:prstGeom>
          <a:solidFill>
            <a:schemeClr val="tx1"/>
          </a:solidFill>
          <a:ln w="12700">
            <a:solidFill>
              <a:schemeClr val="tx1"/>
            </a:solidFill>
            <a:prstDash val="solid"/>
          </a:ln>
        </p:spPr>
      </p:sp>
      <p:sp>
        <p:nvSpPr>
          <p:cNvPr id="38" name="use text 1"/>
          <p:cNvSpPr txBox="1"/>
          <p:nvPr/>
        </p:nvSpPr>
        <p:spPr>
          <a:xfrm>
            <a:off x="54864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Check your own drawing set before issue</a:t>
            </a:r>
            <a:endParaRPr lang="en-US" sz="1350" dirty="0"/>
          </a:p>
        </p:txBody>
      </p:sp>
      <p:sp>
        <p:nvSpPr>
          <p:cNvPr id="39" name="use chip 2"/>
          <p:cNvSpPr/>
          <p:nvPr/>
        </p:nvSpPr>
        <p:spPr>
          <a:xfrm>
            <a:off x="4297680" y="4846320"/>
            <a:ext cx="3566160" cy="566928"/>
          </a:xfrm>
          <a:prstGeom prst="roundRect">
            <a:avLst>
              <a:gd name="adj" fmla="val 50000"/>
            </a:avLst>
          </a:prstGeom>
          <a:solidFill>
            <a:schemeClr val="tx1"/>
          </a:solidFill>
          <a:ln w="12700">
            <a:solidFill>
              <a:schemeClr val="tx1"/>
            </a:solidFill>
            <a:prstDash val="solid"/>
          </a:ln>
        </p:spPr>
      </p:sp>
      <p:sp>
        <p:nvSpPr>
          <p:cNvPr id="40" name="use text 2"/>
          <p:cNvSpPr txBox="1"/>
          <p:nvPr/>
        </p:nvSpPr>
        <p:spPr>
          <a:xfrm>
            <a:off x="429768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Produce the tender BoQ from your drawings</a:t>
            </a:r>
            <a:endParaRPr lang="en-US" sz="1350" dirty="0"/>
          </a:p>
        </p:txBody>
      </p:sp>
      <p:sp>
        <p:nvSpPr>
          <p:cNvPr id="41" name="use chip 3"/>
          <p:cNvSpPr/>
          <p:nvPr/>
        </p:nvSpPr>
        <p:spPr>
          <a:xfrm>
            <a:off x="8046720" y="4846320"/>
            <a:ext cx="3566160" cy="566928"/>
          </a:xfrm>
          <a:prstGeom prst="roundRect">
            <a:avLst>
              <a:gd name="adj" fmla="val 50000"/>
            </a:avLst>
          </a:prstGeom>
          <a:solidFill>
            <a:schemeClr val="tx1"/>
          </a:solidFill>
          <a:ln w="12700">
            <a:solidFill>
              <a:schemeClr val="tx1"/>
            </a:solidFill>
            <a:prstDash val="solid"/>
          </a:ln>
        </p:spPr>
      </p:sp>
      <p:sp>
        <p:nvSpPr>
          <p:cNvPr id="42" name="use text 3"/>
          <p:cNvSpPr txBox="1"/>
          <p:nvPr/>
        </p:nvSpPr>
        <p:spPr>
          <a:xfrm>
            <a:off x="8046720" y="4846320"/>
            <a:ext cx="3566160" cy="566928"/>
          </a:xfrm>
          <a:prstGeom prst="rect">
            <a:avLst/>
          </a:prstGeom>
          <a:noFill/>
          <a:ln/>
        </p:spPr>
        <p:txBody>
          <a:bodyPr wrap="square" lIns="0" tIns="0" rIns="0" bIns="0" rtlCol="0" anchor="ctr"/>
          <a:lstStyle/>
          <a:p>
            <a:pPr algn="ctr" indent="0" marL="0">
              <a:buNone/>
            </a:pPr>
            <a:r>
              <a:rPr lang="en-US" sz="1350" b="1" dirty="0">
                <a:solidFill>
                  <a:schemeClr val="bg1"/>
                </a:solidFill>
              </a:rPr>
              <a:t>Audit contractors' priced bills</a:t>
            </a:r>
            <a:endParaRPr lang="en-US" sz="1350" dirty="0"/>
          </a:p>
        </p:txBody>
      </p:sp>
      <p:sp>
        <p:nvSpPr>
          <p:cNvPr id="43"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Measured on the Wedela reference project (7 buildings, 18 PDF pages, 17 CAD files), October 2026. AI cost per page as on the Upload slide.</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VALUE FOR CONSULTING ENGINEERS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What a faster first draft is worth — a worked example</a:t>
            </a:r>
            <a:endParaRPr lang="en-US" sz="2600" dirty="0"/>
          </a:p>
        </p:txBody>
      </p:sp>
      <p:sp>
        <p:nvSpPr>
          <p:cNvPr id="7" name="flow card 1"/>
          <p:cNvSpPr/>
          <p:nvPr/>
        </p:nvSpPr>
        <p:spPr>
          <a:xfrm>
            <a:off x="548640" y="1417320"/>
            <a:ext cx="2560320" cy="2057400"/>
          </a:xfrm>
          <a:prstGeom prst="rect">
            <a:avLst/>
          </a:prstGeom>
          <a:solidFill>
            <a:schemeClr val="bg1"/>
          </a:solidFill>
          <a:ln w="9525">
            <a:solidFill>
              <a:srgbClr val="D8D3CB"/>
            </a:solidFill>
            <a:prstDash val="solid"/>
          </a:ln>
        </p:spPr>
      </p:sp>
      <p:sp>
        <p:nvSpPr>
          <p:cNvPr id="8" name="flow label 1"/>
          <p:cNvSpPr txBox="1"/>
          <p:nvPr/>
        </p:nvSpPr>
        <p:spPr>
          <a:xfrm>
            <a:off x="73152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Example tender</a:t>
            </a:r>
            <a:endParaRPr lang="en-US" sz="1400" dirty="0"/>
          </a:p>
        </p:txBody>
      </p:sp>
      <p:sp>
        <p:nvSpPr>
          <p:cNvPr id="9" name="flow value 1"/>
          <p:cNvSpPr txBox="1"/>
          <p:nvPr/>
        </p:nvSpPr>
        <p:spPr>
          <a:xfrm>
            <a:off x="73152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R10 m</a:t>
            </a:r>
            <a:endParaRPr lang="en-US" sz="3000" dirty="0"/>
          </a:p>
        </p:txBody>
      </p:sp>
      <p:sp>
        <p:nvSpPr>
          <p:cNvPr id="10" name="flow text 1"/>
          <p:cNvSpPr txBox="1"/>
          <p:nvPr/>
        </p:nvSpPr>
        <p:spPr>
          <a:xfrm>
            <a:off x="73152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electrical package</a:t>
            </a:r>
            <a:endParaRPr lang="en-US" sz="1250" dirty="0"/>
          </a:p>
        </p:txBody>
      </p:sp>
      <p:sp>
        <p:nvSpPr>
          <p:cNvPr id="11" name="Shape 8"/>
          <p:cNvSpPr/>
          <p:nvPr/>
        </p:nvSpPr>
        <p:spPr>
          <a:xfrm>
            <a:off x="3127248" y="2441448"/>
            <a:ext cx="237744" cy="0"/>
          </a:xfrm>
          <a:prstGeom prst="line">
            <a:avLst/>
          </a:prstGeom>
          <a:noFill/>
          <a:ln w="25400">
            <a:solidFill>
              <a:srgbClr val="8B8781"/>
            </a:solidFill>
            <a:prstDash val="solid"/>
            <a:tailEnd type="triangle"/>
          </a:ln>
        </p:spPr>
      </p:sp>
      <p:sp>
        <p:nvSpPr>
          <p:cNvPr id="12" name="flow card 2"/>
          <p:cNvSpPr/>
          <p:nvPr/>
        </p:nvSpPr>
        <p:spPr>
          <a:xfrm>
            <a:off x="3383280" y="1417320"/>
            <a:ext cx="2560320" cy="2057400"/>
          </a:xfrm>
          <a:prstGeom prst="rect">
            <a:avLst/>
          </a:prstGeom>
          <a:solidFill>
            <a:schemeClr val="bg1"/>
          </a:solidFill>
          <a:ln w="9525">
            <a:solidFill>
              <a:srgbClr val="D8D3CB"/>
            </a:solidFill>
            <a:prstDash val="solid"/>
          </a:ln>
        </p:spPr>
      </p:sp>
      <p:sp>
        <p:nvSpPr>
          <p:cNvPr id="13" name="flow label 2"/>
          <p:cNvSpPr txBox="1"/>
          <p:nvPr/>
        </p:nvSpPr>
        <p:spPr>
          <a:xfrm>
            <a:off x="356616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Preparation cost</a:t>
            </a:r>
            <a:endParaRPr lang="en-US" sz="1400" dirty="0"/>
          </a:p>
        </p:txBody>
      </p:sp>
      <p:sp>
        <p:nvSpPr>
          <p:cNvPr id="14" name="flow value 2"/>
          <p:cNvSpPr txBox="1"/>
          <p:nvPr/>
        </p:nvSpPr>
        <p:spPr>
          <a:xfrm>
            <a:off x="356616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R33 000</a:t>
            </a:r>
            <a:endParaRPr lang="en-US" sz="3000" dirty="0"/>
          </a:p>
        </p:txBody>
      </p:sp>
      <p:sp>
        <p:nvSpPr>
          <p:cNvPr id="15" name="flow text 2"/>
          <p:cNvSpPr txBox="1"/>
          <p:nvPr/>
        </p:nvSpPr>
        <p:spPr>
          <a:xfrm>
            <a:off x="356616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0.33 % of value — research average</a:t>
            </a:r>
            <a:endParaRPr lang="en-US" sz="1250" dirty="0"/>
          </a:p>
        </p:txBody>
      </p:sp>
      <p:sp>
        <p:nvSpPr>
          <p:cNvPr id="16" name="Shape 13"/>
          <p:cNvSpPr/>
          <p:nvPr/>
        </p:nvSpPr>
        <p:spPr>
          <a:xfrm>
            <a:off x="5961888" y="2441448"/>
            <a:ext cx="237744" cy="0"/>
          </a:xfrm>
          <a:prstGeom prst="line">
            <a:avLst/>
          </a:prstGeom>
          <a:noFill/>
          <a:ln w="25400">
            <a:solidFill>
              <a:srgbClr val="8B8781"/>
            </a:solidFill>
            <a:prstDash val="solid"/>
            <a:tailEnd type="triangle"/>
          </a:ln>
        </p:spPr>
      </p:sp>
      <p:sp>
        <p:nvSpPr>
          <p:cNvPr id="17" name="flow card 3"/>
          <p:cNvSpPr/>
          <p:nvPr/>
        </p:nvSpPr>
        <p:spPr>
          <a:xfrm>
            <a:off x="6217920" y="1417320"/>
            <a:ext cx="2560320" cy="2057400"/>
          </a:xfrm>
          <a:prstGeom prst="rect">
            <a:avLst/>
          </a:prstGeom>
          <a:solidFill>
            <a:schemeClr val="bg1"/>
          </a:solidFill>
          <a:ln w="9525">
            <a:solidFill>
              <a:srgbClr val="D8D3CB"/>
            </a:solidFill>
            <a:prstDash val="solid"/>
          </a:ln>
        </p:spPr>
      </p:sp>
      <p:sp>
        <p:nvSpPr>
          <p:cNvPr id="18" name="flow label 3"/>
          <p:cNvSpPr txBox="1"/>
          <p:nvPr/>
        </p:nvSpPr>
        <p:spPr>
          <a:xfrm>
            <a:off x="640080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Each 10 % of effort saved</a:t>
            </a:r>
            <a:endParaRPr lang="en-US" sz="1400" dirty="0"/>
          </a:p>
        </p:txBody>
      </p:sp>
      <p:sp>
        <p:nvSpPr>
          <p:cNvPr id="19" name="flow value 3"/>
          <p:cNvSpPr txBox="1"/>
          <p:nvPr/>
        </p:nvSpPr>
        <p:spPr>
          <a:xfrm>
            <a:off x="640080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R3 300</a:t>
            </a:r>
            <a:endParaRPr lang="en-US" sz="3000" dirty="0"/>
          </a:p>
        </p:txBody>
      </p:sp>
      <p:sp>
        <p:nvSpPr>
          <p:cNvPr id="20" name="flow text 3"/>
          <p:cNvSpPr txBox="1"/>
          <p:nvPr/>
        </p:nvSpPr>
        <p:spPr>
          <a:xfrm>
            <a:off x="640080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per tender</a:t>
            </a:r>
            <a:endParaRPr lang="en-US" sz="1250" dirty="0"/>
          </a:p>
        </p:txBody>
      </p:sp>
      <p:sp>
        <p:nvSpPr>
          <p:cNvPr id="21" name="Shape 18"/>
          <p:cNvSpPr/>
          <p:nvPr/>
        </p:nvSpPr>
        <p:spPr>
          <a:xfrm>
            <a:off x="8796528" y="2441448"/>
            <a:ext cx="237744" cy="0"/>
          </a:xfrm>
          <a:prstGeom prst="line">
            <a:avLst/>
          </a:prstGeom>
          <a:noFill/>
          <a:ln w="25400">
            <a:solidFill>
              <a:srgbClr val="8B8781"/>
            </a:solidFill>
            <a:prstDash val="solid"/>
            <a:tailEnd type="triangle"/>
          </a:ln>
        </p:spPr>
      </p:sp>
      <p:sp>
        <p:nvSpPr>
          <p:cNvPr id="22" name="flow card 4"/>
          <p:cNvSpPr/>
          <p:nvPr/>
        </p:nvSpPr>
        <p:spPr>
          <a:xfrm>
            <a:off x="9052560" y="1417320"/>
            <a:ext cx="2560320" cy="2057400"/>
          </a:xfrm>
          <a:prstGeom prst="rect">
            <a:avLst/>
          </a:prstGeom>
          <a:solidFill>
            <a:schemeClr val="bg2"/>
          </a:solidFill>
          <a:ln w="9525">
            <a:solidFill>
              <a:srgbClr val="D8D3CB"/>
            </a:solidFill>
            <a:prstDash val="solid"/>
          </a:ln>
        </p:spPr>
      </p:sp>
      <p:sp>
        <p:nvSpPr>
          <p:cNvPr id="23" name="flow label 4"/>
          <p:cNvSpPr txBox="1"/>
          <p:nvPr/>
        </p:nvSpPr>
        <p:spPr>
          <a:xfrm>
            <a:off x="9235440" y="1554480"/>
            <a:ext cx="2194560" cy="365760"/>
          </a:xfrm>
          <a:prstGeom prst="rect">
            <a:avLst/>
          </a:prstGeom>
          <a:noFill/>
          <a:ln/>
        </p:spPr>
        <p:txBody>
          <a:bodyPr wrap="square" lIns="0" tIns="0" rIns="0" bIns="0" rtlCol="0" anchor="t"/>
          <a:lstStyle/>
          <a:p>
            <a:pPr indent="0" marL="0">
              <a:buNone/>
            </a:pPr>
            <a:r>
              <a:rPr lang="en-US" sz="1400" b="1" dirty="0">
                <a:solidFill>
                  <a:schemeClr val="tx2"/>
                </a:solidFill>
              </a:rPr>
              <a:t>4 tenders a month</a:t>
            </a:r>
            <a:endParaRPr lang="en-US" sz="1400" dirty="0"/>
          </a:p>
        </p:txBody>
      </p:sp>
      <p:sp>
        <p:nvSpPr>
          <p:cNvPr id="24" name="flow value 4"/>
          <p:cNvSpPr txBox="1"/>
          <p:nvPr/>
        </p:nvSpPr>
        <p:spPr>
          <a:xfrm>
            <a:off x="9235440" y="2011680"/>
            <a:ext cx="2240280" cy="685800"/>
          </a:xfrm>
          <a:prstGeom prst="rect">
            <a:avLst/>
          </a:prstGeom>
          <a:noFill/>
          <a:ln/>
        </p:spPr>
        <p:txBody>
          <a:bodyPr wrap="square" lIns="0" tIns="0" rIns="0" bIns="0" rtlCol="0" anchor="t"/>
          <a:lstStyle/>
          <a:p>
            <a:pPr indent="0" marL="0">
              <a:buNone/>
            </a:pPr>
            <a:r>
              <a:rPr lang="en-US" sz="3000" b="1" dirty="0">
                <a:solidFill>
                  <a:schemeClr val="accent1"/>
                </a:solidFill>
                <a:latin typeface="Arial" pitchFamily="34" charset="0"/>
                <a:ea typeface="Arial" pitchFamily="34" charset="-122"/>
                <a:cs typeface="Arial" pitchFamily="34" charset="-120"/>
              </a:rPr>
              <a:t>≈ R13 200</a:t>
            </a:r>
            <a:endParaRPr lang="en-US" sz="3000" dirty="0"/>
          </a:p>
        </p:txBody>
      </p:sp>
      <p:sp>
        <p:nvSpPr>
          <p:cNvPr id="25" name="flow text 4"/>
          <p:cNvSpPr txBox="1"/>
          <p:nvPr/>
        </p:nvSpPr>
        <p:spPr>
          <a:xfrm>
            <a:off x="9235440" y="2743200"/>
            <a:ext cx="2240280" cy="594360"/>
          </a:xfrm>
          <a:prstGeom prst="rect">
            <a:avLst/>
          </a:prstGeom>
          <a:noFill/>
          <a:ln/>
        </p:spPr>
        <p:txBody>
          <a:bodyPr wrap="square" lIns="0" tIns="0" rIns="0" bIns="0" rtlCol="0" anchor="t"/>
          <a:lstStyle/>
          <a:p>
            <a:pPr indent="0" marL="0">
              <a:buNone/>
            </a:pPr>
            <a:r>
              <a:rPr lang="en-US" sz="1250" dirty="0">
                <a:solidFill>
                  <a:schemeClr val="tx2"/>
                </a:solidFill>
              </a:rPr>
              <a:t>a month, per 10 % saved</a:t>
            </a:r>
            <a:endParaRPr lang="en-US" sz="1250" dirty="0"/>
          </a:p>
        </p:txBody>
      </p:sp>
      <p:sp>
        <p:nvSpPr>
          <p:cNvPr id="26" name="compare card 1"/>
          <p:cNvSpPr/>
          <p:nvPr/>
        </p:nvSpPr>
        <p:spPr>
          <a:xfrm>
            <a:off x="548640" y="3703320"/>
            <a:ext cx="11064240" cy="731520"/>
          </a:xfrm>
          <a:prstGeom prst="rect">
            <a:avLst/>
          </a:prstGeom>
          <a:solidFill>
            <a:schemeClr val="bg2"/>
          </a:solidFill>
          <a:ln w="9525">
            <a:solidFill>
              <a:srgbClr val="D8D3CB"/>
            </a:solidFill>
            <a:prstDash val="solid"/>
          </a:ln>
        </p:spPr>
      </p:sp>
      <p:sp>
        <p:nvSpPr>
          <p:cNvPr id="27" name="compare 1 circle"/>
          <p:cNvSpPr/>
          <p:nvPr/>
        </p:nvSpPr>
        <p:spPr>
          <a:xfrm>
            <a:off x="713232" y="3794760"/>
            <a:ext cx="548640" cy="548640"/>
          </a:xfrm>
          <a:prstGeom prst="ellipse">
            <a:avLst/>
          </a:prstGeom>
          <a:solidFill>
            <a:srgbClr val="3F7D58"/>
          </a:solidFill>
          <a:ln w="12700">
            <a:solidFill>
              <a:srgbClr val="3F7D58"/>
            </a:solidFill>
            <a:prstDash val="solid"/>
          </a:ln>
        </p:spPr>
      </p:sp>
      <p:pic>
        <p:nvPicPr>
          <p:cNvPr id="28" name="compare 1 icon" descr="preencoded.png">    </p:cNvPr>
          <p:cNvPicPr>
            <a:picLocks noChangeAspect="1"/>
          </p:cNvPicPr>
          <p:nvPr/>
        </p:nvPicPr>
        <p:blipFill>
          <a:blip r:embed="rId1"/>
          <a:stretch>
            <a:fillRect/>
          </a:stretch>
        </p:blipFill>
        <p:spPr>
          <a:xfrm>
            <a:off x="855878" y="3937406"/>
            <a:ext cx="263347" cy="263347"/>
          </a:xfrm>
          <a:prstGeom prst="rect">
            <a:avLst/>
          </a:prstGeom>
        </p:spPr>
      </p:pic>
      <p:sp>
        <p:nvSpPr>
          <p:cNvPr id="29" name="compare text 1"/>
          <p:cNvSpPr txBox="1"/>
          <p:nvPr/>
        </p:nvSpPr>
        <p:spPr>
          <a:xfrm>
            <a:off x="1463040" y="374904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AfriPlan on this tender:  </a:t>
            </a:r>
            <a:pPr indent="0" marL="0">
              <a:buNone/>
            </a:pPr>
            <a:r>
              <a:rPr lang="en-US" sz="1450" dirty="0">
                <a:solidFill>
                  <a:schemeClr val="tx1"/>
                </a:solidFill>
              </a:rPr>
              <a:t>≈ R45 to read 18 PDF pages with the paid AI model · R0 for DWG/DXF or the free model</a:t>
            </a:r>
            <a:endParaRPr lang="en-US" sz="1450" dirty="0"/>
          </a:p>
        </p:txBody>
      </p:sp>
      <p:sp>
        <p:nvSpPr>
          <p:cNvPr id="30" name="compare card 2"/>
          <p:cNvSpPr/>
          <p:nvPr/>
        </p:nvSpPr>
        <p:spPr>
          <a:xfrm>
            <a:off x="548640" y="4572000"/>
            <a:ext cx="11064240" cy="731520"/>
          </a:xfrm>
          <a:prstGeom prst="rect">
            <a:avLst/>
          </a:prstGeom>
          <a:solidFill>
            <a:schemeClr val="bg1"/>
          </a:solidFill>
          <a:ln w="9525">
            <a:solidFill>
              <a:srgbClr val="D8D3CB"/>
            </a:solidFill>
            <a:prstDash val="solid"/>
          </a:ln>
        </p:spPr>
      </p:sp>
      <p:sp>
        <p:nvSpPr>
          <p:cNvPr id="31" name="compare 2 circle"/>
          <p:cNvSpPr/>
          <p:nvPr/>
        </p:nvSpPr>
        <p:spPr>
          <a:xfrm>
            <a:off x="713232" y="4663440"/>
            <a:ext cx="548640" cy="548640"/>
          </a:xfrm>
          <a:prstGeom prst="ellipse">
            <a:avLst/>
          </a:prstGeom>
          <a:solidFill>
            <a:srgbClr val="8B8781"/>
          </a:solidFill>
          <a:ln w="12700">
            <a:solidFill>
              <a:srgbClr val="8B8781"/>
            </a:solidFill>
            <a:prstDash val="solid"/>
          </a:ln>
        </p:spPr>
      </p:sp>
      <p:pic>
        <p:nvPicPr>
          <p:cNvPr id="32" name="compare 2 icon" descr="preencoded.png">    </p:cNvPr>
          <p:cNvPicPr>
            <a:picLocks noChangeAspect="1"/>
          </p:cNvPicPr>
          <p:nvPr/>
        </p:nvPicPr>
        <p:blipFill>
          <a:blip r:embed="rId2"/>
          <a:stretch>
            <a:fillRect/>
          </a:stretch>
        </p:blipFill>
        <p:spPr>
          <a:xfrm>
            <a:off x="855878" y="4806086"/>
            <a:ext cx="263347" cy="263347"/>
          </a:xfrm>
          <a:prstGeom prst="rect">
            <a:avLst/>
          </a:prstGeom>
        </p:spPr>
      </p:pic>
      <p:sp>
        <p:nvSpPr>
          <p:cNvPr id="33" name="compare text 2"/>
          <p:cNvSpPr txBox="1"/>
          <p:nvPr/>
        </p:nvSpPr>
        <p:spPr>
          <a:xfrm>
            <a:off x="1463040" y="4617720"/>
            <a:ext cx="9966960" cy="640080"/>
          </a:xfrm>
          <a:prstGeom prst="rect">
            <a:avLst/>
          </a:prstGeom>
          <a:noFill/>
          <a:ln/>
        </p:spPr>
        <p:txBody>
          <a:bodyPr wrap="square" lIns="0" tIns="0" rIns="0" bIns="0" rtlCol="0" anchor="ctr"/>
          <a:lstStyle/>
          <a:p>
            <a:pPr indent="0" marL="0">
              <a:buNone/>
            </a:pPr>
            <a:r>
              <a:rPr lang="en-US" sz="1450" b="1" dirty="0">
                <a:solidFill>
                  <a:schemeClr val="tx1"/>
                </a:solidFill>
              </a:rPr>
              <a:t>Take-off software today:  </a:t>
            </a:r>
            <a:pPr indent="0" marL="0">
              <a:buNone/>
            </a:pPr>
            <a:r>
              <a:rPr lang="en-US" sz="1450" dirty="0">
                <a:solidFill>
                  <a:schemeClr val="tx1"/>
                </a:solidFill>
              </a:rPr>
              <a:t>PDF take-off software ≈ R4 650–10 560 per user a year · AI take-off software ≈ R5 350 per user a month</a:t>
            </a:r>
            <a:endParaRPr lang="en-US" sz="1450" dirty="0"/>
          </a:p>
        </p:txBody>
      </p:sp>
      <p:sp>
        <p:nvSpPr>
          <p:cNvPr id="34" name="worked example 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1"/>
                </a:solidFill>
              </a:rPr>
              <a:t>Illustration — replace the tender value, tenders per month and share of time saved with your own figures.</a:t>
            </a:r>
            <a:endParaRPr lang="en-US" sz="1400" dirty="0"/>
          </a:p>
        </p:txBody>
      </p:sp>
      <p:sp>
        <p:nvSpPr>
          <p:cNvPr id="35" name="source"/>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950" dirty="0">
                <a:solidFill>
                  <a:schemeClr val="accent6"/>
                </a:solidFill>
              </a:rPr>
              <a:t>Tender cost: Ameyaw, Abaitey &amp; Mensah (2021), 14 public tenders, Ghana — small sample. Software prices from two vendors' price pages, 5 Oct 2026, at R17.9 / USD. No study measures SA electrical take-off hours.</a:t>
            </a:r>
            <a:endParaRPr lang="en-US" sz="95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2"/>
                </a:solidFill>
                <a:latin typeface="Consolas" pitchFamily="34" charset="0"/>
                <a:ea typeface="Consolas" pitchFamily="34" charset="-122"/>
                <a:cs typeface="Consolas" pitchFamily="34" charset="-120"/>
              </a:rPr>
              <a:t>CONCLUSION</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3000" b="1" dirty="0">
                <a:solidFill>
                  <a:schemeClr val="bg2"/>
                </a:solidFill>
              </a:rPr>
              <a:t>Conclusion: what to remember</a:t>
            </a:r>
            <a:endParaRPr lang="en-US" sz="3000" dirty="0"/>
          </a:p>
        </p:txBody>
      </p:sp>
      <p:sp>
        <p:nvSpPr>
          <p:cNvPr id="7" name="takeaway card 1"/>
          <p:cNvSpPr/>
          <p:nvPr/>
        </p:nvSpPr>
        <p:spPr>
          <a:xfrm>
            <a:off x="548640" y="1600200"/>
            <a:ext cx="5440680" cy="1828800"/>
          </a:xfrm>
          <a:prstGeom prst="roundRect">
            <a:avLst>
              <a:gd name="adj" fmla="val 6000"/>
            </a:avLst>
          </a:prstGeom>
          <a:solidFill>
            <a:schemeClr val="tx2"/>
          </a:solidFill>
          <a:ln w="12700">
            <a:solidFill>
              <a:srgbClr val="2C2D33"/>
            </a:solidFill>
            <a:prstDash val="solid"/>
          </a:ln>
        </p:spPr>
      </p:sp>
      <p:sp>
        <p:nvSpPr>
          <p:cNvPr id="8" name="takeaway 1 circle"/>
          <p:cNvSpPr/>
          <p:nvPr/>
        </p:nvSpPr>
        <p:spPr>
          <a:xfrm>
            <a:off x="822960" y="1920240"/>
            <a:ext cx="777240" cy="777240"/>
          </a:xfrm>
          <a:prstGeom prst="ellipse">
            <a:avLst/>
          </a:prstGeom>
          <a:solidFill>
            <a:srgbClr val="C9A15A"/>
          </a:solidFill>
          <a:ln w="12700">
            <a:solidFill>
              <a:srgbClr val="C9A15A"/>
            </a:solidFill>
            <a:prstDash val="solid"/>
          </a:ln>
        </p:spPr>
      </p:sp>
      <p:pic>
        <p:nvPicPr>
          <p:cNvPr id="9"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10"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Reads the core reliably</a:t>
            </a:r>
            <a:endParaRPr lang="en-US" sz="1900" dirty="0"/>
          </a:p>
        </p:txBody>
      </p:sp>
      <p:sp>
        <p:nvSpPr>
          <p:cNvPr id="11"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board and feeder size on the single-line diagrams — a person confirmed 19 of 19 checked items</a:t>
            </a:r>
            <a:endParaRPr lang="en-US" sz="1400" dirty="0"/>
          </a:p>
        </p:txBody>
      </p:sp>
      <p:sp>
        <p:nvSpPr>
          <p:cNvPr id="12" name="takeaway card 2"/>
          <p:cNvSpPr/>
          <p:nvPr/>
        </p:nvSpPr>
        <p:spPr>
          <a:xfrm>
            <a:off x="6172200" y="1600200"/>
            <a:ext cx="5440680" cy="1828800"/>
          </a:xfrm>
          <a:prstGeom prst="roundRect">
            <a:avLst>
              <a:gd name="adj" fmla="val 6000"/>
            </a:avLst>
          </a:prstGeom>
          <a:solidFill>
            <a:schemeClr val="tx2"/>
          </a:solidFill>
          <a:ln w="12700">
            <a:solidFill>
              <a:srgbClr val="2C2D33"/>
            </a:solidFill>
            <a:prstDash val="solid"/>
          </a:ln>
        </p:spPr>
      </p:sp>
      <p:sp>
        <p:nvSpPr>
          <p:cNvPr id="13" name="takeaway 2 circle"/>
          <p:cNvSpPr/>
          <p:nvPr/>
        </p:nvSpPr>
        <p:spPr>
          <a:xfrm>
            <a:off x="6446520" y="1920240"/>
            <a:ext cx="777240" cy="777240"/>
          </a:xfrm>
          <a:prstGeom prst="ellipse">
            <a:avLst/>
          </a:prstGeom>
          <a:solidFill>
            <a:srgbClr val="C9A15A"/>
          </a:solidFill>
          <a:ln w="12700">
            <a:solidFill>
              <a:srgbClr val="C9A15A"/>
            </a:solidFill>
            <a:prstDash val="solid"/>
          </a:ln>
        </p:spPr>
      </p:sp>
      <p:pic>
        <p:nvPicPr>
          <p:cNvPr id="14"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5"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67.5 % reading score today</a:t>
            </a:r>
            <a:endParaRPr lang="en-US" sz="1900" dirty="0"/>
          </a:p>
        </p:txBody>
      </p:sp>
      <p:sp>
        <p:nvSpPr>
          <p:cNvPr id="16"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B9B6B0"/>
                </a:solidFill>
              </a:rPr>
              <a:t>against a real bill that itself differs from the drawings in places</a:t>
            </a:r>
            <a:endParaRPr lang="en-US" sz="1400" dirty="0"/>
          </a:p>
        </p:txBody>
      </p:sp>
      <p:sp>
        <p:nvSpPr>
          <p:cNvPr id="17" name="takeaway card 3"/>
          <p:cNvSpPr/>
          <p:nvPr/>
        </p:nvSpPr>
        <p:spPr>
          <a:xfrm>
            <a:off x="548640" y="3703320"/>
            <a:ext cx="5440680" cy="1828800"/>
          </a:xfrm>
          <a:prstGeom prst="roundRect">
            <a:avLst>
              <a:gd name="adj" fmla="val 6000"/>
            </a:avLst>
          </a:prstGeom>
          <a:solidFill>
            <a:schemeClr val="tx2"/>
          </a:solidFill>
          <a:ln w="12700">
            <a:solidFill>
              <a:srgbClr val="2C2D33"/>
            </a:solidFill>
            <a:prstDash val="solid"/>
          </a:ln>
        </p:spPr>
      </p:sp>
      <p:sp>
        <p:nvSpPr>
          <p:cNvPr id="18" name="takeaway 3 circle"/>
          <p:cNvSpPr/>
          <p:nvPr/>
        </p:nvSpPr>
        <p:spPr>
          <a:xfrm>
            <a:off x="822960" y="4023360"/>
            <a:ext cx="777240" cy="777240"/>
          </a:xfrm>
          <a:prstGeom prst="ellipse">
            <a:avLst/>
          </a:prstGeom>
          <a:solidFill>
            <a:srgbClr val="C9A15A"/>
          </a:solidFill>
          <a:ln w="12700">
            <a:solidFill>
              <a:srgbClr val="C9A15A"/>
            </a:solidFill>
            <a:prstDash val="solid"/>
          </a:ln>
        </p:spPr>
      </p:sp>
      <p:pic>
        <p:nvPicPr>
          <p:cNvPr id="19"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20"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21"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every line says where it comes from — start with “Guessed – check” and MUST FIX</a:t>
            </a:r>
            <a:endParaRPr lang="en-US" sz="1400" dirty="0"/>
          </a:p>
        </p:txBody>
      </p:sp>
      <p:sp>
        <p:nvSpPr>
          <p:cNvPr id="22" name="takeaway card 4"/>
          <p:cNvSpPr/>
          <p:nvPr/>
        </p:nvSpPr>
        <p:spPr>
          <a:xfrm>
            <a:off x="6172200" y="3703320"/>
            <a:ext cx="5440680" cy="1828800"/>
          </a:xfrm>
          <a:prstGeom prst="roundRect">
            <a:avLst>
              <a:gd name="adj" fmla="val 6000"/>
            </a:avLst>
          </a:prstGeom>
          <a:solidFill>
            <a:schemeClr val="tx2"/>
          </a:solidFill>
          <a:ln w="12700">
            <a:solidFill>
              <a:srgbClr val="2C2D33"/>
            </a:solidFill>
            <a:prstDash val="solid"/>
          </a:ln>
        </p:spPr>
      </p:sp>
      <p:sp>
        <p:nvSpPr>
          <p:cNvPr id="23" name="takeaway 4 circle"/>
          <p:cNvSpPr/>
          <p:nvPr/>
        </p:nvSpPr>
        <p:spPr>
          <a:xfrm>
            <a:off x="6446520" y="4023360"/>
            <a:ext cx="777240" cy="777240"/>
          </a:xfrm>
          <a:prstGeom prst="ellipse">
            <a:avLst/>
          </a:prstGeom>
          <a:solidFill>
            <a:srgbClr val="C9A15A"/>
          </a:solidFill>
          <a:ln w="12700">
            <a:solidFill>
              <a:srgbClr val="C9A15A"/>
            </a:solidFill>
            <a:prstDash val="solid"/>
          </a:ln>
        </p:spPr>
      </p:sp>
      <p:pic>
        <p:nvPicPr>
          <p:cNvPr id="24"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5"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rules, then more data</a:t>
            </a:r>
            <a:endParaRPr lang="en-US" sz="1900" dirty="0"/>
          </a:p>
        </p:txBody>
      </p:sp>
      <p:sp>
        <p:nvSpPr>
          <p:cNvPr id="26"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B9B6B0"/>
                </a:solidFill>
              </a:rPr>
              <a:t>fix the reader gaps with an electrical engineer, then 5 real projects from 3+ firms, then pricing</a:t>
            </a:r>
            <a:endParaRPr lang="en-US" sz="1400" dirty="0"/>
          </a:p>
        </p:txBody>
      </p:sp>
      <p:sp>
        <p:nvSpPr>
          <p:cNvPr id="27"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Try it: https://afriplan.onrender.com</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wedge slant"/>
          <p:cNvSpPr/>
          <p:nvPr/>
        </p:nvSpPr>
        <p:spPr>
          <a:xfrm flipH="1">
            <a:off x="10195560" y="0"/>
            <a:ext cx="548640" cy="1005840"/>
          </a:xfrm>
          <a:prstGeom prst="rtTriangle">
            <a:avLst/>
          </a:prstGeom>
          <a:solidFill>
            <a:srgbClr val="8E1B1B"/>
          </a:solidFill>
          <a:ln w="12700">
            <a:solidFill>
              <a:srgbClr val="8E1B1B"/>
            </a:solidFill>
            <a:prstDash val="solid"/>
          </a:ln>
        </p:spPr>
      </p:sp>
      <p:sp>
        <p:nvSpPr>
          <p:cNvPr id="3" name="wedge"/>
          <p:cNvSpPr/>
          <p:nvPr/>
        </p:nvSpPr>
        <p:spPr>
          <a:xfrm>
            <a:off x="10744200" y="0"/>
            <a:ext cx="1447495" cy="1005840"/>
          </a:xfrm>
          <a:prstGeom prst="rect">
            <a:avLst/>
          </a:prstGeom>
          <a:solidFill>
            <a:srgbClr val="8E1B1B"/>
          </a:solidFill>
          <a:ln w="12700">
            <a:solidFill>
              <a:srgbClr val="8E1B1B"/>
            </a:solidFill>
            <a:prstDash val="solid"/>
          </a:ln>
        </p:spPr>
      </p:sp>
      <p:sp>
        <p:nvSpPr>
          <p:cNvPr id="4" name="kicker"/>
          <p:cNvSpPr txBox="1"/>
          <p:nvPr/>
        </p:nvSpPr>
        <p:spPr>
          <a:xfrm>
            <a:off x="548640" y="292608"/>
            <a:ext cx="8686800" cy="228600"/>
          </a:xfrm>
          <a:prstGeom prst="rect">
            <a:avLst/>
          </a:prstGeom>
          <a:noFill/>
          <a:ln/>
        </p:spPr>
        <p:txBody>
          <a:bodyPr wrap="square" lIns="0" tIns="0" rIns="0" bIns="0" rtlCol="0" anchor="ctr"/>
          <a:lstStyle/>
          <a:p>
            <a:pPr indent="0" marL="0">
              <a:buNone/>
            </a:pPr>
            <a:r>
              <a:rPr lang="en-US" sz="950" spc="300" kern="0" dirty="0">
                <a:solidFill>
                  <a:schemeClr val="accent1"/>
                </a:solidFill>
                <a:latin typeface="Consolas" pitchFamily="34" charset="0"/>
                <a:ea typeface="Consolas" pitchFamily="34" charset="-122"/>
                <a:cs typeface="Consolas" pitchFamily="34" charset="-120"/>
              </a:rPr>
              <a:t>REFERENCES</a:t>
            </a:r>
            <a:endParaRPr lang="en-US" sz="950" dirty="0"/>
          </a:p>
        </p:txBody>
      </p:sp>
      <p:sp>
        <p:nvSpPr>
          <p:cNvPr id="5" name="Text 0"/>
          <p:cNvSpPr/>
          <p:nvPr>
            <p:ph idx="100" type="title" hasCustomPrompt="1"/>
          </p:nvPr>
        </p:nvSpPr>
        <p:spPr>
          <a:xfrm>
            <a:off x="548640" y="566928"/>
            <a:ext cx="9509760" cy="777240"/>
          </a:xfrm>
          <a:prstGeom prst="rect">
            <a:avLst/>
          </a:prstGeom>
          <a:noFill/>
          <a:ln/>
        </p:spPr>
        <p:txBody>
          <a:bodyPr wrap="square" lIns="0" tIns="0" rIns="0" bIns="0" rtlCol="0" anchor="ctr"/>
          <a:lstStyle/>
          <a:p>
            <a:pPr algn="l" indent="0" marL="0">
              <a:buNone/>
            </a:pPr>
            <a:r>
              <a:rPr lang="en-US" sz="2600" b="1" dirty="0">
                <a:solidFill>
                  <a:schemeClr val="tx1"/>
                </a:solidFill>
              </a:rPr>
              <a:t>References</a:t>
            </a:r>
            <a:endParaRPr lang="en-US" sz="2600" dirty="0"/>
          </a:p>
        </p:txBody>
      </p:sp>
      <p:sp>
        <p:nvSpPr>
          <p:cNvPr id="7"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8"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a:t>
            </a:r>
            <a:endParaRPr lang="en-US" sz="1000" dirty="0"/>
          </a:p>
        </p:txBody>
      </p:sp>
      <p:sp>
        <p:nvSpPr>
          <p:cNvPr id="25" name="Slide Number Placeholder 0"/>
          <p:cNvSpPr>
            <a:spLocks noGrp="1"/>
          </p:cNvSpPr>
          <p:nvPr>
            <p:ph type="sldNum" sz="quarter" idx="4294967295"/>
          </p:nvPr>
        </p:nvSpPr>
        <p:spPr>
          <a:xfrm>
            <a:off x="11155680" y="6446520"/>
            <a:ext cx="48463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1"/>
                </a:solidFill>
                <a:latin typeface="Consolas"/>
                <a:ea typeface="Consolas"/>
                <a:cs typeface="Consolas"/>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4151A"/>
      </a:dk1>
      <a:lt1>
        <a:srgbClr val="F5F3EF"/>
      </a:lt1>
      <a:dk2>
        <a:srgbClr val="2C2D33"/>
      </a:dk2>
      <a:lt2>
        <a:srgbClr val="FFFFFF"/>
      </a:lt2>
      <a:accent1>
        <a:srgbClr val="8E1B1B"/>
      </a:accent1>
      <a:accent2>
        <a:srgbClr val="C9A15A"/>
      </a:accent2>
      <a:accent3>
        <a:srgbClr val="3F7D58"/>
      </a:accent3>
      <a:accent4>
        <a:srgbClr val="C2410C"/>
      </a:accent4>
      <a:accent5>
        <a:srgbClr val="2C2D33"/>
      </a:accent5>
      <a:accent6>
        <a:srgbClr val="8B8781"/>
      </a:accent6>
      <a:hlink>
        <a:srgbClr val="8E1B1B"/>
      </a:hlink>
      <a:folHlink>
        <a:srgbClr val="6E1515"/>
      </a:folHlink>
    </a:clrScheme>
    <a:fontScheme name="AfriPlan Electr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2026-10-06T17:58:28Z</dcterms:created>
  <dcterms:modified xsi:type="dcterms:W3CDTF">2026-10-06T17:58:28Z</dcterms:modified>
</cp:coreProperties>
</file>